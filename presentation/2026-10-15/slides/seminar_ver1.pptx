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embeddedFontLst>
    <p:embeddedFont>
      <p:font typeface="Meiryo" panose="020B0604030504040204" pitchFamily="50" charset="-128"/>
      <p:regular r:id="rId26"/>
      <p:bold r:id="rId27"/>
      <p:italic r:id="rId28"/>
      <p:boldItalic r:id="rId29"/>
    </p:embeddedFont>
    <p:embeddedFont>
      <p:font typeface="游ゴシック" panose="020B0400000000000000" pitchFamily="50" charset="-128"/>
      <p:regular r:id="rId30"/>
      <p:bold r:id="rId31"/>
    </p:embeddedFont>
    <p:embeddedFont>
      <p:font typeface="游ゴシック Light" panose="020B0300000000000000" pitchFamily="50" charset="-128"/>
      <p:regular r:id="rId32"/>
    </p:embeddedFont>
  </p:embeddedFont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67349D-1C5A-498A-999B-D642A4745AC7}"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220A5-C5C7-40DE-9AF0-5CCB1E885E91}" type="slidenum">
              <a:rPr kumimoji="1" lang="ja-JP" altLang="en-US" smtClean="0"/>
              <a:t>‹#›</a:t>
            </a:fld>
            <a:endParaRPr kumimoji="1" lang="ja-JP" altLang="en-US"/>
          </a:p>
        </p:txBody>
      </p:sp>
    </p:spTree>
    <p:extLst>
      <p:ext uri="{BB962C8B-B14F-4D97-AF65-F5344CB8AC3E}">
        <p14:creationId xmlns:p14="http://schemas.microsoft.com/office/powerpoint/2010/main" val="351070921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今回の対象は</a:t>
            </a:r>
            <a:r>
              <a:rPr kumimoji="1" lang="en-US" altLang="ja-JP">
                <a:latin typeface="Meiryo" panose="020B0604030504040204" pitchFamily="50" charset="-128"/>
              </a:rPr>
              <a:t>2</a:t>
            </a:r>
            <a:r>
              <a:rPr kumimoji="1" lang="ja-JP" altLang="en-US">
                <a:latin typeface="Meiryo" panose="020B0604030504040204" pitchFamily="50" charset="-128"/>
              </a:rPr>
              <a:t>次元正方格子上の</a:t>
            </a:r>
            <a:r>
              <a:rPr kumimoji="1" lang="en-US" altLang="ja-JP">
                <a:latin typeface="Meiryo" panose="020B0604030504040204" pitchFamily="50" charset="-128"/>
              </a:rPr>
              <a:t>SPP</a:t>
            </a:r>
            <a:r>
              <a:rPr kumimoji="1" lang="ja-JP" altLang="en-US">
                <a:latin typeface="Meiryo" panose="020B0604030504040204" pitchFamily="50" charset="-128"/>
              </a:rPr>
              <a:t>です。研究途中であり、不連続転移の成立を確定した発表ではありません。今回の説明は研究背景、操作、研究目的、</a:t>
            </a:r>
            <a:r>
              <a:rPr kumimoji="1" lang="en-US" altLang="ja-JP">
                <a:latin typeface="Meiryo" panose="020B0604030504040204" pitchFamily="50" charset="-128"/>
              </a:rPr>
              <a:t>Supplemental Material</a:t>
            </a:r>
            <a:r>
              <a:rPr kumimoji="1" lang="ja-JP" altLang="en-US">
                <a:latin typeface="Meiryo" panose="020B0604030504040204" pitchFamily="50" charset="-128"/>
              </a:rPr>
              <a:t>の式</a:t>
            </a:r>
            <a:r>
              <a:rPr kumimoji="1" lang="en-US" altLang="ja-JP">
                <a:latin typeface="Meiryo" panose="020B0604030504040204" pitchFamily="50" charset="-128"/>
              </a:rPr>
              <a:t>(S1)〜(S5)</a:t>
            </a:r>
            <a:r>
              <a:rPr kumimoji="1" lang="ja-JP" altLang="en-US">
                <a:latin typeface="Meiryo" panose="020B0604030504040204" pitchFamily="50" charset="-128"/>
              </a:rPr>
              <a:t>までです。所属・氏名は追加していません。板書なし。</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a:t>
            </a:fld>
            <a:endParaRPr kumimoji="1" lang="ja-JP" altLang="en-US"/>
          </a:p>
        </p:txBody>
      </p:sp>
    </p:spTree>
    <p:extLst>
      <p:ext uri="{BB962C8B-B14F-4D97-AF65-F5344CB8AC3E}">
        <p14:creationId xmlns:p14="http://schemas.microsoft.com/office/powerpoint/2010/main" val="723340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板書なし。連結性・最大連結成分・臨界点・転移の性質を簡潔に導入します。削除だけがパーコレーションの本質とは説明しません。本文</a:t>
            </a:r>
            <a:r>
              <a:rPr kumimoji="1" lang="en-US" altLang="ja-JP">
                <a:latin typeface="Meiryo" panose="020B0604030504040204" pitchFamily="50" charset="-128"/>
              </a:rPr>
              <a:t>PDF1</a:t>
            </a:r>
            <a:r>
              <a:rPr kumimoji="1" lang="ja-JP" altLang="en-US">
                <a:latin typeface="Meiryo" panose="020B0604030504040204" pitchFamily="50" charset="-128"/>
              </a:rPr>
              <a:t>の一般的な背景とモデル依存性を日本語で要約しています。数学的な観測量はスライド</a:t>
            </a:r>
            <a:r>
              <a:rPr kumimoji="1" lang="en-US" altLang="ja-JP">
                <a:latin typeface="Meiryo" panose="020B0604030504040204" pitchFamily="50" charset="-128"/>
              </a:rPr>
              <a:t>7</a:t>
            </a:r>
            <a:r>
              <a:rPr kumimoji="1" lang="ja-JP" altLang="en-US">
                <a:latin typeface="Meiryo" panose="020B0604030504040204" pitchFamily="50" charset="-128"/>
              </a:rPr>
              <a:t>以降で定義します。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a:t>
            </a:fld>
            <a:endParaRPr kumimoji="1" lang="ja-JP" altLang="en-US"/>
          </a:p>
        </p:txBody>
      </p:sp>
    </p:spTree>
    <p:extLst>
      <p:ext uri="{BB962C8B-B14F-4D97-AF65-F5344CB8AC3E}">
        <p14:creationId xmlns:p14="http://schemas.microsoft.com/office/powerpoint/2010/main" val="956324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板書補助：</a:t>
            </a:r>
            <a:r>
              <a:rPr kumimoji="1" lang="en-US" altLang="ja-JP">
                <a:latin typeface="Meiryo" panose="020B0604030504040204" pitchFamily="50" charset="-128"/>
              </a:rPr>
              <a:t>G_t=(V,ℰ_t)</a:t>
            </a:r>
            <a:r>
              <a:rPr kumimoji="1" lang="ja-JP" altLang="en-US">
                <a:latin typeface="Meiryo" panose="020B0604030504040204" pitchFamily="50" charset="-128"/>
              </a:rPr>
              <a:t>、</a:t>
            </a:r>
            <a:r>
              <a:rPr kumimoji="1" lang="en-US" altLang="ja-JP">
                <a:latin typeface="Meiryo" panose="020B0604030504040204" pitchFamily="50" charset="-128"/>
              </a:rPr>
              <a:t>E_t=|ℰ_t|</a:t>
            </a:r>
            <a:r>
              <a:rPr kumimoji="1" lang="ja-JP" altLang="en-US">
                <a:latin typeface="Meiryo" panose="020B0604030504040204" pitchFamily="50" charset="-128"/>
              </a:rPr>
              <a:t>、</a:t>
            </a:r>
            <a:r>
              <a:rPr kumimoji="1" lang="en-US" altLang="ja-JP">
                <a:latin typeface="Meiryo" panose="020B0604030504040204" pitchFamily="50" charset="-128"/>
              </a:rPr>
              <a:t>Q_t≤C</a:t>
            </a:r>
            <a:r>
              <a:rPr kumimoji="1" lang="ja-JP" altLang="en-US">
                <a:latin typeface="Meiryo" panose="020B0604030504040204" pitchFamily="50" charset="-128"/>
              </a:rPr>
              <a:t>。</a:t>
            </a:r>
            <a:r>
              <a:rPr kumimoji="1" lang="en-US" altLang="ja-JP">
                <a:latin typeface="Meiryo" panose="020B0604030504040204" pitchFamily="50" charset="-128"/>
              </a:rPr>
              <a:t>G_t</a:t>
            </a:r>
            <a:r>
              <a:rPr kumimoji="1" lang="ja-JP" altLang="en-US">
                <a:latin typeface="Meiryo" panose="020B0604030504040204" pitchFamily="50" charset="-128"/>
              </a:rPr>
              <a:t>は要求</a:t>
            </a:r>
            <a:r>
              <a:rPr kumimoji="1" lang="en-US" altLang="ja-JP">
                <a:latin typeface="Meiryo" panose="020B0604030504040204" pitchFamily="50" charset="-128"/>
              </a:rPr>
              <a:t>t</a:t>
            </a:r>
            <a:r>
              <a:rPr kumimoji="1" lang="ja-JP" altLang="en-US">
                <a:latin typeface="Meiryo" panose="020B0604030504040204" pitchFamily="50" charset="-128"/>
              </a:rPr>
              <a:t>に利用可能なグラフで、削除後の状態と呼びません。元の</a:t>
            </a:r>
            <a:r>
              <a:rPr kumimoji="1" lang="en-US" altLang="ja-JP">
                <a:latin typeface="Meiryo" panose="020B0604030504040204" pitchFamily="50" charset="-128"/>
              </a:rPr>
              <a:t>Fig.1(a)(b)</a:t>
            </a:r>
            <a:r>
              <a:rPr kumimoji="1" lang="ja-JP" altLang="en-US">
                <a:latin typeface="Meiryo" panose="020B0604030504040204" pitchFamily="50" charset="-128"/>
              </a:rPr>
              <a:t>を引用し、</a:t>
            </a:r>
            <a:r>
              <a:rPr kumimoji="1" lang="en-US" altLang="ja-JP">
                <a:latin typeface="Meiryo" panose="020B0604030504040204" pitchFamily="50" charset="-128"/>
              </a:rPr>
              <a:t>Q_t=4</a:t>
            </a:r>
            <a:r>
              <a:rPr kumimoji="1" lang="ja-JP" altLang="en-US">
                <a:latin typeface="Meiryo" panose="020B0604030504040204" pitchFamily="50" charset="-128"/>
              </a:rPr>
              <a:t>、</a:t>
            </a:r>
            <a:r>
              <a:rPr kumimoji="1" lang="en-US" altLang="ja-JP">
                <a:latin typeface="Meiryo" panose="020B0604030504040204" pitchFamily="50" charset="-128"/>
              </a:rPr>
              <a:t>C≥4</a:t>
            </a:r>
            <a:r>
              <a:rPr kumimoji="1" lang="ja-JP" altLang="en-US">
                <a:latin typeface="Meiryo" panose="020B0604030504040204" pitchFamily="50" charset="-128"/>
              </a:rPr>
              <a:t>を確認。成功なら選択経路の全辺を除き、失敗なら辺集合を保ったまま次の要求へ進みます。いずれも</a:t>
            </a:r>
            <a:r>
              <a:rPr kumimoji="1" lang="en-US" altLang="ja-JP">
                <a:latin typeface="Meiryo" panose="020B0604030504040204" pitchFamily="50" charset="-128"/>
              </a:rPr>
              <a:t>t</a:t>
            </a:r>
            <a:r>
              <a:rPr kumimoji="1" lang="ja-JP" altLang="en-US">
                <a:latin typeface="Meiryo" panose="020B0604030504040204" pitchFamily="50" charset="-128"/>
              </a:rPr>
              <a:t>が</a:t>
            </a:r>
            <a:r>
              <a:rPr kumimoji="1" lang="en-US" altLang="ja-JP">
                <a:latin typeface="Meiryo" panose="020B0604030504040204" pitchFamily="50" charset="-128"/>
              </a:rPr>
              <a:t>1</a:t>
            </a:r>
            <a:r>
              <a:rPr kumimoji="1" lang="ja-JP" altLang="en-US">
                <a:latin typeface="Meiryo" panose="020B0604030504040204" pitchFamily="50" charset="-128"/>
              </a:rPr>
              <a:t>増えます。本文</a:t>
            </a:r>
            <a:r>
              <a:rPr kumimoji="1" lang="en-US" altLang="ja-JP">
                <a:latin typeface="Meiryo" panose="020B0604030504040204" pitchFamily="50" charset="-128"/>
              </a:rPr>
              <a:t>PDF1–2</a:t>
            </a:r>
            <a:r>
              <a:rPr kumimoji="1" lang="ja-JP" altLang="en-US">
                <a:latin typeface="Meiryo" panose="020B0604030504040204" pitchFamily="50" charset="-128"/>
              </a:rPr>
              <a:t>、</a:t>
            </a:r>
            <a:r>
              <a:rPr kumimoji="1" lang="en-US" altLang="ja-JP">
                <a:latin typeface="Meiryo" panose="020B0604030504040204" pitchFamily="50" charset="-128"/>
              </a:rPr>
              <a:t>Fig.1 caption</a:t>
            </a:r>
            <a:r>
              <a:rPr kumimoji="1" lang="ja-JP" altLang="en-US">
                <a:latin typeface="Meiryo" panose="020B0604030504040204" pitchFamily="50" charset="-128"/>
              </a:rPr>
              <a:t>に基づく日本語説明です。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3</a:t>
            </a:fld>
            <a:endParaRPr kumimoji="1" lang="ja-JP" altLang="en-US"/>
          </a:p>
        </p:txBody>
      </p:sp>
    </p:spTree>
    <p:extLst>
      <p:ext uri="{BB962C8B-B14F-4D97-AF65-F5344CB8AC3E}">
        <p14:creationId xmlns:p14="http://schemas.microsoft.com/office/powerpoint/2010/main" val="2011136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板書補助：横</a:t>
            </a:r>
            <a:r>
              <a:rPr kumimoji="1" lang="en-US" altLang="ja-JP">
                <a:latin typeface="Meiryo" panose="020B0604030504040204" pitchFamily="50" charset="-128"/>
              </a:rPr>
              <a:t>2</a:t>
            </a:r>
            <a:r>
              <a:rPr kumimoji="1" lang="ja-JP" altLang="en-US">
                <a:latin typeface="Meiryo" panose="020B0604030504040204" pitchFamily="50" charset="-128"/>
              </a:rPr>
              <a:t>回＋縦</a:t>
            </a:r>
            <a:r>
              <a:rPr kumimoji="1" lang="en-US" altLang="ja-JP">
                <a:latin typeface="Meiryo" panose="020B0604030504040204" pitchFamily="50" charset="-128"/>
              </a:rPr>
              <a:t>2</a:t>
            </a:r>
            <a:r>
              <a:rPr kumimoji="1" lang="ja-JP" altLang="en-US">
                <a:latin typeface="Meiryo" panose="020B0604030504040204" pitchFamily="50" charset="-128"/>
              </a:rPr>
              <a:t>回＝</a:t>
            </a:r>
            <a:r>
              <a:rPr kumimoji="1" lang="en-US" altLang="ja-JP">
                <a:latin typeface="Meiryo" panose="020B0604030504040204" pitchFamily="50" charset="-128"/>
              </a:rPr>
              <a:t>4</a:t>
            </a:r>
            <a:r>
              <a:rPr kumimoji="1" lang="ja-JP" altLang="en-US">
                <a:latin typeface="Meiryo" panose="020B0604030504040204" pitchFamily="50" charset="-128"/>
              </a:rPr>
              <a:t>辺。初期</a:t>
            </a:r>
            <a:r>
              <a:rPr kumimoji="1" lang="en-US" altLang="ja-JP">
                <a:latin typeface="Meiryo" panose="020B0604030504040204" pitchFamily="50" charset="-128"/>
              </a:rPr>
              <a:t>3×3</a:t>
            </a:r>
            <a:r>
              <a:rPr kumimoji="1" lang="ja-JP" altLang="en-US">
                <a:latin typeface="Meiryo" panose="020B0604030504040204" pitchFamily="50" charset="-128"/>
              </a:rPr>
              <a:t>格子の左上と右下には</a:t>
            </a:r>
            <a:r>
              <a:rPr kumimoji="1" lang="en-US" altLang="ja-JP">
                <a:latin typeface="Meiryo" panose="020B0604030504040204" pitchFamily="50" charset="-128"/>
              </a:rPr>
              <a:t>6</a:t>
            </a:r>
            <a:r>
              <a:rPr kumimoji="1" lang="ja-JP" altLang="en-US">
                <a:latin typeface="Meiryo" panose="020B0604030504040204" pitchFamily="50" charset="-128"/>
              </a:rPr>
              <a:t>本の最短経路があります（横</a:t>
            </a:r>
            <a:r>
              <a:rPr kumimoji="1" lang="en-US" altLang="ja-JP">
                <a:latin typeface="Meiryo" panose="020B0604030504040204" pitchFamily="50" charset="-128"/>
              </a:rPr>
              <a:t>2</a:t>
            </a:r>
            <a:r>
              <a:rPr kumimoji="1" lang="ja-JP" altLang="en-US">
                <a:latin typeface="Meiryo" panose="020B0604030504040204" pitchFamily="50" charset="-128"/>
              </a:rPr>
              <a:t>回・縦</a:t>
            </a:r>
            <a:r>
              <a:rPr kumimoji="1" lang="en-US" altLang="ja-JP">
                <a:latin typeface="Meiryo" panose="020B0604030504040204" pitchFamily="50" charset="-128"/>
              </a:rPr>
              <a:t>2</a:t>
            </a:r>
            <a:r>
              <a:rPr kumimoji="1" lang="ja-JP" altLang="en-US">
                <a:latin typeface="Meiryo" panose="020B0604030504040204" pitchFamily="50" charset="-128"/>
              </a:rPr>
              <a:t>回の順序）。図では上側</a:t>
            </a:r>
            <a:r>
              <a:rPr kumimoji="1" lang="en-US" altLang="ja-JP">
                <a:latin typeface="Meiryo" panose="020B0604030504040204" pitchFamily="50" charset="-128"/>
              </a:rPr>
              <a:t>2</a:t>
            </a:r>
            <a:r>
              <a:rPr kumimoji="1" lang="ja-JP" altLang="en-US">
                <a:latin typeface="Meiryo" panose="020B0604030504040204" pitchFamily="50" charset="-128"/>
              </a:rPr>
              <a:t>辺、右側</a:t>
            </a:r>
            <a:r>
              <a:rPr kumimoji="1" lang="en-US" altLang="ja-JP">
                <a:latin typeface="Meiryo" panose="020B0604030504040204" pitchFamily="50" charset="-128"/>
              </a:rPr>
              <a:t>2</a:t>
            </a:r>
            <a:r>
              <a:rPr kumimoji="1" lang="ja-JP" altLang="en-US">
                <a:latin typeface="Meiryo" panose="020B0604030504040204" pitchFamily="50" charset="-128"/>
              </a:rPr>
              <a:t>辺の計</a:t>
            </a:r>
            <a:r>
              <a:rPr kumimoji="1" lang="en-US" altLang="ja-JP">
                <a:latin typeface="Meiryo" panose="020B0604030504040204" pitchFamily="50" charset="-128"/>
              </a:rPr>
              <a:t>4</a:t>
            </a:r>
            <a:r>
              <a:rPr kumimoji="1" lang="ja-JP" altLang="en-US">
                <a:latin typeface="Meiryo" panose="020B0604030504040204" pitchFamily="50" charset="-128"/>
              </a:rPr>
              <a:t>辺を選び、</a:t>
            </a:r>
            <a:r>
              <a:rPr kumimoji="1" lang="en-US" altLang="ja-JP">
                <a:latin typeface="Meiryo" panose="020B0604030504040204" pitchFamily="50" charset="-128"/>
              </a:rPr>
              <a:t>C≥4</a:t>
            </a:r>
            <a:r>
              <a:rPr kumimoji="1" lang="ja-JP" altLang="en-US">
                <a:latin typeface="Meiryo" panose="020B0604030504040204" pitchFamily="50" charset="-128"/>
              </a:rPr>
              <a:t>の場合だけ削除します。除去辺集合は</a:t>
            </a:r>
            <a:r>
              <a:rPr kumimoji="1" lang="en-US" altLang="ja-JP">
                <a:latin typeface="Meiryo" panose="020B0604030504040204" pitchFamily="50" charset="-128"/>
              </a:rPr>
              <a:t>{0–1,1–2,2–5,5–8}</a:t>
            </a:r>
            <a:r>
              <a:rPr kumimoji="1" lang="ja-JP" altLang="en-US">
                <a:latin typeface="Meiryo" panose="020B0604030504040204" pitchFamily="50" charset="-128"/>
              </a:rPr>
              <a:t>、初期</a:t>
            </a:r>
            <a:r>
              <a:rPr kumimoji="1" lang="en-US" altLang="ja-JP">
                <a:latin typeface="Meiryo" panose="020B0604030504040204" pitchFamily="50" charset="-128"/>
              </a:rPr>
              <a:t>12</a:t>
            </a:r>
            <a:r>
              <a:rPr kumimoji="1" lang="ja-JP" altLang="en-US">
                <a:latin typeface="Meiryo" panose="020B0604030504040204" pitchFamily="50" charset="-128"/>
              </a:rPr>
              <a:t>辺から</a:t>
            </a:r>
            <a:r>
              <a:rPr kumimoji="1" lang="en-US" altLang="ja-JP">
                <a:latin typeface="Meiryo" panose="020B0604030504040204" pitchFamily="50" charset="-128"/>
              </a:rPr>
              <a:t>8</a:t>
            </a:r>
            <a:r>
              <a:rPr kumimoji="1" lang="ja-JP" altLang="en-US">
                <a:latin typeface="Meiryo" panose="020B0604030504040204" pitchFamily="50" charset="-128"/>
              </a:rPr>
              <a:t>辺になります。</a:t>
            </a:r>
            <a:r>
              <a:rPr kumimoji="1" lang="en-US" altLang="ja-JP">
                <a:latin typeface="Meiryo" panose="020B0604030504040204" pitchFamily="50" charset="-128"/>
              </a:rPr>
              <a:t>9</a:t>
            </a:r>
            <a:r>
              <a:rPr kumimoji="1" lang="ja-JP" altLang="en-US">
                <a:latin typeface="Meiryo" panose="020B0604030504040204" pitchFamily="50" charset="-128"/>
              </a:rPr>
              <a:t>頂点は削除しません。</a:t>
            </a:r>
            <a:r>
              <a:rPr kumimoji="1" lang="en-US" altLang="ja-JP">
                <a:latin typeface="Meiryo" panose="020B0604030504040204" pitchFamily="50" charset="-128"/>
              </a:rPr>
              <a:t>C&lt;4</a:t>
            </a:r>
            <a:r>
              <a:rPr kumimoji="1" lang="ja-JP" altLang="en-US">
                <a:latin typeface="Meiryo" panose="020B0604030504040204" pitchFamily="50" charset="-128"/>
              </a:rPr>
              <a:t>なら初期の辺集合を保持して次の要求へ進みます。図の開いた外周はこの説明例の指定であり、研究本体の境界条件をこの図から断定しません。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4</a:t>
            </a:fld>
            <a:endParaRPr kumimoji="1" lang="ja-JP" altLang="en-US"/>
          </a:p>
        </p:txBody>
      </p:sp>
    </p:spTree>
    <p:extLst>
      <p:ext uri="{BB962C8B-B14F-4D97-AF65-F5344CB8AC3E}">
        <p14:creationId xmlns:p14="http://schemas.microsoft.com/office/powerpoint/2010/main" val="235625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板書なし。これは</a:t>
            </a:r>
            <a:r>
              <a:rPr kumimoji="1" lang="en-US" altLang="ja-JP">
                <a:latin typeface="Meiryo" panose="020B0604030504040204" pitchFamily="50" charset="-128"/>
              </a:rPr>
              <a:t>ER</a:t>
            </a:r>
            <a:r>
              <a:rPr kumimoji="1" lang="ja-JP" altLang="en-US">
                <a:latin typeface="Meiryo" panose="020B0604030504040204" pitchFamily="50" charset="-128"/>
              </a:rPr>
              <a:t>上での著者の数値的報告です。有限</a:t>
            </a:r>
            <a:r>
              <a:rPr kumimoji="1" lang="en-US" altLang="ja-JP">
                <a:latin typeface="Meiryo" panose="020B0604030504040204" pitchFamily="50" charset="-128"/>
              </a:rPr>
              <a:t>C</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を増やしても固定された予算を指します。有限グラフでは到達可能な最短経路は</a:t>
            </a:r>
            <a:r>
              <a:rPr kumimoji="1" lang="en-US" altLang="ja-JP">
                <a:latin typeface="Meiryo" panose="020B0604030504040204" pitchFamily="50" charset="-128"/>
              </a:rPr>
              <a:t>N−1</a:t>
            </a:r>
            <a:r>
              <a:rPr kumimoji="1" lang="ja-JP" altLang="en-US">
                <a:latin typeface="Meiryo" panose="020B0604030504040204" pitchFamily="50" charset="-128"/>
              </a:rPr>
              <a:t>辺以下なので</a:t>
            </a:r>
            <a:r>
              <a:rPr kumimoji="1" lang="en-US" altLang="ja-JP">
                <a:latin typeface="Meiryo" panose="020B0604030504040204" pitchFamily="50" charset="-128"/>
              </a:rPr>
              <a:t>C=N</a:t>
            </a:r>
            <a:r>
              <a:rPr kumimoji="1" lang="ja-JP" altLang="en-US">
                <a:latin typeface="Meiryo" panose="020B0604030504040204" pitchFamily="50" charset="-128"/>
              </a:rPr>
              <a:t>なら長さ制限は実質ありません。</a:t>
            </a:r>
            <a:r>
              <a:rPr kumimoji="1" lang="en-US" altLang="ja-JP">
                <a:latin typeface="Meiryo" panose="020B0604030504040204" pitchFamily="50" charset="-128"/>
              </a:rPr>
              <a:t>weakly discontinuous</a:t>
            </a:r>
            <a:r>
              <a:rPr kumimoji="1" lang="ja-JP" altLang="en-US">
                <a:latin typeface="Meiryo" panose="020B0604030504040204" pitchFamily="50" charset="-128"/>
              </a:rPr>
              <a:t>という語は本文</a:t>
            </a:r>
            <a:r>
              <a:rPr kumimoji="1" lang="en-US" altLang="ja-JP">
                <a:latin typeface="Meiryo" panose="020B0604030504040204" pitchFamily="50" charset="-128"/>
              </a:rPr>
              <a:t>PDF4</a:t>
            </a:r>
            <a:r>
              <a:rPr kumimoji="1" lang="ja-JP" altLang="en-US">
                <a:latin typeface="Meiryo" panose="020B0604030504040204" pitchFamily="50" charset="-128"/>
              </a:rPr>
              <a:t>にあり、今回その転移幅の詳細は説明しません。数学的に不連続転移が証明されたとは述べません。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5</a:t>
            </a:fld>
            <a:endParaRPr kumimoji="1" lang="ja-JP" altLang="en-US"/>
          </a:p>
        </p:txBody>
      </p:sp>
    </p:spTree>
    <p:extLst>
      <p:ext uri="{BB962C8B-B14F-4D97-AF65-F5344CB8AC3E}">
        <p14:creationId xmlns:p14="http://schemas.microsoft.com/office/powerpoint/2010/main" val="17066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板書なし。研究目的は制限なし</a:t>
            </a:r>
            <a:r>
              <a:rPr kumimoji="1" lang="en-US" altLang="ja-JP">
                <a:latin typeface="Meiryo" panose="020B0604030504040204" pitchFamily="50" charset="-128"/>
              </a:rPr>
              <a:t>SPP</a:t>
            </a:r>
            <a:r>
              <a:rPr kumimoji="1" lang="ja-JP" altLang="en-US">
                <a:latin typeface="Meiryo" panose="020B0604030504040204" pitchFamily="50" charset="-128"/>
              </a:rPr>
              <a:t>で不連続転移が起こるかを調べることであり、</a:t>
            </a:r>
            <a:r>
              <a:rPr kumimoji="1" lang="en-US" altLang="ja-JP">
                <a:latin typeface="Meiryo" panose="020B0604030504040204" pitchFamily="50" charset="-128"/>
              </a:rPr>
              <a:t>weakly discontinuous</a:t>
            </a:r>
            <a:r>
              <a:rPr kumimoji="1" lang="ja-JP" altLang="en-US">
                <a:latin typeface="Meiryo" panose="020B0604030504040204" pitchFamily="50" charset="-128"/>
              </a:rPr>
              <a:t>の再現を目的に変えません。サイズを大きくしても不連続性が残るかが重要です。</a:t>
            </a:r>
            <a:r>
              <a:rPr kumimoji="1" lang="en-US" altLang="ja-JP">
                <a:latin typeface="Meiryo" panose="020B0604030504040204" pitchFamily="50" charset="-128"/>
              </a:rPr>
              <a:t>ER</a:t>
            </a:r>
            <a:r>
              <a:rPr kumimoji="1" lang="ja-JP" altLang="en-US">
                <a:latin typeface="Meiryo" panose="020B0604030504040204" pitchFamily="50" charset="-128"/>
              </a:rPr>
              <a:t>での結果を格子へ無条件に適用しません。研究結果・指数は今回の</a:t>
            </a:r>
            <a:r>
              <a:rPr kumimoji="1" lang="en-US" altLang="ja-JP">
                <a:latin typeface="Meiryo" panose="020B0604030504040204" pitchFamily="50" charset="-128"/>
              </a:rPr>
              <a:t>10</a:t>
            </a:r>
            <a:r>
              <a:rPr kumimoji="1" lang="ja-JP" altLang="en-US">
                <a:latin typeface="Meiryo" panose="020B0604030504040204" pitchFamily="50" charset="-128"/>
              </a:rPr>
              <a:t>枚には掲載しません。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6</a:t>
            </a:fld>
            <a:endParaRPr kumimoji="1" lang="ja-JP" altLang="en-US"/>
          </a:p>
        </p:txBody>
      </p:sp>
    </p:spTree>
    <p:extLst>
      <p:ext uri="{BB962C8B-B14F-4D97-AF65-F5344CB8AC3E}">
        <p14:creationId xmlns:p14="http://schemas.microsoft.com/office/powerpoint/2010/main" val="1111227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No.1</a:t>
            </a:r>
            <a:r>
              <a:rPr kumimoji="1" lang="ja-JP" altLang="en-US">
                <a:latin typeface="Meiryo" panose="020B0604030504040204" pitchFamily="50" charset="-128"/>
              </a:rPr>
              <a:t>。</a:t>
            </a:r>
            <a:r>
              <a:rPr kumimoji="1" lang="en-US" altLang="ja-JP">
                <a:latin typeface="Meiryo" panose="020B0604030504040204" pitchFamily="50" charset="-128"/>
              </a:rPr>
              <a:t>SM PDF1</a:t>
            </a:r>
            <a:r>
              <a:rPr kumimoji="1" lang="ja-JP" altLang="en-US">
                <a:latin typeface="Meiryo" panose="020B0604030504040204" pitchFamily="50" charset="-128"/>
              </a:rPr>
              <a:t>式</a:t>
            </a:r>
            <a:r>
              <a:rPr kumimoji="1" lang="en-US" altLang="ja-JP">
                <a:latin typeface="Meiryo" panose="020B0604030504040204" pitchFamily="50" charset="-128"/>
              </a:rPr>
              <a:t>(S1)</a:t>
            </a:r>
            <a:r>
              <a:rPr kumimoji="1" lang="ja-JP" altLang="en-US">
                <a:latin typeface="Meiryo" panose="020B0604030504040204" pitchFamily="50" charset="-128"/>
              </a:rPr>
              <a:t>は</a:t>
            </a:r>
            <a:r>
              <a:rPr kumimoji="1" lang="en-US" altLang="ja-JP">
                <a:latin typeface="Meiryo" panose="020B0604030504040204" pitchFamily="50" charset="-128"/>
              </a:rPr>
              <a:t>G_t</a:t>
            </a:r>
            <a:r>
              <a:rPr kumimoji="1" lang="ja-JP" altLang="en-US">
                <a:latin typeface="Meiryo" panose="020B0604030504040204" pitchFamily="50" charset="-128"/>
              </a:rPr>
              <a:t>が</a:t>
            </a:r>
            <a:r>
              <a:rPr kumimoji="1" lang="en-US" altLang="ja-JP">
                <a:latin typeface="Meiryo" panose="020B0604030504040204" pitchFamily="50" charset="-128"/>
              </a:rPr>
              <a:t>t</a:t>
            </a:r>
            <a:r>
              <a:rPr kumimoji="1" lang="ja-JP" altLang="en-US">
                <a:latin typeface="Meiryo" panose="020B0604030504040204" pitchFamily="50" charset="-128"/>
              </a:rPr>
              <a:t>番目の要求に利用可能なグラフと定義します。辺集合</a:t>
            </a:r>
            <a:r>
              <a:rPr kumimoji="1" lang="en-US" altLang="ja-JP">
                <a:latin typeface="Meiryo" panose="020B0604030504040204" pitchFamily="50" charset="-128"/>
              </a:rPr>
              <a:t>ℰ_t</a:t>
            </a:r>
            <a:r>
              <a:rPr kumimoji="1" lang="ja-JP" altLang="en-US">
                <a:latin typeface="Meiryo" panose="020B0604030504040204" pitchFamily="50" charset="-128"/>
              </a:rPr>
              <a:t>と辺数</a:t>
            </a:r>
            <a:r>
              <a:rPr kumimoji="1" lang="en-US" altLang="ja-JP">
                <a:latin typeface="Meiryo" panose="020B0604030504040204" pitchFamily="50" charset="-128"/>
              </a:rPr>
              <a:t>E_t=|ℰ_t|</a:t>
            </a:r>
            <a:r>
              <a:rPr kumimoji="1" lang="ja-JP" altLang="en-US">
                <a:latin typeface="Meiryo" panose="020B0604030504040204" pitchFamily="50" charset="-128"/>
              </a:rPr>
              <a:t>を区別します。</a:t>
            </a:r>
            <a:r>
              <a:rPr kumimoji="1" lang="en-US" altLang="ja-JP">
                <a:latin typeface="Meiryo" panose="020B0604030504040204" pitchFamily="50" charset="-128"/>
              </a:rPr>
              <a:t>p=(E_1−E_t)/E_1</a:t>
            </a:r>
            <a:r>
              <a:rPr kumimoji="1" lang="ja-JP" altLang="en-US">
                <a:latin typeface="Meiryo" panose="020B0604030504040204" pitchFamily="50" charset="-128"/>
              </a:rPr>
              <a:t>から導出。</a:t>
            </a:r>
            <a:r>
              <a:rPr kumimoji="1" lang="en-US" altLang="ja-JP">
                <a:latin typeface="Meiryo" panose="020B0604030504040204" pitchFamily="50" charset="-128"/>
              </a:rPr>
              <a:t>SM PDF2</a:t>
            </a:r>
            <a:r>
              <a:rPr kumimoji="1" lang="ja-JP" altLang="en-US">
                <a:latin typeface="Meiryo" panose="020B0604030504040204" pitchFamily="50" charset="-128"/>
              </a:rPr>
              <a:t>式</a:t>
            </a:r>
            <a:r>
              <a:rPr kumimoji="1" lang="en-US" altLang="ja-JP">
                <a:latin typeface="Meiryo" panose="020B0604030504040204" pitchFamily="50" charset="-128"/>
              </a:rPr>
              <a:t>(S2)</a:t>
            </a:r>
            <a:r>
              <a:rPr kumimoji="1" lang="ja-JP" altLang="en-US">
                <a:latin typeface="Meiryo" panose="020B0604030504040204" pitchFamily="50" charset="-128"/>
              </a:rPr>
              <a:t>は全連結成分の頂点数の和が</a:t>
            </a:r>
            <a:r>
              <a:rPr kumimoji="1" lang="en-US" altLang="ja-JP">
                <a:latin typeface="Meiryo" panose="020B0604030504040204" pitchFamily="50" charset="-128"/>
              </a:rPr>
              <a:t>N</a:t>
            </a:r>
            <a:r>
              <a:rPr kumimoji="1" lang="ja-JP" altLang="en-US">
                <a:latin typeface="Meiryo" panose="020B0604030504040204" pitchFamily="50" charset="-128"/>
              </a:rPr>
              <a:t>なので</a:t>
            </a:r>
            <a:r>
              <a:rPr kumimoji="1" lang="en-US" altLang="ja-JP">
                <a:latin typeface="Meiryo" panose="020B0604030504040204" pitchFamily="50" charset="-128"/>
              </a:rPr>
              <a:t>P=s_R/N</a:t>
            </a:r>
            <a:r>
              <a:rPr kumimoji="1" lang="ja-JP" altLang="en-US">
                <a:latin typeface="Meiryo" panose="020B0604030504040204" pitchFamily="50" charset="-128"/>
              </a:rPr>
              <a:t>。この等号は代数的補足です。</a:t>
            </a:r>
            <a:r>
              <a:rPr kumimoji="1" lang="en-US" altLang="ja-JP">
                <a:latin typeface="Meiryo" panose="020B0604030504040204" pitchFamily="50" charset="-128"/>
              </a:rPr>
              <a:t>t</a:t>
            </a:r>
            <a:r>
              <a:rPr kumimoji="1" lang="ja-JP" altLang="en-US">
                <a:latin typeface="Meiryo" panose="020B0604030504040204" pitchFamily="50" charset="-128"/>
              </a:rPr>
              <a:t>を要求</a:t>
            </a:r>
            <a:r>
              <a:rPr kumimoji="1" lang="en-US" altLang="ja-JP">
                <a:latin typeface="Meiryo" panose="020B0604030504040204" pitchFamily="50" charset="-128"/>
              </a:rPr>
              <a:t>t</a:t>
            </a:r>
            <a:r>
              <a:rPr kumimoji="1" lang="ja-JP" altLang="en-US">
                <a:latin typeface="Meiryo" panose="020B0604030504040204" pitchFamily="50" charset="-128"/>
              </a:rPr>
              <a:t>の削除後という意味にしません。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7</a:t>
            </a:fld>
            <a:endParaRPr kumimoji="1" lang="ja-JP" altLang="en-US"/>
          </a:p>
        </p:txBody>
      </p:sp>
    </p:spTree>
    <p:extLst>
      <p:ext uri="{BB962C8B-B14F-4D97-AF65-F5344CB8AC3E}">
        <p14:creationId xmlns:p14="http://schemas.microsoft.com/office/powerpoint/2010/main" val="3889815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No.2</a:t>
            </a:r>
            <a:r>
              <a:rPr kumimoji="1" lang="ja-JP" altLang="en-US">
                <a:latin typeface="Meiryo" panose="020B0604030504040204" pitchFamily="50" charset="-128"/>
              </a:rPr>
              <a:t>。</a:t>
            </a:r>
            <a:r>
              <a:rPr kumimoji="1" lang="en-US" altLang="ja-JP">
                <a:latin typeface="Meiryo" panose="020B0604030504040204" pitchFamily="50" charset="-128"/>
              </a:rPr>
              <a:t>S3</a:t>
            </a:r>
            <a:r>
              <a:rPr kumimoji="1" lang="ja-JP" altLang="en-US">
                <a:latin typeface="Meiryo" panose="020B0604030504040204" pitchFamily="50" charset="-128"/>
              </a:rPr>
              <a:t>の和は</a:t>
            </a:r>
            <a:r>
              <a:rPr kumimoji="1" lang="en-US" altLang="ja-JP">
                <a:latin typeface="Meiryo" panose="020B0604030504040204" pitchFamily="50" charset="-128"/>
              </a:rPr>
              <a:t>r=1</a:t>
            </a:r>
            <a:r>
              <a:rPr kumimoji="1" lang="ja-JP" altLang="en-US">
                <a:latin typeface="Meiryo" panose="020B0604030504040204" pitchFamily="50" charset="-128"/>
              </a:rPr>
              <a:t>から</a:t>
            </a:r>
            <a:r>
              <a:rPr kumimoji="1" lang="en-US" altLang="ja-JP">
                <a:latin typeface="Meiryo" panose="020B0604030504040204" pitchFamily="50" charset="-128"/>
              </a:rPr>
              <a:t>R−1</a:t>
            </a:r>
            <a:r>
              <a:rPr kumimoji="1" lang="ja-JP" altLang="en-US">
                <a:latin typeface="Meiryo" panose="020B0604030504040204" pitchFamily="50" charset="-128"/>
              </a:rPr>
              <a:t>で最大を</a:t>
            </a:r>
            <a:r>
              <a:rPr kumimoji="1" lang="en-US" altLang="ja-JP">
                <a:latin typeface="Meiryo" panose="020B0604030504040204" pitchFamily="50" charset="-128"/>
              </a:rPr>
              <a:t>1</a:t>
            </a:r>
            <a:r>
              <a:rPr kumimoji="1" lang="ja-JP" altLang="en-US">
                <a:latin typeface="Meiryo" panose="020B0604030504040204" pitchFamily="50" charset="-128"/>
              </a:rPr>
              <a:t>個除きます。期待値解釈は数学的補足であり、原論文が頂点を抽出して測定したという主張ではありません。詳細な頂点重みの導出、</a:t>
            </a:r>
            <a:r>
              <a:rPr kumimoji="1" lang="en-US" altLang="ja-JP">
                <a:latin typeface="Meiryo" panose="020B0604030504040204" pitchFamily="50" charset="-128"/>
              </a:rPr>
              <a:t>m_s</a:t>
            </a:r>
            <a:r>
              <a:rPr kumimoji="1" lang="ja-JP" altLang="en-US">
                <a:latin typeface="Meiryo" panose="020B0604030504040204" pitchFamily="50" charset="-128"/>
              </a:rPr>
              <a:t>・</a:t>
            </a:r>
            <a:r>
              <a:rPr kumimoji="1" lang="en-US" altLang="ja-JP">
                <a:latin typeface="Meiryo" panose="020B0604030504040204" pitchFamily="50" charset="-128"/>
              </a:rPr>
              <a:t>n_s</a:t>
            </a:r>
            <a:r>
              <a:rPr kumimoji="1" lang="ja-JP" altLang="en-US">
                <a:latin typeface="Meiryo" panose="020B0604030504040204" pitchFamily="50" charset="-128"/>
              </a:rPr>
              <a:t>との等価性、最大成分の支配的寄与、</a:t>
            </a:r>
            <a:r>
              <a:rPr kumimoji="1" lang="en-US" altLang="ja-JP">
                <a:latin typeface="Meiryo" panose="020B0604030504040204" pitchFamily="50" charset="-128"/>
              </a:rPr>
              <a:t>R=1</a:t>
            </a:r>
            <a:r>
              <a:rPr kumimoji="1" lang="ja-JP" altLang="en-US">
                <a:latin typeface="Meiryo" panose="020B0604030504040204" pitchFamily="50" charset="-128"/>
              </a:rPr>
              <a:t>の注意は独立した板書案に記載します。同率最大なら</a:t>
            </a:r>
            <a:r>
              <a:rPr kumimoji="1" lang="en-US" altLang="ja-JP">
                <a:latin typeface="Meiryo" panose="020B0604030504040204" pitchFamily="50" charset="-128"/>
              </a:rPr>
              <a:t>1</a:t>
            </a:r>
            <a:r>
              <a:rPr kumimoji="1" lang="ja-JP" altLang="en-US">
                <a:latin typeface="Meiryo" panose="020B0604030504040204" pitchFamily="50" charset="-128"/>
              </a:rPr>
              <a:t>個だけ除きます。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8</a:t>
            </a:fld>
            <a:endParaRPr kumimoji="1" lang="ja-JP" altLang="en-US"/>
          </a:p>
        </p:txBody>
      </p:sp>
    </p:spTree>
    <p:extLst>
      <p:ext uri="{BB962C8B-B14F-4D97-AF65-F5344CB8AC3E}">
        <p14:creationId xmlns:p14="http://schemas.microsoft.com/office/powerpoint/2010/main" val="1500840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No.3-A</a:t>
            </a:r>
            <a:r>
              <a:rPr kumimoji="1" lang="ja-JP" altLang="en-US">
                <a:latin typeface="Meiryo" panose="020B0604030504040204" pitchFamily="50" charset="-128"/>
              </a:rPr>
              <a:t>。</a:t>
            </a:r>
            <a:r>
              <a:rPr kumimoji="1" lang="en-US" altLang="ja-JP">
                <a:latin typeface="Meiryo" panose="020B0604030504040204" pitchFamily="50" charset="-128"/>
              </a:rPr>
              <a:t>P=s_max/N</a:t>
            </a:r>
            <a:r>
              <a:rPr kumimoji="1" lang="ja-JP" altLang="en-US">
                <a:latin typeface="Meiryo" panose="020B0604030504040204" pitchFamily="50" charset="-128"/>
              </a:rPr>
              <a:t>、</a:t>
            </a:r>
            <a:r>
              <a:rPr kumimoji="1" lang="en-US" altLang="ja-JP">
                <a:latin typeface="Meiryo" panose="020B0604030504040204" pitchFamily="50" charset="-128"/>
              </a:rPr>
              <a:t>N=L²</a:t>
            </a:r>
            <a:r>
              <a:rPr kumimoji="1" lang="ja-JP" altLang="en-US">
                <a:latin typeface="Meiryo" panose="020B0604030504040204" pitchFamily="50" charset="-128"/>
              </a:rPr>
              <a:t>。有限</a:t>
            </a:r>
            <a:r>
              <a:rPr kumimoji="1" lang="en-US" altLang="ja-JP">
                <a:latin typeface="Meiryo" panose="020B0604030504040204" pitchFamily="50" charset="-128"/>
              </a:rPr>
              <a:t>N</a:t>
            </a:r>
            <a:r>
              <a:rPr kumimoji="1" lang="ja-JP" altLang="en-US">
                <a:latin typeface="Meiryo" panose="020B0604030504040204" pitchFamily="50" charset="-128"/>
              </a:rPr>
              <a:t>で</a:t>
            </a:r>
            <a:r>
              <a:rPr kumimoji="1" lang="en-US" altLang="ja-JP">
                <a:latin typeface="Meiryo" panose="020B0604030504040204" pitchFamily="50" charset="-128"/>
              </a:rPr>
              <a:t>s_max</a:t>
            </a:r>
            <a:r>
              <a:rPr kumimoji="1" lang="ja-JP" altLang="en-US">
                <a:latin typeface="Meiryo" panose="020B0604030504040204" pitchFamily="50" charset="-128"/>
              </a:rPr>
              <a:t>は整数であり、</a:t>
            </a:r>
            <a:r>
              <a:rPr kumimoji="1" lang="en-US" altLang="ja-JP">
                <a:latin typeface="Meiryo" panose="020B0604030504040204" pitchFamily="50" charset="-128"/>
              </a:rPr>
              <a:t>P</a:t>
            </a:r>
            <a:r>
              <a:rPr kumimoji="1" lang="ja-JP" altLang="en-US">
                <a:latin typeface="Meiryo" panose="020B0604030504040204" pitchFamily="50" charset="-128"/>
              </a:rPr>
              <a:t>の取り得る値は離散的です。要求</a:t>
            </a:r>
            <a:r>
              <a:rPr kumimoji="1" lang="en-US" altLang="ja-JP">
                <a:latin typeface="Meiryo" panose="020B0604030504040204" pitchFamily="50" charset="-128"/>
              </a:rPr>
              <a:t>1</a:t>
            </a:r>
            <a:r>
              <a:rPr kumimoji="1" lang="ja-JP" altLang="en-US">
                <a:latin typeface="Meiryo" panose="020B0604030504040204" pitchFamily="50" charset="-128"/>
              </a:rPr>
              <a:t>回で複数辺を削除することもあります。ある有限サイズでの急変だけでは無限サイズの不連続性は判断できません。これは解析への動機付けで、原論文の日本語逐語引用ではありません。</a:t>
            </a:r>
            <a:r>
              <a:rPr kumimoji="1" lang="en-US" altLang="ja-JP">
                <a:latin typeface="Meiryo" panose="020B0604030504040204" pitchFamily="50" charset="-128"/>
              </a:rPr>
              <a:t>S4/S5</a:t>
            </a:r>
            <a:r>
              <a:rPr kumimoji="1" lang="ja-JP" altLang="en-US">
                <a:latin typeface="Meiryo" panose="020B0604030504040204" pitchFamily="50" charset="-128"/>
              </a:rPr>
              <a:t>と指数計算は次のスライドへ進め、</a:t>
            </a:r>
            <a:r>
              <a:rPr kumimoji="1" lang="en-US" altLang="ja-JP">
                <a:latin typeface="Meiryo" panose="020B0604030504040204" pitchFamily="50" charset="-128"/>
              </a:rPr>
              <a:t>FSS</a:t>
            </a:r>
            <a:r>
              <a:rPr kumimoji="1" lang="ja-JP" altLang="en-US">
                <a:latin typeface="Meiryo" panose="020B0604030504040204" pitchFamily="50" charset="-128"/>
              </a:rPr>
              <a:t>の式は先取りしません。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9</a:t>
            </a:fld>
            <a:endParaRPr kumimoji="1" lang="ja-JP" altLang="en-US"/>
          </a:p>
        </p:txBody>
      </p:sp>
    </p:spTree>
    <p:extLst>
      <p:ext uri="{BB962C8B-B14F-4D97-AF65-F5344CB8AC3E}">
        <p14:creationId xmlns:p14="http://schemas.microsoft.com/office/powerpoint/2010/main" val="2374171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No.3-B</a:t>
            </a:r>
            <a:r>
              <a:rPr kumimoji="1" lang="ja-JP" altLang="en-US">
                <a:latin typeface="Meiryo" panose="020B0604030504040204" pitchFamily="50" charset="-128"/>
              </a:rPr>
              <a:t>。</a:t>
            </a:r>
            <a:r>
              <a:rPr kumimoji="1" lang="en-US" altLang="ja-JP">
                <a:latin typeface="Meiryo" panose="020B0604030504040204" pitchFamily="50" charset="-128"/>
              </a:rPr>
              <a:t>S4</a:t>
            </a:r>
            <a:r>
              <a:rPr kumimoji="1" lang="ja-JP" altLang="en-US">
                <a:latin typeface="Meiryo" panose="020B0604030504040204" pitchFamily="50" charset="-128"/>
              </a:rPr>
              <a:t>は仮定、</a:t>
            </a:r>
            <a:r>
              <a:rPr kumimoji="1" lang="en-US" altLang="ja-JP">
                <a:latin typeface="Meiryo" panose="020B0604030504040204" pitchFamily="50" charset="-128"/>
              </a:rPr>
              <a:t>S5</a:t>
            </a:r>
            <a:r>
              <a:rPr kumimoji="1" lang="ja-JP" altLang="en-US">
                <a:latin typeface="Meiryo" panose="020B0604030504040204" pitchFamily="50" charset="-128"/>
              </a:rPr>
              <a:t>は</a:t>
            </a:r>
            <a:r>
              <a:rPr kumimoji="1" lang="en-US" altLang="ja-JP">
                <a:latin typeface="Meiryo" panose="020B0604030504040204" pitchFamily="50" charset="-128"/>
              </a:rPr>
              <a:t>x,y,z&gt;0</a:t>
            </a:r>
            <a:r>
              <a:rPr kumimoji="1" lang="ja-JP" altLang="en-US">
                <a:latin typeface="Meiryo" panose="020B0604030504040204" pitchFamily="50" charset="-128"/>
              </a:rPr>
              <a:t>で対数法則を適用した結果です。</a:t>
            </a:r>
            <a:r>
              <a:rPr kumimoji="1" lang="en-US" altLang="ja-JP">
                <a:latin typeface="Meiryo" panose="020B0604030504040204" pitchFamily="50" charset="-128"/>
              </a:rPr>
              <a:t>X=log y</a:t>
            </a:r>
            <a:r>
              <a:rPr kumimoji="1" lang="ja-JP" altLang="en-US">
                <a:latin typeface="Meiryo" panose="020B0604030504040204" pitchFamily="50" charset="-128"/>
              </a:rPr>
              <a:t>、</a:t>
            </a:r>
            <a:r>
              <a:rPr kumimoji="1" lang="en-US" altLang="ja-JP">
                <a:latin typeface="Meiryo" panose="020B0604030504040204" pitchFamily="50" charset="-128"/>
              </a:rPr>
              <a:t>Y=log x</a:t>
            </a:r>
            <a:r>
              <a:rPr kumimoji="1" lang="ja-JP" altLang="en-US">
                <a:latin typeface="Meiryo" panose="020B0604030504040204" pitchFamily="50" charset="-128"/>
              </a:rPr>
              <a:t>、</a:t>
            </a:r>
            <a:r>
              <a:rPr kumimoji="1" lang="en-US" altLang="ja-JP">
                <a:latin typeface="Meiryo" panose="020B0604030504040204" pitchFamily="50" charset="-128"/>
              </a:rPr>
              <a:t>b=log z</a:t>
            </a:r>
            <a:r>
              <a:rPr kumimoji="1" lang="ja-JP" altLang="en-US">
                <a:latin typeface="Meiryo" panose="020B0604030504040204" pitchFamily="50" charset="-128"/>
              </a:rPr>
              <a:t>とすれば</a:t>
            </a:r>
            <a:r>
              <a:rPr kumimoji="1" lang="en-US" altLang="ja-JP">
                <a:latin typeface="Meiryo" panose="020B0604030504040204" pitchFamily="50" charset="-128"/>
              </a:rPr>
              <a:t>Y=ζX+b</a:t>
            </a:r>
            <a:r>
              <a:rPr kumimoji="1" lang="ja-JP" altLang="en-US">
                <a:latin typeface="Meiryo" panose="020B0604030504040204" pitchFamily="50" charset="-128"/>
              </a:rPr>
              <a:t>となり、傾きが指数です。対数の底は共通で</a:t>
            </a:r>
            <a:r>
              <a:rPr kumimoji="1" lang="en-US" altLang="ja-JP">
                <a:latin typeface="Meiryo" panose="020B0604030504040204" pitchFamily="50" charset="-128"/>
              </a:rPr>
              <a:t>1</a:t>
            </a:r>
            <a:r>
              <a:rPr kumimoji="1" lang="ja-JP" altLang="en-US">
                <a:latin typeface="Meiryo" panose="020B0604030504040204" pitchFamily="50" charset="-128"/>
              </a:rPr>
              <a:t>以外の正数を使います。最小二乗公式は板書補足のみ。</a:t>
            </a:r>
            <a:r>
              <a:rPr kumimoji="1" lang="en-US" altLang="ja-JP">
                <a:latin typeface="Meiryo" panose="020B0604030504040204" pitchFamily="50" charset="-128"/>
              </a:rPr>
              <a:t>FSS</a:t>
            </a:r>
            <a:r>
              <a:rPr kumimoji="1" lang="ja-JP" altLang="en-US">
                <a:latin typeface="Meiryo" panose="020B0604030504040204" pitchFamily="50" charset="-128"/>
              </a:rPr>
              <a:t>の関係は</a:t>
            </a:r>
            <a:r>
              <a:rPr kumimoji="1" lang="en-US" altLang="ja-JP">
                <a:latin typeface="Meiryo" panose="020B0604030504040204" pitchFamily="50" charset="-128"/>
              </a:rPr>
              <a:t>S4/S5</a:t>
            </a:r>
            <a:r>
              <a:rPr kumimoji="1" lang="ja-JP" altLang="en-US">
                <a:latin typeface="Meiryo" panose="020B0604030504040204" pitchFamily="50" charset="-128"/>
              </a:rPr>
              <a:t>から自動的に導出されず、直線への当てはまりだけでべき乗則は証明されません。今回は</a:t>
            </a:r>
            <a:r>
              <a:rPr kumimoji="1" lang="en-US" altLang="ja-JP">
                <a:latin typeface="Meiryo" panose="020B0604030504040204" pitchFamily="50" charset="-128"/>
              </a:rPr>
              <a:t>S5</a:t>
            </a:r>
            <a:r>
              <a:rPr kumimoji="1" lang="ja-JP" altLang="en-US">
                <a:latin typeface="Meiryo" panose="020B0604030504040204" pitchFamily="50" charset="-128"/>
              </a:rPr>
              <a:t>で終え、</a:t>
            </a:r>
            <a:r>
              <a:rPr kumimoji="1" lang="en-US" altLang="ja-JP">
                <a:latin typeface="Meiryo" panose="020B0604030504040204" pitchFamily="50" charset="-128"/>
              </a:rPr>
              <a:t>S6</a:t>
            </a:r>
            <a:r>
              <a:rPr kumimoji="1" lang="ja-JP" altLang="en-US">
                <a:latin typeface="Meiryo" panose="020B0604030504040204" pitchFamily="50" charset="-128"/>
              </a:rPr>
              <a:t>以降の詳細や未定義の臨界指数を先取りしません。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10</a:t>
            </a:fld>
            <a:endParaRPr kumimoji="1" lang="ja-JP" altLang="en-US"/>
          </a:p>
        </p:txBody>
      </p:sp>
    </p:spTree>
    <p:extLst>
      <p:ext uri="{BB962C8B-B14F-4D97-AF65-F5344CB8AC3E}">
        <p14:creationId xmlns:p14="http://schemas.microsoft.com/office/powerpoint/2010/main" val="3428904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IV.A/IV.B</a:t>
            </a:r>
            <a:r>
              <a:rPr kumimoji="1" lang="ja-JP" altLang="en-US">
                <a:latin typeface="Meiryo" panose="020B0604030504040204" pitchFamily="50" charset="-128"/>
              </a:rPr>
              <a:t>（</a:t>
            </a:r>
            <a:r>
              <a:rPr kumimoji="1" lang="en-US" altLang="ja-JP">
                <a:latin typeface="Meiryo" panose="020B0604030504040204" pitchFamily="50" charset="-128"/>
              </a:rPr>
              <a:t>PDF3</a:t>
            </a:r>
            <a:r>
              <a:rPr kumimoji="1" lang="ja-JP" altLang="en-US">
                <a:latin typeface="Meiryo" panose="020B0604030504040204" pitchFamily="50" charset="-128"/>
              </a:rPr>
              <a:t>）の</a:t>
            </a:r>
            <a:r>
              <a:rPr kumimoji="1" lang="en-US" altLang="ja-JP">
                <a:latin typeface="Meiryo" panose="020B0604030504040204" pitchFamily="50" charset="-128"/>
              </a:rPr>
              <a:t>S9</a:t>
            </a:r>
            <a:r>
              <a:rPr kumimoji="1" lang="ja-JP" altLang="en-US">
                <a:latin typeface="Meiryo" panose="020B0604030504040204" pitchFamily="50" charset="-128"/>
              </a:rPr>
              <a:t>、</a:t>
            </a:r>
            <a:r>
              <a:rPr kumimoji="1" lang="en-US" altLang="ja-JP">
                <a:latin typeface="Meiryo" panose="020B0604030504040204" pitchFamily="50" charset="-128"/>
              </a:rPr>
              <a:t>S10</a:t>
            </a:r>
            <a:r>
              <a:rPr kumimoji="1" lang="ja-JP" altLang="en-US">
                <a:latin typeface="Meiryo" panose="020B0604030504040204" pitchFamily="50" charset="-128"/>
              </a:rPr>
              <a:t>を先に紹介する。</a:t>
            </a:r>
            <a:r>
              <a:rPr kumimoji="1" lang="en-US" altLang="ja-JP">
                <a:latin typeface="Meiryo" panose="020B0604030504040204" pitchFamily="50" charset="-128"/>
              </a:rPr>
              <a:t>S9</a:t>
            </a:r>
            <a:r>
              <a:rPr kumimoji="1" lang="ja-JP" altLang="en-US">
                <a:latin typeface="Meiryo" panose="020B0604030504040204" pitchFamily="50" charset="-128"/>
              </a:rPr>
              <a:t>は有限サイズの疑似臨界点と無限サイズの臨界点の関係、</a:t>
            </a:r>
            <a:r>
              <a:rPr kumimoji="1" lang="en-US" altLang="ja-JP">
                <a:latin typeface="Meiryo" panose="020B0604030504040204" pitchFamily="50" charset="-128"/>
              </a:rPr>
              <a:t>S10</a:t>
            </a:r>
            <a:r>
              <a:rPr kumimoji="1" lang="ja-JP" altLang="en-US">
                <a:latin typeface="Meiryo" panose="020B0604030504040204" pitchFamily="50" charset="-128"/>
              </a:rPr>
              <a:t>は臨界点での</a:t>
            </a:r>
            <a:r>
              <a:rPr kumimoji="1" lang="en-US" altLang="ja-JP">
                <a:latin typeface="Meiryo" panose="020B0604030504040204" pitchFamily="50" charset="-128"/>
              </a:rPr>
              <a:t>P</a:t>
            </a:r>
            <a:r>
              <a:rPr kumimoji="1" lang="ja-JP" altLang="en-US">
                <a:latin typeface="Meiryo" panose="020B0604030504040204" pitchFamily="50" charset="-128"/>
              </a:rPr>
              <a:t>のサイズ依存。</a:t>
            </a:r>
            <a:r>
              <a:rPr kumimoji="1" lang="en-US" altLang="ja-JP">
                <a:latin typeface="Meiryo" panose="020B0604030504040204" pitchFamily="50" charset="-128"/>
              </a:rPr>
              <a:t>p_c</a:t>
            </a:r>
            <a:r>
              <a:rPr kumimoji="1" lang="ja-JP" altLang="en-US">
                <a:latin typeface="Meiryo" panose="020B0604030504040204" pitchFamily="50" charset="-128"/>
              </a:rPr>
              <a:t>：無限サイズの臨界点、</a:t>
            </a:r>
            <a:r>
              <a:rPr kumimoji="1" lang="en-US" altLang="ja-JP">
                <a:latin typeface="Meiryo" panose="020B0604030504040204" pitchFamily="50" charset="-128"/>
              </a:rPr>
              <a:t>p_c(N)</a:t>
            </a:r>
            <a:r>
              <a:rPr kumimoji="1" lang="ja-JP" altLang="en-US">
                <a:latin typeface="Meiryo" panose="020B0604030504040204" pitchFamily="50" charset="-128"/>
              </a:rPr>
              <a:t>：有限サイズの疑似臨界点、</a:t>
            </a:r>
            <a:r>
              <a:rPr kumimoji="1" lang="en-US" altLang="ja-JP">
                <a:latin typeface="Meiryo" panose="020B0604030504040204" pitchFamily="50" charset="-128"/>
              </a:rPr>
              <a:t>N</a:t>
            </a:r>
            <a:r>
              <a:rPr kumimoji="1" lang="ja-JP" altLang="en-US">
                <a:latin typeface="Meiryo" panose="020B0604030504040204" pitchFamily="50" charset="-128"/>
              </a:rPr>
              <a:t>：頂点数、</a:t>
            </a:r>
            <a:r>
              <a:rPr kumimoji="1" lang="en-US" altLang="ja-JP">
                <a:latin typeface="Meiryo" panose="020B0604030504040204" pitchFamily="50" charset="-128"/>
              </a:rPr>
              <a:t>β</a:t>
            </a:r>
            <a:r>
              <a:rPr kumimoji="1" lang="ja-JP" altLang="en-US">
                <a:latin typeface="Meiryo" panose="020B0604030504040204" pitchFamily="50" charset="-128"/>
              </a:rPr>
              <a:t>（ベータ）と</a:t>
            </a:r>
            <a:r>
              <a:rPr kumimoji="1" lang="en-US" altLang="ja-JP">
                <a:latin typeface="Meiryo" panose="020B0604030504040204" pitchFamily="50" charset="-128"/>
              </a:rPr>
              <a:t>ν̄</a:t>
            </a:r>
            <a:r>
              <a:rPr kumimoji="1" lang="ja-JP" altLang="en-US">
                <a:latin typeface="Meiryo" panose="020B0604030504040204" pitchFamily="50" charset="-128"/>
              </a:rPr>
              <a:t>（ニューバー）：臨界指数、</a:t>
            </a:r>
            <a:r>
              <a:rPr kumimoji="1" lang="en-US" altLang="ja-JP">
                <a:latin typeface="Meiryo" panose="020B0604030504040204" pitchFamily="50" charset="-128"/>
              </a:rPr>
              <a:t>b</a:t>
            </a:r>
            <a:r>
              <a:rPr kumimoji="1" lang="ja-JP" altLang="en-US">
                <a:latin typeface="Meiryo" panose="020B0604030504040204" pitchFamily="50" charset="-128"/>
              </a:rPr>
              <a:t>：係数。画面の</a:t>
            </a:r>
            <a:r>
              <a:rPr kumimoji="1" lang="en-US" altLang="ja-JP">
                <a:latin typeface="Meiryo" panose="020B0604030504040204" pitchFamily="50" charset="-128"/>
              </a:rPr>
              <a:t>2</a:t>
            </a:r>
            <a:r>
              <a:rPr kumimoji="1" lang="ja-JP" altLang="en-US">
                <a:latin typeface="Meiryo" panose="020B0604030504040204" pitchFamily="50" charset="-128"/>
              </a:rPr>
              <a:t>式を指す。詳細な意味と導出は後続で説明するので追加板書は不要。</a:t>
            </a:r>
            <a:r>
              <a:rPr kumimoji="1" lang="en-US" altLang="ja-JP">
                <a:latin typeface="Meiryo" panose="020B0604030504040204" pitchFamily="50" charset="-128"/>
              </a:rPr>
              <a:t>S10</a:t>
            </a:r>
            <a:r>
              <a:rPr kumimoji="1" lang="ja-JP" altLang="en-US">
                <a:latin typeface="Meiryo" panose="020B0604030504040204" pitchFamily="50" charset="-128"/>
              </a:rPr>
              <a:t>の画面表記は説明用に平均と</a:t>
            </a:r>
            <a:r>
              <a:rPr kumimoji="1" lang="en-US" altLang="ja-JP">
                <a:latin typeface="Meiryo" panose="020B0604030504040204" pitchFamily="50" charset="-128"/>
              </a:rPr>
              <a:t>N</a:t>
            </a:r>
            <a:r>
              <a:rPr kumimoji="1" lang="ja-JP" altLang="en-US">
                <a:latin typeface="Meiryo" panose="020B0604030504040204" pitchFamily="50" charset="-128"/>
              </a:rPr>
              <a:t>依存性を明示したもので、原文は</a:t>
            </a:r>
            <a:r>
              <a:rPr kumimoji="1" lang="en-US" altLang="ja-JP">
                <a:latin typeface="Meiryo" panose="020B0604030504040204" pitchFamily="50" charset="-128"/>
              </a:rPr>
              <a:t>P(p_c)=〈P(p=p_c,N)〉〜N^{-β/ν̄}</a:t>
            </a:r>
            <a:r>
              <a:rPr kumimoji="1" lang="ja-JP" altLang="en-US">
                <a:latin typeface="Meiryo" panose="020B0604030504040204" pitchFamily="50" charset="-128"/>
              </a:rPr>
              <a:t>。原文の左辺を厳密にそのまま引用したと誤認させない。</a:t>
            </a:r>
            <a:r>
              <a:rPr kumimoji="1" lang="en-US" altLang="ja-JP">
                <a:latin typeface="Meiryo" panose="020B0604030504040204" pitchFamily="50" charset="-128"/>
              </a:rPr>
              <a:t>【</a:t>
            </a:r>
            <a:r>
              <a:rPr kumimoji="1" lang="ja-JP" altLang="en-US">
                <a:latin typeface="Meiryo" panose="020B0604030504040204" pitchFamily="50" charset="-128"/>
              </a:rPr>
              <a:t>補足</a:t>
            </a:r>
            <a:r>
              <a:rPr kumimoji="1" lang="en-US" altLang="ja-JP">
                <a:latin typeface="Meiryo" panose="020B0604030504040204" pitchFamily="50" charset="-128"/>
              </a:rPr>
              <a:t>】FSS</a:t>
            </a:r>
            <a:r>
              <a:rPr kumimoji="1" lang="ja-JP" altLang="en-US">
                <a:latin typeface="Meiryo" panose="020B0604030504040204" pitchFamily="50" charset="-128"/>
              </a:rPr>
              <a:t>の仮定に基づく関係であり、</a:t>
            </a:r>
            <a:r>
              <a:rPr kumimoji="1" lang="en-US" altLang="ja-JP">
                <a:latin typeface="Meiryo" panose="020B0604030504040204" pitchFamily="50" charset="-128"/>
              </a:rPr>
              <a:t>SPP</a:t>
            </a:r>
            <a:r>
              <a:rPr kumimoji="1" lang="ja-JP" altLang="en-US">
                <a:latin typeface="Meiryo" panose="020B0604030504040204" pitchFamily="50" charset="-128"/>
              </a:rPr>
              <a:t>の操作規則から厳密に導かれた恒等式ではない。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11</a:t>
            </a:fld>
            <a:endParaRPr kumimoji="1" lang="ja-JP" altLang="en-US"/>
          </a:p>
        </p:txBody>
      </p:sp>
    </p:spTree>
    <p:extLst>
      <p:ext uri="{BB962C8B-B14F-4D97-AF65-F5344CB8AC3E}">
        <p14:creationId xmlns:p14="http://schemas.microsoft.com/office/powerpoint/2010/main" val="3847240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a:t>
            </a:r>
            <a:r>
              <a:rPr kumimoji="1" lang="ja-JP" altLang="en-US">
                <a:latin typeface="Meiryo" panose="020B0604030504040204" pitchFamily="50" charset="-128"/>
              </a:rPr>
              <a:t>（</a:t>
            </a:r>
            <a:r>
              <a:rPr kumimoji="1" lang="en-US" altLang="ja-JP">
                <a:latin typeface="Meiryo" panose="020B0604030504040204" pitchFamily="50" charset="-128"/>
              </a:rPr>
              <a:t>PDF2</a:t>
            </a:r>
            <a:r>
              <a:rPr kumimoji="1" lang="ja-JP" altLang="en-US">
                <a:latin typeface="Meiryo" panose="020B0604030504040204" pitchFamily="50" charset="-128"/>
              </a:rPr>
              <a:t>）は式</a:t>
            </a:r>
            <a:r>
              <a:rPr kumimoji="1" lang="en-US" altLang="ja-JP">
                <a:latin typeface="Meiryo" panose="020B0604030504040204" pitchFamily="50" charset="-128"/>
              </a:rPr>
              <a:t>S6</a:t>
            </a:r>
            <a:r>
              <a:rPr kumimoji="1" lang="ja-JP" altLang="en-US">
                <a:latin typeface="Meiryo" panose="020B0604030504040204" pitchFamily="50" charset="-128"/>
              </a:rPr>
              <a:t>を</a:t>
            </a:r>
            <a:r>
              <a:rPr kumimoji="1" lang="en-US" altLang="ja-JP">
                <a:latin typeface="Meiryo" panose="020B0604030504040204" pitchFamily="50" charset="-128"/>
              </a:rPr>
              <a:t>FSS</a:t>
            </a:r>
            <a:r>
              <a:rPr kumimoji="1" lang="ja-JP" altLang="en-US">
                <a:latin typeface="Meiryo" panose="020B0604030504040204" pitchFamily="50" charset="-128"/>
              </a:rPr>
              <a:t>の仮定として採用する。</a:t>
            </a:r>
            <a:r>
              <a:rPr kumimoji="1" lang="en-US" altLang="ja-JP">
                <a:latin typeface="Meiryo" panose="020B0604030504040204" pitchFamily="50" charset="-128"/>
              </a:rPr>
              <a:t>β</a:t>
            </a:r>
            <a:r>
              <a:rPr kumimoji="1" lang="ja-JP" altLang="en-US">
                <a:latin typeface="Meiryo" panose="020B0604030504040204" pitchFamily="50" charset="-128"/>
              </a:rPr>
              <a:t>は</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ν̄</a:t>
            </a:r>
            <a:r>
              <a:rPr kumimoji="1" lang="ja-JP" altLang="en-US">
                <a:latin typeface="Meiryo" panose="020B0604030504040204" pitchFamily="50" charset="-128"/>
              </a:rPr>
              <a:t>は相関体積の指数。右辺の前因子</a:t>
            </a:r>
            <a:r>
              <a:rPr kumimoji="1" lang="en-US" altLang="ja-JP">
                <a:latin typeface="Meiryo" panose="020B0604030504040204" pitchFamily="50" charset="-128"/>
              </a:rPr>
              <a:t>N^{-β/ν̄}</a:t>
            </a:r>
            <a:r>
              <a:rPr kumimoji="1" lang="ja-JP" altLang="en-US">
                <a:latin typeface="Meiryo" panose="020B0604030504040204" pitchFamily="50" charset="-128"/>
              </a:rPr>
              <a:t>はスケーリング関数の引数を一定にしたときのサイズ依存、</a:t>
            </a:r>
            <a:r>
              <a:rPr kumimoji="1" lang="en-US" altLang="ja-JP">
                <a:latin typeface="Meiryo" panose="020B0604030504040204" pitchFamily="50" charset="-128"/>
              </a:rPr>
              <a:t>u=(p-p_c)N^{1/ν̄}</a:t>
            </a:r>
            <a:r>
              <a:rPr kumimoji="1" lang="ja-JP" altLang="en-US">
                <a:latin typeface="Meiryo" panose="020B0604030504040204" pitchFamily="50" charset="-128"/>
              </a:rPr>
              <a:t>は説明用補助記号である。</a:t>
            </a:r>
            <a:r>
              <a:rPr kumimoji="1" lang="en-US" altLang="ja-JP">
                <a:latin typeface="Meiryo" panose="020B0604030504040204" pitchFamily="50" charset="-128"/>
              </a:rPr>
              <a:t>【</a:t>
            </a:r>
            <a:r>
              <a:rPr kumimoji="1" lang="ja-JP" altLang="en-US">
                <a:latin typeface="Meiryo" panose="020B0604030504040204" pitchFamily="50" charset="-128"/>
              </a:rPr>
              <a:t>一般理論に基づく補足：原論文掲載の導出ではない</a:t>
            </a:r>
            <a:r>
              <a:rPr kumimoji="1" lang="en-US" altLang="ja-JP">
                <a:latin typeface="Meiryo" panose="020B0604030504040204" pitchFamily="50" charset="-128"/>
              </a:rPr>
              <a:t>】</a:t>
            </a:r>
            <a:r>
              <a:rPr kumimoji="1" lang="ja-JP" altLang="en-US">
                <a:latin typeface="Meiryo" panose="020B0604030504040204" pitchFamily="50" charset="-128"/>
              </a:rPr>
              <a:t>通常の連続パーコレーションの連結側</a:t>
            </a:r>
            <a:r>
              <a:rPr kumimoji="1" lang="en-US" altLang="ja-JP">
                <a:latin typeface="Meiryo" panose="020B0604030504040204" pitchFamily="50" charset="-128"/>
              </a:rPr>
              <a:t>p&lt;p_c</a:t>
            </a:r>
            <a:r>
              <a:rPr kumimoji="1" lang="ja-JP" altLang="en-US">
                <a:latin typeface="Meiryo" panose="020B0604030504040204" pitchFamily="50" charset="-128"/>
              </a:rPr>
              <a:t>で</a:t>
            </a:r>
            <a:r>
              <a:rPr kumimoji="1" lang="en-US" altLang="ja-JP">
                <a:latin typeface="Meiryo" panose="020B0604030504040204" pitchFamily="50" charset="-128"/>
              </a:rPr>
              <a:t>δ=p_c-p&gt;0</a:t>
            </a:r>
            <a:r>
              <a:rPr kumimoji="1" lang="ja-JP" altLang="en-US">
                <a:latin typeface="Meiryo" panose="020B0604030504040204" pitchFamily="50" charset="-128"/>
              </a:rPr>
              <a:t>、</a:t>
            </a:r>
            <a:r>
              <a:rPr kumimoji="1" lang="en-US" altLang="ja-JP">
                <a:latin typeface="Meiryo" panose="020B0604030504040204" pitchFamily="50" charset="-128"/>
              </a:rPr>
              <a:t>P_∞∝δ^β</a:t>
            </a:r>
            <a:r>
              <a:rPr kumimoji="1" lang="ja-JP" altLang="en-US">
                <a:latin typeface="Meiryo" panose="020B0604030504040204" pitchFamily="50" charset="-128"/>
              </a:rPr>
              <a:t>を想定する。相関体積</a:t>
            </a:r>
            <a:r>
              <a:rPr kumimoji="1" lang="en-US" altLang="ja-JP">
                <a:latin typeface="Meiryo" panose="020B0604030504040204" pitchFamily="50" charset="-128"/>
              </a:rPr>
              <a:t>V_corr∝|p-p_c|^{-ν̄}</a:t>
            </a:r>
            <a:r>
              <a:rPr kumimoji="1" lang="ja-JP" altLang="en-US">
                <a:latin typeface="Meiryo" panose="020B0604030504040204" pitchFamily="50" charset="-128"/>
              </a:rPr>
              <a:t>、有限サイズ効果が重要となる規模</a:t>
            </a:r>
            <a:r>
              <a:rPr kumimoji="1" lang="en-US" altLang="ja-JP">
                <a:latin typeface="Meiryo" panose="020B0604030504040204" pitchFamily="50" charset="-128"/>
              </a:rPr>
              <a:t>V_corr〜N</a:t>
            </a:r>
            <a:r>
              <a:rPr kumimoji="1" lang="ja-JP" altLang="en-US">
                <a:latin typeface="Meiryo" panose="020B0604030504040204" pitchFamily="50" charset="-128"/>
              </a:rPr>
              <a:t>から、</a:t>
            </a:r>
            <a:r>
              <a:rPr kumimoji="1" lang="en-US" altLang="ja-JP">
                <a:latin typeface="Meiryo" panose="020B0604030504040204" pitchFamily="50" charset="-128"/>
              </a:rPr>
              <a:t>|p-p_c|〜N^{-1/ν̄}</a:t>
            </a:r>
            <a:r>
              <a:rPr kumimoji="1" lang="ja-JP" altLang="en-US">
                <a:latin typeface="Meiryo" panose="020B0604030504040204" pitchFamily="50" charset="-128"/>
              </a:rPr>
              <a:t>と考える。この幅を基準にした符号付き距離が</a:t>
            </a:r>
            <a:r>
              <a:rPr kumimoji="1" lang="en-US" altLang="ja-JP">
                <a:latin typeface="Meiryo" panose="020B0604030504040204" pitchFamily="50" charset="-128"/>
              </a:rPr>
              <a:t>u=(p-p_c)/N^{-1/ν̄}</a:t>
            </a:r>
            <a:r>
              <a:rPr kumimoji="1" lang="ja-JP" altLang="en-US">
                <a:latin typeface="Meiryo" panose="020B0604030504040204" pitchFamily="50" charset="-128"/>
              </a:rPr>
              <a:t>。</a:t>
            </a:r>
            <a:r>
              <a:rPr kumimoji="1" lang="en-US" altLang="ja-JP">
                <a:latin typeface="Meiryo" panose="020B0604030504040204" pitchFamily="50" charset="-128"/>
              </a:rPr>
              <a:t>u</a:t>
            </a:r>
            <a:r>
              <a:rPr kumimoji="1" lang="ja-JP" altLang="en-US">
                <a:latin typeface="Meiryo" panose="020B0604030504040204" pitchFamily="50" charset="-128"/>
              </a:rPr>
              <a:t>固定なら</a:t>
            </a:r>
            <a:r>
              <a:rPr kumimoji="1" lang="en-US" altLang="ja-JP">
                <a:latin typeface="Meiryo" panose="020B0604030504040204" pitchFamily="50" charset="-128"/>
              </a:rPr>
              <a:t>p-p_c=uN^{-1/ν̄}</a:t>
            </a:r>
            <a:r>
              <a:rPr kumimoji="1" lang="ja-JP" altLang="en-US">
                <a:latin typeface="Meiryo" panose="020B0604030504040204" pitchFamily="50" charset="-128"/>
              </a:rPr>
              <a:t>とともに</a:t>
            </a:r>
            <a:r>
              <a:rPr kumimoji="1" lang="en-US" altLang="ja-JP">
                <a:latin typeface="Meiryo" panose="020B0604030504040204" pitchFamily="50" charset="-128"/>
              </a:rPr>
              <a:t>p</a:t>
            </a:r>
            <a:r>
              <a:rPr kumimoji="1" lang="ja-JP" altLang="en-US">
                <a:latin typeface="Meiryo" panose="020B0604030504040204" pitchFamily="50" charset="-128"/>
              </a:rPr>
              <a:t>も変化する。代表的大きさ</a:t>
            </a:r>
            <a:r>
              <a:rPr kumimoji="1" lang="en-US" altLang="ja-JP">
                <a:latin typeface="Meiryo" panose="020B0604030504040204" pitchFamily="50" charset="-128"/>
              </a:rPr>
              <a:t>P_scale〜(N^{-1/ν̄})^β=N^{-β/ν̄}</a:t>
            </a:r>
            <a:r>
              <a:rPr kumimoji="1" lang="ja-JP" altLang="en-US">
                <a:latin typeface="Meiryo" panose="020B0604030504040204" pitchFamily="50" charset="-128"/>
              </a:rPr>
              <a:t>。</a:t>
            </a:r>
            <a:r>
              <a:rPr kumimoji="1" lang="en-US" altLang="ja-JP">
                <a:latin typeface="Meiryo" panose="020B0604030504040204" pitchFamily="50" charset="-128"/>
              </a:rPr>
              <a:t>u</a:t>
            </a:r>
            <a:r>
              <a:rPr kumimoji="1" lang="ja-JP" altLang="en-US">
                <a:latin typeface="Meiryo" panose="020B0604030504040204" pitchFamily="50" charset="-128"/>
              </a:rPr>
              <a:t>による変化を</a:t>
            </a:r>
            <a:r>
              <a:rPr kumimoji="1" lang="en-US" altLang="ja-JP">
                <a:latin typeface="Meiryo" panose="020B0604030504040204" pitchFamily="50" charset="-128"/>
              </a:rPr>
              <a:t>F^{(1)}</a:t>
            </a:r>
            <a:r>
              <a:rPr kumimoji="1" lang="ja-JP" altLang="en-US">
                <a:latin typeface="Meiryo" panose="020B0604030504040204" pitchFamily="50" charset="-128"/>
              </a:rPr>
              <a:t>で表すことで</a:t>
            </a:r>
            <a:r>
              <a:rPr kumimoji="1" lang="en-US" altLang="ja-JP">
                <a:latin typeface="Meiryo" panose="020B0604030504040204" pitchFamily="50" charset="-128"/>
              </a:rPr>
              <a:t>S6</a:t>
            </a:r>
            <a:r>
              <a:rPr kumimoji="1" lang="ja-JP" altLang="en-US">
                <a:latin typeface="Meiryo" panose="020B0604030504040204" pitchFamily="50" charset="-128"/>
              </a:rPr>
              <a:t>の形を動機づける。これは厳密な証明ではなく、無制限</a:t>
            </a:r>
            <a:r>
              <a:rPr kumimoji="1" lang="en-US" altLang="ja-JP">
                <a:latin typeface="Meiryo" panose="020B0604030504040204" pitchFamily="50" charset="-128"/>
              </a:rPr>
              <a:t>SPP</a:t>
            </a:r>
            <a:r>
              <a:rPr kumimoji="1" lang="ja-JP" altLang="en-US">
                <a:latin typeface="Meiryo" panose="020B0604030504040204" pitchFamily="50" charset="-128"/>
              </a:rPr>
              <a:t>や本研究の</a:t>
            </a:r>
            <a:r>
              <a:rPr kumimoji="1" lang="en-US" altLang="ja-JP">
                <a:latin typeface="Meiryo" panose="020B0604030504040204" pitchFamily="50" charset="-128"/>
              </a:rPr>
              <a:t>2D</a:t>
            </a:r>
            <a:r>
              <a:rPr kumimoji="1" lang="ja-JP" altLang="en-US">
                <a:latin typeface="Meiryo" panose="020B0604030504040204" pitchFamily="50" charset="-128"/>
              </a:rPr>
              <a:t>格子で連続転移の描像が必ず成立するとの主張でもない。</a:t>
            </a:r>
            <a:r>
              <a:rPr kumimoji="1" lang="en-US" altLang="ja-JP">
                <a:latin typeface="Meiryo" panose="020B0604030504040204" pitchFamily="50" charset="-128"/>
              </a:rPr>
              <a:t>ER</a:t>
            </a:r>
            <a:r>
              <a:rPr kumimoji="1" lang="ja-JP" altLang="en-US">
                <a:latin typeface="Meiryo" panose="020B0604030504040204" pitchFamily="50" charset="-128"/>
              </a:rPr>
              <a:t>の</a:t>
            </a:r>
            <a:r>
              <a:rPr kumimoji="1" lang="en-US" altLang="ja-JP">
                <a:latin typeface="Meiryo" panose="020B0604030504040204" pitchFamily="50" charset="-128"/>
              </a:rPr>
              <a:t>V_corr</a:t>
            </a:r>
            <a:r>
              <a:rPr kumimoji="1" lang="ja-JP" altLang="en-US">
                <a:latin typeface="Meiryo" panose="020B0604030504040204" pitchFamily="50" charset="-128"/>
              </a:rPr>
              <a:t>を自然な実空間体積と同一視しない。</a:t>
            </a:r>
            <a:r>
              <a:rPr kumimoji="1" lang="en-US" altLang="ja-JP">
                <a:latin typeface="Meiryo" panose="020B0604030504040204" pitchFamily="50" charset="-128"/>
              </a:rPr>
              <a:t>FSS</a:t>
            </a:r>
            <a:r>
              <a:rPr kumimoji="1" lang="ja-JP" altLang="en-US">
                <a:latin typeface="Meiryo" panose="020B0604030504040204" pitchFamily="50" charset="-128"/>
              </a:rPr>
              <a:t>が成立すれば</a:t>
            </a:r>
            <a:r>
              <a:rPr kumimoji="1" lang="en-US" altLang="ja-JP">
                <a:latin typeface="Meiryo" panose="020B0604030504040204" pitchFamily="50" charset="-128"/>
              </a:rPr>
              <a:t>N^{β/ν̄}〈P〉=F^{(1)}(u)</a:t>
            </a:r>
            <a:r>
              <a:rPr kumimoji="1" lang="ja-JP" altLang="en-US">
                <a:latin typeface="Meiryo" panose="020B0604030504040204" pitchFamily="50" charset="-128"/>
              </a:rPr>
              <a:t>としてデータコラプスを考えられる。質問時のみ、連結側の漸近形</a:t>
            </a:r>
            <a:r>
              <a:rPr kumimoji="1" lang="en-US" altLang="ja-JP">
                <a:latin typeface="Meiryo" panose="020B0604030504040204" pitchFamily="50" charset="-128"/>
              </a:rPr>
              <a:t>F^{(1)}(u)∝(-u)^β</a:t>
            </a:r>
            <a:r>
              <a:rPr kumimoji="1" lang="ja-JP" altLang="en-US">
                <a:latin typeface="Meiryo" panose="020B0604030504040204" pitchFamily="50" charset="-128"/>
              </a:rPr>
              <a:t>による</a:t>
            </a:r>
            <a:r>
              <a:rPr kumimoji="1" lang="en-US" altLang="ja-JP">
                <a:latin typeface="Meiryo" panose="020B0604030504040204" pitchFamily="50" charset="-128"/>
              </a:rPr>
              <a:t>P_∞</a:t>
            </a:r>
            <a:r>
              <a:rPr kumimoji="1" lang="ja-JP" altLang="en-US">
                <a:latin typeface="Meiryo" panose="020B0604030504040204" pitchFamily="50" charset="-128"/>
              </a:rPr>
              <a:t>との整合性を説明する。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12</a:t>
            </a:fld>
            <a:endParaRPr kumimoji="1" lang="ja-JP" altLang="en-US"/>
          </a:p>
        </p:txBody>
      </p:sp>
    </p:spTree>
    <p:extLst>
      <p:ext uri="{BB962C8B-B14F-4D97-AF65-F5344CB8AC3E}">
        <p14:creationId xmlns:p14="http://schemas.microsoft.com/office/powerpoint/2010/main" val="2867963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a:t>
            </a:r>
            <a:r>
              <a:rPr kumimoji="1" lang="ja-JP" altLang="en-US">
                <a:latin typeface="Meiryo" panose="020B0604030504040204" pitchFamily="50" charset="-128"/>
              </a:rPr>
              <a:t>（</a:t>
            </a:r>
            <a:r>
              <a:rPr kumimoji="1" lang="en-US" altLang="ja-JP">
                <a:latin typeface="Meiryo" panose="020B0604030504040204" pitchFamily="50" charset="-128"/>
              </a:rPr>
              <a:t>PDF2</a:t>
            </a:r>
            <a:r>
              <a:rPr kumimoji="1" lang="ja-JP" altLang="en-US">
                <a:latin typeface="Meiryo" panose="020B0604030504040204" pitchFamily="50" charset="-128"/>
              </a:rPr>
              <a:t>）の</a:t>
            </a:r>
            <a:r>
              <a:rPr kumimoji="1" lang="en-US" altLang="ja-JP">
                <a:latin typeface="Meiryo" panose="020B0604030504040204" pitchFamily="50" charset="-128"/>
              </a:rPr>
              <a:t>S7</a:t>
            </a:r>
            <a:r>
              <a:rPr kumimoji="1" lang="ja-JP" altLang="en-US">
                <a:latin typeface="Meiryo" panose="020B0604030504040204" pitchFamily="50" charset="-128"/>
              </a:rPr>
              <a:t>。</a:t>
            </a:r>
            <a:r>
              <a:rPr kumimoji="1" lang="en-US" altLang="ja-JP">
                <a:latin typeface="Meiryo" panose="020B0604030504040204" pitchFamily="50" charset="-128"/>
              </a:rPr>
              <a:t>γ</a:t>
            </a:r>
            <a:r>
              <a:rPr kumimoji="1" lang="ja-JP" altLang="en-US">
                <a:latin typeface="Meiryo" panose="020B0604030504040204" pitchFamily="50" charset="-128"/>
              </a:rPr>
              <a:t>（ガンマ）は平均クラスターサイズ</a:t>
            </a:r>
            <a:r>
              <a:rPr kumimoji="1" lang="en-US" altLang="ja-JP">
                <a:latin typeface="Meiryo" panose="020B0604030504040204" pitchFamily="50" charset="-128"/>
              </a:rPr>
              <a:t>S</a:t>
            </a:r>
            <a:r>
              <a:rPr kumimoji="1" lang="ja-JP" altLang="en-US">
                <a:latin typeface="Meiryo" panose="020B0604030504040204" pitchFamily="50" charset="-128"/>
              </a:rPr>
              <a:t>の指数、</a:t>
            </a:r>
            <a:r>
              <a:rPr kumimoji="1" lang="en-US" altLang="ja-JP">
                <a:latin typeface="Meiryo" panose="020B0604030504040204" pitchFamily="50" charset="-128"/>
              </a:rPr>
              <a:t>ν̄</a:t>
            </a:r>
            <a:r>
              <a:rPr kumimoji="1" lang="ja-JP" altLang="en-US">
                <a:latin typeface="Meiryo" panose="020B0604030504040204" pitchFamily="50" charset="-128"/>
              </a:rPr>
              <a:t>はスライド</a:t>
            </a:r>
            <a:r>
              <a:rPr kumimoji="1" lang="en-US" altLang="ja-JP">
                <a:latin typeface="Meiryo" panose="020B0604030504040204" pitchFamily="50" charset="-128"/>
              </a:rPr>
              <a:t>12</a:t>
            </a:r>
            <a:r>
              <a:rPr kumimoji="1" lang="ja-JP" altLang="en-US">
                <a:latin typeface="Meiryo" panose="020B0604030504040204" pitchFamily="50" charset="-128"/>
              </a:rPr>
              <a:t>と共通の相関体積の指数、</a:t>
            </a:r>
            <a:r>
              <a:rPr kumimoji="1" lang="en-US" altLang="ja-JP">
                <a:latin typeface="Meiryo" panose="020B0604030504040204" pitchFamily="50" charset="-128"/>
              </a:rPr>
              <a:t>F^{(2)}</a:t>
            </a:r>
            <a:r>
              <a:rPr kumimoji="1" lang="ja-JP" altLang="en-US">
                <a:latin typeface="Meiryo" panose="020B0604030504040204" pitchFamily="50" charset="-128"/>
              </a:rPr>
              <a:t>は</a:t>
            </a:r>
            <a:r>
              <a:rPr kumimoji="1" lang="en-US" altLang="ja-JP">
                <a:latin typeface="Meiryo" panose="020B0604030504040204" pitchFamily="50" charset="-128"/>
              </a:rPr>
              <a:t>S</a:t>
            </a:r>
            <a:r>
              <a:rPr kumimoji="1" lang="ja-JP" altLang="en-US">
                <a:latin typeface="Meiryo" panose="020B0604030504040204" pitchFamily="50" charset="-128"/>
              </a:rPr>
              <a:t>の関数。</a:t>
            </a:r>
            <a:r>
              <a:rPr kumimoji="1" lang="en-US" altLang="ja-JP">
                <a:latin typeface="Meiryo" panose="020B0604030504040204" pitchFamily="50" charset="-128"/>
              </a:rPr>
              <a:t>【</a:t>
            </a:r>
            <a:r>
              <a:rPr kumimoji="1" lang="ja-JP" altLang="en-US">
                <a:latin typeface="Meiryo" panose="020B0604030504040204" pitchFamily="50" charset="-128"/>
              </a:rPr>
              <a:t>一般理論に基づく補足：原論文の式ではない</a:t>
            </a:r>
            <a:r>
              <a:rPr kumimoji="1" lang="en-US" altLang="ja-JP">
                <a:latin typeface="Meiryo" panose="020B0604030504040204" pitchFamily="50" charset="-128"/>
              </a:rPr>
              <a:t>】</a:t>
            </a:r>
            <a:r>
              <a:rPr kumimoji="1" lang="ja-JP" altLang="en-US">
                <a:latin typeface="Meiryo" panose="020B0604030504040204" pitchFamily="50" charset="-128"/>
              </a:rPr>
              <a:t>通常の連続転移の無限系で、有限クラスターの平均</a:t>
            </a:r>
            <a:r>
              <a:rPr kumimoji="1" lang="en-US" altLang="ja-JP">
                <a:latin typeface="Meiryo" panose="020B0604030504040204" pitchFamily="50" charset="-128"/>
              </a:rPr>
              <a:t>S_∞∝|p-p_c|^{-γ}</a:t>
            </a:r>
            <a:r>
              <a:rPr kumimoji="1" lang="ja-JP" altLang="en-US">
                <a:latin typeface="Meiryo" panose="020B0604030504040204" pitchFamily="50" charset="-128"/>
              </a:rPr>
              <a:t>（</a:t>
            </a:r>
            <a:r>
              <a:rPr kumimoji="1" lang="en-US" altLang="ja-JP">
                <a:latin typeface="Meiryo" panose="020B0604030504040204" pitchFamily="50" charset="-128"/>
              </a:rPr>
              <a:t>γ&gt;0</a:t>
            </a:r>
            <a:r>
              <a:rPr kumimoji="1" lang="ja-JP" altLang="en-US">
                <a:latin typeface="Meiryo" panose="020B0604030504040204" pitchFamily="50" charset="-128"/>
              </a:rPr>
              <a:t>）。</a:t>
            </a:r>
            <a:r>
              <a:rPr kumimoji="1" lang="en-US" altLang="ja-JP">
                <a:latin typeface="Meiryo" panose="020B0604030504040204" pitchFamily="50" charset="-128"/>
              </a:rPr>
              <a:t>S_∞</a:t>
            </a:r>
            <a:r>
              <a:rPr kumimoji="1" lang="ja-JP" altLang="en-US">
                <a:latin typeface="Meiryo" panose="020B0604030504040204" pitchFamily="50" charset="-128"/>
              </a:rPr>
              <a:t>は無限系の有限クラスターについての平均であり、有限系で最大成分を</a:t>
            </a:r>
            <a:r>
              <a:rPr kumimoji="1" lang="en-US" altLang="ja-JP">
                <a:latin typeface="Meiryo" panose="020B0604030504040204" pitchFamily="50" charset="-128"/>
              </a:rPr>
              <a:t>1</a:t>
            </a:r>
            <a:r>
              <a:rPr kumimoji="1" lang="ja-JP" altLang="en-US">
                <a:latin typeface="Meiryo" panose="020B0604030504040204" pitchFamily="50" charset="-128"/>
              </a:rPr>
              <a:t>個除く定義と無条件に同一視しない。スライド</a:t>
            </a:r>
            <a:r>
              <a:rPr kumimoji="1" lang="en-US" altLang="ja-JP">
                <a:latin typeface="Meiryo" panose="020B0604030504040204" pitchFamily="50" charset="-128"/>
              </a:rPr>
              <a:t>12</a:t>
            </a:r>
            <a:r>
              <a:rPr kumimoji="1" lang="ja-JP" altLang="en-US">
                <a:latin typeface="Meiryo" panose="020B0604030504040204" pitchFamily="50" charset="-128"/>
              </a:rPr>
              <a:t>の幅</a:t>
            </a:r>
            <a:r>
              <a:rPr kumimoji="1" lang="en-US" altLang="ja-JP">
                <a:latin typeface="Meiryo" panose="020B0604030504040204" pitchFamily="50" charset="-128"/>
              </a:rPr>
              <a:t>|p-p_c|〜N^{-1/ν̄}</a:t>
            </a:r>
            <a:r>
              <a:rPr kumimoji="1" lang="ja-JP" altLang="en-US">
                <a:latin typeface="Meiryo" panose="020B0604030504040204" pitchFamily="50" charset="-128"/>
              </a:rPr>
              <a:t>を用い、代表的大きさ</a:t>
            </a:r>
            <a:r>
              <a:rPr kumimoji="1" lang="en-US" altLang="ja-JP">
                <a:latin typeface="Meiryo" panose="020B0604030504040204" pitchFamily="50" charset="-128"/>
              </a:rPr>
              <a:t>S_scale〜(N^{-1/ν̄})^{-γ}=N^{γ/ν̄}</a:t>
            </a:r>
            <a:r>
              <a:rPr kumimoji="1" lang="ja-JP" altLang="en-US">
                <a:latin typeface="Meiryo" panose="020B0604030504040204" pitchFamily="50" charset="-128"/>
              </a:rPr>
              <a:t>を動機づける。</a:t>
            </a:r>
            <a:r>
              <a:rPr kumimoji="1" lang="en-US" altLang="ja-JP">
                <a:latin typeface="Meiryo" panose="020B0604030504040204" pitchFamily="50" charset="-128"/>
              </a:rPr>
              <a:t>P</a:t>
            </a:r>
            <a:r>
              <a:rPr kumimoji="1" lang="ja-JP" altLang="en-US">
                <a:latin typeface="Meiryo" panose="020B0604030504040204" pitchFamily="50" charset="-128"/>
              </a:rPr>
              <a:t>は小さくなる、</a:t>
            </a:r>
            <a:r>
              <a:rPr kumimoji="1" lang="en-US" altLang="ja-JP">
                <a:latin typeface="Meiryo" panose="020B0604030504040204" pitchFamily="50" charset="-128"/>
              </a:rPr>
              <a:t>S</a:t>
            </a:r>
            <a:r>
              <a:rPr kumimoji="1" lang="ja-JP" altLang="en-US">
                <a:latin typeface="Meiryo" panose="020B0604030504040204" pitchFamily="50" charset="-128"/>
              </a:rPr>
              <a:t>は増大するという通常の連続転移の臨界挙動の違いが、前因子の符号に対応する。同じ</a:t>
            </a:r>
            <a:r>
              <a:rPr kumimoji="1" lang="en-US" altLang="ja-JP">
                <a:latin typeface="Meiryo" panose="020B0604030504040204" pitchFamily="50" charset="-128"/>
              </a:rPr>
              <a:t>u</a:t>
            </a:r>
            <a:r>
              <a:rPr kumimoji="1" lang="ja-JP" altLang="en-US">
                <a:latin typeface="Meiryo" panose="020B0604030504040204" pitchFamily="50" charset="-128"/>
              </a:rPr>
              <a:t>を使うが</a:t>
            </a:r>
            <a:r>
              <a:rPr kumimoji="1" lang="en-US" altLang="ja-JP">
                <a:latin typeface="Meiryo" panose="020B0604030504040204" pitchFamily="50" charset="-128"/>
              </a:rPr>
              <a:t>F^{(1)}</a:t>
            </a:r>
            <a:r>
              <a:rPr kumimoji="1" lang="ja-JP" altLang="en-US">
                <a:latin typeface="Meiryo" panose="020B0604030504040204" pitchFamily="50" charset="-128"/>
              </a:rPr>
              <a:t>と</a:t>
            </a:r>
            <a:r>
              <a:rPr kumimoji="1" lang="en-US" altLang="ja-JP">
                <a:latin typeface="Meiryo" panose="020B0604030504040204" pitchFamily="50" charset="-128"/>
              </a:rPr>
              <a:t>F^{(2)}</a:t>
            </a:r>
            <a:r>
              <a:rPr kumimoji="1" lang="ja-JP" altLang="en-US">
                <a:latin typeface="Meiryo" panose="020B0604030504040204" pitchFamily="50" charset="-128"/>
              </a:rPr>
              <a:t>は異なる。</a:t>
            </a:r>
            <a:r>
              <a:rPr kumimoji="1" lang="en-US" altLang="ja-JP">
                <a:latin typeface="Meiryo" panose="020B0604030504040204" pitchFamily="50" charset="-128"/>
              </a:rPr>
              <a:t>S7</a:t>
            </a:r>
            <a:r>
              <a:rPr kumimoji="1" lang="ja-JP" altLang="en-US">
                <a:latin typeface="Meiryo" panose="020B0604030504040204" pitchFamily="50" charset="-128"/>
              </a:rPr>
              <a:t>も仮定であり、</a:t>
            </a:r>
            <a:r>
              <a:rPr kumimoji="1" lang="en-US" altLang="ja-JP">
                <a:latin typeface="Meiryo" panose="020B0604030504040204" pitchFamily="50" charset="-128"/>
              </a:rPr>
              <a:t>2D</a:t>
            </a:r>
            <a:r>
              <a:rPr kumimoji="1" lang="ja-JP" altLang="en-US">
                <a:latin typeface="Meiryo" panose="020B0604030504040204" pitchFamily="50" charset="-128"/>
              </a:rPr>
              <a:t>制限なし</a:t>
            </a:r>
            <a:r>
              <a:rPr kumimoji="1" lang="en-US" altLang="ja-JP">
                <a:latin typeface="Meiryo" panose="020B0604030504040204" pitchFamily="50" charset="-128"/>
              </a:rPr>
              <a:t>SPP</a:t>
            </a:r>
            <a:r>
              <a:rPr kumimoji="1" lang="ja-JP" altLang="en-US">
                <a:latin typeface="Meiryo" panose="020B0604030504040204" pitchFamily="50" charset="-128"/>
              </a:rPr>
              <a:t>への適用や厳密証明を主張しない。相関体積の導出は繰り返さない。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13</a:t>
            </a:fld>
            <a:endParaRPr kumimoji="1" lang="ja-JP" altLang="en-US"/>
          </a:p>
        </p:txBody>
      </p:sp>
    </p:spTree>
    <p:extLst>
      <p:ext uri="{BB962C8B-B14F-4D97-AF65-F5344CB8AC3E}">
        <p14:creationId xmlns:p14="http://schemas.microsoft.com/office/powerpoint/2010/main" val="3996034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a:t>
            </a:r>
            <a:r>
              <a:rPr kumimoji="1" lang="ja-JP" altLang="en-US">
                <a:latin typeface="Meiryo" panose="020B0604030504040204" pitchFamily="50" charset="-128"/>
              </a:rPr>
              <a:t>原論文の内容</a:t>
            </a:r>
            <a:r>
              <a:rPr kumimoji="1" lang="en-US" altLang="ja-JP">
                <a:latin typeface="Meiryo" panose="020B0604030504040204" pitchFamily="50" charset="-128"/>
              </a:rPr>
              <a:t>】Supplemental Material IV.A</a:t>
            </a:r>
            <a:r>
              <a:rPr kumimoji="1" lang="ja-JP" altLang="en-US">
                <a:latin typeface="Meiryo" panose="020B0604030504040204" pitchFamily="50" charset="-128"/>
              </a:rPr>
              <a:t>（</a:t>
            </a:r>
            <a:r>
              <a:rPr kumimoji="1" lang="en-US" altLang="ja-JP">
                <a:latin typeface="Meiryo" panose="020B0604030504040204" pitchFamily="50" charset="-128"/>
              </a:rPr>
              <a:t>PDF3</a:t>
            </a:r>
            <a:r>
              <a:rPr kumimoji="1" lang="ja-JP" altLang="en-US">
                <a:latin typeface="Meiryo" panose="020B0604030504040204" pitchFamily="50" charset="-128"/>
              </a:rPr>
              <a:t>）の</a:t>
            </a:r>
            <a:r>
              <a:rPr kumimoji="1" lang="en-US" altLang="ja-JP">
                <a:latin typeface="Meiryo" panose="020B0604030504040204" pitchFamily="50" charset="-128"/>
              </a:rPr>
              <a:t>S8</a:t>
            </a:r>
            <a:r>
              <a:rPr kumimoji="1" lang="ja-JP" altLang="en-US">
                <a:latin typeface="Meiryo" panose="020B0604030504040204" pitchFamily="50" charset="-128"/>
              </a:rPr>
              <a:t>は、平均</a:t>
            </a:r>
            <a:r>
              <a:rPr kumimoji="1" lang="en-US" altLang="ja-JP">
                <a:latin typeface="Meiryo" panose="020B0604030504040204" pitchFamily="50" charset="-128"/>
              </a:rPr>
              <a:t>S</a:t>
            </a:r>
            <a:r>
              <a:rPr kumimoji="1" lang="ja-JP" altLang="en-US">
                <a:latin typeface="Meiryo" panose="020B0604030504040204" pitchFamily="50" charset="-128"/>
              </a:rPr>
              <a:t>最大位置を有限サイズの疑似臨界点と定義する。最大クラスターの最大減少位置を使う定義とは区別する。</a:t>
            </a:r>
            <a:r>
              <a:rPr kumimoji="1" lang="en-US" altLang="ja-JP">
                <a:latin typeface="Meiryo" panose="020B0604030504040204" pitchFamily="50" charset="-128"/>
              </a:rPr>
              <a:t>【</a:t>
            </a:r>
            <a:r>
              <a:rPr kumimoji="1" lang="ja-JP" altLang="en-US">
                <a:latin typeface="Meiryo" panose="020B0604030504040204" pitchFamily="50" charset="-128"/>
              </a:rPr>
              <a:t>一般的な説明</a:t>
            </a:r>
            <a:r>
              <a:rPr kumimoji="1" lang="en-US" altLang="ja-JP">
                <a:latin typeface="Meiryo" panose="020B0604030504040204" pitchFamily="50" charset="-128"/>
              </a:rPr>
              <a:t>】</a:t>
            </a:r>
            <a:r>
              <a:rPr kumimoji="1" lang="ja-JP" altLang="en-US">
                <a:latin typeface="Meiryo" panose="020B0604030504040204" pitchFamily="50" charset="-128"/>
              </a:rPr>
              <a:t>通常の連続パーコレーションでは転移付近にさまざまなサイズのクラスターが現れ、有限クラスターの平均サイズ</a:t>
            </a:r>
            <a:r>
              <a:rPr kumimoji="1" lang="en-US" altLang="ja-JP">
                <a:latin typeface="Meiryo" panose="020B0604030504040204" pitchFamily="50" charset="-128"/>
              </a:rPr>
              <a:t>S</a:t>
            </a:r>
            <a:r>
              <a:rPr kumimoji="1" lang="ja-JP" altLang="en-US">
                <a:latin typeface="Meiryo" panose="020B0604030504040204" pitchFamily="50" charset="-128"/>
              </a:rPr>
              <a:t>が大きくなりやすい。</a:t>
            </a:r>
            <a:r>
              <a:rPr kumimoji="1" lang="en-US" altLang="ja-JP">
                <a:latin typeface="Meiryo" panose="020B0604030504040204" pitchFamily="50" charset="-128"/>
              </a:rPr>
              <a:t>N</a:t>
            </a:r>
            <a:r>
              <a:rPr kumimoji="1" lang="ja-JP" altLang="en-US">
                <a:latin typeface="Meiryo" panose="020B0604030504040204" pitchFamily="50" charset="-128"/>
              </a:rPr>
              <a:t>固定で</a:t>
            </a:r>
            <a:r>
              <a:rPr kumimoji="1" lang="en-US" altLang="ja-JP">
                <a:latin typeface="Meiryo" panose="020B0604030504040204" pitchFamily="50" charset="-128"/>
              </a:rPr>
              <a:t>p</a:t>
            </a:r>
            <a:r>
              <a:rPr kumimoji="1" lang="ja-JP" altLang="en-US">
                <a:latin typeface="Meiryo" panose="020B0604030504040204" pitchFamily="50" charset="-128"/>
              </a:rPr>
              <a:t>を変化させ、各</a:t>
            </a:r>
            <a:r>
              <a:rPr kumimoji="1" lang="en-US" altLang="ja-JP">
                <a:latin typeface="Meiryo" panose="020B0604030504040204" pitchFamily="50" charset="-128"/>
              </a:rPr>
              <a:t>p</a:t>
            </a:r>
            <a:r>
              <a:rPr kumimoji="1" lang="ja-JP" altLang="en-US">
                <a:latin typeface="Meiryo" panose="020B0604030504040204" pitchFamily="50" charset="-128"/>
              </a:rPr>
              <a:t>で</a:t>
            </a:r>
            <a:r>
              <a:rPr kumimoji="1" lang="en-US" altLang="ja-JP">
                <a:latin typeface="Meiryo" panose="020B0604030504040204" pitchFamily="50" charset="-128"/>
              </a:rPr>
              <a:t>S</a:t>
            </a:r>
            <a:r>
              <a:rPr kumimoji="1" lang="ja-JP" altLang="en-US">
                <a:latin typeface="Meiryo" panose="020B0604030504040204" pitchFamily="50" charset="-128"/>
              </a:rPr>
              <a:t>を試行平均し、その平均曲線の最大位置</a:t>
            </a:r>
            <a:r>
              <a:rPr kumimoji="1" lang="en-US" altLang="ja-JP">
                <a:latin typeface="Meiryo" panose="020B0604030504040204" pitchFamily="50" charset="-128"/>
              </a:rPr>
              <a:t>p</a:t>
            </a:r>
            <a:r>
              <a:rPr kumimoji="1" lang="ja-JP" altLang="en-US">
                <a:latin typeface="Meiryo" panose="020B0604030504040204" pitchFamily="50" charset="-128"/>
              </a:rPr>
              <a:t>を求める。各試行のピーク位置を先に求めて平均する操作とは一般に異なる。</a:t>
            </a:r>
            <a:r>
              <a:rPr kumimoji="1" lang="en-US" altLang="ja-JP">
                <a:latin typeface="Meiryo" panose="020B0604030504040204" pitchFamily="50" charset="-128"/>
              </a:rPr>
              <a:t>max</a:t>
            </a:r>
            <a:r>
              <a:rPr kumimoji="1" lang="ja-JP" altLang="en-US">
                <a:latin typeface="Meiryo" panose="020B0604030504040204" pitchFamily="50" charset="-128"/>
              </a:rPr>
              <a:t>は関数の最大値、</a:t>
            </a:r>
            <a:r>
              <a:rPr kumimoji="1" lang="en-US" altLang="ja-JP">
                <a:latin typeface="Meiryo" panose="020B0604030504040204" pitchFamily="50" charset="-128"/>
              </a:rPr>
              <a:t>argmax</a:t>
            </a:r>
            <a:r>
              <a:rPr kumimoji="1" lang="ja-JP" altLang="en-US">
                <a:latin typeface="Meiryo" panose="020B0604030504040204" pitchFamily="50" charset="-128"/>
              </a:rPr>
              <a:t>（</a:t>
            </a:r>
            <a:r>
              <a:rPr kumimoji="1" lang="en-US" altLang="ja-JP">
                <a:latin typeface="Meiryo" panose="020B0604030504040204" pitchFamily="50" charset="-128"/>
              </a:rPr>
              <a:t>argument of the maximum</a:t>
            </a:r>
            <a:r>
              <a:rPr kumimoji="1" lang="ja-JP" altLang="en-US">
                <a:latin typeface="Meiryo" panose="020B0604030504040204" pitchFamily="50" charset="-128"/>
              </a:rPr>
              <a:t>）はそれを与える変数の値を求める一つの演算であり、</a:t>
            </a:r>
            <a:r>
              <a:rPr kumimoji="1" lang="en-US" altLang="ja-JP">
                <a:latin typeface="Meiryo" panose="020B0604030504040204" pitchFamily="50" charset="-128"/>
              </a:rPr>
              <a:t>arg</a:t>
            </a:r>
            <a:r>
              <a:rPr kumimoji="1" lang="ja-JP" altLang="en-US">
                <a:latin typeface="Meiryo" panose="020B0604030504040204" pitchFamily="50" charset="-128"/>
              </a:rPr>
              <a:t>と</a:t>
            </a:r>
            <a:r>
              <a:rPr kumimoji="1" lang="en-US" altLang="ja-JP">
                <a:latin typeface="Meiryo" panose="020B0604030504040204" pitchFamily="50" charset="-128"/>
              </a:rPr>
              <a:t>max</a:t>
            </a:r>
            <a:r>
              <a:rPr kumimoji="1" lang="ja-JP" altLang="en-US">
                <a:latin typeface="Meiryo" panose="020B0604030504040204" pitchFamily="50" charset="-128"/>
              </a:rPr>
              <a:t>を別々に計算しない。複素数の偏角</a:t>
            </a:r>
            <a:r>
              <a:rPr kumimoji="1" lang="en-US" altLang="ja-JP">
                <a:latin typeface="Meiryo" panose="020B0604030504040204" pitchFamily="50" charset="-128"/>
              </a:rPr>
              <a:t>arg</a:t>
            </a:r>
            <a:r>
              <a:rPr kumimoji="1" lang="ja-JP" altLang="en-US">
                <a:latin typeface="Meiryo" panose="020B0604030504040204" pitchFamily="50" charset="-128"/>
              </a:rPr>
              <a:t>とは区別。必要なら数学例</a:t>
            </a:r>
            <a:r>
              <a:rPr kumimoji="1" lang="en-US" altLang="ja-JP">
                <a:latin typeface="Meiryo" panose="020B0604030504040204" pitchFamily="50" charset="-128"/>
              </a:rPr>
              <a:t>f(p)=5-(p-0.6)^2</a:t>
            </a:r>
            <a:r>
              <a:rPr kumimoji="1" lang="ja-JP" altLang="en-US">
                <a:latin typeface="Meiryo" panose="020B0604030504040204" pitchFamily="50" charset="-128"/>
              </a:rPr>
              <a:t>、</a:t>
            </a:r>
            <a:r>
              <a:rPr kumimoji="1" lang="en-US" altLang="ja-JP">
                <a:latin typeface="Meiryo" panose="020B0604030504040204" pitchFamily="50" charset="-128"/>
              </a:rPr>
              <a:t>max f=5</a:t>
            </a:r>
            <a:r>
              <a:rPr kumimoji="1" lang="ja-JP" altLang="en-US">
                <a:latin typeface="Meiryo" panose="020B0604030504040204" pitchFamily="50" charset="-128"/>
              </a:rPr>
              <a:t>、</a:t>
            </a:r>
            <a:r>
              <a:rPr kumimoji="1" lang="en-US" altLang="ja-JP">
                <a:latin typeface="Meiryo" panose="020B0604030504040204" pitchFamily="50" charset="-128"/>
              </a:rPr>
              <a:t>argmax f=0.6</a:t>
            </a:r>
            <a:r>
              <a:rPr kumimoji="1" lang="ja-JP" altLang="en-US">
                <a:latin typeface="Meiryo" panose="020B0604030504040204" pitchFamily="50" charset="-128"/>
              </a:rPr>
              <a:t>を使うが、</a:t>
            </a:r>
            <a:r>
              <a:rPr kumimoji="1" lang="en-US" altLang="ja-JP">
                <a:latin typeface="Meiryo" panose="020B0604030504040204" pitchFamily="50" charset="-128"/>
              </a:rPr>
              <a:t>SPP</a:t>
            </a:r>
            <a:r>
              <a:rPr kumimoji="1" lang="ja-JP" altLang="en-US">
                <a:latin typeface="Meiryo" panose="020B0604030504040204" pitchFamily="50" charset="-128"/>
              </a:rPr>
              <a:t>実測データではないと明示。</a:t>
            </a:r>
            <a:r>
              <a:rPr kumimoji="1" lang="en-US" altLang="ja-JP">
                <a:latin typeface="Meiryo" panose="020B0604030504040204" pitchFamily="50" charset="-128"/>
              </a:rPr>
              <a:t>S8</a:t>
            </a:r>
            <a:r>
              <a:rPr kumimoji="1" lang="ja-JP" altLang="en-US">
                <a:latin typeface="Meiryo" panose="020B0604030504040204" pitchFamily="50" charset="-128"/>
              </a:rPr>
              <a:t>自体は画面を指し、書き写さない。</a:t>
            </a:r>
            <a:r>
              <a:rPr kumimoji="1" lang="en-US" altLang="ja-JP">
                <a:latin typeface="Meiryo" panose="020B0604030504040204" pitchFamily="50" charset="-128"/>
              </a:rPr>
              <a:t>p_c(N)</a:t>
            </a:r>
            <a:r>
              <a:rPr kumimoji="1" lang="ja-JP" altLang="en-US">
                <a:latin typeface="Meiryo" panose="020B0604030504040204" pitchFamily="50" charset="-128"/>
              </a:rPr>
              <a:t>は無限サイズの</a:t>
            </a:r>
            <a:r>
              <a:rPr kumimoji="1" lang="en-US" altLang="ja-JP">
                <a:latin typeface="Meiryo" panose="020B0604030504040204" pitchFamily="50" charset="-128"/>
              </a:rPr>
              <a:t>p_c</a:t>
            </a:r>
            <a:r>
              <a:rPr kumimoji="1" lang="ja-JP" altLang="en-US">
                <a:latin typeface="Meiryo" panose="020B0604030504040204" pitchFamily="50" charset="-128"/>
              </a:rPr>
              <a:t>と同じとは限らず、スライド</a:t>
            </a:r>
            <a:r>
              <a:rPr kumimoji="1" lang="en-US" altLang="ja-JP">
                <a:latin typeface="Meiryo" panose="020B0604030504040204" pitchFamily="50" charset="-128"/>
              </a:rPr>
              <a:t>15</a:t>
            </a:r>
            <a:r>
              <a:rPr kumimoji="1" lang="ja-JP" altLang="en-US">
                <a:latin typeface="Meiryo" panose="020B0604030504040204" pitchFamily="50" charset="-128"/>
              </a:rPr>
              <a:t>で関係を説明する。同率最大が複数なら</a:t>
            </a:r>
            <a:r>
              <a:rPr kumimoji="1" lang="en-US" altLang="ja-JP">
                <a:latin typeface="Meiryo" panose="020B0604030504040204" pitchFamily="50" charset="-128"/>
              </a:rPr>
              <a:t>argmax</a:t>
            </a:r>
            <a:r>
              <a:rPr kumimoji="1" lang="ja-JP" altLang="en-US">
                <a:latin typeface="Meiryo" panose="020B0604030504040204" pitchFamily="50" charset="-128"/>
              </a:rPr>
              <a:t>は集合となることがあるため、数値解析では選択規則が必要。</a:t>
            </a:r>
            <a:r>
              <a:rPr kumimoji="1" lang="en-US" altLang="ja-JP">
                <a:latin typeface="Meiryo" panose="020B0604030504040204" pitchFamily="50" charset="-128"/>
              </a:rPr>
              <a:t>S</a:t>
            </a:r>
            <a:r>
              <a:rPr kumimoji="1" lang="ja-JP" altLang="en-US">
                <a:latin typeface="Meiryo" panose="020B0604030504040204" pitchFamily="50" charset="-128"/>
              </a:rPr>
              <a:t>のピーク位置と</a:t>
            </a:r>
            <a:r>
              <a:rPr kumimoji="1" lang="en-US" altLang="ja-JP">
                <a:latin typeface="Meiryo" panose="020B0604030504040204" pitchFamily="50" charset="-128"/>
              </a:rPr>
              <a:t>P</a:t>
            </a:r>
            <a:r>
              <a:rPr kumimoji="1" lang="ja-JP" altLang="en-US">
                <a:latin typeface="Meiryo" panose="020B0604030504040204" pitchFamily="50" charset="-128"/>
              </a:rPr>
              <a:t>の最大減少位置は必ずしも一致しない。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14</a:t>
            </a:fld>
            <a:endParaRPr kumimoji="1" lang="ja-JP" altLang="en-US"/>
          </a:p>
        </p:txBody>
      </p:sp>
    </p:spTree>
    <p:extLst>
      <p:ext uri="{BB962C8B-B14F-4D97-AF65-F5344CB8AC3E}">
        <p14:creationId xmlns:p14="http://schemas.microsoft.com/office/powerpoint/2010/main" val="3655470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原文の符号は</a:t>
            </a:r>
            <a:r>
              <a:rPr kumimoji="1" lang="en-US" altLang="ja-JP">
                <a:latin typeface="Meiryo" panose="020B0604030504040204" pitchFamily="50" charset="-128"/>
              </a:rPr>
              <a:t>p_c=p_c(N)+bN^{-1/ν̄}</a:t>
            </a:r>
            <a:r>
              <a:rPr kumimoji="1" lang="ja-JP" altLang="en-US">
                <a:latin typeface="Meiryo" panose="020B0604030504040204" pitchFamily="50" charset="-128"/>
              </a:rPr>
              <a:t>。</a:t>
            </a:r>
            <a:r>
              <a:rPr kumimoji="1" lang="en-US" altLang="ja-JP">
                <a:latin typeface="Meiryo" panose="020B0604030504040204" pitchFamily="50" charset="-128"/>
              </a:rPr>
              <a:t>S7</a:t>
            </a:r>
            <a:r>
              <a:rPr kumimoji="1" lang="ja-JP" altLang="en-US">
                <a:latin typeface="Meiryo" panose="020B0604030504040204" pitchFamily="50" charset="-128"/>
              </a:rPr>
              <a:t>のスケーリング関数の最大位置</a:t>
            </a:r>
            <a:r>
              <a:rPr kumimoji="1" lang="en-US" altLang="ja-JP">
                <a:latin typeface="Meiryo" panose="020B0604030504040204" pitchFamily="50" charset="-128"/>
              </a:rPr>
              <a:t>u_*</a:t>
            </a:r>
            <a:r>
              <a:rPr kumimoji="1" lang="ja-JP" altLang="en-US">
                <a:latin typeface="Meiryo" panose="020B0604030504040204" pitchFamily="50" charset="-128"/>
              </a:rPr>
              <a:t>が</a:t>
            </a:r>
            <a:r>
              <a:rPr kumimoji="1" lang="en-US" altLang="ja-JP">
                <a:latin typeface="Meiryo" panose="020B0604030504040204" pitchFamily="50" charset="-128"/>
              </a:rPr>
              <a:t>N</a:t>
            </a:r>
            <a:r>
              <a:rPr kumimoji="1" lang="ja-JP" altLang="en-US">
                <a:latin typeface="Meiryo" panose="020B0604030504040204" pitchFamily="50" charset="-128"/>
              </a:rPr>
              <a:t>によらず、ピークが観測範囲内で、サイズ補正を無視できる等の追加前提の下で</a:t>
            </a:r>
            <a:r>
              <a:rPr kumimoji="1" lang="en-US" altLang="ja-JP">
                <a:latin typeface="Meiryo" panose="020B0604030504040204" pitchFamily="50" charset="-128"/>
              </a:rPr>
              <a:t>b=-u_*</a:t>
            </a:r>
            <a:r>
              <a:rPr kumimoji="1" lang="ja-JP" altLang="en-US">
                <a:latin typeface="Meiryo" panose="020B0604030504040204" pitchFamily="50" charset="-128"/>
              </a:rPr>
              <a:t>と対応付けられる。</a:t>
            </a:r>
            <a:r>
              <a:rPr kumimoji="1" lang="en-US" altLang="ja-JP">
                <a:latin typeface="Meiryo" panose="020B0604030504040204" pitchFamily="50" charset="-128"/>
              </a:rPr>
              <a:t>b</a:t>
            </a:r>
            <a:r>
              <a:rPr kumimoji="1" lang="ja-JP" altLang="en-US">
                <a:latin typeface="Meiryo" panose="020B0604030504040204" pitchFamily="50" charset="-128"/>
              </a:rPr>
              <a:t>の正負やどちら側から近づくかを無条件に断定しない。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15</a:t>
            </a:fld>
            <a:endParaRPr kumimoji="1" lang="ja-JP" altLang="en-US"/>
          </a:p>
        </p:txBody>
      </p:sp>
    </p:spTree>
    <p:extLst>
      <p:ext uri="{BB962C8B-B14F-4D97-AF65-F5344CB8AC3E}">
        <p14:creationId xmlns:p14="http://schemas.microsoft.com/office/powerpoint/2010/main" val="2709064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S10</a:t>
            </a:r>
            <a:r>
              <a:rPr kumimoji="1" lang="ja-JP" altLang="en-US">
                <a:latin typeface="Meiryo" panose="020B0604030504040204" pitchFamily="50" charset="-128"/>
              </a:rPr>
              <a:t>の正確な左辺は</a:t>
            </a:r>
            <a:r>
              <a:rPr kumimoji="1" lang="en-US" altLang="ja-JP">
                <a:latin typeface="Meiryo" panose="020B0604030504040204" pitchFamily="50" charset="-128"/>
              </a:rPr>
              <a:t>P(p_c)=〈P(p=p_c,N)〉</a:t>
            </a:r>
            <a:r>
              <a:rPr kumimoji="1" lang="ja-JP" altLang="en-US">
                <a:latin typeface="Meiryo" panose="020B0604030504040204" pitchFamily="50" charset="-128"/>
              </a:rPr>
              <a:t>。同じ</a:t>
            </a:r>
            <a:r>
              <a:rPr kumimoji="1" lang="en-US" altLang="ja-JP">
                <a:latin typeface="Meiryo" panose="020B0604030504040204" pitchFamily="50" charset="-128"/>
              </a:rPr>
              <a:t>p_c</a:t>
            </a:r>
            <a:r>
              <a:rPr kumimoji="1" lang="ja-JP" altLang="en-US">
                <a:latin typeface="Meiryo" panose="020B0604030504040204" pitchFamily="50" charset="-128"/>
              </a:rPr>
              <a:t>で全</a:t>
            </a:r>
            <a:r>
              <a:rPr kumimoji="1" lang="en-US" altLang="ja-JP">
                <a:latin typeface="Meiryo" panose="020B0604030504040204" pitchFamily="50" charset="-128"/>
              </a:rPr>
              <a:t>N</a:t>
            </a:r>
            <a:r>
              <a:rPr kumimoji="1" lang="ja-JP" altLang="en-US">
                <a:latin typeface="Meiryo" panose="020B0604030504040204" pitchFamily="50" charset="-128"/>
              </a:rPr>
              <a:t>を評価し、</a:t>
            </a:r>
            <a:r>
              <a:rPr kumimoji="1" lang="en-US" altLang="ja-JP">
                <a:latin typeface="Meiryo" panose="020B0604030504040204" pitchFamily="50" charset="-128"/>
              </a:rPr>
              <a:t>P_c(N)</a:t>
            </a:r>
            <a:r>
              <a:rPr kumimoji="1" lang="ja-JP" altLang="en-US">
                <a:latin typeface="Meiryo" panose="020B0604030504040204" pitchFamily="50" charset="-128"/>
              </a:rPr>
              <a:t>とは異なる。</a:t>
            </a:r>
            <a:r>
              <a:rPr kumimoji="1" lang="en-US" altLang="ja-JP">
                <a:latin typeface="Meiryo" panose="020B0604030504040204" pitchFamily="50" charset="-128"/>
              </a:rPr>
              <a:t>S6</a:t>
            </a:r>
            <a:r>
              <a:rPr kumimoji="1" lang="ja-JP" altLang="en-US">
                <a:latin typeface="Meiryo" panose="020B0604030504040204" pitchFamily="50" charset="-128"/>
              </a:rPr>
              <a:t>に</a:t>
            </a:r>
            <a:r>
              <a:rPr kumimoji="1" lang="en-US" altLang="ja-JP">
                <a:latin typeface="Meiryo" panose="020B0604030504040204" pitchFamily="50" charset="-128"/>
              </a:rPr>
              <a:t>p=p_c</a:t>
            </a:r>
            <a:r>
              <a:rPr kumimoji="1" lang="ja-JP" altLang="en-US">
                <a:latin typeface="Meiryo" panose="020B0604030504040204" pitchFamily="50" charset="-128"/>
              </a:rPr>
              <a:t>を代入し</a:t>
            </a:r>
            <a:r>
              <a:rPr kumimoji="1" lang="en-US" altLang="ja-JP">
                <a:latin typeface="Meiryo" panose="020B0604030504040204" pitchFamily="50" charset="-128"/>
              </a:rPr>
              <a:t>F^{(1)}(0)</a:t>
            </a:r>
            <a:r>
              <a:rPr kumimoji="1" lang="ja-JP" altLang="en-US">
                <a:latin typeface="Meiryo" panose="020B0604030504040204" pitchFamily="50" charset="-128"/>
              </a:rPr>
              <a:t>が有限非零という前提で比例則。候補</a:t>
            </a:r>
            <a:r>
              <a:rPr kumimoji="1" lang="en-US" altLang="ja-JP">
                <a:latin typeface="Meiryo" panose="020B0604030504040204" pitchFamily="50" charset="-128"/>
              </a:rPr>
              <a:t>p</a:t>
            </a:r>
            <a:r>
              <a:rPr kumimoji="1" lang="ja-JP" altLang="en-US">
                <a:latin typeface="Meiryo" panose="020B0604030504040204" pitchFamily="50" charset="-128"/>
              </a:rPr>
              <a:t>ごとに</a:t>
            </a:r>
            <a:r>
              <a:rPr kumimoji="1" lang="en-US" altLang="ja-JP">
                <a:latin typeface="Meiryo" panose="020B0604030504040204" pitchFamily="50" charset="-128"/>
              </a:rPr>
              <a:t>logN</a:t>
            </a:r>
            <a:r>
              <a:rPr kumimoji="1" lang="ja-JP" altLang="en-US">
                <a:latin typeface="Meiryo" panose="020B0604030504040204" pitchFamily="50" charset="-128"/>
              </a:rPr>
              <a:t>と</a:t>
            </a:r>
            <a:r>
              <a:rPr kumimoji="1" lang="en-US" altLang="ja-JP">
                <a:latin typeface="Meiryo" panose="020B0604030504040204" pitchFamily="50" charset="-128"/>
              </a:rPr>
              <a:t>log</a:t>
            </a:r>
            <a:r>
              <a:rPr kumimoji="1" lang="ja-JP" altLang="en-US">
                <a:latin typeface="Meiryo" panose="020B0604030504040204" pitchFamily="50" charset="-128"/>
              </a:rPr>
              <a:t>平均</a:t>
            </a:r>
            <a:r>
              <a:rPr kumimoji="1" lang="en-US" altLang="ja-JP">
                <a:latin typeface="Meiryo" panose="020B0604030504040204" pitchFamily="50" charset="-128"/>
              </a:rPr>
              <a:t>P</a:t>
            </a:r>
            <a:r>
              <a:rPr kumimoji="1" lang="ja-JP" altLang="en-US">
                <a:latin typeface="Meiryo" panose="020B0604030504040204" pitchFamily="50" charset="-128"/>
              </a:rPr>
              <a:t>を回帰し最も良いべき乗近似を探す。</a:t>
            </a:r>
            <a:r>
              <a:rPr kumimoji="1" lang="en-US" altLang="ja-JP">
                <a:latin typeface="Meiryo" panose="020B0604030504040204" pitchFamily="50" charset="-128"/>
              </a:rPr>
              <a:t>~</a:t>
            </a:r>
            <a:r>
              <a:rPr kumimoji="1" lang="ja-JP" altLang="en-US">
                <a:latin typeface="Meiryo" panose="020B0604030504040204" pitchFamily="50" charset="-128"/>
              </a:rPr>
              <a:t>は漸近的なべき乗関係。</a:t>
            </a:r>
            <a:r>
              <a:rPr kumimoji="1" lang="en-US" altLang="ja-JP">
                <a:latin typeface="Meiryo" panose="020B0604030504040204" pitchFamily="50" charset="-128"/>
              </a:rPr>
              <a:t>Fig.S1</a:t>
            </a:r>
            <a:r>
              <a:rPr kumimoji="1" lang="ja-JP" altLang="en-US">
                <a:latin typeface="Meiryo" panose="020B0604030504040204" pitchFamily="50" charset="-128"/>
              </a:rPr>
              <a:t>で実例を説明する。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16</a:t>
            </a:fld>
            <a:endParaRPr kumimoji="1" lang="ja-JP" altLang="en-US"/>
          </a:p>
        </p:txBody>
      </p:sp>
    </p:spTree>
    <p:extLst>
      <p:ext uri="{BB962C8B-B14F-4D97-AF65-F5344CB8AC3E}">
        <p14:creationId xmlns:p14="http://schemas.microsoft.com/office/powerpoint/2010/main" val="3739350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P_c(N)=〈P(p=p_c(N),N)〉</a:t>
            </a:r>
            <a:r>
              <a:rPr kumimoji="1" lang="ja-JP" altLang="en-US">
                <a:latin typeface="Meiryo" panose="020B0604030504040204" pitchFamily="50" charset="-128"/>
              </a:rPr>
              <a:t>、</a:t>
            </a:r>
            <a:r>
              <a:rPr kumimoji="1" lang="en-US" altLang="ja-JP">
                <a:latin typeface="Meiryo" panose="020B0604030504040204" pitchFamily="50" charset="-128"/>
              </a:rPr>
              <a:t>S_c(N)=〈S(p=p_c(N),N)〉</a:t>
            </a:r>
            <a:r>
              <a:rPr kumimoji="1" lang="ja-JP" altLang="en-US">
                <a:latin typeface="Meiryo" panose="020B0604030504040204" pitchFamily="50" charset="-128"/>
              </a:rPr>
              <a:t>。</a:t>
            </a:r>
            <a:r>
              <a:rPr kumimoji="1" lang="en-US" altLang="ja-JP">
                <a:latin typeface="Meiryo" panose="020B0604030504040204" pitchFamily="50" charset="-128"/>
              </a:rPr>
              <a:t>S8</a:t>
            </a:r>
            <a:r>
              <a:rPr kumimoji="1" lang="ja-JP" altLang="en-US">
                <a:latin typeface="Meiryo" panose="020B0604030504040204" pitchFamily="50" charset="-128"/>
              </a:rPr>
              <a:t>の平均</a:t>
            </a:r>
            <a:r>
              <a:rPr kumimoji="1" lang="en-US" altLang="ja-JP">
                <a:latin typeface="Meiryo" panose="020B0604030504040204" pitchFamily="50" charset="-128"/>
              </a:rPr>
              <a:t>S</a:t>
            </a:r>
            <a:r>
              <a:rPr kumimoji="1" lang="ja-JP" altLang="en-US">
                <a:latin typeface="Meiryo" panose="020B0604030504040204" pitchFamily="50" charset="-128"/>
              </a:rPr>
              <a:t>最大位置で評価する。</a:t>
            </a:r>
            <a:r>
              <a:rPr kumimoji="1" lang="en-US" altLang="ja-JP">
                <a:latin typeface="Meiryo" panose="020B0604030504040204" pitchFamily="50" charset="-128"/>
              </a:rPr>
              <a:t>S9</a:t>
            </a:r>
            <a:r>
              <a:rPr kumimoji="1" lang="ja-JP" altLang="en-US">
                <a:latin typeface="Meiryo" panose="020B0604030504040204" pitchFamily="50" charset="-128"/>
              </a:rPr>
              <a:t>から</a:t>
            </a:r>
            <a:r>
              <a:rPr kumimoji="1" lang="en-US" altLang="ja-JP">
                <a:latin typeface="Meiryo" panose="020B0604030504040204" pitchFamily="50" charset="-128"/>
              </a:rPr>
              <a:t>[p_c(N)-p_c]N^{1/ν̄}=-b</a:t>
            </a:r>
            <a:r>
              <a:rPr kumimoji="1" lang="ja-JP" altLang="en-US">
                <a:latin typeface="Meiryo" panose="020B0604030504040204" pitchFamily="50" charset="-128"/>
              </a:rPr>
              <a:t>。そのため</a:t>
            </a:r>
            <a:r>
              <a:rPr kumimoji="1" lang="en-US" altLang="ja-JP">
                <a:latin typeface="Meiryo" panose="020B0604030504040204" pitchFamily="50" charset="-128"/>
              </a:rPr>
              <a:t>S6/S7</a:t>
            </a:r>
            <a:r>
              <a:rPr kumimoji="1" lang="ja-JP" altLang="en-US">
                <a:latin typeface="Meiryo" panose="020B0604030504040204" pitchFamily="50" charset="-128"/>
              </a:rPr>
              <a:t>の関数値が</a:t>
            </a:r>
            <a:r>
              <a:rPr kumimoji="1" lang="en-US" altLang="ja-JP">
                <a:latin typeface="Meiryo" panose="020B0604030504040204" pitchFamily="50" charset="-128"/>
              </a:rPr>
              <a:t>N</a:t>
            </a:r>
            <a:r>
              <a:rPr kumimoji="1" lang="ja-JP" altLang="en-US">
                <a:latin typeface="Meiryo" panose="020B0604030504040204" pitchFamily="50" charset="-128"/>
              </a:rPr>
              <a:t>によらない定数となる。対数の傾きは</a:t>
            </a:r>
            <a:r>
              <a:rPr kumimoji="1" lang="en-US" altLang="ja-JP">
                <a:latin typeface="Meiryo" panose="020B0604030504040204" pitchFamily="50" charset="-128"/>
              </a:rPr>
              <a:t>P</a:t>
            </a:r>
            <a:r>
              <a:rPr kumimoji="1" lang="ja-JP" altLang="en-US">
                <a:latin typeface="Meiryo" panose="020B0604030504040204" pitchFamily="50" charset="-128"/>
              </a:rPr>
              <a:t>側−</a:t>
            </a:r>
            <a:r>
              <a:rPr kumimoji="1" lang="en-US" altLang="ja-JP">
                <a:latin typeface="Meiryo" panose="020B0604030504040204" pitchFamily="50" charset="-128"/>
              </a:rPr>
              <a:t>β/ν̄</a:t>
            </a:r>
            <a:r>
              <a:rPr kumimoji="1" lang="ja-JP" altLang="en-US">
                <a:latin typeface="Meiryo" panose="020B0604030504040204" pitchFamily="50" charset="-128"/>
              </a:rPr>
              <a:t>、</a:t>
            </a:r>
            <a:r>
              <a:rPr kumimoji="1" lang="en-US" altLang="ja-JP">
                <a:latin typeface="Meiryo" panose="020B0604030504040204" pitchFamily="50" charset="-128"/>
              </a:rPr>
              <a:t>S</a:t>
            </a:r>
            <a:r>
              <a:rPr kumimoji="1" lang="ja-JP" altLang="en-US">
                <a:latin typeface="Meiryo" panose="020B0604030504040204" pitchFamily="50" charset="-128"/>
              </a:rPr>
              <a:t>側</a:t>
            </a:r>
            <a:r>
              <a:rPr kumimoji="1" lang="en-US" altLang="ja-JP">
                <a:latin typeface="Meiryo" panose="020B0604030504040204" pitchFamily="50" charset="-128"/>
              </a:rPr>
              <a:t>γ/ν̄</a:t>
            </a:r>
            <a:r>
              <a:rPr kumimoji="1" lang="ja-JP" altLang="en-US">
                <a:latin typeface="Meiryo" panose="020B0604030504040204" pitchFamily="50" charset="-128"/>
              </a:rPr>
              <a:t>。これは仮定からの数学的説明で、</a:t>
            </a:r>
            <a:r>
              <a:rPr kumimoji="1" lang="en-US" altLang="ja-JP">
                <a:latin typeface="Meiryo" panose="020B0604030504040204" pitchFamily="50" charset="-128"/>
              </a:rPr>
              <a:t>SPP</a:t>
            </a:r>
            <a:r>
              <a:rPr kumimoji="1" lang="ja-JP" altLang="en-US">
                <a:latin typeface="Meiryo" panose="020B0604030504040204" pitchFamily="50" charset="-128"/>
              </a:rPr>
              <a:t>転移次数の証明ではない。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17</a:t>
            </a:fld>
            <a:endParaRPr kumimoji="1" lang="ja-JP" altLang="en-US"/>
          </a:p>
        </p:txBody>
      </p:sp>
    </p:spTree>
    <p:extLst>
      <p:ext uri="{BB962C8B-B14F-4D97-AF65-F5344CB8AC3E}">
        <p14:creationId xmlns:p14="http://schemas.microsoft.com/office/powerpoint/2010/main" val="3983543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元図を正確に抽出。</a:t>
            </a:r>
            <a:r>
              <a:rPr kumimoji="1" lang="en-US" altLang="ja-JP">
                <a:latin typeface="Meiryo" panose="020B0604030504040204" pitchFamily="50" charset="-128"/>
              </a:rPr>
              <a:t>a</a:t>
            </a:r>
            <a:r>
              <a:rPr kumimoji="1" lang="ja-JP" altLang="en-US">
                <a:latin typeface="Meiryo" panose="020B0604030504040204" pitchFamily="50" charset="-128"/>
              </a:rPr>
              <a:t>は線形</a:t>
            </a:r>
            <a:r>
              <a:rPr kumimoji="1" lang="en-US" altLang="ja-JP">
                <a:latin typeface="Meiryo" panose="020B0604030504040204" pitchFamily="50" charset="-128"/>
              </a:rPr>
              <a:t>p</a:t>
            </a:r>
            <a:r>
              <a:rPr kumimoji="1" lang="ja-JP" altLang="en-US">
                <a:latin typeface="Meiryo" panose="020B0604030504040204" pitchFamily="50" charset="-128"/>
              </a:rPr>
              <a:t>対</a:t>
            </a:r>
            <a:r>
              <a:rPr kumimoji="1" lang="en-US" altLang="ja-JP">
                <a:latin typeface="Meiryo" panose="020B0604030504040204" pitchFamily="50" charset="-128"/>
              </a:rPr>
              <a:t>r²</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は両対数</a:t>
            </a:r>
            <a:r>
              <a:rPr kumimoji="1" lang="en-US" altLang="ja-JP">
                <a:latin typeface="Meiryo" panose="020B0604030504040204" pitchFamily="50" charset="-128"/>
              </a:rPr>
              <a:t>N</a:t>
            </a:r>
            <a:r>
              <a:rPr kumimoji="1" lang="ja-JP" altLang="en-US">
                <a:latin typeface="Meiryo" panose="020B0604030504040204" pitchFamily="50" charset="-128"/>
              </a:rPr>
              <a:t>対平均</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r</a:t>
            </a:r>
            <a:r>
              <a:rPr kumimoji="1" lang="ja-JP" altLang="en-US">
                <a:latin typeface="Meiryo" panose="020B0604030504040204" pitchFamily="50" charset="-128"/>
              </a:rPr>
              <a:t>は回帰の</a:t>
            </a:r>
            <a:r>
              <a:rPr kumimoji="1" lang="en-US" altLang="ja-JP">
                <a:latin typeface="Meiryo" panose="020B0604030504040204" pitchFamily="50" charset="-128"/>
              </a:rPr>
              <a:t>Pearson</a:t>
            </a:r>
            <a:r>
              <a:rPr kumimoji="1" lang="ja-JP" altLang="en-US">
                <a:latin typeface="Meiryo" panose="020B0604030504040204" pitchFamily="50" charset="-128"/>
              </a:rPr>
              <a:t>相関係数、</a:t>
            </a:r>
            <a:r>
              <a:rPr kumimoji="1" lang="en-US" altLang="ja-JP">
                <a:latin typeface="Meiryo" panose="020B0604030504040204" pitchFamily="50" charset="-128"/>
              </a:rPr>
              <a:t>r²</a:t>
            </a:r>
            <a:r>
              <a:rPr kumimoji="1" lang="ja-JP" altLang="en-US">
                <a:latin typeface="Meiryo" panose="020B0604030504040204" pitchFamily="50" charset="-128"/>
              </a:rPr>
              <a:t>は決定係数。</a:t>
            </a:r>
            <a:r>
              <a:rPr kumimoji="1" lang="en-US" altLang="ja-JP">
                <a:latin typeface="Meiryo" panose="020B0604030504040204" pitchFamily="50" charset="-128"/>
              </a:rPr>
              <a:t>Δ</a:t>
            </a:r>
            <a:r>
              <a:rPr kumimoji="1" lang="ja-JP" altLang="en-US">
                <a:latin typeface="Meiryo" panose="020B0604030504040204" pitchFamily="50" charset="-128"/>
              </a:rPr>
              <a:t>は比較する</a:t>
            </a:r>
            <a:r>
              <a:rPr kumimoji="1" lang="en-US" altLang="ja-JP">
                <a:latin typeface="Meiryo" panose="020B0604030504040204" pitchFamily="50" charset="-128"/>
              </a:rPr>
              <a:t>p</a:t>
            </a:r>
            <a:r>
              <a:rPr kumimoji="1" lang="ja-JP" altLang="en-US">
                <a:latin typeface="Meiryo" panose="020B0604030504040204" pitchFamily="50" charset="-128"/>
              </a:rPr>
              <a:t>の正の幅。黄色ひし形が</a:t>
            </a:r>
            <a:r>
              <a:rPr kumimoji="1" lang="en-US" altLang="ja-JP">
                <a:latin typeface="Meiryo" panose="020B0604030504040204" pitchFamily="50" charset="-128"/>
              </a:rPr>
              <a:t>r²</a:t>
            </a:r>
            <a:r>
              <a:rPr kumimoji="1" lang="ja-JP" altLang="en-US">
                <a:latin typeface="Meiryo" panose="020B0604030504040204" pitchFamily="50" charset="-128"/>
              </a:rPr>
              <a:t>最大の</a:t>
            </a:r>
            <a:r>
              <a:rPr kumimoji="1" lang="en-US" altLang="ja-JP">
                <a:latin typeface="Meiryo" panose="020B0604030504040204" pitchFamily="50" charset="-128"/>
              </a:rPr>
              <a:t>p_c=0.750</a:t>
            </a:r>
            <a:r>
              <a:rPr kumimoji="1" lang="ja-JP" altLang="en-US">
                <a:latin typeface="Meiryo" panose="020B0604030504040204" pitchFamily="50" charset="-128"/>
              </a:rPr>
              <a:t>、</a:t>
            </a:r>
            <a:r>
              <a:rPr kumimoji="1" lang="en-US" altLang="ja-JP">
                <a:latin typeface="Meiryo" panose="020B0604030504040204" pitchFamily="50" charset="-128"/>
              </a:rPr>
              <a:t>Δ=0.005</a:t>
            </a:r>
            <a:r>
              <a:rPr kumimoji="1" lang="ja-JP" altLang="en-US">
                <a:latin typeface="Meiryo" panose="020B0604030504040204" pitchFamily="50" charset="-128"/>
              </a:rPr>
              <a:t>。</a:t>
            </a:r>
            <a:r>
              <a:rPr kumimoji="1" lang="en-US" altLang="ja-JP">
                <a:latin typeface="Meiryo" panose="020B0604030504040204" pitchFamily="50" charset="-128"/>
              </a:rPr>
              <a:t>r²</a:t>
            </a:r>
            <a:r>
              <a:rPr kumimoji="1" lang="ja-JP" altLang="en-US">
                <a:latin typeface="Meiryo" panose="020B0604030504040204" pitchFamily="50" charset="-128"/>
              </a:rPr>
              <a:t>が高いことだけで転移次数の証明にはならない。図中</a:t>
            </a:r>
            <a:r>
              <a:rPr kumimoji="1" lang="en-US" altLang="ja-JP">
                <a:latin typeface="Meiryo" panose="020B0604030504040204" pitchFamily="50" charset="-128"/>
              </a:rPr>
              <a:t>P</a:t>
            </a:r>
            <a:r>
              <a:rPr kumimoji="1" lang="ja-JP" altLang="en-US">
                <a:latin typeface="Meiryo" panose="020B0604030504040204" pitchFamily="50" charset="-128"/>
              </a:rPr>
              <a:t>は平均の簡略記法。</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18</a:t>
            </a:fld>
            <a:endParaRPr kumimoji="1" lang="ja-JP" altLang="en-US"/>
          </a:p>
        </p:txBody>
      </p:sp>
    </p:spTree>
    <p:extLst>
      <p:ext uri="{BB962C8B-B14F-4D97-AF65-F5344CB8AC3E}">
        <p14:creationId xmlns:p14="http://schemas.microsoft.com/office/powerpoint/2010/main" val="2877075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制限なしは原図</a:t>
            </a:r>
            <a:r>
              <a:rPr kumimoji="1" lang="en-US" altLang="ja-JP">
                <a:latin typeface="Meiryo" panose="020B0604030504040204" pitchFamily="50" charset="-128"/>
              </a:rPr>
              <a:t>C=∞</a:t>
            </a:r>
            <a:r>
              <a:rPr kumimoji="1" lang="ja-JP" altLang="en-US">
                <a:latin typeface="Meiryo" panose="020B0604030504040204" pitchFamily="50" charset="-128"/>
              </a:rPr>
              <a:t>、数値設定は</a:t>
            </a:r>
            <a:r>
              <a:rPr kumimoji="1" lang="en-US" altLang="ja-JP">
                <a:latin typeface="Meiryo" panose="020B0604030504040204" pitchFamily="50" charset="-128"/>
              </a:rPr>
              <a:t>C=N</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の</a:t>
            </a:r>
            <a:r>
              <a:rPr kumimoji="1" lang="en-US" altLang="ja-JP">
                <a:latin typeface="Meiryo" panose="020B0604030504040204" pitchFamily="50" charset="-128"/>
              </a:rPr>
              <a:t>r²</a:t>
            </a:r>
            <a:r>
              <a:rPr kumimoji="1" lang="ja-JP" altLang="en-US">
                <a:latin typeface="Meiryo" panose="020B0604030504040204" pitchFamily="50" charset="-128"/>
              </a:rPr>
              <a:t>縦軸は</a:t>
            </a:r>
            <a:r>
              <a:rPr kumimoji="1" lang="en-US" altLang="ja-JP">
                <a:latin typeface="Meiryo" panose="020B0604030504040204" pitchFamily="50" charset="-128"/>
              </a:rPr>
              <a:t>0.7</a:t>
            </a:r>
            <a:r>
              <a:rPr kumimoji="1" lang="ja-JP" altLang="en-US">
                <a:latin typeface="Meiryo" panose="020B0604030504040204" pitchFamily="50" charset="-128"/>
              </a:rPr>
              <a:t>付近から</a:t>
            </a:r>
            <a:r>
              <a:rPr kumimoji="1" lang="en-US" altLang="ja-JP">
                <a:latin typeface="Meiryo" panose="020B0604030504040204" pitchFamily="50" charset="-128"/>
              </a:rPr>
              <a:t>1</a:t>
            </a:r>
            <a:r>
              <a:rPr kumimoji="1" lang="ja-JP" altLang="en-US">
                <a:latin typeface="Meiryo" panose="020B0604030504040204" pitchFamily="50" charset="-128"/>
              </a:rPr>
              <a:t>付近で</a:t>
            </a:r>
            <a:r>
              <a:rPr kumimoji="1" lang="en-US" altLang="ja-JP">
                <a:latin typeface="Meiryo" panose="020B0604030504040204" pitchFamily="50" charset="-128"/>
              </a:rPr>
              <a:t>a</a:t>
            </a:r>
            <a:r>
              <a:rPr kumimoji="1" lang="ja-JP" altLang="en-US">
                <a:latin typeface="Meiryo" panose="020B0604030504040204" pitchFamily="50" charset="-128"/>
              </a:rPr>
              <a:t>と同じ範囲ではない。</a:t>
            </a:r>
            <a:r>
              <a:rPr kumimoji="1" lang="en-US" altLang="ja-JP">
                <a:latin typeface="Meiryo" panose="020B0604030504040204" pitchFamily="50" charset="-128"/>
              </a:rPr>
              <a:t>d</a:t>
            </a:r>
            <a:r>
              <a:rPr kumimoji="1" lang="ja-JP" altLang="en-US">
                <a:latin typeface="Meiryo" panose="020B0604030504040204" pitchFamily="50" charset="-128"/>
              </a:rPr>
              <a:t>は両対数。著者は固定</a:t>
            </a:r>
            <a:r>
              <a:rPr kumimoji="1" lang="en-US" altLang="ja-JP">
                <a:latin typeface="Meiryo" panose="020B0604030504040204" pitchFamily="50" charset="-128"/>
              </a:rPr>
              <a:t>p_c</a:t>
            </a:r>
            <a:r>
              <a:rPr kumimoji="1" lang="ja-JP" altLang="en-US">
                <a:latin typeface="Meiryo" panose="020B0604030504040204" pitchFamily="50" charset="-128"/>
              </a:rPr>
              <a:t>に基づく制限なしの臨界指数に強い有限サイズ効果があり、</a:t>
            </a:r>
            <a:r>
              <a:rPr kumimoji="1" lang="en-US" altLang="ja-JP">
                <a:latin typeface="Meiryo" panose="020B0604030504040204" pitchFamily="50" charset="-128"/>
              </a:rPr>
              <a:t>p_c</a:t>
            </a:r>
            <a:r>
              <a:rPr kumimoji="1" lang="ja-JP" altLang="en-US">
                <a:latin typeface="Meiryo" panose="020B0604030504040204" pitchFamily="50" charset="-128"/>
              </a:rPr>
              <a:t>の推定は影響されないと述べる。これは著者の評価で、</a:t>
            </a:r>
            <a:r>
              <a:rPr kumimoji="1" lang="en-US" altLang="ja-JP">
                <a:latin typeface="Meiryo" panose="020B0604030504040204" pitchFamily="50" charset="-128"/>
              </a:rPr>
              <a:t>2D</a:t>
            </a:r>
            <a:r>
              <a:rPr kumimoji="1" lang="ja-JP" altLang="en-US">
                <a:latin typeface="Meiryo" panose="020B0604030504040204" pitchFamily="50" charset="-128"/>
              </a:rPr>
              <a:t>格子へ移さない。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19</a:t>
            </a:fld>
            <a:endParaRPr kumimoji="1" lang="ja-JP" altLang="en-US"/>
          </a:p>
        </p:txBody>
      </p:sp>
    </p:spTree>
    <p:extLst>
      <p:ext uri="{BB962C8B-B14F-4D97-AF65-F5344CB8AC3E}">
        <p14:creationId xmlns:p14="http://schemas.microsoft.com/office/powerpoint/2010/main" val="6210184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S2a</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対</a:t>
            </a:r>
            <a:r>
              <a:rPr kumimoji="1" lang="en-US" altLang="ja-JP">
                <a:latin typeface="Meiryo" panose="020B0604030504040204" pitchFamily="50" charset="-128"/>
              </a:rPr>
              <a:t>|p_c-p_c(N)|/10^X</a:t>
            </a:r>
            <a:r>
              <a:rPr kumimoji="1" lang="ja-JP" altLang="en-US">
                <a:latin typeface="Meiryo" panose="020B0604030504040204" pitchFamily="50" charset="-128"/>
              </a:rPr>
              <a:t>、両対数。線は</a:t>
            </a:r>
            <a:r>
              <a:rPr kumimoji="1" lang="en-US" altLang="ja-JP">
                <a:latin typeface="Meiryo" panose="020B0604030504040204" pitchFamily="50" charset="-128"/>
              </a:rPr>
              <a:t>log</a:t>
            </a:r>
            <a:r>
              <a:rPr kumimoji="1" lang="ja-JP" altLang="en-US">
                <a:latin typeface="Meiryo" panose="020B0604030504040204" pitchFamily="50" charset="-128"/>
              </a:rPr>
              <a:t>変換したデータへの単回帰、点は平均値、混雑回避で誤差棒は非表示。凡例</a:t>
            </a:r>
            <a:r>
              <a:rPr kumimoji="1" lang="en-US" altLang="ja-JP">
                <a:latin typeface="Meiryo" panose="020B0604030504040204" pitchFamily="50" charset="-128"/>
              </a:rPr>
              <a:t>C=∞</a:t>
            </a:r>
            <a:r>
              <a:rPr kumimoji="1" lang="ja-JP" altLang="en-US">
                <a:latin typeface="Meiryo" panose="020B0604030504040204" pitchFamily="50" charset="-128"/>
              </a:rPr>
              <a:t>は</a:t>
            </a:r>
            <a:r>
              <a:rPr kumimoji="1" lang="en-US" altLang="ja-JP">
                <a:latin typeface="Meiryo" panose="020B0604030504040204" pitchFamily="50" charset="-128"/>
              </a:rPr>
              <a:t>C=N</a:t>
            </a:r>
            <a:r>
              <a:rPr kumimoji="1" lang="ja-JP" altLang="en-US">
                <a:latin typeface="Meiryo" panose="020B0604030504040204" pitchFamily="50" charset="-128"/>
              </a:rPr>
              <a:t>。</a:t>
            </a:r>
            <a:r>
              <a:rPr kumimoji="1" lang="en-US" altLang="ja-JP">
                <a:latin typeface="Meiryo" panose="020B0604030504040204" pitchFamily="50" charset="-128"/>
              </a:rPr>
              <a:t>X</a:t>
            </a:r>
            <a:r>
              <a:rPr kumimoji="1" lang="ja-JP" altLang="en-US">
                <a:latin typeface="Meiryo" panose="020B0604030504040204" pitchFamily="50" charset="-128"/>
              </a:rPr>
              <a:t>は表示のずらし用定数で、旧スライド</a:t>
            </a:r>
            <a:r>
              <a:rPr kumimoji="1" lang="en-US" altLang="ja-JP">
                <a:latin typeface="Meiryo" panose="020B0604030504040204" pitchFamily="50" charset="-128"/>
              </a:rPr>
              <a:t>10</a:t>
            </a:r>
            <a:r>
              <a:rPr kumimoji="1" lang="ja-JP" altLang="en-US">
                <a:latin typeface="Meiryo" panose="020B0604030504040204" pitchFamily="50" charset="-128"/>
              </a:rPr>
              <a:t>の</a:t>
            </a:r>
            <a:r>
              <a:rPr kumimoji="1" lang="en-US" altLang="ja-JP">
                <a:latin typeface="Meiryo" panose="020B0604030504040204" pitchFamily="50" charset="-128"/>
              </a:rPr>
              <a:t>log y</a:t>
            </a:r>
            <a:r>
              <a:rPr kumimoji="1" lang="ja-JP" altLang="en-US">
                <a:latin typeface="Meiryo" panose="020B0604030504040204" pitchFamily="50" charset="-128"/>
              </a:rPr>
              <a:t>の</a:t>
            </a:r>
            <a:r>
              <a:rPr kumimoji="1" lang="en-US" altLang="ja-JP">
                <a:latin typeface="Meiryo" panose="020B0604030504040204" pitchFamily="50" charset="-128"/>
              </a:rPr>
              <a:t>X</a:t>
            </a:r>
            <a:r>
              <a:rPr kumimoji="1" lang="ja-JP" altLang="en-US">
                <a:latin typeface="Meiryo" panose="020B0604030504040204" pitchFamily="50" charset="-128"/>
              </a:rPr>
              <a:t>とは別記号。絶対値から</a:t>
            </a:r>
            <a:r>
              <a:rPr kumimoji="1" lang="en-US" altLang="ja-JP">
                <a:latin typeface="Meiryo" panose="020B0604030504040204" pitchFamily="50" charset="-128"/>
              </a:rPr>
              <a:t>b</a:t>
            </a:r>
            <a:r>
              <a:rPr kumimoji="1" lang="ja-JP" altLang="en-US">
                <a:latin typeface="Meiryo" panose="020B0604030504040204" pitchFamily="50" charset="-128"/>
              </a:rPr>
              <a:t>の符号は推定できない。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20</a:t>
            </a:fld>
            <a:endParaRPr kumimoji="1" lang="ja-JP" altLang="en-US"/>
          </a:p>
        </p:txBody>
      </p:sp>
    </p:spTree>
    <p:extLst>
      <p:ext uri="{BB962C8B-B14F-4D97-AF65-F5344CB8AC3E}">
        <p14:creationId xmlns:p14="http://schemas.microsoft.com/office/powerpoint/2010/main" val="2031390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b</a:t>
            </a:r>
            <a:r>
              <a:rPr kumimoji="1" lang="ja-JP" altLang="en-US">
                <a:latin typeface="Meiryo" panose="020B0604030504040204" pitchFamily="50" charset="-128"/>
              </a:rPr>
              <a:t>固定</a:t>
            </a:r>
            <a:r>
              <a:rPr kumimoji="1" lang="en-US" altLang="ja-JP">
                <a:latin typeface="Meiryo" panose="020B0604030504040204" pitchFamily="50" charset="-128"/>
              </a:rPr>
              <a:t>p_c</a:t>
            </a:r>
            <a:r>
              <a:rPr kumimoji="1" lang="ja-JP" altLang="en-US">
                <a:latin typeface="Meiryo" panose="020B0604030504040204" pitchFamily="50" charset="-128"/>
              </a:rPr>
              <a:t>の平均</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固定</a:t>
            </a:r>
            <a:r>
              <a:rPr kumimoji="1" lang="en-US" altLang="ja-JP">
                <a:latin typeface="Meiryo" panose="020B0604030504040204" pitchFamily="50" charset="-128"/>
              </a:rPr>
              <a:t>p_c</a:t>
            </a:r>
            <a:r>
              <a:rPr kumimoji="1" lang="ja-JP" altLang="en-US">
                <a:latin typeface="Meiryo" panose="020B0604030504040204" pitchFamily="50" charset="-128"/>
              </a:rPr>
              <a:t>の平均</a:t>
            </a:r>
            <a:r>
              <a:rPr kumimoji="1" lang="en-US" altLang="ja-JP">
                <a:latin typeface="Meiryo" panose="020B0604030504040204" pitchFamily="50" charset="-128"/>
              </a:rPr>
              <a:t>S</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のべき則は</a:t>
            </a:r>
            <a:r>
              <a:rPr kumimoji="1" lang="en-US" altLang="ja-JP">
                <a:latin typeface="Meiryo" panose="020B0604030504040204" pitchFamily="50" charset="-128"/>
              </a:rPr>
              <a:t>S7</a:t>
            </a:r>
            <a:r>
              <a:rPr kumimoji="1" lang="ja-JP" altLang="en-US">
                <a:latin typeface="Meiryo" panose="020B0604030504040204" pitchFamily="50" charset="-128"/>
              </a:rPr>
              <a:t>に</a:t>
            </a:r>
            <a:r>
              <a:rPr kumimoji="1" lang="en-US" altLang="ja-JP">
                <a:latin typeface="Meiryo" panose="020B0604030504040204" pitchFamily="50" charset="-128"/>
              </a:rPr>
              <a:t>p_c</a:t>
            </a:r>
            <a:r>
              <a:rPr kumimoji="1" lang="ja-JP" altLang="en-US">
                <a:latin typeface="Meiryo" panose="020B0604030504040204" pitchFamily="50" charset="-128"/>
              </a:rPr>
              <a:t>を代入した対応で、</a:t>
            </a:r>
            <a:r>
              <a:rPr kumimoji="1" lang="en-US" altLang="ja-JP">
                <a:latin typeface="Meiryo" panose="020B0604030504040204" pitchFamily="50" charset="-128"/>
              </a:rPr>
              <a:t>S12</a:t>
            </a:r>
            <a:r>
              <a:rPr kumimoji="1" lang="ja-JP" altLang="en-US">
                <a:latin typeface="Meiryo" panose="020B0604030504040204" pitchFamily="50" charset="-128"/>
              </a:rPr>
              <a:t>ではない。</a:t>
            </a:r>
            <a:r>
              <a:rPr kumimoji="1" lang="en-US" altLang="ja-JP">
                <a:latin typeface="Meiryo" panose="020B0604030504040204" pitchFamily="50" charset="-128"/>
              </a:rPr>
              <a:t>S12</a:t>
            </a:r>
            <a:r>
              <a:rPr kumimoji="1" lang="ja-JP" altLang="en-US">
                <a:latin typeface="Meiryo" panose="020B0604030504040204" pitchFamily="50" charset="-128"/>
              </a:rPr>
              <a:t>はピーク位置の</a:t>
            </a:r>
            <a:r>
              <a:rPr kumimoji="1" lang="en-US" altLang="ja-JP">
                <a:latin typeface="Meiryo" panose="020B0604030504040204" pitchFamily="50" charset="-128"/>
              </a:rPr>
              <a:t>S</a:t>
            </a:r>
            <a:r>
              <a:rPr kumimoji="1" lang="ja-JP" altLang="en-US">
                <a:latin typeface="Meiryo" panose="020B0604030504040204" pitchFamily="50" charset="-128"/>
              </a:rPr>
              <a:t>なので区別。両対数</a:t>
            </a:r>
            <a:r>
              <a:rPr kumimoji="1" lang="en-US" altLang="ja-JP">
                <a:latin typeface="Meiryo" panose="020B0604030504040204" pitchFamily="50" charset="-128"/>
              </a:rPr>
              <a:t>N</a:t>
            </a:r>
            <a:r>
              <a:rPr kumimoji="1" lang="ja-JP" altLang="en-US">
                <a:latin typeface="Meiryo" panose="020B0604030504040204" pitchFamily="50" charset="-128"/>
              </a:rPr>
              <a:t>対平均観測量</a:t>
            </a:r>
            <a:r>
              <a:rPr kumimoji="1" lang="en-US" altLang="ja-JP">
                <a:latin typeface="Meiryo" panose="020B0604030504040204" pitchFamily="50" charset="-128"/>
              </a:rPr>
              <a:t>/10^X</a:t>
            </a:r>
            <a:r>
              <a:rPr kumimoji="1" lang="ja-JP" altLang="en-US">
                <a:latin typeface="Meiryo" panose="020B0604030504040204" pitchFamily="50" charset="-128"/>
              </a:rPr>
              <a:t>。制限なしの固定</a:t>
            </a:r>
            <a:r>
              <a:rPr kumimoji="1" lang="en-US" altLang="ja-JP">
                <a:latin typeface="Meiryo" panose="020B0604030504040204" pitchFamily="50" charset="-128"/>
              </a:rPr>
              <a:t>p_c</a:t>
            </a:r>
            <a:r>
              <a:rPr kumimoji="1" lang="ja-JP" altLang="en-US">
                <a:latin typeface="Meiryo" panose="020B0604030504040204" pitchFamily="50" charset="-128"/>
              </a:rPr>
              <a:t>指数には強い有限サイズ効果があると著者が説明。図を実測</a:t>
            </a:r>
            <a:r>
              <a:rPr kumimoji="1" lang="en-US" altLang="ja-JP">
                <a:latin typeface="Meiryo" panose="020B0604030504040204" pitchFamily="50" charset="-128"/>
              </a:rPr>
              <a:t>2D</a:t>
            </a:r>
            <a:r>
              <a:rPr kumimoji="1" lang="ja-JP" altLang="en-US">
                <a:latin typeface="Meiryo" panose="020B0604030504040204" pitchFamily="50" charset="-128"/>
              </a:rPr>
              <a:t>格子と呼ばない。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21</a:t>
            </a:fld>
            <a:endParaRPr kumimoji="1" lang="ja-JP" altLang="en-US"/>
          </a:p>
        </p:txBody>
      </p:sp>
    </p:spTree>
    <p:extLst>
      <p:ext uri="{BB962C8B-B14F-4D97-AF65-F5344CB8AC3E}">
        <p14:creationId xmlns:p14="http://schemas.microsoft.com/office/powerpoint/2010/main" val="6087177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d/e</a:t>
            </a:r>
            <a:r>
              <a:rPr kumimoji="1" lang="ja-JP" altLang="en-US">
                <a:latin typeface="Meiryo" panose="020B0604030504040204" pitchFamily="50" charset="-128"/>
              </a:rPr>
              <a:t>の</a:t>
            </a:r>
            <a:r>
              <a:rPr kumimoji="1" lang="en-US" altLang="ja-JP">
                <a:latin typeface="Meiryo" panose="020B0604030504040204" pitchFamily="50" charset="-128"/>
              </a:rPr>
              <a:t>Pc/Sc</a:t>
            </a:r>
            <a:r>
              <a:rPr kumimoji="1" lang="ja-JP" altLang="en-US">
                <a:latin typeface="Meiryo" panose="020B0604030504040204" pitchFamily="50" charset="-128"/>
              </a:rPr>
              <a:t>は平均</a:t>
            </a:r>
            <a:r>
              <a:rPr kumimoji="1" lang="en-US" altLang="ja-JP">
                <a:latin typeface="Meiryo" panose="020B0604030504040204" pitchFamily="50" charset="-128"/>
              </a:rPr>
              <a:t>S</a:t>
            </a:r>
            <a:r>
              <a:rPr kumimoji="1" lang="ja-JP" altLang="en-US">
                <a:latin typeface="Meiryo" panose="020B0604030504040204" pitchFamily="50" charset="-128"/>
              </a:rPr>
              <a:t>のピーク位置</a:t>
            </a:r>
            <a:r>
              <a:rPr kumimoji="1" lang="en-US" altLang="ja-JP">
                <a:latin typeface="Meiryo" panose="020B0604030504040204" pitchFamily="50" charset="-128"/>
              </a:rPr>
              <a:t>p_c(N)</a:t>
            </a:r>
            <a:r>
              <a:rPr kumimoji="1" lang="ja-JP" altLang="en-US">
                <a:latin typeface="Meiryo" panose="020B0604030504040204" pitchFamily="50" charset="-128"/>
              </a:rPr>
              <a:t>での平均。著者はこの方法が任意</a:t>
            </a:r>
            <a:r>
              <a:rPr kumimoji="1" lang="en-US" altLang="ja-JP">
                <a:latin typeface="Meiryo" panose="020B0604030504040204" pitchFamily="50" charset="-128"/>
              </a:rPr>
              <a:t>C</a:t>
            </a:r>
            <a:r>
              <a:rPr kumimoji="1" lang="ja-JP" altLang="en-US">
                <a:latin typeface="Meiryo" panose="020B0604030504040204" pitchFamily="50" charset="-128"/>
              </a:rPr>
              <a:t>で適切な指数推定を与えると述べるが、数学的保証とは説明しない。固定</a:t>
            </a:r>
            <a:r>
              <a:rPr kumimoji="1" lang="en-US" altLang="ja-JP">
                <a:latin typeface="Meiryo" panose="020B0604030504040204" pitchFamily="50" charset="-128"/>
              </a:rPr>
              <a:t>p_c</a:t>
            </a:r>
            <a:r>
              <a:rPr kumimoji="1" lang="ja-JP" altLang="en-US">
                <a:latin typeface="Meiryo" panose="020B0604030504040204" pitchFamily="50" charset="-128"/>
              </a:rPr>
              <a:t>とピーク位置の結果を比較し、評価位置の違いを保持。軸は両対数、表示倍率</a:t>
            </a:r>
            <a:r>
              <a:rPr kumimoji="1" lang="en-US" altLang="ja-JP">
                <a:latin typeface="Meiryo" panose="020B0604030504040204" pitchFamily="50" charset="-128"/>
              </a:rPr>
              <a:t>/10^X</a:t>
            </a:r>
            <a:r>
              <a:rPr kumimoji="1" lang="ja-JP" altLang="en-US">
                <a:latin typeface="Meiryo" panose="020B0604030504040204" pitchFamily="50" charset="-128"/>
              </a:rPr>
              <a:t>は原図どおり。</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22</a:t>
            </a:fld>
            <a:endParaRPr kumimoji="1" lang="ja-JP" altLang="en-US"/>
          </a:p>
        </p:txBody>
      </p:sp>
    </p:spTree>
    <p:extLst>
      <p:ext uri="{BB962C8B-B14F-4D97-AF65-F5344CB8AC3E}">
        <p14:creationId xmlns:p14="http://schemas.microsoft.com/office/powerpoint/2010/main" val="1433164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原表を数値変更せず抽出。</a:t>
            </a:r>
            <a:r>
              <a:rPr kumimoji="1" lang="en-US" altLang="ja-JP">
                <a:latin typeface="Meiryo" panose="020B0604030504040204" pitchFamily="50" charset="-128"/>
              </a:rPr>
              <a:t>C=1,2,3,∞</a:t>
            </a:r>
            <a:r>
              <a:rPr kumimoji="1" lang="ja-JP" altLang="en-US">
                <a:latin typeface="Meiryo" panose="020B0604030504040204" pitchFamily="50" charset="-128"/>
              </a:rPr>
              <a:t>の全行。∞は</a:t>
            </a:r>
            <a:r>
              <a:rPr kumimoji="1" lang="en-US" altLang="ja-JP">
                <a:latin typeface="Meiryo" panose="020B0604030504040204" pitchFamily="50" charset="-128"/>
              </a:rPr>
              <a:t>C=N</a:t>
            </a:r>
            <a:r>
              <a:rPr kumimoji="1" lang="ja-JP" altLang="en-US">
                <a:latin typeface="Meiryo" panose="020B0604030504040204" pitchFamily="50" charset="-128"/>
              </a:rPr>
              <a:t>。列は</a:t>
            </a:r>
            <a:r>
              <a:rPr kumimoji="1" lang="en-US" altLang="ja-JP">
                <a:latin typeface="Meiryo" panose="020B0604030504040204" pitchFamily="50" charset="-128"/>
              </a:rPr>
              <a:t>pc,1/ν̄</a:t>
            </a:r>
            <a:r>
              <a:rPr kumimoji="1" lang="ja-JP" altLang="en-US">
                <a:latin typeface="Meiryo" panose="020B0604030504040204" pitchFamily="50" charset="-128"/>
              </a:rPr>
              <a:t>、固定</a:t>
            </a:r>
            <a:r>
              <a:rPr kumimoji="1" lang="en-US" altLang="ja-JP">
                <a:latin typeface="Meiryo" panose="020B0604030504040204" pitchFamily="50" charset="-128"/>
              </a:rPr>
              <a:t>pc</a:t>
            </a:r>
            <a:r>
              <a:rPr kumimoji="1" lang="ja-JP" altLang="en-US">
                <a:latin typeface="Meiryo" panose="020B0604030504040204" pitchFamily="50" charset="-128"/>
              </a:rPr>
              <a:t>での</a:t>
            </a:r>
            <a:r>
              <a:rPr kumimoji="1" lang="en-US" altLang="ja-JP">
                <a:latin typeface="Meiryo" panose="020B0604030504040204" pitchFamily="50" charset="-128"/>
              </a:rPr>
              <a:t>β/ν̄,γ/ν̄</a:t>
            </a:r>
            <a:r>
              <a:rPr kumimoji="1" lang="ja-JP" altLang="en-US">
                <a:latin typeface="Meiryo" panose="020B0604030504040204" pitchFamily="50" charset="-128"/>
              </a:rPr>
              <a:t>、疑似臨界での</a:t>
            </a:r>
            <a:r>
              <a:rPr kumimoji="1" lang="en-US" altLang="ja-JP">
                <a:latin typeface="Meiryo" panose="020B0604030504040204" pitchFamily="50" charset="-128"/>
              </a:rPr>
              <a:t>β/ν̄,γ/ν̄</a:t>
            </a:r>
            <a:r>
              <a:rPr kumimoji="1" lang="ja-JP" altLang="en-US">
                <a:latin typeface="Meiryo" panose="020B0604030504040204" pitchFamily="50" charset="-128"/>
              </a:rPr>
              <a:t>。指数の</a:t>
            </a:r>
            <a:r>
              <a:rPr kumimoji="1" lang="en-US" altLang="ja-JP">
                <a:latin typeface="Meiryo" panose="020B0604030504040204" pitchFamily="50" charset="-128"/>
              </a:rPr>
              <a:t>±</a:t>
            </a:r>
            <a:r>
              <a:rPr kumimoji="1" lang="ja-JP" altLang="en-US">
                <a:latin typeface="Meiryo" panose="020B0604030504040204" pitchFamily="50" charset="-128"/>
              </a:rPr>
              <a:t>は</a:t>
            </a:r>
            <a:r>
              <a:rPr kumimoji="1" lang="en-US" altLang="ja-JP">
                <a:latin typeface="Meiryo" panose="020B0604030504040204" pitchFamily="50" charset="-128"/>
              </a:rPr>
              <a:t>SecIII</a:t>
            </a:r>
            <a:r>
              <a:rPr kumimoji="1" lang="ja-JP" altLang="en-US">
                <a:latin typeface="Meiryo" panose="020B0604030504040204" pitchFamily="50" charset="-128"/>
              </a:rPr>
              <a:t>が残差正規性仮定の回帰係数標準誤差と説明。</a:t>
            </a:r>
            <a:r>
              <a:rPr kumimoji="1" lang="en-US" altLang="ja-JP">
                <a:latin typeface="Meiryo" panose="020B0604030504040204" pitchFamily="50" charset="-128"/>
              </a:rPr>
              <a:t>pc</a:t>
            </a:r>
            <a:r>
              <a:rPr kumimoji="1" lang="ja-JP" altLang="en-US">
                <a:latin typeface="Meiryo" panose="020B0604030504040204" pitchFamily="50" charset="-128"/>
              </a:rPr>
              <a:t>の</a:t>
            </a:r>
            <a:r>
              <a:rPr kumimoji="1" lang="en-US" altLang="ja-JP">
                <a:latin typeface="Meiryo" panose="020B0604030504040204" pitchFamily="50" charset="-128"/>
              </a:rPr>
              <a:t>±</a:t>
            </a:r>
            <a:r>
              <a:rPr kumimoji="1" lang="ja-JP" altLang="en-US">
                <a:latin typeface="Meiryo" panose="020B0604030504040204" pitchFamily="50" charset="-128"/>
              </a:rPr>
              <a:t>の決め方まで同じとは断定しない。表の</a:t>
            </a:r>
            <a:r>
              <a:rPr kumimoji="1" lang="en-US" altLang="ja-JP">
                <a:latin typeface="Meiryo" panose="020B0604030504040204" pitchFamily="50" charset="-128"/>
              </a:rPr>
              <a:t>C1</a:t>
            </a:r>
            <a:r>
              <a:rPr kumimoji="1" lang="ja-JP" altLang="en-US">
                <a:latin typeface="Meiryo" panose="020B0604030504040204" pitchFamily="50" charset="-128"/>
              </a:rPr>
              <a:t>ピーク</a:t>
            </a:r>
            <a:r>
              <a:rPr kumimoji="1" lang="en-US" altLang="ja-JP">
                <a:latin typeface="Meiryo" panose="020B0604030504040204" pitchFamily="50" charset="-128"/>
              </a:rPr>
              <a:t>γ/ν̄</a:t>
            </a:r>
            <a:r>
              <a:rPr kumimoji="1" lang="ja-JP" altLang="en-US">
                <a:latin typeface="Meiryo" panose="020B0604030504040204" pitchFamily="50" charset="-128"/>
              </a:rPr>
              <a:t>誤差</a:t>
            </a:r>
            <a:r>
              <a:rPr kumimoji="1" lang="en-US" altLang="ja-JP">
                <a:latin typeface="Meiryo" panose="020B0604030504040204" pitchFamily="50" charset="-128"/>
              </a:rPr>
              <a:t>±.001</a:t>
            </a:r>
            <a:r>
              <a:rPr kumimoji="1" lang="ja-JP" altLang="en-US">
                <a:latin typeface="Meiryo" panose="020B0604030504040204" pitchFamily="50" charset="-128"/>
              </a:rPr>
              <a:t>と主論文</a:t>
            </a:r>
            <a:r>
              <a:rPr kumimoji="1" lang="en-US" altLang="ja-JP">
                <a:latin typeface="Meiryo" panose="020B0604030504040204" pitchFamily="50" charset="-128"/>
              </a:rPr>
              <a:t>PDF3</a:t>
            </a:r>
            <a:r>
              <a:rPr kumimoji="1" lang="ja-JP" altLang="en-US">
                <a:latin typeface="Meiryo" panose="020B0604030504040204" pitchFamily="50" charset="-128"/>
              </a:rPr>
              <a:t>左段</a:t>
            </a:r>
            <a:r>
              <a:rPr kumimoji="1" lang="en-US" altLang="ja-JP">
                <a:latin typeface="Meiryo" panose="020B0604030504040204" pitchFamily="50" charset="-128"/>
              </a:rPr>
              <a:t>±.01</a:t>
            </a:r>
            <a:r>
              <a:rPr kumimoji="1" lang="ja-JP" altLang="en-US">
                <a:latin typeface="Meiryo" panose="020B0604030504040204" pitchFamily="50" charset="-128"/>
              </a:rPr>
              <a:t>は出典内表記差であり無断修正しない。</a:t>
            </a:r>
            <a:r>
              <a:rPr kumimoji="1" lang="en-US" altLang="ja-JP">
                <a:latin typeface="Meiryo" panose="020B0604030504040204" pitchFamily="50" charset="-128"/>
              </a:rPr>
              <a:t>2D</a:t>
            </a:r>
            <a:r>
              <a:rPr kumimoji="1" lang="ja-JP" altLang="en-US">
                <a:latin typeface="Meiryo" panose="020B0604030504040204" pitchFamily="50" charset="-128"/>
              </a:rPr>
              <a:t>の</a:t>
            </a:r>
            <a:r>
              <a:rPr kumimoji="1" lang="en-US" altLang="ja-JP">
                <a:latin typeface="Meiryo" panose="020B0604030504040204" pitchFamily="50" charset="-128"/>
              </a:rPr>
              <a:t>ν̄=2ν</a:t>
            </a:r>
            <a:r>
              <a:rPr kumimoji="1" lang="ja-JP" altLang="en-US">
                <a:latin typeface="Meiryo" panose="020B0604030504040204" pitchFamily="50" charset="-128"/>
              </a:rPr>
              <a:t>を理論前提なしに断定せず、指数比だけで不連続性を証明しない。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23</a:t>
            </a:fld>
            <a:endParaRPr kumimoji="1" lang="ja-JP" altLang="en-US"/>
          </a:p>
        </p:txBody>
      </p:sp>
    </p:spTree>
    <p:extLst>
      <p:ext uri="{BB962C8B-B14F-4D97-AF65-F5344CB8AC3E}">
        <p14:creationId xmlns:p14="http://schemas.microsoft.com/office/powerpoint/2010/main" val="128896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98E9FC-B085-D8CD-6446-E4DD9B32C1E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F53963E-4EFC-4DFE-6F30-06020D3771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65F3D9E-120A-7DF4-67D5-9668371A5E22}"/>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571429CB-709F-5951-D634-2B1925BAB0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B63213-B913-DB3E-5D50-7ACD33603BCE}"/>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863550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458C66-FD90-86F4-FF34-8AC808F2494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D0EBE70-9E80-30E5-62F3-CA75643E732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F95F68A-BDD3-786B-0778-CC720F7C8B44}"/>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4215C05D-B8EA-B8CC-320C-12863B2FF7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E287652-B4E2-E405-6C77-1529A4E1D4C0}"/>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80304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999F9E-8DF7-EC18-8D5E-AAE514303E8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28E6219-7E07-BEF2-26F8-E8AA8D3E7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6795292-53B0-AB38-A47A-417768E87D4F}"/>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EEC71914-7811-40F9-D6C5-3D61A427BD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DF7B96-CA29-79A2-D766-F36D8E553F96}"/>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4107641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F6FE63-3B8A-0C0F-8B5F-B8A756CAB41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52CFDA8-5F40-00A2-2439-F447C642521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4FEAF64-D508-7EA9-B437-805C1F0A3E0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FB492C-A305-C06E-52DE-CCFBEBDB35BF}"/>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8BE6F4B0-24E4-8EC8-C59B-C73C8840D3E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0021177-8D61-829F-903F-EA5498941D7E}"/>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700181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77613B-98A3-0164-B4C8-782E922E3FC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45FAE1D-8DA8-FEE2-571B-1E8D455115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7786879-682A-4A8C-DD6E-B85B21319D0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50A334C-6F1D-BF38-B669-E6E2B31B79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8F41655-FC1B-4758-88A9-C8F14C56D9E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3394288-650C-1D1B-1B77-BE3CA3EC77BA}"/>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8" name="フッター プレースホルダー 7">
            <a:extLst>
              <a:ext uri="{FF2B5EF4-FFF2-40B4-BE49-F238E27FC236}">
                <a16:creationId xmlns:a16="http://schemas.microsoft.com/office/drawing/2014/main" id="{9C019648-1039-B13C-6FF4-D397F860B24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F2C2E2F-0EF2-5675-5D71-232E8A370542}"/>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887217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46934B-C339-5412-D378-AE4B7D6CCA3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E7365F5-D049-E3DD-73F7-E124278EC238}"/>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4" name="フッター プレースホルダー 3">
            <a:extLst>
              <a:ext uri="{FF2B5EF4-FFF2-40B4-BE49-F238E27FC236}">
                <a16:creationId xmlns:a16="http://schemas.microsoft.com/office/drawing/2014/main" id="{7BEE3F9B-4AC1-FBA9-413F-DD716E9759C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1D8914D-E31E-B5CF-905C-18BC115EF74A}"/>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627253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A56A09E-587B-96B4-91C0-3C9D5349D85C}"/>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3" name="フッター プレースホルダー 2">
            <a:extLst>
              <a:ext uri="{FF2B5EF4-FFF2-40B4-BE49-F238E27FC236}">
                <a16:creationId xmlns:a16="http://schemas.microsoft.com/office/drawing/2014/main" id="{DD1EABCF-526C-C552-00F0-BC8842629E6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34F13E8-0599-8BB0-FC33-E677FC73BBF1}"/>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0390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BA874A-425A-CDCB-AFC6-F2F69ECA084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EEA7194-2108-7194-863B-A31C89553B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84B3AA3-7740-409A-A7F1-07BE49061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8101905-CF53-FA3C-EB8F-227A09EA5FBD}"/>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A1995DAF-E61B-64D6-0316-F55E2FF2B92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F1D33CD-E154-C8A9-9413-207BE75A9D44}"/>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061704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363BBB-38F3-EA6D-9E4D-B28E0FF54B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9B62739-2ABF-18C2-6C68-578397893AF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C7D5770-BDFA-06FB-1A68-59B112775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3FC7DF9-B9DC-B922-1145-451005B3BAAC}"/>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5438F51E-E52E-6D6D-D787-4B9893AFCEA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E095B2D-4039-4301-4570-EF54F5BDDFB8}"/>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512502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90A3DC-74C5-AE6C-5B98-BCF69C01D4C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1674B1F-3A36-6B87-4506-0023430ECBD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7E5A6E9-ED97-380D-A51B-34F88BF82B15}"/>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1D2D3A3C-8411-9F73-42D8-868A56BD7A8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31C716-EA90-5610-8DB4-FB9F62C528EA}"/>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8349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C79238F-D9AE-A570-E2F8-1003A5125FB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B90DEB3-8423-AC81-C034-912D3335074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F83D8A-B40B-CA80-22EA-0C3982D7582A}"/>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1E18B709-4BDB-128B-0343-E31E9D8268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1B3B321-9154-E4C8-3E9B-3F15F6A580C7}"/>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127487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A556792-6774-8E89-FC04-721776BE89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40FE7D2-8A4F-0923-C232-395F3B37D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CBDECCF-8D6C-A2CE-853F-F0C12088A5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FA51DB05-1029-8816-470B-7738E3767B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D4A7185-1414-FB76-9A70-8E54D9099B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309291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Relationships xmlns="http://schemas.openxmlformats.org/package/2006/relationships"><Relationship Id="rId3" Type="http://schemas.openxmlformats.org/officeDocument/2006/relationships/image" Target="../media/ver1_slide11_image0.png" /><Relationship Id="rId2" Type="http://schemas.openxmlformats.org/officeDocument/2006/relationships/notesSlide" Target="../notesSlides/notesSlide11.xml" /><Relationship Id="rId1" Type="http://schemas.openxmlformats.org/officeDocument/2006/relationships/slideLayout" Target="../slideLayouts/slideLayout7.xml" /><Relationship Id="rId4" Type="http://schemas.openxmlformats.org/officeDocument/2006/relationships/image" Target="../media/ver1_slide11_image3.png" /></Relationships>
</file>

<file path=ppt/slides/_rels/slide12.xml.rels><?xml version='1.0' encoding='utf-8'?>
<Relationships xmlns="http://schemas.openxmlformats.org/package/2006/relationships"><Relationship Id="rId3" Type="http://schemas.openxmlformats.org/officeDocument/2006/relationships/image" Target="../media/ver1_slide12_image0.png" /><Relationship Id="rId2" Type="http://schemas.openxmlformats.org/officeDocument/2006/relationships/notesSlide" Target="../notesSlides/notesSlide12.xml" /><Relationship Id="rId1" Type="http://schemas.openxmlformats.org/officeDocument/2006/relationships/slideLayout" Target="../slideLayouts/slideLayout7.xml" /><Relationship Id="rId5" Type="http://schemas.openxmlformats.org/officeDocument/2006/relationships/image" Target="../media/ver1_slide12_image3.png" /><Relationship Id="rId4" Type="http://schemas.openxmlformats.org/officeDocument/2006/relationships/image" Target="../media/ver1_slide12_image4.png" /></Relationships>
</file>

<file path=ppt/slides/_rels/slide13.xml.rels><?xml version='1.0' encoding='utf-8'?>
<Relationships xmlns="http://schemas.openxmlformats.org/package/2006/relationships"><Relationship Id="rId3" Type="http://schemas.openxmlformats.org/officeDocument/2006/relationships/image" Target="../media/ver1_slide13_image0.png" /><Relationship Id="rId2" Type="http://schemas.openxmlformats.org/officeDocument/2006/relationships/notesSlide" Target="../notesSlides/notesSlide13.xml" /><Relationship Id="rId1" Type="http://schemas.openxmlformats.org/officeDocument/2006/relationships/slideLayout" Target="../slideLayouts/slideLayout7.xml" /><Relationship Id="rId4" Type="http://schemas.openxmlformats.org/officeDocument/2006/relationships/image" Target="../media/ver1_slide13_image3.png" /></Relationships>
</file>

<file path=ppt/slides/_rels/slide14.xml.rels><?xml version='1.0' encoding='utf-8'?>
<Relationships xmlns="http://schemas.openxmlformats.org/package/2006/relationships"><Relationship Id="rId3" Type="http://schemas.openxmlformats.org/officeDocument/2006/relationships/image" Target="../media/ver1_slide14_image0.png" /><Relationship Id="rId2" Type="http://schemas.openxmlformats.org/officeDocument/2006/relationships/notesSlide" Target="../notesSlides/notesSlide14.xml" /><Relationship Id="rId1" Type="http://schemas.openxmlformats.org/officeDocument/2006/relationships/slideLayout" Target="../slideLayouts/slideLayout7.xml" /><Relationship Id="rId5" Type="http://schemas.openxmlformats.org/officeDocument/2006/relationships/image" Target="../media/ver1_slide14_image3.png" /><Relationship Id="rId4" Type="http://schemas.openxmlformats.org/officeDocument/2006/relationships/image" Target="../media/ver1_slide14_image4.png" /></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DAB323B-61C8-75C2-33A9-C3D126ECB1A1}"/>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3" name="source-2">
            <a:extLst>
              <a:ext uri="{FF2B5EF4-FFF2-40B4-BE49-F238E27FC236}">
                <a16:creationId xmlns:a16="http://schemas.microsoft.com/office/drawing/2014/main" id="{61D844DC-F08A-0C5E-01D1-A981D29F1C64}"/>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4" name="page-3">
            <a:extLst>
              <a:ext uri="{FF2B5EF4-FFF2-40B4-BE49-F238E27FC236}">
                <a16:creationId xmlns:a16="http://schemas.microsoft.com/office/drawing/2014/main" id="{70E1DAA6-76EF-905D-3E07-2256CF994EA7}"/>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01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5" name="text-4">
            <a:extLst>
              <a:ext uri="{FF2B5EF4-FFF2-40B4-BE49-F238E27FC236}">
                <a16:creationId xmlns:a16="http://schemas.microsoft.com/office/drawing/2014/main" id="{B7E3955A-5A30-54C8-7597-3DC589B42FBA}"/>
              </a:ext>
            </a:extLst>
          </p:cNvPr>
          <p:cNvSpPr txBox="1"/>
          <p:nvPr/>
        </p:nvSpPr>
        <p:spPr>
          <a:xfrm>
            <a:off x="698500" y="889000"/>
            <a:ext cx="10795000" cy="276999"/>
          </a:xfrm>
          <a:prstGeom prst="rect">
            <a:avLst/>
          </a:prstGeom>
          <a:noFill/>
        </p:spPr>
        <p:txBody>
          <a:bodyPr vert="horz" wrap="square" lIns="0" tIns="0" rIns="0" bIns="0" rtlCol="0">
            <a:noAutofit/>
          </a:bodyPr>
          <a:lstStyle/>
          <a:p>
            <a:pPr>
              <a:lnSpc>
                <a:spcPct val="112000"/>
              </a:lnSpc>
            </a:pPr>
            <a:r>
              <a:rPr kumimoji="1" lang="ja-JP" altLang="en-US" sz="2500" b="1">
                <a:solidFill>
                  <a:srgbClr val="17365D"/>
                </a:solidFill>
                <a:latin typeface="Meiryo" panose="020B0604030504040204" pitchFamily="50" charset="-128"/>
                <a:ea typeface="Meiryo" panose="020B0604030504040204" pitchFamily="50" charset="-128"/>
              </a:rPr>
              <a:t>卒業研究 ゼミ発表</a:t>
            </a:r>
          </a:p>
        </p:txBody>
      </p:sp>
      <p:sp>
        <p:nvSpPr>
          <p:cNvPr id="6" name="text-5">
            <a:extLst>
              <a:ext uri="{FF2B5EF4-FFF2-40B4-BE49-F238E27FC236}">
                <a16:creationId xmlns:a16="http://schemas.microsoft.com/office/drawing/2014/main" id="{B5E88994-79EE-C1A5-0935-2435E7A7D298}"/>
              </a:ext>
            </a:extLst>
          </p:cNvPr>
          <p:cNvSpPr txBox="1"/>
          <p:nvPr/>
        </p:nvSpPr>
        <p:spPr>
          <a:xfrm>
            <a:off x="698500" y="2286000"/>
            <a:ext cx="10795000" cy="276999"/>
          </a:xfrm>
          <a:prstGeom prst="rect">
            <a:avLst/>
          </a:prstGeom>
          <a:noFill/>
        </p:spPr>
        <p:txBody>
          <a:bodyPr vert="horz" wrap="square" lIns="0" tIns="0" rIns="0" bIns="0" rtlCol="0">
            <a:noAutofit/>
          </a:bodyPr>
          <a:lstStyle/>
          <a:p>
            <a:pPr>
              <a:lnSpc>
                <a:spcPct val="112000"/>
              </a:lnSpc>
            </a:pPr>
            <a:r>
              <a:rPr kumimoji="1" lang="en-US" altLang="ja-JP" sz="4200" b="1">
                <a:solidFill>
                  <a:srgbClr val="17365D"/>
                </a:solidFill>
                <a:latin typeface="Meiryo" panose="020B0604030504040204" pitchFamily="50" charset="-128"/>
                <a:ea typeface="Meiryo" panose="020B0604030504040204" pitchFamily="50" charset="-128"/>
              </a:rPr>
              <a:t>2</a:t>
            </a:r>
            <a:r>
              <a:rPr kumimoji="1" lang="ja-JP" altLang="en-US" sz="4200" b="1">
                <a:solidFill>
                  <a:srgbClr val="17365D"/>
                </a:solidFill>
                <a:latin typeface="Meiryo" panose="020B0604030504040204" pitchFamily="50" charset="-128"/>
                <a:ea typeface="Meiryo" panose="020B0604030504040204" pitchFamily="50" charset="-128"/>
              </a:rPr>
              <a:t>次元正方格子上の
</a:t>
            </a:r>
            <a:r>
              <a:rPr kumimoji="1" lang="en-US" altLang="ja-JP" sz="4200" b="1">
                <a:solidFill>
                  <a:srgbClr val="17365D"/>
                </a:solidFill>
                <a:latin typeface="Meiryo" panose="020B0604030504040204" pitchFamily="50" charset="-128"/>
                <a:ea typeface="Meiryo" panose="020B0604030504040204" pitchFamily="50" charset="-128"/>
              </a:rPr>
              <a:t>Shortest-Path Percolation</a:t>
            </a:r>
            <a:endParaRPr kumimoji="1" lang="ja-JP" altLang="en-US" sz="4200" b="1">
              <a:solidFill>
                <a:srgbClr val="17365D"/>
              </a:solidFill>
              <a:latin typeface="Meiryo" panose="020B0604030504040204" pitchFamily="50" charset="-128"/>
              <a:ea typeface="Meiryo" panose="020B0604030504040204" pitchFamily="50" charset="-128"/>
            </a:endParaRPr>
          </a:p>
        </p:txBody>
      </p:sp>
      <p:sp>
        <p:nvSpPr>
          <p:cNvPr id="7" name="text-6">
            <a:extLst>
              <a:ext uri="{FF2B5EF4-FFF2-40B4-BE49-F238E27FC236}">
                <a16:creationId xmlns:a16="http://schemas.microsoft.com/office/drawing/2014/main" id="{D1078EED-ABD9-D662-26F0-EF36AF6E75DE}"/>
              </a:ext>
            </a:extLst>
          </p:cNvPr>
          <p:cNvSpPr txBox="1"/>
          <p:nvPr/>
        </p:nvSpPr>
        <p:spPr>
          <a:xfrm>
            <a:off x="698500" y="4635500"/>
            <a:ext cx="107950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53746"/>
                </a:solidFill>
                <a:latin typeface="Meiryo" panose="020B0604030504040204" pitchFamily="50" charset="-128"/>
                <a:ea typeface="Meiryo" panose="020B0604030504040204" pitchFamily="50" charset="-128"/>
              </a:rPr>
              <a:t>2026</a:t>
            </a:r>
            <a:r>
              <a:rPr kumimoji="1" lang="ja-JP" altLang="en-US" sz="2500">
                <a:solidFill>
                  <a:srgbClr val="253746"/>
                </a:solidFill>
                <a:latin typeface="Meiryo" panose="020B0604030504040204" pitchFamily="50" charset="-128"/>
                <a:ea typeface="Meiryo" panose="020B0604030504040204" pitchFamily="50" charset="-128"/>
              </a:rPr>
              <a:t>年</a:t>
            </a:r>
            <a:r>
              <a:rPr kumimoji="1" lang="en-US" altLang="ja-JP" sz="2500">
                <a:solidFill>
                  <a:srgbClr val="253746"/>
                </a:solidFill>
                <a:latin typeface="Meiryo" panose="020B0604030504040204" pitchFamily="50" charset="-128"/>
                <a:ea typeface="Meiryo" panose="020B0604030504040204" pitchFamily="50" charset="-128"/>
              </a:rPr>
              <a:t>10</a:t>
            </a:r>
            <a:r>
              <a:rPr kumimoji="1" lang="ja-JP" altLang="en-US" sz="2500">
                <a:solidFill>
                  <a:srgbClr val="253746"/>
                </a:solidFill>
                <a:latin typeface="Meiryo" panose="020B0604030504040204" pitchFamily="50" charset="-128"/>
                <a:ea typeface="Meiryo" panose="020B0604030504040204" pitchFamily="50" charset="-128"/>
              </a:rPr>
              <a:t>月</a:t>
            </a:r>
            <a:r>
              <a:rPr kumimoji="1" lang="en-US" altLang="ja-JP" sz="2500">
                <a:solidFill>
                  <a:srgbClr val="253746"/>
                </a:solidFill>
                <a:latin typeface="Meiryo" panose="020B0604030504040204" pitchFamily="50" charset="-128"/>
                <a:ea typeface="Meiryo" panose="020B0604030504040204" pitchFamily="50" charset="-128"/>
              </a:rPr>
              <a:t>15</a:t>
            </a:r>
            <a:r>
              <a:rPr kumimoji="1" lang="ja-JP" altLang="en-US" sz="2500">
                <a:solidFill>
                  <a:srgbClr val="253746"/>
                </a:solidFill>
                <a:latin typeface="Meiryo" panose="020B0604030504040204" pitchFamily="50" charset="-128"/>
                <a:ea typeface="Meiryo" panose="020B0604030504040204" pitchFamily="50" charset="-128"/>
              </a:rPr>
              <a:t>日</a:t>
            </a:r>
          </a:p>
        </p:txBody>
      </p:sp>
    </p:spTree>
    <p:extLst>
      <p:ext uri="{BB962C8B-B14F-4D97-AF65-F5344CB8AC3E}">
        <p14:creationId xmlns:p14="http://schemas.microsoft.com/office/powerpoint/2010/main" val="3945267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4B2F5817-EABD-371A-E7AC-C8150AF5597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研究背景 </a:t>
            </a:r>
            <a:r>
              <a:rPr kumimoji="1" lang="en-US" altLang="ja-JP" sz="3200" b="1">
                <a:solidFill>
                  <a:srgbClr val="17365D"/>
                </a:solidFill>
                <a:latin typeface="Meiryo" panose="020B0604030504040204" pitchFamily="50" charset="-128"/>
                <a:ea typeface="Meiryo" panose="020B0604030504040204" pitchFamily="50" charset="-128"/>
              </a:rPr>
              <a:t>― </a:t>
            </a:r>
            <a:r>
              <a:rPr kumimoji="1" lang="ja-JP" altLang="en-US" sz="3200" b="1">
                <a:solidFill>
                  <a:srgbClr val="17365D"/>
                </a:solidFill>
                <a:latin typeface="Meiryo" panose="020B0604030504040204" pitchFamily="50" charset="-128"/>
                <a:ea typeface="Meiryo" panose="020B0604030504040204" pitchFamily="50" charset="-128"/>
              </a:rPr>
              <a:t>パーコレーションと相転移</a:t>
            </a:r>
          </a:p>
        </p:txBody>
      </p:sp>
      <p:cxnSp>
        <p:nvCxnSpPr>
          <p:cNvPr id="3" name="直線コネクタ 2">
            <a:extLst>
              <a:ext uri="{FF2B5EF4-FFF2-40B4-BE49-F238E27FC236}">
                <a16:creationId xmlns:a16="http://schemas.microsoft.com/office/drawing/2014/main" id="{51D3F132-46AC-F673-9946-A46138C72C3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16C4D70B-5ECF-7E9D-F7AB-7115178231A4}"/>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047402-1</a:t>
            </a: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5" name="page-4">
            <a:extLst>
              <a:ext uri="{FF2B5EF4-FFF2-40B4-BE49-F238E27FC236}">
                <a16:creationId xmlns:a16="http://schemas.microsoft.com/office/drawing/2014/main" id="{9709252C-2B5B-D050-E26C-CF8C006693B0}"/>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02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5AA93C4E-FFD1-E66E-C970-C4959EF325BB}"/>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パーコレーションでは、辺の占有率などの変化に伴い、
ネットワーク全体の連結性がどのように変化するかを調べる。</a:t>
            </a:r>
          </a:p>
        </p:txBody>
      </p:sp>
      <p:sp>
        <p:nvSpPr>
          <p:cNvPr id="7" name="text-6">
            <a:extLst>
              <a:ext uri="{FF2B5EF4-FFF2-40B4-BE49-F238E27FC236}">
                <a16:creationId xmlns:a16="http://schemas.microsoft.com/office/drawing/2014/main" id="{6C219479-F89C-6A73-8F83-77745C4BF3DA}"/>
              </a:ext>
            </a:extLst>
          </p:cNvPr>
          <p:cNvSpPr txBox="1"/>
          <p:nvPr/>
        </p:nvSpPr>
        <p:spPr>
          <a:xfrm>
            <a:off x="635000" y="2857500"/>
            <a:ext cx="4508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最大連結成分の大きさ</a:t>
            </a:r>
          </a:p>
        </p:txBody>
      </p:sp>
      <p:sp>
        <p:nvSpPr>
          <p:cNvPr id="8" name="text-7">
            <a:extLst>
              <a:ext uri="{FF2B5EF4-FFF2-40B4-BE49-F238E27FC236}">
                <a16:creationId xmlns:a16="http://schemas.microsoft.com/office/drawing/2014/main" id="{065AF99B-D8F2-995B-5395-A1D0813F3F66}"/>
              </a:ext>
            </a:extLst>
          </p:cNvPr>
          <p:cNvSpPr txBox="1"/>
          <p:nvPr/>
        </p:nvSpPr>
        <p:spPr>
          <a:xfrm>
            <a:off x="635000" y="33020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全体の頂点のうち、どの程度が一つにつながっているか。</a:t>
            </a:r>
          </a:p>
        </p:txBody>
      </p:sp>
      <p:sp>
        <p:nvSpPr>
          <p:cNvPr id="9" name="text-8">
            <a:extLst>
              <a:ext uri="{FF2B5EF4-FFF2-40B4-BE49-F238E27FC236}">
                <a16:creationId xmlns:a16="http://schemas.microsoft.com/office/drawing/2014/main" id="{B945A4C7-05C2-9B63-1790-646AFC6E8D7D}"/>
              </a:ext>
            </a:extLst>
          </p:cNvPr>
          <p:cNvSpPr txBox="1"/>
          <p:nvPr/>
        </p:nvSpPr>
        <p:spPr>
          <a:xfrm>
            <a:off x="635000" y="4064000"/>
            <a:ext cx="4508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臨界点と転移の性質</a:t>
            </a:r>
          </a:p>
        </p:txBody>
      </p:sp>
      <p:sp>
        <p:nvSpPr>
          <p:cNvPr id="10" name="text-9">
            <a:extLst>
              <a:ext uri="{FF2B5EF4-FFF2-40B4-BE49-F238E27FC236}">
                <a16:creationId xmlns:a16="http://schemas.microsoft.com/office/drawing/2014/main" id="{3AEDE76A-54BE-B869-5C62-5DC6D77DB983}"/>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転移が起こる位置と、連結成分の大きさが
連続的に変化するのか、不連続に変化するのかに注目する。</a:t>
            </a:r>
          </a:p>
        </p:txBody>
      </p:sp>
      <p:sp>
        <p:nvSpPr>
          <p:cNvPr id="11" name="text-10">
            <a:extLst>
              <a:ext uri="{FF2B5EF4-FFF2-40B4-BE49-F238E27FC236}">
                <a16:creationId xmlns:a16="http://schemas.microsoft.com/office/drawing/2014/main" id="{F119B1D7-2723-6B53-87C1-B6114DA1AC67}"/>
              </a:ext>
            </a:extLst>
          </p:cNvPr>
          <p:cNvSpPr txBox="1"/>
          <p:nvPr/>
        </p:nvSpPr>
        <p:spPr>
          <a:xfrm>
            <a:off x="635000" y="57150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これらの性質は、ネットワークの構造や辺の削除方法によって異なる場合がある。</a:t>
            </a:r>
          </a:p>
        </p:txBody>
      </p:sp>
    </p:spTree>
    <p:extLst>
      <p:ext uri="{BB962C8B-B14F-4D97-AF65-F5344CB8AC3E}">
        <p14:creationId xmlns:p14="http://schemas.microsoft.com/office/powerpoint/2010/main" val="3076508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C49983DC-8162-8F30-02BC-DAD85EBBAFAC}"/>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の基本操作</a:t>
            </a:r>
          </a:p>
        </p:txBody>
      </p:sp>
      <p:cxnSp>
        <p:nvCxnSpPr>
          <p:cNvPr id="3" name="直線コネクタ 2">
            <a:extLst>
              <a:ext uri="{FF2B5EF4-FFF2-40B4-BE49-F238E27FC236}">
                <a16:creationId xmlns:a16="http://schemas.microsoft.com/office/drawing/2014/main" id="{578116FD-0DB8-C9DB-AD7F-CFFF4105AF51}"/>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03C17C4A-8E7B-3B7D-D4BC-CA400E32E0B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047402-1–2</a:t>
            </a:r>
            <a:r>
              <a:rPr kumimoji="1" lang="ja-JP" altLang="en-US" sz="950">
                <a:solidFill>
                  <a:srgbClr val="566573"/>
                </a:solidFill>
                <a:latin typeface="Meiryo" panose="020B0604030504040204" pitchFamily="50" charset="-128"/>
                <a:ea typeface="Meiryo" panose="020B0604030504040204" pitchFamily="50" charset="-128"/>
              </a:rPr>
              <a:t>、図</a:t>
            </a:r>
            <a:r>
              <a:rPr kumimoji="1" lang="en-US" altLang="ja-JP" sz="950">
                <a:solidFill>
                  <a:srgbClr val="566573"/>
                </a:solidFill>
                <a:latin typeface="Meiryo" panose="020B0604030504040204" pitchFamily="50" charset="-128"/>
                <a:ea typeface="Meiryo" panose="020B0604030504040204" pitchFamily="50" charset="-128"/>
              </a:rPr>
              <a:t>1</a:t>
            </a: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5" name="page-4">
            <a:extLst>
              <a:ext uri="{FF2B5EF4-FFF2-40B4-BE49-F238E27FC236}">
                <a16:creationId xmlns:a16="http://schemas.microsoft.com/office/drawing/2014/main" id="{0FFEAA27-B66A-2492-43CE-538C0224969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03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paper_fig1_ab.png">
            <a:extLst>
              <a:ext uri="{FF2B5EF4-FFF2-40B4-BE49-F238E27FC236}">
                <a16:creationId xmlns:a16="http://schemas.microsoft.com/office/drawing/2014/main" id="{3567BA87-20E0-B562-CEB4-0E6D983C48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86824" y="1587500"/>
            <a:ext cx="4903351" cy="2095500"/>
          </a:xfrm>
          <a:prstGeom prst="rect">
            <a:avLst/>
          </a:prstGeom>
        </p:spPr>
      </p:pic>
      <p:sp>
        <p:nvSpPr>
          <p:cNvPr id="8" name="text-6">
            <a:extLst>
              <a:ext uri="{FF2B5EF4-FFF2-40B4-BE49-F238E27FC236}">
                <a16:creationId xmlns:a16="http://schemas.microsoft.com/office/drawing/2014/main" id="{A075AF85-BA9D-45A7-4207-00A49AFF7684}"/>
              </a:ext>
            </a:extLst>
          </p:cNvPr>
          <p:cNvSpPr txBox="1"/>
          <p:nvPr/>
        </p:nvSpPr>
        <p:spPr>
          <a:xfrm>
            <a:off x="698500" y="3810000"/>
            <a:ext cx="5207000" cy="276999"/>
          </a:xfrm>
          <a:prstGeom prst="rect">
            <a:avLst/>
          </a:prstGeom>
          <a:noFill/>
        </p:spPr>
        <p:txBody>
          <a:bodyPr vert="horz" wrap="square" lIns="0" tIns="0" rIns="0" bIns="0" rtlCol="0">
            <a:noAutofit/>
          </a:bodyPr>
          <a:lstStyle/>
          <a:p>
            <a:pPr>
              <a:lnSpc>
                <a:spcPct val="112000"/>
              </a:lnSpc>
            </a:pPr>
            <a:r>
              <a:rPr kumimoji="1" lang="ja-JP" altLang="en-US">
                <a:solidFill>
                  <a:srgbClr val="17365D"/>
                </a:solidFill>
                <a:latin typeface="Meiryo" panose="020B0604030504040204" pitchFamily="50" charset="-128"/>
                <a:ea typeface="Meiryo" panose="020B0604030504040204" pitchFamily="50" charset="-128"/>
              </a:rPr>
              <a:t>原論文 図</a:t>
            </a:r>
            <a:r>
              <a:rPr kumimoji="1" lang="en-US" altLang="ja-JP">
                <a:solidFill>
                  <a:srgbClr val="17365D"/>
                </a:solidFill>
                <a:latin typeface="Meiryo" panose="020B0604030504040204" pitchFamily="50" charset="-128"/>
                <a:ea typeface="Meiryo" panose="020B0604030504040204" pitchFamily="50" charset="-128"/>
              </a:rPr>
              <a:t>1(a)(b)</a:t>
            </a:r>
          </a:p>
          <a:p>
            <a:pPr>
              <a:lnSpc>
                <a:spcPct val="112000"/>
              </a:lnSpc>
            </a:pPr>
            <a:r>
              <a:rPr kumimoji="1" lang="ja-JP" altLang="en-US">
                <a:solidFill>
                  <a:srgbClr val="17365D"/>
                </a:solidFill>
                <a:latin typeface="Meiryo" panose="020B0604030504040204" pitchFamily="50" charset="-128"/>
                <a:ea typeface="Meiryo" panose="020B0604030504040204" pitchFamily="50" charset="-128"/>
              </a:rPr>
              <a:t>例：</a:t>
            </a:r>
            <a:r>
              <a:rPr kumimoji="1" lang="en-US" altLang="ja-JP">
                <a:solidFill>
                  <a:srgbClr val="17365D"/>
                </a:solidFill>
                <a:latin typeface="Meiryo" panose="020B0604030504040204" pitchFamily="50" charset="-128"/>
                <a:ea typeface="Meiryo" panose="020B0604030504040204" pitchFamily="50" charset="-128"/>
              </a:rPr>
              <a:t>Q</a:t>
            </a:r>
            <a:r>
              <a:rPr kumimoji="1" lang="en-US" altLang="ja-JP" sz="1332" baseline="-16000">
                <a:solidFill>
                  <a:srgbClr val="17365D"/>
                </a:solidFill>
                <a:latin typeface="Meiryo" panose="020B0604030504040204" pitchFamily="50" charset="-128"/>
                <a:ea typeface="Meiryo" panose="020B0604030504040204" pitchFamily="50" charset="-128"/>
              </a:rPr>
              <a:t>t</a:t>
            </a:r>
            <a:r>
              <a:rPr kumimoji="1" lang="en-US" altLang="ja-JP">
                <a:solidFill>
                  <a:srgbClr val="17365D"/>
                </a:solidFill>
                <a:latin typeface="Meiryo" panose="020B0604030504040204" pitchFamily="50" charset="-128"/>
                <a:ea typeface="Meiryo" panose="020B0604030504040204" pitchFamily="50" charset="-128"/>
              </a:rPr>
              <a:t>=4</a:t>
            </a:r>
            <a:r>
              <a:rPr kumimoji="1" lang="ja-JP" altLang="en-US">
                <a:solidFill>
                  <a:srgbClr val="17365D"/>
                </a:solidFill>
                <a:latin typeface="Meiryo" panose="020B0604030504040204" pitchFamily="50" charset="-128"/>
                <a:ea typeface="Meiryo" panose="020B0604030504040204" pitchFamily="50" charset="-128"/>
              </a:rPr>
              <a:t>。</a:t>
            </a:r>
            <a:r>
              <a:rPr kumimoji="1" lang="en-US" altLang="ja-JP">
                <a:solidFill>
                  <a:srgbClr val="17365D"/>
                </a:solidFill>
                <a:latin typeface="Meiryo" panose="020B0604030504040204" pitchFamily="50" charset="-128"/>
                <a:ea typeface="Meiryo" panose="020B0604030504040204" pitchFamily="50" charset="-128"/>
              </a:rPr>
              <a:t>C≥4</a:t>
            </a:r>
            <a:r>
              <a:rPr kumimoji="1" lang="ja-JP" altLang="en-US">
                <a:solidFill>
                  <a:srgbClr val="17365D"/>
                </a:solidFill>
                <a:latin typeface="Meiryo" panose="020B0604030504040204" pitchFamily="50" charset="-128"/>
                <a:ea typeface="Meiryo" panose="020B0604030504040204" pitchFamily="50" charset="-128"/>
              </a:rPr>
              <a:t>なら削除可能。</a:t>
            </a:r>
          </a:p>
        </p:txBody>
      </p:sp>
      <p:sp>
        <p:nvSpPr>
          <p:cNvPr id="9" name="text-7">
            <a:extLst>
              <a:ext uri="{FF2B5EF4-FFF2-40B4-BE49-F238E27FC236}">
                <a16:creationId xmlns:a16="http://schemas.microsoft.com/office/drawing/2014/main" id="{BD6C7D85-DD01-EAEE-9E0A-C74CC4D77E68}"/>
              </a:ext>
            </a:extLst>
          </p:cNvPr>
          <p:cNvSpPr txBox="1"/>
          <p:nvPr/>
        </p:nvSpPr>
        <p:spPr>
          <a:xfrm>
            <a:off x="6223000" y="1587500"/>
            <a:ext cx="5334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1. </a:t>
            </a:r>
            <a:r>
              <a:rPr kumimoji="1" lang="ja-JP" altLang="en-US" sz="2100">
                <a:solidFill>
                  <a:srgbClr val="253746"/>
                </a:solidFill>
                <a:latin typeface="Meiryo" panose="020B0604030504040204" pitchFamily="50" charset="-128"/>
                <a:ea typeface="Meiryo" panose="020B0604030504040204" pitchFamily="50" charset="-128"/>
              </a:rPr>
              <a:t>異なる</a:t>
            </a:r>
            <a:r>
              <a:rPr kumimoji="1" lang="en-US" altLang="ja-JP" sz="2100">
                <a:solidFill>
                  <a:srgbClr val="253746"/>
                </a:solidFill>
                <a:latin typeface="Meiryo" panose="020B0604030504040204" pitchFamily="50" charset="-128"/>
                <a:ea typeface="Meiryo" panose="020B0604030504040204" pitchFamily="50" charset="-128"/>
              </a:rPr>
              <a:t>2</a:t>
            </a:r>
            <a:r>
              <a:rPr kumimoji="1" lang="ja-JP" altLang="en-US" sz="2100">
                <a:solidFill>
                  <a:srgbClr val="253746"/>
                </a:solidFill>
                <a:latin typeface="Meiryo" panose="020B0604030504040204" pitchFamily="50" charset="-128"/>
                <a:ea typeface="Meiryo" panose="020B0604030504040204" pitchFamily="50" charset="-128"/>
              </a:rPr>
              <a:t>頂点を同じ確率で選ぶ。
</a:t>
            </a:r>
            <a:r>
              <a:rPr kumimoji="1" lang="en-US" altLang="ja-JP" sz="2100">
                <a:solidFill>
                  <a:srgbClr val="253746"/>
                </a:solidFill>
                <a:latin typeface="Meiryo" panose="020B0604030504040204" pitchFamily="50" charset="-128"/>
                <a:ea typeface="Meiryo" panose="020B0604030504040204" pitchFamily="50" charset="-128"/>
              </a:rPr>
              <a:t>2. </a:t>
            </a:r>
            <a:r>
              <a:rPr kumimoji="1" lang="ja-JP" altLang="en-US" sz="2100">
                <a:solidFill>
                  <a:srgbClr val="253746"/>
                </a:solidFill>
                <a:latin typeface="Meiryo" panose="020B0604030504040204" pitchFamily="50" charset="-128"/>
                <a:ea typeface="Meiryo" panose="020B0604030504040204" pitchFamily="50" charset="-128"/>
              </a:rPr>
              <a:t>最短経路があり、
　 長さが</a:t>
            </a:r>
            <a:r>
              <a:rPr kumimoji="1" lang="en-US" altLang="ja-JP" sz="21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以内か確認する。
</a:t>
            </a:r>
            <a:r>
              <a:rPr kumimoji="1" lang="en-US" altLang="ja-JP" sz="2100">
                <a:solidFill>
                  <a:srgbClr val="253746"/>
                </a:solidFill>
                <a:latin typeface="Meiryo" panose="020B0604030504040204" pitchFamily="50" charset="-128"/>
                <a:ea typeface="Meiryo" panose="020B0604030504040204" pitchFamily="50" charset="-128"/>
              </a:rPr>
              <a:t>3. </a:t>
            </a:r>
            <a:r>
              <a:rPr kumimoji="1" lang="ja-JP" altLang="en-US" sz="2100">
                <a:solidFill>
                  <a:srgbClr val="253746"/>
                </a:solidFill>
                <a:latin typeface="Meiryo" panose="020B0604030504040204" pitchFamily="50" charset="-128"/>
                <a:ea typeface="Meiryo" panose="020B0604030504040204" pitchFamily="50" charset="-128"/>
              </a:rPr>
              <a:t>最短経路を</a:t>
            </a:r>
            <a:r>
              <a:rPr kumimoji="1" lang="en-US" altLang="ja-JP" sz="2100">
                <a:solidFill>
                  <a:srgbClr val="253746"/>
                </a:solidFill>
                <a:latin typeface="Meiryo" panose="020B0604030504040204" pitchFamily="50" charset="-128"/>
                <a:ea typeface="Meiryo" panose="020B0604030504040204" pitchFamily="50" charset="-128"/>
              </a:rPr>
              <a:t>1</a:t>
            </a:r>
            <a:r>
              <a:rPr kumimoji="1" lang="ja-JP" altLang="en-US" sz="2100">
                <a:solidFill>
                  <a:srgbClr val="253746"/>
                </a:solidFill>
                <a:latin typeface="Meiryo" panose="020B0604030504040204" pitchFamily="50" charset="-128"/>
                <a:ea typeface="Meiryo" panose="020B0604030504040204" pitchFamily="50" charset="-128"/>
              </a:rPr>
              <a:t>本選ぶ。
</a:t>
            </a:r>
            <a:r>
              <a:rPr kumimoji="1" lang="en-US" altLang="ja-JP" sz="2100">
                <a:solidFill>
                  <a:srgbClr val="253746"/>
                </a:solidFill>
                <a:latin typeface="Meiryo" panose="020B0604030504040204" pitchFamily="50" charset="-128"/>
                <a:ea typeface="Meiryo" panose="020B0604030504040204" pitchFamily="50" charset="-128"/>
              </a:rPr>
              <a:t>4. </a:t>
            </a:r>
            <a:r>
              <a:rPr kumimoji="1" lang="ja-JP" altLang="en-US" sz="2100">
                <a:solidFill>
                  <a:srgbClr val="253746"/>
                </a:solidFill>
                <a:latin typeface="Meiryo" panose="020B0604030504040204" pitchFamily="50" charset="-128"/>
                <a:ea typeface="Meiryo" panose="020B0604030504040204" pitchFamily="50" charset="-128"/>
              </a:rPr>
              <a:t>経路上の全辺をまとめて削除する。</a:t>
            </a:r>
          </a:p>
        </p:txBody>
      </p:sp>
      <p:sp>
        <p:nvSpPr>
          <p:cNvPr id="10" name="text-8">
            <a:extLst>
              <a:ext uri="{FF2B5EF4-FFF2-40B4-BE49-F238E27FC236}">
                <a16:creationId xmlns:a16="http://schemas.microsoft.com/office/drawing/2014/main" id="{3A5F401F-5287-32F6-967E-D0CAFEBA888B}"/>
              </a:ext>
            </a:extLst>
          </p:cNvPr>
          <p:cNvSpPr txBox="1"/>
          <p:nvPr/>
        </p:nvSpPr>
        <p:spPr>
          <a:xfrm>
            <a:off x="6223000" y="4127500"/>
            <a:ext cx="5334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複数の最短経路がある場合は、
その中から</a:t>
            </a:r>
            <a:r>
              <a:rPr kumimoji="1" lang="en-US" altLang="ja-JP">
                <a:solidFill>
                  <a:srgbClr val="253746"/>
                </a:solidFill>
                <a:latin typeface="Meiryo" panose="020B0604030504040204" pitchFamily="50" charset="-128"/>
                <a:ea typeface="Meiryo" panose="020B0604030504040204" pitchFamily="50" charset="-128"/>
              </a:rPr>
              <a:t>1</a:t>
            </a:r>
            <a:r>
              <a:rPr kumimoji="1" lang="ja-JP" altLang="en-US">
                <a:solidFill>
                  <a:srgbClr val="253746"/>
                </a:solidFill>
                <a:latin typeface="Meiryo" panose="020B0604030504040204" pitchFamily="50" charset="-128"/>
                <a:ea typeface="Meiryo" panose="020B0604030504040204" pitchFamily="50" charset="-128"/>
              </a:rPr>
              <a:t>本を等確率で選ぶ。</a:t>
            </a:r>
          </a:p>
        </p:txBody>
      </p:sp>
      <p:sp>
        <p:nvSpPr>
          <p:cNvPr id="11" name="text-9">
            <a:extLst>
              <a:ext uri="{FF2B5EF4-FFF2-40B4-BE49-F238E27FC236}">
                <a16:creationId xmlns:a16="http://schemas.microsoft.com/office/drawing/2014/main" id="{337C43B7-764B-BFA6-127A-70793302718E}"/>
              </a:ext>
            </a:extLst>
          </p:cNvPr>
          <p:cNvSpPr txBox="1"/>
          <p:nvPr/>
        </p:nvSpPr>
        <p:spPr>
          <a:xfrm>
            <a:off x="698500" y="4762500"/>
            <a:ext cx="10795000" cy="276999"/>
          </a:xfrm>
          <a:prstGeom prst="rect">
            <a:avLst/>
          </a:prstGeom>
          <a:noFill/>
        </p:spPr>
        <p:txBody>
          <a:bodyPr vert="horz" wrap="square" lIns="0" tIns="0" rIns="0" bIns="0" rtlCol="0">
            <a:noAutofit/>
          </a:bodyPr>
          <a:lstStyle/>
          <a:p>
            <a:pPr>
              <a:lnSpc>
                <a:spcPct val="112000"/>
              </a:lnSpc>
            </a:pPr>
            <a:r>
              <a:rPr kumimoji="1" lang="en-US" altLang="ja-JP">
                <a:solidFill>
                  <a:srgbClr val="253746"/>
                </a:solidFill>
                <a:latin typeface="Meiryo" panose="020B0604030504040204" pitchFamily="50" charset="-128"/>
                <a:ea typeface="Meiryo" panose="020B0604030504040204" pitchFamily="50" charset="-128"/>
              </a:rPr>
              <a:t>Q</a:t>
            </a:r>
            <a:r>
              <a:rPr kumimoji="1" lang="en-US" altLang="ja-JP" sz="1332" baseline="-16000">
                <a:solidFill>
                  <a:srgbClr val="253746"/>
                </a:solidFill>
                <a:latin typeface="Meiryo" panose="020B0604030504040204" pitchFamily="50" charset="-128"/>
                <a:ea typeface="Meiryo" panose="020B0604030504040204" pitchFamily="50" charset="-128"/>
              </a:rPr>
              <a:t>t</a:t>
            </a:r>
            <a:r>
              <a:rPr kumimoji="1" lang="ja-JP" altLang="en-US">
                <a:solidFill>
                  <a:srgbClr val="253746"/>
                </a:solidFill>
                <a:latin typeface="Meiryo" panose="020B0604030504040204" pitchFamily="50" charset="-128"/>
                <a:ea typeface="Meiryo" panose="020B0604030504040204" pitchFamily="50" charset="-128"/>
              </a:rPr>
              <a:t>：最短経路の長さ（辺の本数）　 </a:t>
            </a:r>
            <a:r>
              <a:rPr kumimoji="1" lang="en-US" altLang="ja-JP">
                <a:solidFill>
                  <a:srgbClr val="253746"/>
                </a:solidFill>
                <a:latin typeface="Meiryo" panose="020B0604030504040204" pitchFamily="50" charset="-128"/>
                <a:ea typeface="Meiryo" panose="020B0604030504040204" pitchFamily="50" charset="-128"/>
              </a:rPr>
              <a:t>C</a:t>
            </a:r>
            <a:r>
              <a:rPr kumimoji="1" lang="ja-JP" altLang="en-US">
                <a:solidFill>
                  <a:srgbClr val="253746"/>
                </a:solidFill>
                <a:latin typeface="Meiryo" panose="020B0604030504040204" pitchFamily="50" charset="-128"/>
                <a:ea typeface="Meiryo" panose="020B0604030504040204" pitchFamily="50" charset="-128"/>
              </a:rPr>
              <a:t>：経路長の上限</a:t>
            </a:r>
          </a:p>
          <a:p>
            <a:pPr>
              <a:lnSpc>
                <a:spcPct val="112000"/>
              </a:lnSpc>
            </a:pPr>
            <a:r>
              <a:rPr kumimoji="1" lang="en-US" altLang="ja-JP">
                <a:solidFill>
                  <a:srgbClr val="253746"/>
                </a:solidFill>
                <a:latin typeface="Meiryo" panose="020B0604030504040204" pitchFamily="50" charset="-128"/>
                <a:ea typeface="Meiryo" panose="020B0604030504040204" pitchFamily="50" charset="-128"/>
              </a:rPr>
              <a:t>t</a:t>
            </a:r>
            <a:r>
              <a:rPr kumimoji="1" lang="ja-JP" altLang="en-US">
                <a:solidFill>
                  <a:srgbClr val="253746"/>
                </a:solidFill>
                <a:latin typeface="Meiryo" panose="020B0604030504040204" pitchFamily="50" charset="-128"/>
                <a:ea typeface="Meiryo" panose="020B0604030504040204" pitchFamily="50" charset="-128"/>
              </a:rPr>
              <a:t>：始点・終点の組が要求された回数</a:t>
            </a:r>
          </a:p>
        </p:txBody>
      </p:sp>
      <p:sp>
        <p:nvSpPr>
          <p:cNvPr id="12" name="text-10">
            <a:extLst>
              <a:ext uri="{FF2B5EF4-FFF2-40B4-BE49-F238E27FC236}">
                <a16:creationId xmlns:a16="http://schemas.microsoft.com/office/drawing/2014/main" id="{AE9DD40B-7D26-EF4E-FE47-E16561B7F1C9}"/>
              </a:ext>
            </a:extLst>
          </p:cNvPr>
          <p:cNvSpPr txBox="1"/>
          <p:nvPr/>
        </p:nvSpPr>
        <p:spPr>
          <a:xfrm>
            <a:off x="698500" y="5461000"/>
            <a:ext cx="10795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17365D"/>
                </a:solidFill>
                <a:latin typeface="Meiryo" panose="020B0604030504040204" pitchFamily="50" charset="-128"/>
                <a:ea typeface="Meiryo" panose="020B0604030504040204" pitchFamily="50" charset="-128"/>
              </a:rPr>
              <a:t>経路がない、または</a:t>
            </a:r>
            <a:r>
              <a:rPr kumimoji="1" lang="en-US" altLang="ja-JP" sz="1900">
                <a:solidFill>
                  <a:srgbClr val="17365D"/>
                </a:solidFill>
                <a:latin typeface="Meiryo" panose="020B0604030504040204" pitchFamily="50" charset="-128"/>
                <a:ea typeface="Meiryo" panose="020B0604030504040204" pitchFamily="50" charset="-128"/>
              </a:rPr>
              <a:t>Q</a:t>
            </a:r>
            <a:r>
              <a:rPr kumimoji="1" lang="en-US" altLang="ja-JP" sz="1406" baseline="-16000">
                <a:solidFill>
                  <a:srgbClr val="17365D"/>
                </a:solidFill>
                <a:latin typeface="Meiryo" panose="020B0604030504040204" pitchFamily="50" charset="-128"/>
                <a:ea typeface="Meiryo" panose="020B0604030504040204" pitchFamily="50" charset="-128"/>
              </a:rPr>
              <a:t>t</a:t>
            </a:r>
            <a:r>
              <a:rPr kumimoji="1" lang="en-US" altLang="ja-JP" sz="1900">
                <a:solidFill>
                  <a:srgbClr val="17365D"/>
                </a:solidFill>
                <a:latin typeface="Meiryo" panose="020B0604030504040204" pitchFamily="50" charset="-128"/>
                <a:ea typeface="Meiryo" panose="020B0604030504040204" pitchFamily="50" charset="-128"/>
              </a:rPr>
              <a:t>&gt;C</a:t>
            </a:r>
            <a:r>
              <a:rPr kumimoji="1" lang="ja-JP" altLang="en-US" sz="1900">
                <a:solidFill>
                  <a:srgbClr val="17365D"/>
                </a:solidFill>
                <a:latin typeface="Meiryo" panose="020B0604030504040204" pitchFamily="50" charset="-128"/>
                <a:ea typeface="Meiryo" panose="020B0604030504040204" pitchFamily="50" charset="-128"/>
              </a:rPr>
              <a:t>なら削除しない。</a:t>
            </a:r>
          </a:p>
          <a:p>
            <a:pPr>
              <a:lnSpc>
                <a:spcPct val="112000"/>
              </a:lnSpc>
            </a:pPr>
            <a:r>
              <a:rPr kumimoji="1" lang="ja-JP" altLang="en-US" sz="1900">
                <a:solidFill>
                  <a:srgbClr val="17365D"/>
                </a:solidFill>
                <a:latin typeface="Meiryo" panose="020B0604030504040204" pitchFamily="50" charset="-128"/>
                <a:ea typeface="Meiryo" panose="020B0604030504040204" pitchFamily="50" charset="-128"/>
              </a:rPr>
              <a:t>削除できなくても</a:t>
            </a:r>
            <a:r>
              <a:rPr kumimoji="1" lang="en-US" altLang="ja-JP" sz="1900">
                <a:solidFill>
                  <a:srgbClr val="17365D"/>
                </a:solidFill>
                <a:latin typeface="Meiryo" panose="020B0604030504040204" pitchFamily="50" charset="-128"/>
                <a:ea typeface="Meiryo" panose="020B0604030504040204" pitchFamily="50" charset="-128"/>
              </a:rPr>
              <a:t>t</a:t>
            </a:r>
            <a:r>
              <a:rPr kumimoji="1" lang="ja-JP" altLang="en-US" sz="1900">
                <a:solidFill>
                  <a:srgbClr val="17365D"/>
                </a:solidFill>
                <a:latin typeface="Meiryo" panose="020B0604030504040204" pitchFamily="50" charset="-128"/>
                <a:ea typeface="Meiryo" panose="020B0604030504040204" pitchFamily="50" charset="-128"/>
              </a:rPr>
              <a:t>は</a:t>
            </a:r>
            <a:r>
              <a:rPr kumimoji="1" lang="en-US" altLang="ja-JP" sz="1900">
                <a:solidFill>
                  <a:srgbClr val="17365D"/>
                </a:solidFill>
                <a:latin typeface="Meiryo" panose="020B0604030504040204" pitchFamily="50" charset="-128"/>
                <a:ea typeface="Meiryo" panose="020B0604030504040204" pitchFamily="50" charset="-128"/>
              </a:rPr>
              <a:t>1</a:t>
            </a:r>
            <a:r>
              <a:rPr kumimoji="1" lang="ja-JP" altLang="en-US" sz="1900">
                <a:solidFill>
                  <a:srgbClr val="17365D"/>
                </a:solidFill>
                <a:latin typeface="Meiryo" panose="020B0604030504040204" pitchFamily="50" charset="-128"/>
                <a:ea typeface="Meiryo" panose="020B0604030504040204" pitchFamily="50" charset="-128"/>
              </a:rPr>
              <a:t>増え、辺集合は変わらない。</a:t>
            </a:r>
          </a:p>
        </p:txBody>
      </p:sp>
    </p:spTree>
    <p:extLst>
      <p:ext uri="{BB962C8B-B14F-4D97-AF65-F5344CB8AC3E}">
        <p14:creationId xmlns:p14="http://schemas.microsoft.com/office/powerpoint/2010/main" val="276696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90D0B470-09BA-C57A-E5B1-E04BFD08D033}"/>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2</a:t>
            </a:r>
            <a:r>
              <a:rPr kumimoji="1" lang="ja-JP" altLang="en-US" sz="3200" b="1">
                <a:solidFill>
                  <a:srgbClr val="17365D"/>
                </a:solidFill>
                <a:latin typeface="Meiryo" panose="020B0604030504040204" pitchFamily="50" charset="-128"/>
                <a:ea typeface="Meiryo" panose="020B0604030504040204" pitchFamily="50" charset="-128"/>
              </a:rPr>
              <a:t>次元正方格子上での</a:t>
            </a: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の操作</a:t>
            </a:r>
          </a:p>
        </p:txBody>
      </p:sp>
      <p:cxnSp>
        <p:nvCxnSpPr>
          <p:cNvPr id="3" name="直線コネクタ 2">
            <a:extLst>
              <a:ext uri="{FF2B5EF4-FFF2-40B4-BE49-F238E27FC236}">
                <a16:creationId xmlns:a16="http://schemas.microsoft.com/office/drawing/2014/main" id="{C7A0557D-54F0-9327-1DB6-437A329B20DA}"/>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15C1EFE1-D843-2FEF-6446-827A9F56B72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説明用</a:t>
            </a:r>
            <a:r>
              <a:rPr kumimoji="1" lang="en-US" altLang="ja-JP" sz="950">
                <a:solidFill>
                  <a:srgbClr val="566573"/>
                </a:solidFill>
                <a:latin typeface="Meiryo" panose="020B0604030504040204" pitchFamily="50" charset="-128"/>
                <a:ea typeface="Meiryo" panose="020B0604030504040204" pitchFamily="50" charset="-128"/>
              </a:rPr>
              <a:t>3×3</a:t>
            </a:r>
            <a:r>
              <a:rPr kumimoji="1" lang="ja-JP" altLang="en-US" sz="950">
                <a:solidFill>
                  <a:srgbClr val="566573"/>
                </a:solidFill>
                <a:latin typeface="Meiryo" panose="020B0604030504040204" pitchFamily="50" charset="-128"/>
                <a:ea typeface="Meiryo" panose="020B0604030504040204" pitchFamily="50" charset="-128"/>
              </a:rPr>
              <a:t>格子（実験サイズではない）。原論文の</a:t>
            </a:r>
            <a:r>
              <a:rPr kumimoji="1" lang="en-US" altLang="ja-JP" sz="950">
                <a:solidFill>
                  <a:srgbClr val="566573"/>
                </a:solidFill>
                <a:latin typeface="Meiryo" panose="020B0604030504040204" pitchFamily="50" charset="-128"/>
                <a:ea typeface="Meiryo" panose="020B0604030504040204" pitchFamily="50" charset="-128"/>
              </a:rPr>
              <a:t>SPP</a:t>
            </a:r>
            <a:r>
              <a:rPr kumimoji="1" lang="ja-JP" altLang="en-US" sz="950">
                <a:solidFill>
                  <a:srgbClr val="566573"/>
                </a:solidFill>
                <a:latin typeface="Meiryo" panose="020B0604030504040204" pitchFamily="50" charset="-128"/>
                <a:ea typeface="Meiryo" panose="020B0604030504040204" pitchFamily="50" charset="-128"/>
              </a:rPr>
              <a:t>規則を適用した作図。</a:t>
            </a:r>
          </a:p>
        </p:txBody>
      </p:sp>
      <p:sp>
        <p:nvSpPr>
          <p:cNvPr id="5" name="page-4">
            <a:extLst>
              <a:ext uri="{FF2B5EF4-FFF2-40B4-BE49-F238E27FC236}">
                <a16:creationId xmlns:a16="http://schemas.microsoft.com/office/drawing/2014/main" id="{925E31FA-A4E9-8858-00E3-91C2B6536EB1}"/>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04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E65D2E1C-2B18-FA29-5330-AB2302CEE957}"/>
              </a:ext>
            </a:extLst>
          </p:cNvPr>
          <p:cNvSpPr txBox="1"/>
          <p:nvPr/>
        </p:nvSpPr>
        <p:spPr>
          <a:xfrm>
            <a:off x="5080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① </a:t>
            </a:r>
            <a:r>
              <a:rPr kumimoji="1" lang="en-US" altLang="ja-JP" sz="1700" b="1">
                <a:solidFill>
                  <a:srgbClr val="17365D"/>
                </a:solidFill>
                <a:latin typeface="Meiryo" panose="020B0604030504040204" pitchFamily="50" charset="-128"/>
                <a:ea typeface="Meiryo" panose="020B0604030504040204" pitchFamily="50" charset="-128"/>
              </a:rPr>
              <a:t>2</a:t>
            </a:r>
            <a:r>
              <a:rPr kumimoji="1" lang="ja-JP" altLang="en-US" sz="1700" b="1">
                <a:solidFill>
                  <a:srgbClr val="17365D"/>
                </a:solidFill>
                <a:latin typeface="Meiryo" panose="020B0604030504040204" pitchFamily="50" charset="-128"/>
                <a:ea typeface="Meiryo" panose="020B0604030504040204" pitchFamily="50" charset="-128"/>
              </a:rPr>
              <a:t>頂点を選ぶ</a:t>
            </a:r>
          </a:p>
        </p:txBody>
      </p:sp>
      <p:cxnSp>
        <p:nvCxnSpPr>
          <p:cNvPr id="7" name="lattice-1-edge-0-1">
            <a:extLst>
              <a:ext uri="{FF2B5EF4-FFF2-40B4-BE49-F238E27FC236}">
                <a16:creationId xmlns:a16="http://schemas.microsoft.com/office/drawing/2014/main" id="{05611DB3-CDFA-34EE-8E8A-640D43EDAB76}"/>
              </a:ext>
            </a:extLst>
          </p:cNvPr>
          <p:cNvCxnSpPr/>
          <p:nvPr/>
        </p:nvCxnSpPr>
        <p:spPr>
          <a:xfrm>
            <a:off x="8509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 name="lattice-1-edge-0-3">
            <a:extLst>
              <a:ext uri="{FF2B5EF4-FFF2-40B4-BE49-F238E27FC236}">
                <a16:creationId xmlns:a16="http://schemas.microsoft.com/office/drawing/2014/main" id="{548CD170-7999-6481-A11E-9E7C3F05A7FB}"/>
              </a:ext>
            </a:extLst>
          </p:cNvPr>
          <p:cNvCxnSpPr/>
          <p:nvPr/>
        </p:nvCxnSpPr>
        <p:spPr>
          <a:xfrm>
            <a:off x="8509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9" name="lattice-1-edge-1-2">
            <a:extLst>
              <a:ext uri="{FF2B5EF4-FFF2-40B4-BE49-F238E27FC236}">
                <a16:creationId xmlns:a16="http://schemas.microsoft.com/office/drawing/2014/main" id="{D092B534-15D9-03A4-B12F-EC7A5BA99DF0}"/>
              </a:ext>
            </a:extLst>
          </p:cNvPr>
          <p:cNvCxnSpPr/>
          <p:nvPr/>
        </p:nvCxnSpPr>
        <p:spPr>
          <a:xfrm>
            <a:off x="16764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0" name="lattice-1-edge-1-4">
            <a:extLst>
              <a:ext uri="{FF2B5EF4-FFF2-40B4-BE49-F238E27FC236}">
                <a16:creationId xmlns:a16="http://schemas.microsoft.com/office/drawing/2014/main" id="{6F5B0651-181A-1341-100D-35FC4B1FF473}"/>
              </a:ext>
            </a:extLst>
          </p:cNvPr>
          <p:cNvCxnSpPr/>
          <p:nvPr/>
        </p:nvCxnSpPr>
        <p:spPr>
          <a:xfrm>
            <a:off x="16764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1" name="lattice-1-edge-2-5">
            <a:extLst>
              <a:ext uri="{FF2B5EF4-FFF2-40B4-BE49-F238E27FC236}">
                <a16:creationId xmlns:a16="http://schemas.microsoft.com/office/drawing/2014/main" id="{CDE0E7B4-82D7-C049-BBD4-96F533519B51}"/>
              </a:ext>
            </a:extLst>
          </p:cNvPr>
          <p:cNvCxnSpPr/>
          <p:nvPr/>
        </p:nvCxnSpPr>
        <p:spPr>
          <a:xfrm>
            <a:off x="25019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2" name="lattice-1-edge-3-4">
            <a:extLst>
              <a:ext uri="{FF2B5EF4-FFF2-40B4-BE49-F238E27FC236}">
                <a16:creationId xmlns:a16="http://schemas.microsoft.com/office/drawing/2014/main" id="{04125811-372A-97E4-1EFC-B5FB304D9763}"/>
              </a:ext>
            </a:extLst>
          </p:cNvPr>
          <p:cNvCxnSpPr/>
          <p:nvPr/>
        </p:nvCxnSpPr>
        <p:spPr>
          <a:xfrm>
            <a:off x="8509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3" name="lattice-1-edge-3-6">
            <a:extLst>
              <a:ext uri="{FF2B5EF4-FFF2-40B4-BE49-F238E27FC236}">
                <a16:creationId xmlns:a16="http://schemas.microsoft.com/office/drawing/2014/main" id="{B442E985-B1A3-D46C-6D78-F0302A526AED}"/>
              </a:ext>
            </a:extLst>
          </p:cNvPr>
          <p:cNvCxnSpPr/>
          <p:nvPr/>
        </p:nvCxnSpPr>
        <p:spPr>
          <a:xfrm>
            <a:off x="8509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4" name="lattice-1-edge-4-5">
            <a:extLst>
              <a:ext uri="{FF2B5EF4-FFF2-40B4-BE49-F238E27FC236}">
                <a16:creationId xmlns:a16="http://schemas.microsoft.com/office/drawing/2014/main" id="{9077B9D7-A941-D965-62AC-F6F017054EA3}"/>
              </a:ext>
            </a:extLst>
          </p:cNvPr>
          <p:cNvCxnSpPr/>
          <p:nvPr/>
        </p:nvCxnSpPr>
        <p:spPr>
          <a:xfrm>
            <a:off x="16764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5" name="lattice-1-edge-4-7">
            <a:extLst>
              <a:ext uri="{FF2B5EF4-FFF2-40B4-BE49-F238E27FC236}">
                <a16:creationId xmlns:a16="http://schemas.microsoft.com/office/drawing/2014/main" id="{19326F38-9D76-1765-7CE8-A7017D95A194}"/>
              </a:ext>
            </a:extLst>
          </p:cNvPr>
          <p:cNvCxnSpPr/>
          <p:nvPr/>
        </p:nvCxnSpPr>
        <p:spPr>
          <a:xfrm>
            <a:off x="16764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6" name="lattice-1-edge-5-8">
            <a:extLst>
              <a:ext uri="{FF2B5EF4-FFF2-40B4-BE49-F238E27FC236}">
                <a16:creationId xmlns:a16="http://schemas.microsoft.com/office/drawing/2014/main" id="{1F01C45D-2A8A-9309-522C-864F4E021F86}"/>
              </a:ext>
            </a:extLst>
          </p:cNvPr>
          <p:cNvCxnSpPr/>
          <p:nvPr/>
        </p:nvCxnSpPr>
        <p:spPr>
          <a:xfrm>
            <a:off x="25019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7" name="lattice-1-edge-6-7">
            <a:extLst>
              <a:ext uri="{FF2B5EF4-FFF2-40B4-BE49-F238E27FC236}">
                <a16:creationId xmlns:a16="http://schemas.microsoft.com/office/drawing/2014/main" id="{8AEC696B-F2A1-C2D4-7E94-90B4DF0F713F}"/>
              </a:ext>
            </a:extLst>
          </p:cNvPr>
          <p:cNvCxnSpPr/>
          <p:nvPr/>
        </p:nvCxnSpPr>
        <p:spPr>
          <a:xfrm>
            <a:off x="8509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8" name="lattice-1-edge-7-8">
            <a:extLst>
              <a:ext uri="{FF2B5EF4-FFF2-40B4-BE49-F238E27FC236}">
                <a16:creationId xmlns:a16="http://schemas.microsoft.com/office/drawing/2014/main" id="{A726826E-6BC7-727E-4F46-8B5CB5A6C077}"/>
              </a:ext>
            </a:extLst>
          </p:cNvPr>
          <p:cNvCxnSpPr/>
          <p:nvPr/>
        </p:nvCxnSpPr>
        <p:spPr>
          <a:xfrm>
            <a:off x="16764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19" name="lattice-1-vertex-0">
            <a:extLst>
              <a:ext uri="{FF2B5EF4-FFF2-40B4-BE49-F238E27FC236}">
                <a16:creationId xmlns:a16="http://schemas.microsoft.com/office/drawing/2014/main" id="{01466B56-3671-1B4A-B9BB-609FC9427D71}"/>
              </a:ext>
            </a:extLst>
          </p:cNvPr>
          <p:cNvSpPr/>
          <p:nvPr/>
        </p:nvSpPr>
        <p:spPr>
          <a:xfrm>
            <a:off x="7874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lattice-1-vertex-1">
            <a:extLst>
              <a:ext uri="{FF2B5EF4-FFF2-40B4-BE49-F238E27FC236}">
                <a16:creationId xmlns:a16="http://schemas.microsoft.com/office/drawing/2014/main" id="{27A22720-2490-AF3E-423B-DA9CAD9BCA98}"/>
              </a:ext>
            </a:extLst>
          </p:cNvPr>
          <p:cNvSpPr/>
          <p:nvPr/>
        </p:nvSpPr>
        <p:spPr>
          <a:xfrm>
            <a:off x="16129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lattice-1-vertex-2">
            <a:extLst>
              <a:ext uri="{FF2B5EF4-FFF2-40B4-BE49-F238E27FC236}">
                <a16:creationId xmlns:a16="http://schemas.microsoft.com/office/drawing/2014/main" id="{03B41C1A-982A-AAAC-80F3-06BFAE65317F}"/>
              </a:ext>
            </a:extLst>
          </p:cNvPr>
          <p:cNvSpPr/>
          <p:nvPr/>
        </p:nvSpPr>
        <p:spPr>
          <a:xfrm>
            <a:off x="24384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lattice-1-vertex-3">
            <a:extLst>
              <a:ext uri="{FF2B5EF4-FFF2-40B4-BE49-F238E27FC236}">
                <a16:creationId xmlns:a16="http://schemas.microsoft.com/office/drawing/2014/main" id="{B110D8C6-604C-FBB9-7E37-1178733EEACF}"/>
              </a:ext>
            </a:extLst>
          </p:cNvPr>
          <p:cNvSpPr/>
          <p:nvPr/>
        </p:nvSpPr>
        <p:spPr>
          <a:xfrm>
            <a:off x="7874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lattice-1-vertex-4">
            <a:extLst>
              <a:ext uri="{FF2B5EF4-FFF2-40B4-BE49-F238E27FC236}">
                <a16:creationId xmlns:a16="http://schemas.microsoft.com/office/drawing/2014/main" id="{EC7E1FC9-EF65-1722-37DC-48673649EE68}"/>
              </a:ext>
            </a:extLst>
          </p:cNvPr>
          <p:cNvSpPr/>
          <p:nvPr/>
        </p:nvSpPr>
        <p:spPr>
          <a:xfrm>
            <a:off x="16129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lattice-1-vertex-5">
            <a:extLst>
              <a:ext uri="{FF2B5EF4-FFF2-40B4-BE49-F238E27FC236}">
                <a16:creationId xmlns:a16="http://schemas.microsoft.com/office/drawing/2014/main" id="{C54E1AFE-EDAF-F9C7-32D6-A95105E3E8B2}"/>
              </a:ext>
            </a:extLst>
          </p:cNvPr>
          <p:cNvSpPr/>
          <p:nvPr/>
        </p:nvSpPr>
        <p:spPr>
          <a:xfrm>
            <a:off x="24384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lattice-1-vertex-6">
            <a:extLst>
              <a:ext uri="{FF2B5EF4-FFF2-40B4-BE49-F238E27FC236}">
                <a16:creationId xmlns:a16="http://schemas.microsoft.com/office/drawing/2014/main" id="{34E14087-1FAB-3AAE-1198-71F9AFBF0575}"/>
              </a:ext>
            </a:extLst>
          </p:cNvPr>
          <p:cNvSpPr/>
          <p:nvPr/>
        </p:nvSpPr>
        <p:spPr>
          <a:xfrm>
            <a:off x="7874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lattice-1-vertex-7">
            <a:extLst>
              <a:ext uri="{FF2B5EF4-FFF2-40B4-BE49-F238E27FC236}">
                <a16:creationId xmlns:a16="http://schemas.microsoft.com/office/drawing/2014/main" id="{63DB32A9-5925-D6F5-7651-D75E62A3E698}"/>
              </a:ext>
            </a:extLst>
          </p:cNvPr>
          <p:cNvSpPr/>
          <p:nvPr/>
        </p:nvSpPr>
        <p:spPr>
          <a:xfrm>
            <a:off x="16129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lattice-1-vertex-8">
            <a:extLst>
              <a:ext uri="{FF2B5EF4-FFF2-40B4-BE49-F238E27FC236}">
                <a16:creationId xmlns:a16="http://schemas.microsoft.com/office/drawing/2014/main" id="{05335B3D-E472-B8C2-1956-FB81EA6F939D}"/>
              </a:ext>
            </a:extLst>
          </p:cNvPr>
          <p:cNvSpPr/>
          <p:nvPr/>
        </p:nvSpPr>
        <p:spPr>
          <a:xfrm>
            <a:off x="24384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27">
            <a:extLst>
              <a:ext uri="{FF2B5EF4-FFF2-40B4-BE49-F238E27FC236}">
                <a16:creationId xmlns:a16="http://schemas.microsoft.com/office/drawing/2014/main" id="{0F563E9C-05FC-4719-3E34-9D21979F7F7E}"/>
              </a:ext>
            </a:extLst>
          </p:cNvPr>
          <p:cNvSpPr txBox="1"/>
          <p:nvPr/>
        </p:nvSpPr>
        <p:spPr>
          <a:xfrm>
            <a:off x="508000" y="4826000"/>
            <a:ext cx="2413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左上と右下を指定</a:t>
            </a:r>
          </a:p>
        </p:txBody>
      </p:sp>
      <p:sp>
        <p:nvSpPr>
          <p:cNvPr id="29" name="text-28">
            <a:extLst>
              <a:ext uri="{FF2B5EF4-FFF2-40B4-BE49-F238E27FC236}">
                <a16:creationId xmlns:a16="http://schemas.microsoft.com/office/drawing/2014/main" id="{B66EDAA7-2816-709B-B54E-E9C937EAC650}"/>
              </a:ext>
            </a:extLst>
          </p:cNvPr>
          <p:cNvSpPr txBox="1"/>
          <p:nvPr/>
        </p:nvSpPr>
        <p:spPr>
          <a:xfrm>
            <a:off x="34544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② 最短経路を調べる</a:t>
            </a:r>
          </a:p>
        </p:txBody>
      </p:sp>
      <p:cxnSp>
        <p:nvCxnSpPr>
          <p:cNvPr id="30" name="lattice-2-edge-0-1">
            <a:extLst>
              <a:ext uri="{FF2B5EF4-FFF2-40B4-BE49-F238E27FC236}">
                <a16:creationId xmlns:a16="http://schemas.microsoft.com/office/drawing/2014/main" id="{750D4B37-59A4-6182-E345-EC9186B9EFA6}"/>
              </a:ext>
            </a:extLst>
          </p:cNvPr>
          <p:cNvCxnSpPr/>
          <p:nvPr/>
        </p:nvCxnSpPr>
        <p:spPr>
          <a:xfrm>
            <a:off x="37973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1" name="lattice-2-edge-0-3">
            <a:extLst>
              <a:ext uri="{FF2B5EF4-FFF2-40B4-BE49-F238E27FC236}">
                <a16:creationId xmlns:a16="http://schemas.microsoft.com/office/drawing/2014/main" id="{BF50C9E6-8709-D02E-A925-58541BB808D9}"/>
              </a:ext>
            </a:extLst>
          </p:cNvPr>
          <p:cNvCxnSpPr/>
          <p:nvPr/>
        </p:nvCxnSpPr>
        <p:spPr>
          <a:xfrm>
            <a:off x="37973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2" name="lattice-2-edge-1-2">
            <a:extLst>
              <a:ext uri="{FF2B5EF4-FFF2-40B4-BE49-F238E27FC236}">
                <a16:creationId xmlns:a16="http://schemas.microsoft.com/office/drawing/2014/main" id="{917C8AD9-6343-70D5-17F6-06FBC1C5FAB6}"/>
              </a:ext>
            </a:extLst>
          </p:cNvPr>
          <p:cNvCxnSpPr/>
          <p:nvPr/>
        </p:nvCxnSpPr>
        <p:spPr>
          <a:xfrm>
            <a:off x="46228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3" name="lattice-2-edge-1-4">
            <a:extLst>
              <a:ext uri="{FF2B5EF4-FFF2-40B4-BE49-F238E27FC236}">
                <a16:creationId xmlns:a16="http://schemas.microsoft.com/office/drawing/2014/main" id="{FB031B30-486B-4C2F-DFE5-BD0191BFE3EE}"/>
              </a:ext>
            </a:extLst>
          </p:cNvPr>
          <p:cNvCxnSpPr/>
          <p:nvPr/>
        </p:nvCxnSpPr>
        <p:spPr>
          <a:xfrm>
            <a:off x="46228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4" name="lattice-2-edge-2-5">
            <a:extLst>
              <a:ext uri="{FF2B5EF4-FFF2-40B4-BE49-F238E27FC236}">
                <a16:creationId xmlns:a16="http://schemas.microsoft.com/office/drawing/2014/main" id="{FBF80DBD-FE07-649A-6977-967A437F7AD9}"/>
              </a:ext>
            </a:extLst>
          </p:cNvPr>
          <p:cNvCxnSpPr/>
          <p:nvPr/>
        </p:nvCxnSpPr>
        <p:spPr>
          <a:xfrm>
            <a:off x="54483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5" name="lattice-2-edge-3-4">
            <a:extLst>
              <a:ext uri="{FF2B5EF4-FFF2-40B4-BE49-F238E27FC236}">
                <a16:creationId xmlns:a16="http://schemas.microsoft.com/office/drawing/2014/main" id="{DBF27E84-4390-87BD-7257-F50535716C5B}"/>
              </a:ext>
            </a:extLst>
          </p:cNvPr>
          <p:cNvCxnSpPr/>
          <p:nvPr/>
        </p:nvCxnSpPr>
        <p:spPr>
          <a:xfrm>
            <a:off x="37973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6" name="lattice-2-edge-3-6">
            <a:extLst>
              <a:ext uri="{FF2B5EF4-FFF2-40B4-BE49-F238E27FC236}">
                <a16:creationId xmlns:a16="http://schemas.microsoft.com/office/drawing/2014/main" id="{923A5FB0-559F-9689-205A-7E0444299BF9}"/>
              </a:ext>
            </a:extLst>
          </p:cNvPr>
          <p:cNvCxnSpPr/>
          <p:nvPr/>
        </p:nvCxnSpPr>
        <p:spPr>
          <a:xfrm>
            <a:off x="37973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7" name="lattice-2-edge-4-5">
            <a:extLst>
              <a:ext uri="{FF2B5EF4-FFF2-40B4-BE49-F238E27FC236}">
                <a16:creationId xmlns:a16="http://schemas.microsoft.com/office/drawing/2014/main" id="{B99E4182-FAE7-2C95-A486-09BC167435A2}"/>
              </a:ext>
            </a:extLst>
          </p:cNvPr>
          <p:cNvCxnSpPr/>
          <p:nvPr/>
        </p:nvCxnSpPr>
        <p:spPr>
          <a:xfrm>
            <a:off x="46228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8" name="lattice-2-edge-4-7">
            <a:extLst>
              <a:ext uri="{FF2B5EF4-FFF2-40B4-BE49-F238E27FC236}">
                <a16:creationId xmlns:a16="http://schemas.microsoft.com/office/drawing/2014/main" id="{312DB6A7-52EC-C09F-9E1F-AA5B113EE289}"/>
              </a:ext>
            </a:extLst>
          </p:cNvPr>
          <p:cNvCxnSpPr/>
          <p:nvPr/>
        </p:nvCxnSpPr>
        <p:spPr>
          <a:xfrm>
            <a:off x="46228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9" name="lattice-2-edge-5-8">
            <a:extLst>
              <a:ext uri="{FF2B5EF4-FFF2-40B4-BE49-F238E27FC236}">
                <a16:creationId xmlns:a16="http://schemas.microsoft.com/office/drawing/2014/main" id="{70C24E50-7ABD-24A6-D73F-55F317BC4C41}"/>
              </a:ext>
            </a:extLst>
          </p:cNvPr>
          <p:cNvCxnSpPr/>
          <p:nvPr/>
        </p:nvCxnSpPr>
        <p:spPr>
          <a:xfrm>
            <a:off x="54483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40" name="lattice-2-edge-6-7">
            <a:extLst>
              <a:ext uri="{FF2B5EF4-FFF2-40B4-BE49-F238E27FC236}">
                <a16:creationId xmlns:a16="http://schemas.microsoft.com/office/drawing/2014/main" id="{D1E84728-738E-CD0F-789A-4512F9281444}"/>
              </a:ext>
            </a:extLst>
          </p:cNvPr>
          <p:cNvCxnSpPr/>
          <p:nvPr/>
        </p:nvCxnSpPr>
        <p:spPr>
          <a:xfrm>
            <a:off x="37973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41" name="lattice-2-edge-7-8">
            <a:extLst>
              <a:ext uri="{FF2B5EF4-FFF2-40B4-BE49-F238E27FC236}">
                <a16:creationId xmlns:a16="http://schemas.microsoft.com/office/drawing/2014/main" id="{9E181F4E-7064-A264-55B4-2A9168A66579}"/>
              </a:ext>
            </a:extLst>
          </p:cNvPr>
          <p:cNvCxnSpPr/>
          <p:nvPr/>
        </p:nvCxnSpPr>
        <p:spPr>
          <a:xfrm>
            <a:off x="46228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42" name="lattice-2-vertex-0">
            <a:extLst>
              <a:ext uri="{FF2B5EF4-FFF2-40B4-BE49-F238E27FC236}">
                <a16:creationId xmlns:a16="http://schemas.microsoft.com/office/drawing/2014/main" id="{8A3D679C-D03B-4EBA-CF63-1DC37678FF12}"/>
              </a:ext>
            </a:extLst>
          </p:cNvPr>
          <p:cNvSpPr/>
          <p:nvPr/>
        </p:nvSpPr>
        <p:spPr>
          <a:xfrm>
            <a:off x="37338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lattice-2-vertex-1">
            <a:extLst>
              <a:ext uri="{FF2B5EF4-FFF2-40B4-BE49-F238E27FC236}">
                <a16:creationId xmlns:a16="http://schemas.microsoft.com/office/drawing/2014/main" id="{78CC4509-4F94-155E-56D5-C65510378573}"/>
              </a:ext>
            </a:extLst>
          </p:cNvPr>
          <p:cNvSpPr/>
          <p:nvPr/>
        </p:nvSpPr>
        <p:spPr>
          <a:xfrm>
            <a:off x="45593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lattice-2-vertex-2">
            <a:extLst>
              <a:ext uri="{FF2B5EF4-FFF2-40B4-BE49-F238E27FC236}">
                <a16:creationId xmlns:a16="http://schemas.microsoft.com/office/drawing/2014/main" id="{30FD2D80-922D-E664-9AB3-109A70CA9F39}"/>
              </a:ext>
            </a:extLst>
          </p:cNvPr>
          <p:cNvSpPr/>
          <p:nvPr/>
        </p:nvSpPr>
        <p:spPr>
          <a:xfrm>
            <a:off x="53848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lattice-2-vertex-3">
            <a:extLst>
              <a:ext uri="{FF2B5EF4-FFF2-40B4-BE49-F238E27FC236}">
                <a16:creationId xmlns:a16="http://schemas.microsoft.com/office/drawing/2014/main" id="{8935DFD6-67DF-4CCD-182F-68BDFF9ED13D}"/>
              </a:ext>
            </a:extLst>
          </p:cNvPr>
          <p:cNvSpPr/>
          <p:nvPr/>
        </p:nvSpPr>
        <p:spPr>
          <a:xfrm>
            <a:off x="37338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lattice-2-vertex-4">
            <a:extLst>
              <a:ext uri="{FF2B5EF4-FFF2-40B4-BE49-F238E27FC236}">
                <a16:creationId xmlns:a16="http://schemas.microsoft.com/office/drawing/2014/main" id="{2E410DEB-0D7E-772F-8C96-CFCC564E6FE5}"/>
              </a:ext>
            </a:extLst>
          </p:cNvPr>
          <p:cNvSpPr/>
          <p:nvPr/>
        </p:nvSpPr>
        <p:spPr>
          <a:xfrm>
            <a:off x="45593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lattice-2-vertex-5">
            <a:extLst>
              <a:ext uri="{FF2B5EF4-FFF2-40B4-BE49-F238E27FC236}">
                <a16:creationId xmlns:a16="http://schemas.microsoft.com/office/drawing/2014/main" id="{48D642D2-8C9F-315D-CAA9-41FC67CEF9BD}"/>
              </a:ext>
            </a:extLst>
          </p:cNvPr>
          <p:cNvSpPr/>
          <p:nvPr/>
        </p:nvSpPr>
        <p:spPr>
          <a:xfrm>
            <a:off x="53848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lattice-2-vertex-6">
            <a:extLst>
              <a:ext uri="{FF2B5EF4-FFF2-40B4-BE49-F238E27FC236}">
                <a16:creationId xmlns:a16="http://schemas.microsoft.com/office/drawing/2014/main" id="{BAC927FA-9E30-FAFB-8234-24980DF282F5}"/>
              </a:ext>
            </a:extLst>
          </p:cNvPr>
          <p:cNvSpPr/>
          <p:nvPr/>
        </p:nvSpPr>
        <p:spPr>
          <a:xfrm>
            <a:off x="37338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lattice-2-vertex-7">
            <a:extLst>
              <a:ext uri="{FF2B5EF4-FFF2-40B4-BE49-F238E27FC236}">
                <a16:creationId xmlns:a16="http://schemas.microsoft.com/office/drawing/2014/main" id="{1EA84539-36B0-8028-A67B-9564887C1849}"/>
              </a:ext>
            </a:extLst>
          </p:cNvPr>
          <p:cNvSpPr/>
          <p:nvPr/>
        </p:nvSpPr>
        <p:spPr>
          <a:xfrm>
            <a:off x="45593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lattice-2-vertex-8">
            <a:extLst>
              <a:ext uri="{FF2B5EF4-FFF2-40B4-BE49-F238E27FC236}">
                <a16:creationId xmlns:a16="http://schemas.microsoft.com/office/drawing/2014/main" id="{A8060FFC-D852-C775-56BA-307D0103F8A8}"/>
              </a:ext>
            </a:extLst>
          </p:cNvPr>
          <p:cNvSpPr/>
          <p:nvPr/>
        </p:nvSpPr>
        <p:spPr>
          <a:xfrm>
            <a:off x="53848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text-50">
            <a:extLst>
              <a:ext uri="{FF2B5EF4-FFF2-40B4-BE49-F238E27FC236}">
                <a16:creationId xmlns:a16="http://schemas.microsoft.com/office/drawing/2014/main" id="{663B2F84-2EBC-3940-53A0-F699BAA3F7EC}"/>
              </a:ext>
            </a:extLst>
          </p:cNvPr>
          <p:cNvSpPr txBox="1"/>
          <p:nvPr/>
        </p:nvSpPr>
        <p:spPr>
          <a:xfrm>
            <a:off x="3454400" y="4826000"/>
            <a:ext cx="2413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長さ</a:t>
            </a:r>
            <a:r>
              <a:rPr kumimoji="1" lang="en-US" altLang="ja-JP" sz="1600">
                <a:solidFill>
                  <a:srgbClr val="253746"/>
                </a:solidFill>
                <a:latin typeface="Meiryo" panose="020B0604030504040204" pitchFamily="50" charset="-128"/>
                <a:ea typeface="Meiryo" panose="020B0604030504040204" pitchFamily="50" charset="-128"/>
              </a:rPr>
              <a:t>4</a:t>
            </a:r>
            <a:r>
              <a:rPr kumimoji="1" lang="ja-JP" altLang="en-US" sz="1600">
                <a:solidFill>
                  <a:srgbClr val="253746"/>
                </a:solidFill>
                <a:latin typeface="Meiryo" panose="020B0604030504040204" pitchFamily="50" charset="-128"/>
                <a:ea typeface="Meiryo" panose="020B0604030504040204" pitchFamily="50" charset="-128"/>
              </a:rPr>
              <a:t>の経路が</a:t>
            </a:r>
            <a:r>
              <a:rPr kumimoji="1" lang="en-US" altLang="ja-JP" sz="1600">
                <a:solidFill>
                  <a:srgbClr val="253746"/>
                </a:solidFill>
                <a:latin typeface="Meiryo" panose="020B0604030504040204" pitchFamily="50" charset="-128"/>
                <a:ea typeface="Meiryo" panose="020B0604030504040204" pitchFamily="50" charset="-128"/>
              </a:rPr>
              <a:t>6</a:t>
            </a:r>
            <a:r>
              <a:rPr kumimoji="1" lang="ja-JP" altLang="en-US" sz="1600">
                <a:solidFill>
                  <a:srgbClr val="253746"/>
                </a:solidFill>
                <a:latin typeface="Meiryo" panose="020B0604030504040204" pitchFamily="50" charset="-128"/>
                <a:ea typeface="Meiryo" panose="020B0604030504040204" pitchFamily="50" charset="-128"/>
              </a:rPr>
              <a:t>本</a:t>
            </a:r>
          </a:p>
        </p:txBody>
      </p:sp>
      <p:sp>
        <p:nvSpPr>
          <p:cNvPr id="52" name="text-51">
            <a:extLst>
              <a:ext uri="{FF2B5EF4-FFF2-40B4-BE49-F238E27FC236}">
                <a16:creationId xmlns:a16="http://schemas.microsoft.com/office/drawing/2014/main" id="{03976FD1-B3EA-E516-639A-30E3E2F4DE14}"/>
              </a:ext>
            </a:extLst>
          </p:cNvPr>
          <p:cNvSpPr txBox="1"/>
          <p:nvPr/>
        </p:nvSpPr>
        <p:spPr>
          <a:xfrm>
            <a:off x="64008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③ 最短経路を</a:t>
            </a:r>
            <a:r>
              <a:rPr kumimoji="1" lang="en-US" altLang="ja-JP" sz="1700" b="1">
                <a:solidFill>
                  <a:srgbClr val="17365D"/>
                </a:solidFill>
                <a:latin typeface="Meiryo" panose="020B0604030504040204" pitchFamily="50" charset="-128"/>
                <a:ea typeface="Meiryo" panose="020B0604030504040204" pitchFamily="50" charset="-128"/>
              </a:rPr>
              <a:t>1</a:t>
            </a:r>
            <a:r>
              <a:rPr kumimoji="1" lang="ja-JP" altLang="en-US" sz="1700" b="1">
                <a:solidFill>
                  <a:srgbClr val="17365D"/>
                </a:solidFill>
                <a:latin typeface="Meiryo" panose="020B0604030504040204" pitchFamily="50" charset="-128"/>
                <a:ea typeface="Meiryo" panose="020B0604030504040204" pitchFamily="50" charset="-128"/>
              </a:rPr>
              <a:t>本選ぶ</a:t>
            </a:r>
          </a:p>
        </p:txBody>
      </p:sp>
      <p:cxnSp>
        <p:nvCxnSpPr>
          <p:cNvPr id="53" name="lattice-3-edge-0-1">
            <a:extLst>
              <a:ext uri="{FF2B5EF4-FFF2-40B4-BE49-F238E27FC236}">
                <a16:creationId xmlns:a16="http://schemas.microsoft.com/office/drawing/2014/main" id="{DC9AD3A9-C271-4FF1-4BB6-B963F9AB53C2}"/>
              </a:ext>
            </a:extLst>
          </p:cNvPr>
          <p:cNvCxnSpPr/>
          <p:nvPr/>
        </p:nvCxnSpPr>
        <p:spPr>
          <a:xfrm>
            <a:off x="6743700" y="2667000"/>
            <a:ext cx="825500" cy="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4" name="lattice-3-edge-0-3">
            <a:extLst>
              <a:ext uri="{FF2B5EF4-FFF2-40B4-BE49-F238E27FC236}">
                <a16:creationId xmlns:a16="http://schemas.microsoft.com/office/drawing/2014/main" id="{511BC02B-1E43-677E-423E-23899295E305}"/>
              </a:ext>
            </a:extLst>
          </p:cNvPr>
          <p:cNvCxnSpPr/>
          <p:nvPr/>
        </p:nvCxnSpPr>
        <p:spPr>
          <a:xfrm>
            <a:off x="67437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5" name="lattice-3-edge-1-2">
            <a:extLst>
              <a:ext uri="{FF2B5EF4-FFF2-40B4-BE49-F238E27FC236}">
                <a16:creationId xmlns:a16="http://schemas.microsoft.com/office/drawing/2014/main" id="{3236D1F2-C965-BA3F-6953-6D822D570479}"/>
              </a:ext>
            </a:extLst>
          </p:cNvPr>
          <p:cNvCxnSpPr/>
          <p:nvPr/>
        </p:nvCxnSpPr>
        <p:spPr>
          <a:xfrm>
            <a:off x="7569200" y="2667000"/>
            <a:ext cx="825500" cy="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6" name="lattice-3-edge-1-4">
            <a:extLst>
              <a:ext uri="{FF2B5EF4-FFF2-40B4-BE49-F238E27FC236}">
                <a16:creationId xmlns:a16="http://schemas.microsoft.com/office/drawing/2014/main" id="{DAC2CE7F-66BE-3BAC-086A-5E5E7A4ADBFB}"/>
              </a:ext>
            </a:extLst>
          </p:cNvPr>
          <p:cNvCxnSpPr/>
          <p:nvPr/>
        </p:nvCxnSpPr>
        <p:spPr>
          <a:xfrm>
            <a:off x="75692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7" name="lattice-3-edge-2-5">
            <a:extLst>
              <a:ext uri="{FF2B5EF4-FFF2-40B4-BE49-F238E27FC236}">
                <a16:creationId xmlns:a16="http://schemas.microsoft.com/office/drawing/2014/main" id="{498C15CB-0933-7C03-53A2-63E4B90DD5E7}"/>
              </a:ext>
            </a:extLst>
          </p:cNvPr>
          <p:cNvCxnSpPr/>
          <p:nvPr/>
        </p:nvCxnSpPr>
        <p:spPr>
          <a:xfrm>
            <a:off x="8394700" y="2667000"/>
            <a:ext cx="0" cy="82550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8" name="lattice-3-edge-3-4">
            <a:extLst>
              <a:ext uri="{FF2B5EF4-FFF2-40B4-BE49-F238E27FC236}">
                <a16:creationId xmlns:a16="http://schemas.microsoft.com/office/drawing/2014/main" id="{EC084654-B9B9-D5DC-27F6-DF169CDB7343}"/>
              </a:ext>
            </a:extLst>
          </p:cNvPr>
          <p:cNvCxnSpPr/>
          <p:nvPr/>
        </p:nvCxnSpPr>
        <p:spPr>
          <a:xfrm>
            <a:off x="67437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9" name="lattice-3-edge-3-6">
            <a:extLst>
              <a:ext uri="{FF2B5EF4-FFF2-40B4-BE49-F238E27FC236}">
                <a16:creationId xmlns:a16="http://schemas.microsoft.com/office/drawing/2014/main" id="{EFCE21E7-DF12-B7EC-5FC5-3D3007A57E89}"/>
              </a:ext>
            </a:extLst>
          </p:cNvPr>
          <p:cNvCxnSpPr/>
          <p:nvPr/>
        </p:nvCxnSpPr>
        <p:spPr>
          <a:xfrm>
            <a:off x="67437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0" name="lattice-3-edge-4-5">
            <a:extLst>
              <a:ext uri="{FF2B5EF4-FFF2-40B4-BE49-F238E27FC236}">
                <a16:creationId xmlns:a16="http://schemas.microsoft.com/office/drawing/2014/main" id="{F177FD84-6584-7B94-3DA9-2EB48B4933AF}"/>
              </a:ext>
            </a:extLst>
          </p:cNvPr>
          <p:cNvCxnSpPr/>
          <p:nvPr/>
        </p:nvCxnSpPr>
        <p:spPr>
          <a:xfrm>
            <a:off x="75692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1" name="lattice-3-edge-4-7">
            <a:extLst>
              <a:ext uri="{FF2B5EF4-FFF2-40B4-BE49-F238E27FC236}">
                <a16:creationId xmlns:a16="http://schemas.microsoft.com/office/drawing/2014/main" id="{50F9C4F7-F3D5-82A3-B3A3-11DCD6214857}"/>
              </a:ext>
            </a:extLst>
          </p:cNvPr>
          <p:cNvCxnSpPr/>
          <p:nvPr/>
        </p:nvCxnSpPr>
        <p:spPr>
          <a:xfrm>
            <a:off x="75692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2" name="lattice-3-edge-5-8">
            <a:extLst>
              <a:ext uri="{FF2B5EF4-FFF2-40B4-BE49-F238E27FC236}">
                <a16:creationId xmlns:a16="http://schemas.microsoft.com/office/drawing/2014/main" id="{A861AB42-FA5F-ACCB-2C83-F650F9D41F86}"/>
              </a:ext>
            </a:extLst>
          </p:cNvPr>
          <p:cNvCxnSpPr/>
          <p:nvPr/>
        </p:nvCxnSpPr>
        <p:spPr>
          <a:xfrm>
            <a:off x="8394700" y="3492500"/>
            <a:ext cx="0" cy="82550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63" name="lattice-3-edge-6-7">
            <a:extLst>
              <a:ext uri="{FF2B5EF4-FFF2-40B4-BE49-F238E27FC236}">
                <a16:creationId xmlns:a16="http://schemas.microsoft.com/office/drawing/2014/main" id="{05CEE992-7D05-C107-A854-BBB1F63757F0}"/>
              </a:ext>
            </a:extLst>
          </p:cNvPr>
          <p:cNvCxnSpPr/>
          <p:nvPr/>
        </p:nvCxnSpPr>
        <p:spPr>
          <a:xfrm>
            <a:off x="67437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4" name="lattice-3-edge-7-8">
            <a:extLst>
              <a:ext uri="{FF2B5EF4-FFF2-40B4-BE49-F238E27FC236}">
                <a16:creationId xmlns:a16="http://schemas.microsoft.com/office/drawing/2014/main" id="{A4C452A7-9217-82EC-1931-7C6963757939}"/>
              </a:ext>
            </a:extLst>
          </p:cNvPr>
          <p:cNvCxnSpPr/>
          <p:nvPr/>
        </p:nvCxnSpPr>
        <p:spPr>
          <a:xfrm>
            <a:off x="75692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65" name="lattice-3-vertex-0">
            <a:extLst>
              <a:ext uri="{FF2B5EF4-FFF2-40B4-BE49-F238E27FC236}">
                <a16:creationId xmlns:a16="http://schemas.microsoft.com/office/drawing/2014/main" id="{8D08EA87-61DE-2A25-C505-E5C282B1110E}"/>
              </a:ext>
            </a:extLst>
          </p:cNvPr>
          <p:cNvSpPr/>
          <p:nvPr/>
        </p:nvSpPr>
        <p:spPr>
          <a:xfrm>
            <a:off x="66802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lattice-3-vertex-1">
            <a:extLst>
              <a:ext uri="{FF2B5EF4-FFF2-40B4-BE49-F238E27FC236}">
                <a16:creationId xmlns:a16="http://schemas.microsoft.com/office/drawing/2014/main" id="{D4B70265-5032-DAB4-110D-7427DA8E1F49}"/>
              </a:ext>
            </a:extLst>
          </p:cNvPr>
          <p:cNvSpPr/>
          <p:nvPr/>
        </p:nvSpPr>
        <p:spPr>
          <a:xfrm>
            <a:off x="75057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lattice-3-vertex-2">
            <a:extLst>
              <a:ext uri="{FF2B5EF4-FFF2-40B4-BE49-F238E27FC236}">
                <a16:creationId xmlns:a16="http://schemas.microsoft.com/office/drawing/2014/main" id="{A2D17AA6-3413-330E-5BCE-AE41F2F276EE}"/>
              </a:ext>
            </a:extLst>
          </p:cNvPr>
          <p:cNvSpPr/>
          <p:nvPr/>
        </p:nvSpPr>
        <p:spPr>
          <a:xfrm>
            <a:off x="83312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lattice-3-vertex-3">
            <a:extLst>
              <a:ext uri="{FF2B5EF4-FFF2-40B4-BE49-F238E27FC236}">
                <a16:creationId xmlns:a16="http://schemas.microsoft.com/office/drawing/2014/main" id="{7223FFCD-B8AC-4F5C-6F35-D4A12DBB3CF4}"/>
              </a:ext>
            </a:extLst>
          </p:cNvPr>
          <p:cNvSpPr/>
          <p:nvPr/>
        </p:nvSpPr>
        <p:spPr>
          <a:xfrm>
            <a:off x="66802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lattice-3-vertex-4">
            <a:extLst>
              <a:ext uri="{FF2B5EF4-FFF2-40B4-BE49-F238E27FC236}">
                <a16:creationId xmlns:a16="http://schemas.microsoft.com/office/drawing/2014/main" id="{8774C296-A541-8568-C21E-C97E22B5DA7D}"/>
              </a:ext>
            </a:extLst>
          </p:cNvPr>
          <p:cNvSpPr/>
          <p:nvPr/>
        </p:nvSpPr>
        <p:spPr>
          <a:xfrm>
            <a:off x="75057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lattice-3-vertex-5">
            <a:extLst>
              <a:ext uri="{FF2B5EF4-FFF2-40B4-BE49-F238E27FC236}">
                <a16:creationId xmlns:a16="http://schemas.microsoft.com/office/drawing/2014/main" id="{8268EA24-484D-EBCF-2DDA-ED16BC6B3D76}"/>
              </a:ext>
            </a:extLst>
          </p:cNvPr>
          <p:cNvSpPr/>
          <p:nvPr/>
        </p:nvSpPr>
        <p:spPr>
          <a:xfrm>
            <a:off x="83312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lattice-3-vertex-6">
            <a:extLst>
              <a:ext uri="{FF2B5EF4-FFF2-40B4-BE49-F238E27FC236}">
                <a16:creationId xmlns:a16="http://schemas.microsoft.com/office/drawing/2014/main" id="{5F56E566-E44E-FB33-AC77-D884070FD308}"/>
              </a:ext>
            </a:extLst>
          </p:cNvPr>
          <p:cNvSpPr/>
          <p:nvPr/>
        </p:nvSpPr>
        <p:spPr>
          <a:xfrm>
            <a:off x="66802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lattice-3-vertex-7">
            <a:extLst>
              <a:ext uri="{FF2B5EF4-FFF2-40B4-BE49-F238E27FC236}">
                <a16:creationId xmlns:a16="http://schemas.microsoft.com/office/drawing/2014/main" id="{E8F4D67F-EC9E-42AC-AAC4-9DA427A224F7}"/>
              </a:ext>
            </a:extLst>
          </p:cNvPr>
          <p:cNvSpPr/>
          <p:nvPr/>
        </p:nvSpPr>
        <p:spPr>
          <a:xfrm>
            <a:off x="75057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lattice-3-vertex-8">
            <a:extLst>
              <a:ext uri="{FF2B5EF4-FFF2-40B4-BE49-F238E27FC236}">
                <a16:creationId xmlns:a16="http://schemas.microsoft.com/office/drawing/2014/main" id="{97A9FC88-0DEA-587A-22C0-D767219B28C9}"/>
              </a:ext>
            </a:extLst>
          </p:cNvPr>
          <p:cNvSpPr/>
          <p:nvPr/>
        </p:nvSpPr>
        <p:spPr>
          <a:xfrm>
            <a:off x="83312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text-73">
            <a:extLst>
              <a:ext uri="{FF2B5EF4-FFF2-40B4-BE49-F238E27FC236}">
                <a16:creationId xmlns:a16="http://schemas.microsoft.com/office/drawing/2014/main" id="{D428EEBC-9339-7E65-2517-9210A7CEB61E}"/>
              </a:ext>
            </a:extLst>
          </p:cNvPr>
          <p:cNvSpPr txBox="1"/>
          <p:nvPr/>
        </p:nvSpPr>
        <p:spPr>
          <a:xfrm>
            <a:off x="6400800" y="4826000"/>
            <a:ext cx="2413000" cy="276999"/>
          </a:xfrm>
          <a:prstGeom prst="rect">
            <a:avLst/>
          </a:prstGeom>
          <a:noFill/>
        </p:spPr>
        <p:txBody>
          <a:bodyPr vert="horz" wrap="square" lIns="0" tIns="0" rIns="0" bIns="0" rtlCol="0">
            <a:noAutofit/>
          </a:bodyPr>
          <a:lstStyle/>
          <a:p>
            <a:pPr>
              <a:lnSpc>
                <a:spcPct val="112000"/>
              </a:lnSpc>
            </a:pPr>
            <a:r>
              <a:rPr kumimoji="1" lang="en-US" altLang="ja-JP" sz="1600">
                <a:solidFill>
                  <a:srgbClr val="253746"/>
                </a:solidFill>
                <a:latin typeface="Meiryo" panose="020B0604030504040204" pitchFamily="50" charset="-128"/>
                <a:ea typeface="Meiryo" panose="020B0604030504040204" pitchFamily="50" charset="-128"/>
              </a:rPr>
              <a:t>C≥4</a:t>
            </a:r>
            <a:r>
              <a:rPr kumimoji="1" lang="ja-JP" altLang="en-US" sz="1600">
                <a:solidFill>
                  <a:srgbClr val="253746"/>
                </a:solidFill>
                <a:latin typeface="Meiryo" panose="020B0604030504040204" pitchFamily="50" charset="-128"/>
                <a:ea typeface="Meiryo" panose="020B0604030504040204" pitchFamily="50" charset="-128"/>
              </a:rPr>
              <a:t>なら、</a:t>
            </a:r>
            <a:r>
              <a:rPr kumimoji="1" lang="en-US" altLang="ja-JP" sz="1600">
                <a:solidFill>
                  <a:srgbClr val="253746"/>
                </a:solidFill>
                <a:latin typeface="Meiryo" panose="020B0604030504040204" pitchFamily="50" charset="-128"/>
                <a:ea typeface="Meiryo" panose="020B0604030504040204" pitchFamily="50" charset="-128"/>
              </a:rPr>
              <a:t>1</a:t>
            </a:r>
            <a:r>
              <a:rPr kumimoji="1" lang="ja-JP" altLang="en-US" sz="1600">
                <a:solidFill>
                  <a:srgbClr val="253746"/>
                </a:solidFill>
                <a:latin typeface="Meiryo" panose="020B0604030504040204" pitchFamily="50" charset="-128"/>
                <a:ea typeface="Meiryo" panose="020B0604030504040204" pitchFamily="50" charset="-128"/>
              </a:rPr>
              <a:t>本を
等確率で選ぶ</a:t>
            </a:r>
          </a:p>
        </p:txBody>
      </p:sp>
      <p:sp>
        <p:nvSpPr>
          <p:cNvPr id="75" name="text-74">
            <a:extLst>
              <a:ext uri="{FF2B5EF4-FFF2-40B4-BE49-F238E27FC236}">
                <a16:creationId xmlns:a16="http://schemas.microsoft.com/office/drawing/2014/main" id="{D18A3F0F-347D-6509-EF83-6A5B87785E87}"/>
              </a:ext>
            </a:extLst>
          </p:cNvPr>
          <p:cNvSpPr txBox="1"/>
          <p:nvPr/>
        </p:nvSpPr>
        <p:spPr>
          <a:xfrm>
            <a:off x="93472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④ 選んだ</a:t>
            </a:r>
            <a:r>
              <a:rPr kumimoji="1" lang="en-US" altLang="ja-JP" sz="1700" b="1">
                <a:solidFill>
                  <a:srgbClr val="17365D"/>
                </a:solidFill>
                <a:latin typeface="Meiryo" panose="020B0604030504040204" pitchFamily="50" charset="-128"/>
                <a:ea typeface="Meiryo" panose="020B0604030504040204" pitchFamily="50" charset="-128"/>
              </a:rPr>
              <a:t>4</a:t>
            </a:r>
            <a:r>
              <a:rPr kumimoji="1" lang="ja-JP" altLang="en-US" sz="1700" b="1">
                <a:solidFill>
                  <a:srgbClr val="17365D"/>
                </a:solidFill>
                <a:latin typeface="Meiryo" panose="020B0604030504040204" pitchFamily="50" charset="-128"/>
                <a:ea typeface="Meiryo" panose="020B0604030504040204" pitchFamily="50" charset="-128"/>
              </a:rPr>
              <a:t>辺を削除</a:t>
            </a:r>
          </a:p>
        </p:txBody>
      </p:sp>
      <p:cxnSp>
        <p:nvCxnSpPr>
          <p:cNvPr id="76" name="lattice-4-edge-0-3">
            <a:extLst>
              <a:ext uri="{FF2B5EF4-FFF2-40B4-BE49-F238E27FC236}">
                <a16:creationId xmlns:a16="http://schemas.microsoft.com/office/drawing/2014/main" id="{AC15FEAF-DBE3-6666-715B-9CB09D8DA185}"/>
              </a:ext>
            </a:extLst>
          </p:cNvPr>
          <p:cNvCxnSpPr/>
          <p:nvPr/>
        </p:nvCxnSpPr>
        <p:spPr>
          <a:xfrm>
            <a:off x="96901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7" name="lattice-4-edge-1-4">
            <a:extLst>
              <a:ext uri="{FF2B5EF4-FFF2-40B4-BE49-F238E27FC236}">
                <a16:creationId xmlns:a16="http://schemas.microsoft.com/office/drawing/2014/main" id="{86284A6B-AC3A-92BF-3450-714B81C501BD}"/>
              </a:ext>
            </a:extLst>
          </p:cNvPr>
          <p:cNvCxnSpPr/>
          <p:nvPr/>
        </p:nvCxnSpPr>
        <p:spPr>
          <a:xfrm>
            <a:off x="105156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8" name="lattice-4-edge-3-4">
            <a:extLst>
              <a:ext uri="{FF2B5EF4-FFF2-40B4-BE49-F238E27FC236}">
                <a16:creationId xmlns:a16="http://schemas.microsoft.com/office/drawing/2014/main" id="{02F99D6E-9BD4-29ED-F31B-11623D848113}"/>
              </a:ext>
            </a:extLst>
          </p:cNvPr>
          <p:cNvCxnSpPr/>
          <p:nvPr/>
        </p:nvCxnSpPr>
        <p:spPr>
          <a:xfrm>
            <a:off x="96901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9" name="lattice-4-edge-3-6">
            <a:extLst>
              <a:ext uri="{FF2B5EF4-FFF2-40B4-BE49-F238E27FC236}">
                <a16:creationId xmlns:a16="http://schemas.microsoft.com/office/drawing/2014/main" id="{4784C5C5-34A3-2BB7-0B78-1BC2D4610FFA}"/>
              </a:ext>
            </a:extLst>
          </p:cNvPr>
          <p:cNvCxnSpPr/>
          <p:nvPr/>
        </p:nvCxnSpPr>
        <p:spPr>
          <a:xfrm>
            <a:off x="96901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0" name="lattice-4-edge-4-5">
            <a:extLst>
              <a:ext uri="{FF2B5EF4-FFF2-40B4-BE49-F238E27FC236}">
                <a16:creationId xmlns:a16="http://schemas.microsoft.com/office/drawing/2014/main" id="{D785D747-11D3-63D1-BE73-BC1D8B368E86}"/>
              </a:ext>
            </a:extLst>
          </p:cNvPr>
          <p:cNvCxnSpPr/>
          <p:nvPr/>
        </p:nvCxnSpPr>
        <p:spPr>
          <a:xfrm>
            <a:off x="105156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1" name="lattice-4-edge-4-7">
            <a:extLst>
              <a:ext uri="{FF2B5EF4-FFF2-40B4-BE49-F238E27FC236}">
                <a16:creationId xmlns:a16="http://schemas.microsoft.com/office/drawing/2014/main" id="{B613FDCF-CE80-885D-7AC2-F95D4BDCA108}"/>
              </a:ext>
            </a:extLst>
          </p:cNvPr>
          <p:cNvCxnSpPr/>
          <p:nvPr/>
        </p:nvCxnSpPr>
        <p:spPr>
          <a:xfrm>
            <a:off x="105156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2" name="lattice-4-edge-6-7">
            <a:extLst>
              <a:ext uri="{FF2B5EF4-FFF2-40B4-BE49-F238E27FC236}">
                <a16:creationId xmlns:a16="http://schemas.microsoft.com/office/drawing/2014/main" id="{EBB2DF8E-07E9-2C9D-00FB-E64A82D1E35E}"/>
              </a:ext>
            </a:extLst>
          </p:cNvPr>
          <p:cNvCxnSpPr/>
          <p:nvPr/>
        </p:nvCxnSpPr>
        <p:spPr>
          <a:xfrm>
            <a:off x="96901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3" name="lattice-4-edge-7-8">
            <a:extLst>
              <a:ext uri="{FF2B5EF4-FFF2-40B4-BE49-F238E27FC236}">
                <a16:creationId xmlns:a16="http://schemas.microsoft.com/office/drawing/2014/main" id="{9B453011-DC6E-72C4-B2B0-6910E6D8F576}"/>
              </a:ext>
            </a:extLst>
          </p:cNvPr>
          <p:cNvCxnSpPr/>
          <p:nvPr/>
        </p:nvCxnSpPr>
        <p:spPr>
          <a:xfrm>
            <a:off x="105156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84" name="lattice-4-vertex-0">
            <a:extLst>
              <a:ext uri="{FF2B5EF4-FFF2-40B4-BE49-F238E27FC236}">
                <a16:creationId xmlns:a16="http://schemas.microsoft.com/office/drawing/2014/main" id="{7C21F638-178C-98D6-D042-A972D7E5AE70}"/>
              </a:ext>
            </a:extLst>
          </p:cNvPr>
          <p:cNvSpPr/>
          <p:nvPr/>
        </p:nvSpPr>
        <p:spPr>
          <a:xfrm>
            <a:off x="96266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lattice-4-vertex-1">
            <a:extLst>
              <a:ext uri="{FF2B5EF4-FFF2-40B4-BE49-F238E27FC236}">
                <a16:creationId xmlns:a16="http://schemas.microsoft.com/office/drawing/2014/main" id="{13B80403-F848-B7FC-2FC2-2469CF07D232}"/>
              </a:ext>
            </a:extLst>
          </p:cNvPr>
          <p:cNvSpPr/>
          <p:nvPr/>
        </p:nvSpPr>
        <p:spPr>
          <a:xfrm>
            <a:off x="104521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lattice-4-vertex-2">
            <a:extLst>
              <a:ext uri="{FF2B5EF4-FFF2-40B4-BE49-F238E27FC236}">
                <a16:creationId xmlns:a16="http://schemas.microsoft.com/office/drawing/2014/main" id="{1E7FBACE-6836-AA49-876B-48C5C30DB27F}"/>
              </a:ext>
            </a:extLst>
          </p:cNvPr>
          <p:cNvSpPr/>
          <p:nvPr/>
        </p:nvSpPr>
        <p:spPr>
          <a:xfrm>
            <a:off x="112776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lattice-4-vertex-3">
            <a:extLst>
              <a:ext uri="{FF2B5EF4-FFF2-40B4-BE49-F238E27FC236}">
                <a16:creationId xmlns:a16="http://schemas.microsoft.com/office/drawing/2014/main" id="{65635032-6B9C-444A-F1C6-D5FEF47981B2}"/>
              </a:ext>
            </a:extLst>
          </p:cNvPr>
          <p:cNvSpPr/>
          <p:nvPr/>
        </p:nvSpPr>
        <p:spPr>
          <a:xfrm>
            <a:off x="96266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lattice-4-vertex-4">
            <a:extLst>
              <a:ext uri="{FF2B5EF4-FFF2-40B4-BE49-F238E27FC236}">
                <a16:creationId xmlns:a16="http://schemas.microsoft.com/office/drawing/2014/main" id="{98D2CFF5-336F-38A3-A2F6-A7DF8CC2CC23}"/>
              </a:ext>
            </a:extLst>
          </p:cNvPr>
          <p:cNvSpPr/>
          <p:nvPr/>
        </p:nvSpPr>
        <p:spPr>
          <a:xfrm>
            <a:off x="104521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lattice-4-vertex-5">
            <a:extLst>
              <a:ext uri="{FF2B5EF4-FFF2-40B4-BE49-F238E27FC236}">
                <a16:creationId xmlns:a16="http://schemas.microsoft.com/office/drawing/2014/main" id="{59D2C4BD-306B-71B6-B8E5-6373552FD8BD}"/>
              </a:ext>
            </a:extLst>
          </p:cNvPr>
          <p:cNvSpPr/>
          <p:nvPr/>
        </p:nvSpPr>
        <p:spPr>
          <a:xfrm>
            <a:off x="112776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lattice-4-vertex-6">
            <a:extLst>
              <a:ext uri="{FF2B5EF4-FFF2-40B4-BE49-F238E27FC236}">
                <a16:creationId xmlns:a16="http://schemas.microsoft.com/office/drawing/2014/main" id="{8786DBA9-41EA-80D1-E44E-A0D07D04B431}"/>
              </a:ext>
            </a:extLst>
          </p:cNvPr>
          <p:cNvSpPr/>
          <p:nvPr/>
        </p:nvSpPr>
        <p:spPr>
          <a:xfrm>
            <a:off x="96266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lattice-4-vertex-7">
            <a:extLst>
              <a:ext uri="{FF2B5EF4-FFF2-40B4-BE49-F238E27FC236}">
                <a16:creationId xmlns:a16="http://schemas.microsoft.com/office/drawing/2014/main" id="{C6C71EF6-EF6E-5760-3DD3-7F122AC3FBB0}"/>
              </a:ext>
            </a:extLst>
          </p:cNvPr>
          <p:cNvSpPr/>
          <p:nvPr/>
        </p:nvSpPr>
        <p:spPr>
          <a:xfrm>
            <a:off x="104521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lattice-4-vertex-8">
            <a:extLst>
              <a:ext uri="{FF2B5EF4-FFF2-40B4-BE49-F238E27FC236}">
                <a16:creationId xmlns:a16="http://schemas.microsoft.com/office/drawing/2014/main" id="{EA8E864C-3D0A-FA97-D99A-B3E5C7F05549}"/>
              </a:ext>
            </a:extLst>
          </p:cNvPr>
          <p:cNvSpPr/>
          <p:nvPr/>
        </p:nvSpPr>
        <p:spPr>
          <a:xfrm>
            <a:off x="112776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text-92">
            <a:extLst>
              <a:ext uri="{FF2B5EF4-FFF2-40B4-BE49-F238E27FC236}">
                <a16:creationId xmlns:a16="http://schemas.microsoft.com/office/drawing/2014/main" id="{A5B0E9DB-BD18-54A2-8A41-0027173765A2}"/>
              </a:ext>
            </a:extLst>
          </p:cNvPr>
          <p:cNvSpPr txBox="1"/>
          <p:nvPr/>
        </p:nvSpPr>
        <p:spPr>
          <a:xfrm>
            <a:off x="9347200" y="4826000"/>
            <a:ext cx="2413000" cy="276999"/>
          </a:xfrm>
          <a:prstGeom prst="rect">
            <a:avLst/>
          </a:prstGeom>
          <a:noFill/>
        </p:spPr>
        <p:txBody>
          <a:bodyPr vert="horz" wrap="square" lIns="0" tIns="0" rIns="0" bIns="0" rtlCol="0">
            <a:noAutofit/>
          </a:bodyPr>
          <a:lstStyle/>
          <a:p>
            <a:pPr>
              <a:lnSpc>
                <a:spcPct val="112000"/>
              </a:lnSpc>
            </a:pPr>
            <a:r>
              <a:rPr kumimoji="1" lang="en-US" altLang="ja-JP" sz="1600">
                <a:solidFill>
                  <a:srgbClr val="253746"/>
                </a:solidFill>
                <a:latin typeface="Meiryo" panose="020B0604030504040204" pitchFamily="50" charset="-128"/>
                <a:ea typeface="Meiryo" panose="020B0604030504040204" pitchFamily="50" charset="-128"/>
              </a:rPr>
              <a:t>4</a:t>
            </a:r>
            <a:r>
              <a:rPr kumimoji="1" lang="ja-JP" altLang="en-US" sz="1600">
                <a:solidFill>
                  <a:srgbClr val="253746"/>
                </a:solidFill>
                <a:latin typeface="Meiryo" panose="020B0604030504040204" pitchFamily="50" charset="-128"/>
                <a:ea typeface="Meiryo" panose="020B0604030504040204" pitchFamily="50" charset="-128"/>
              </a:rPr>
              <a:t>辺を削除。
</a:t>
            </a:r>
            <a:r>
              <a:rPr kumimoji="1" lang="en-US" altLang="ja-JP" sz="1600">
                <a:solidFill>
                  <a:srgbClr val="253746"/>
                </a:solidFill>
                <a:latin typeface="Meiryo" panose="020B0604030504040204" pitchFamily="50" charset="-128"/>
                <a:ea typeface="Meiryo" panose="020B0604030504040204" pitchFamily="50" charset="-128"/>
              </a:rPr>
              <a:t>9</a:t>
            </a:r>
            <a:r>
              <a:rPr kumimoji="1" lang="ja-JP" altLang="en-US" sz="1600">
                <a:solidFill>
                  <a:srgbClr val="253746"/>
                </a:solidFill>
                <a:latin typeface="Meiryo" panose="020B0604030504040204" pitchFamily="50" charset="-128"/>
                <a:ea typeface="Meiryo" panose="020B0604030504040204" pitchFamily="50" charset="-128"/>
              </a:rPr>
              <a:t>頂点は残る。</a:t>
            </a:r>
          </a:p>
        </p:txBody>
      </p:sp>
      <p:sp>
        <p:nvSpPr>
          <p:cNvPr id="94" name="text-93">
            <a:extLst>
              <a:ext uri="{FF2B5EF4-FFF2-40B4-BE49-F238E27FC236}">
                <a16:creationId xmlns:a16="http://schemas.microsoft.com/office/drawing/2014/main" id="{6D8A47CE-403A-CD26-1689-00CCABC702E7}"/>
              </a:ext>
            </a:extLst>
          </p:cNvPr>
          <p:cNvSpPr txBox="1"/>
          <p:nvPr/>
        </p:nvSpPr>
        <p:spPr>
          <a:xfrm>
            <a:off x="635000" y="54610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横</a:t>
            </a:r>
            <a:r>
              <a:rPr kumimoji="1" lang="en-US" altLang="ja-JP" sz="2000">
                <a:solidFill>
                  <a:srgbClr val="17365D"/>
                </a:solidFill>
                <a:latin typeface="Meiryo" panose="020B0604030504040204" pitchFamily="50" charset="-128"/>
                <a:ea typeface="Meiryo" panose="020B0604030504040204" pitchFamily="50" charset="-128"/>
              </a:rPr>
              <a:t>2</a:t>
            </a:r>
            <a:r>
              <a:rPr kumimoji="1" lang="ja-JP" altLang="en-US" sz="2000">
                <a:solidFill>
                  <a:srgbClr val="17365D"/>
                </a:solidFill>
                <a:latin typeface="Meiryo" panose="020B0604030504040204" pitchFamily="50" charset="-128"/>
                <a:ea typeface="Meiryo" panose="020B0604030504040204" pitchFamily="50" charset="-128"/>
              </a:rPr>
              <a:t>辺＋縦</a:t>
            </a:r>
            <a:r>
              <a:rPr kumimoji="1" lang="en-US" altLang="ja-JP" sz="2000">
                <a:solidFill>
                  <a:srgbClr val="17365D"/>
                </a:solidFill>
                <a:latin typeface="Meiryo" panose="020B0604030504040204" pitchFamily="50" charset="-128"/>
                <a:ea typeface="Meiryo" panose="020B0604030504040204" pitchFamily="50" charset="-128"/>
              </a:rPr>
              <a:t>2</a:t>
            </a:r>
            <a:r>
              <a:rPr kumimoji="1" lang="ja-JP" altLang="en-US" sz="2000">
                <a:solidFill>
                  <a:srgbClr val="17365D"/>
                </a:solidFill>
                <a:latin typeface="Meiryo" panose="020B0604030504040204" pitchFamily="50" charset="-128"/>
                <a:ea typeface="Meiryo" panose="020B0604030504040204" pitchFamily="50" charset="-128"/>
              </a:rPr>
              <a:t>辺で最短経路長は</a:t>
            </a:r>
            <a:r>
              <a:rPr kumimoji="1" lang="en-US" altLang="ja-JP" sz="2000">
                <a:solidFill>
                  <a:srgbClr val="17365D"/>
                </a:solidFill>
                <a:latin typeface="Meiryo" panose="020B0604030504040204" pitchFamily="50" charset="-128"/>
                <a:ea typeface="Meiryo" panose="020B0604030504040204" pitchFamily="50" charset="-128"/>
              </a:rPr>
              <a:t>4</a:t>
            </a:r>
            <a:r>
              <a:rPr kumimoji="1" lang="ja-JP" altLang="en-US" sz="2000">
                <a:solidFill>
                  <a:srgbClr val="17365D"/>
                </a:solidFill>
                <a:latin typeface="Meiryo" panose="020B0604030504040204" pitchFamily="50" charset="-128"/>
                <a:ea typeface="Meiryo" panose="020B0604030504040204" pitchFamily="50" charset="-128"/>
              </a:rPr>
              <a:t>。</a:t>
            </a:r>
            <a:r>
              <a:rPr kumimoji="1" lang="en-US" altLang="ja-JP" sz="2000">
                <a:solidFill>
                  <a:srgbClr val="17365D"/>
                </a:solidFill>
                <a:latin typeface="Meiryo" panose="020B0604030504040204" pitchFamily="50" charset="-128"/>
                <a:ea typeface="Meiryo" panose="020B0604030504040204" pitchFamily="50" charset="-128"/>
              </a:rPr>
              <a:t>C&lt;4</a:t>
            </a:r>
            <a:r>
              <a:rPr kumimoji="1" lang="ja-JP" altLang="en-US" sz="2000">
                <a:solidFill>
                  <a:srgbClr val="17365D"/>
                </a:solidFill>
                <a:latin typeface="Meiryo" panose="020B0604030504040204" pitchFamily="50" charset="-128"/>
                <a:ea typeface="Meiryo" panose="020B0604030504040204" pitchFamily="50" charset="-128"/>
              </a:rPr>
              <a:t>なら削除しない。</a:t>
            </a:r>
          </a:p>
        </p:txBody>
      </p:sp>
      <p:sp>
        <p:nvSpPr>
          <p:cNvPr id="95" name="text-94">
            <a:extLst>
              <a:ext uri="{FF2B5EF4-FFF2-40B4-BE49-F238E27FC236}">
                <a16:creationId xmlns:a16="http://schemas.microsoft.com/office/drawing/2014/main" id="{60F3B23E-CACA-B326-724E-B418CE863D40}"/>
              </a:ext>
            </a:extLst>
          </p:cNvPr>
          <p:cNvSpPr txBox="1"/>
          <p:nvPr/>
        </p:nvSpPr>
        <p:spPr>
          <a:xfrm>
            <a:off x="635000" y="58293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削除の成否にかかわらず、次の要求へ進む。</a:t>
            </a:r>
          </a:p>
        </p:txBody>
      </p:sp>
    </p:spTree>
    <p:extLst>
      <p:ext uri="{BB962C8B-B14F-4D97-AF65-F5344CB8AC3E}">
        <p14:creationId xmlns:p14="http://schemas.microsoft.com/office/powerpoint/2010/main" val="3035603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D329D41E-F204-CB36-CC3F-CF9460F1F83F}"/>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論文における先行研究</a:t>
            </a:r>
          </a:p>
        </p:txBody>
      </p:sp>
      <p:cxnSp>
        <p:nvCxnSpPr>
          <p:cNvPr id="3" name="直線コネクタ 2">
            <a:extLst>
              <a:ext uri="{FF2B5EF4-FFF2-40B4-BE49-F238E27FC236}">
                <a16:creationId xmlns:a16="http://schemas.microsoft.com/office/drawing/2014/main" id="{A321B4B3-71AF-DB22-CF29-25DC2F6D9C0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6D13B1E6-9FF3-C28A-FA1D-05745163B18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047402-1–2</a:t>
            </a:r>
            <a:r>
              <a:rPr kumimoji="1" lang="ja-JP" altLang="en-US" sz="950">
                <a:solidFill>
                  <a:srgbClr val="566573"/>
                </a:solidFill>
                <a:latin typeface="Meiryo" panose="020B0604030504040204" pitchFamily="50" charset="-128"/>
                <a:ea typeface="Meiryo" panose="020B0604030504040204" pitchFamily="50" charset="-128"/>
              </a:rPr>
              <a:t>。用語は</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047402-4</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EF9B4D7B-3773-3B86-6535-FF01C218CAD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05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50B33D66-4922-5A51-63F8-A68122734F8E}"/>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Kim &amp; Radicchi (2024) </a:t>
            </a:r>
            <a:r>
              <a:rPr kumimoji="1" lang="ja-JP" altLang="en-US" sz="2300">
                <a:solidFill>
                  <a:srgbClr val="253746"/>
                </a:solidFill>
                <a:latin typeface="Meiryo" panose="020B0604030504040204" pitchFamily="50" charset="-128"/>
                <a:ea typeface="Meiryo" panose="020B0604030504040204" pitchFamily="50" charset="-128"/>
              </a:rPr>
              <a:t>は、</a:t>
            </a:r>
            <a:r>
              <a:rPr kumimoji="1" lang="en-US" altLang="ja-JP" sz="2300">
                <a:solidFill>
                  <a:srgbClr val="253746"/>
                </a:solidFill>
                <a:latin typeface="Meiryo" panose="020B0604030504040204" pitchFamily="50" charset="-128"/>
                <a:ea typeface="Meiryo" panose="020B0604030504040204" pitchFamily="50" charset="-128"/>
              </a:rPr>
              <a:t>ER</a:t>
            </a:r>
            <a:r>
              <a:rPr kumimoji="1" lang="ja-JP" altLang="en-US" sz="2300">
                <a:solidFill>
                  <a:srgbClr val="253746"/>
                </a:solidFill>
                <a:latin typeface="Meiryo" panose="020B0604030504040204" pitchFamily="50" charset="-128"/>
                <a:ea typeface="Meiryo" panose="020B0604030504040204" pitchFamily="50" charset="-128"/>
              </a:rPr>
              <a:t>ランダムネットワーク上で</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を実行し、
経路長の上限</a:t>
            </a:r>
            <a:r>
              <a:rPr kumimoji="1" lang="en-US" altLang="ja-JP" sz="2300">
                <a:solidFill>
                  <a:srgbClr val="253746"/>
                </a:solidFill>
                <a:latin typeface="Meiryo" panose="020B0604030504040204" pitchFamily="50" charset="-128"/>
                <a:ea typeface="Meiryo" panose="020B0604030504040204" pitchFamily="50" charset="-128"/>
              </a:rPr>
              <a:t>C</a:t>
            </a:r>
            <a:r>
              <a:rPr kumimoji="1" lang="ja-JP" altLang="en-US" sz="2300">
                <a:solidFill>
                  <a:srgbClr val="253746"/>
                </a:solidFill>
                <a:latin typeface="Meiryo" panose="020B0604030504040204" pitchFamily="50" charset="-128"/>
                <a:ea typeface="Meiryo" panose="020B0604030504040204" pitchFamily="50" charset="-128"/>
              </a:rPr>
              <a:t>による相転移の違いを調べた。</a:t>
            </a:r>
          </a:p>
        </p:txBody>
      </p:sp>
      <p:sp>
        <p:nvSpPr>
          <p:cNvPr id="7" name="text-6">
            <a:extLst>
              <a:ext uri="{FF2B5EF4-FFF2-40B4-BE49-F238E27FC236}">
                <a16:creationId xmlns:a16="http://schemas.microsoft.com/office/drawing/2014/main" id="{0E524ECA-A0F3-7FC2-1661-01A7359243CA}"/>
              </a:ext>
            </a:extLst>
          </p:cNvPr>
          <p:cNvSpPr txBox="1"/>
          <p:nvPr/>
        </p:nvSpPr>
        <p:spPr>
          <a:xfrm>
            <a:off x="635000" y="2921000"/>
            <a:ext cx="10922000" cy="276999"/>
          </a:xfrm>
          <a:prstGeom prst="rect">
            <a:avLst/>
          </a:prstGeom>
          <a:noFill/>
        </p:spPr>
        <p:txBody>
          <a:bodyPr vert="horz" wrap="square" lIns="0" tIns="0" rIns="0" bIns="0" rtlCol="0">
            <a:noAutofit/>
          </a:bodyPr>
          <a:lstStyle/>
          <a:p>
            <a:pPr>
              <a:lnSpc>
                <a:spcPct val="112000"/>
              </a:lnSpc>
            </a:pPr>
            <a:r>
              <a:rPr kumimoji="1" lang="en-US" altLang="ja-JP" sz="2300" b="1">
                <a:solidFill>
                  <a:srgbClr val="17365D"/>
                </a:solidFill>
                <a:latin typeface="Meiryo" panose="020B0604030504040204" pitchFamily="50" charset="-128"/>
                <a:ea typeface="Meiryo" panose="020B0604030504040204" pitchFamily="50" charset="-128"/>
              </a:rPr>
              <a:t>C</a:t>
            </a:r>
            <a:r>
              <a:rPr kumimoji="1" lang="ja-JP" altLang="en-US" sz="2300" b="1">
                <a:solidFill>
                  <a:srgbClr val="17365D"/>
                </a:solidFill>
                <a:latin typeface="Meiryo" panose="020B0604030504040204" pitchFamily="50" charset="-128"/>
                <a:ea typeface="Meiryo" panose="020B0604030504040204" pitchFamily="50" charset="-128"/>
              </a:rPr>
              <a:t>が有限の場合</a:t>
            </a:r>
          </a:p>
        </p:txBody>
      </p:sp>
      <p:sp>
        <p:nvSpPr>
          <p:cNvPr id="8" name="text-7">
            <a:extLst>
              <a:ext uri="{FF2B5EF4-FFF2-40B4-BE49-F238E27FC236}">
                <a16:creationId xmlns:a16="http://schemas.microsoft.com/office/drawing/2014/main" id="{515EEF48-764D-A604-5E1D-5C5C59457B1E}"/>
              </a:ext>
            </a:extLst>
          </p:cNvPr>
          <p:cNvSpPr txBox="1"/>
          <p:nvPr/>
        </p:nvSpPr>
        <p:spPr>
          <a:xfrm>
            <a:off x="635000" y="3429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通常のパーコレーションと同じ普遍性クラスに属する
連続転移が報告された。</a:t>
            </a:r>
          </a:p>
        </p:txBody>
      </p:sp>
      <p:sp>
        <p:nvSpPr>
          <p:cNvPr id="9" name="text-8">
            <a:extLst>
              <a:ext uri="{FF2B5EF4-FFF2-40B4-BE49-F238E27FC236}">
                <a16:creationId xmlns:a16="http://schemas.microsoft.com/office/drawing/2014/main" id="{00C3C278-B127-F83D-C9B1-F542AF1E8DCF}"/>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ja-JP" altLang="en-US" sz="2300" b="1">
                <a:solidFill>
                  <a:srgbClr val="17365D"/>
                </a:solidFill>
                <a:latin typeface="Meiryo" panose="020B0604030504040204" pitchFamily="50" charset="-128"/>
                <a:ea typeface="Meiryo" panose="020B0604030504040204" pitchFamily="50" charset="-128"/>
              </a:rPr>
              <a:t>経路長に制限がない場合</a:t>
            </a:r>
          </a:p>
        </p:txBody>
      </p:sp>
      <p:sp>
        <p:nvSpPr>
          <p:cNvPr id="10" name="text-9">
            <a:extLst>
              <a:ext uri="{FF2B5EF4-FFF2-40B4-BE49-F238E27FC236}">
                <a16:creationId xmlns:a16="http://schemas.microsoft.com/office/drawing/2014/main" id="{2D432426-A747-4949-0DA9-0EE74647DF08}"/>
              </a:ext>
            </a:extLst>
          </p:cNvPr>
          <p:cNvSpPr txBox="1"/>
          <p:nvPr/>
        </p:nvSpPr>
        <p:spPr>
          <a:xfrm>
            <a:off x="635000" y="5016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通常のパーコレーションより急激な転移が報告された。</a:t>
            </a:r>
          </a:p>
        </p:txBody>
      </p:sp>
      <p:sp>
        <p:nvSpPr>
          <p:cNvPr id="11" name="text-10">
            <a:extLst>
              <a:ext uri="{FF2B5EF4-FFF2-40B4-BE49-F238E27FC236}">
                <a16:creationId xmlns:a16="http://schemas.microsoft.com/office/drawing/2014/main" id="{E12BA2E5-72F4-3ECA-066B-97FB5C9F23BB}"/>
              </a:ext>
            </a:extLst>
          </p:cNvPr>
          <p:cNvSpPr txBox="1"/>
          <p:nvPr/>
        </p:nvSpPr>
        <p:spPr>
          <a:xfrm>
            <a:off x="635000" y="57404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著者の表現は “</a:t>
            </a:r>
            <a:r>
              <a:rPr kumimoji="1" lang="en-US" altLang="ja-JP" sz="1900">
                <a:solidFill>
                  <a:srgbClr val="253746"/>
                </a:solidFill>
                <a:latin typeface="Meiryo" panose="020B0604030504040204" pitchFamily="50" charset="-128"/>
                <a:ea typeface="Meiryo" panose="020B0604030504040204" pitchFamily="50" charset="-128"/>
              </a:rPr>
              <a:t>weakly discontinuous”</a:t>
            </a:r>
            <a:r>
              <a:rPr kumimoji="1" lang="ja-JP" altLang="en-US" sz="1900">
                <a:solidFill>
                  <a:srgbClr val="253746"/>
                </a:solidFill>
                <a:latin typeface="Meiryo" panose="020B0604030504040204" pitchFamily="50" charset="-128"/>
                <a:ea typeface="Meiryo" panose="020B0604030504040204" pitchFamily="50" charset="-128"/>
              </a:rPr>
              <a:t>。数値解析に基づく評価である。</a:t>
            </a:r>
          </a:p>
        </p:txBody>
      </p:sp>
    </p:spTree>
    <p:extLst>
      <p:ext uri="{BB962C8B-B14F-4D97-AF65-F5344CB8AC3E}">
        <p14:creationId xmlns:p14="http://schemas.microsoft.com/office/powerpoint/2010/main" val="1069049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7302DA2-F3F9-4EF1-D84A-62A849B4026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本研究の目的</a:t>
            </a:r>
          </a:p>
        </p:txBody>
      </p:sp>
      <p:cxnSp>
        <p:nvCxnSpPr>
          <p:cNvPr id="3" name="直線コネクタ 2">
            <a:extLst>
              <a:ext uri="{FF2B5EF4-FFF2-40B4-BE49-F238E27FC236}">
                <a16:creationId xmlns:a16="http://schemas.microsoft.com/office/drawing/2014/main" id="{0F714E6F-A8C7-FAC0-4512-DDEB799BA6AE}"/>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4A2829A6-99CA-60C3-448F-31E24F5BED3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先行研究：本文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。研究目的は本研究の問い（原論文の結論ではない）。</a:t>
            </a:r>
          </a:p>
        </p:txBody>
      </p:sp>
      <p:sp>
        <p:nvSpPr>
          <p:cNvPr id="5" name="page-4">
            <a:extLst>
              <a:ext uri="{FF2B5EF4-FFF2-40B4-BE49-F238E27FC236}">
                <a16:creationId xmlns:a16="http://schemas.microsoft.com/office/drawing/2014/main" id="{E8588BDB-FF14-F729-9BA4-A1FAD5E1599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06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1D243162-0265-2A56-50B6-256F3B711C0A}"/>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ER</a:t>
            </a:r>
            <a:r>
              <a:rPr kumimoji="1" lang="ja-JP" altLang="en-US" sz="2300">
                <a:solidFill>
                  <a:srgbClr val="253746"/>
                </a:solidFill>
                <a:latin typeface="Meiryo" panose="020B0604030504040204" pitchFamily="50" charset="-128"/>
                <a:ea typeface="Meiryo" panose="020B0604030504040204" pitchFamily="50" charset="-128"/>
              </a:rPr>
              <a:t>ランダムネットワーク上の</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では、
経路長に制限がない場合に急激な転移が報告された。</a:t>
            </a:r>
          </a:p>
        </p:txBody>
      </p:sp>
      <p:sp>
        <p:nvSpPr>
          <p:cNvPr id="7" name="text-6">
            <a:extLst>
              <a:ext uri="{FF2B5EF4-FFF2-40B4-BE49-F238E27FC236}">
                <a16:creationId xmlns:a16="http://schemas.microsoft.com/office/drawing/2014/main" id="{C3F0D09D-C6BE-9425-1892-06DA3AD08D34}"/>
              </a:ext>
            </a:extLst>
          </p:cNvPr>
          <p:cNvSpPr txBox="1"/>
          <p:nvPr/>
        </p:nvSpPr>
        <p:spPr>
          <a:xfrm>
            <a:off x="635000" y="2921000"/>
            <a:ext cx="10922000" cy="276999"/>
          </a:xfrm>
          <a:prstGeom prst="rect">
            <a:avLst/>
          </a:prstGeom>
          <a:noFill/>
        </p:spPr>
        <p:txBody>
          <a:bodyPr vert="horz" wrap="square" lIns="0" tIns="0" rIns="0" bIns="0" rtlCol="0">
            <a:noAutofit/>
          </a:bodyPr>
          <a:lstStyle/>
          <a:p>
            <a:pPr>
              <a:lnSpc>
                <a:spcPct val="112000"/>
              </a:lnSpc>
            </a:pPr>
            <a:r>
              <a:rPr kumimoji="1" lang="ja-JP" altLang="en-US" sz="2500">
                <a:solidFill>
                  <a:srgbClr val="17365D"/>
                </a:solidFill>
                <a:latin typeface="Meiryo" panose="020B0604030504040204" pitchFamily="50" charset="-128"/>
                <a:ea typeface="Meiryo" panose="020B0604030504040204" pitchFamily="50" charset="-128"/>
              </a:rPr>
              <a:t>ネットワークの構造が異なる場合にも、
同様の転移が見られるのだろうか。</a:t>
            </a:r>
          </a:p>
        </p:txBody>
      </p:sp>
      <p:sp>
        <p:nvSpPr>
          <p:cNvPr id="8" name="text-7">
            <a:extLst>
              <a:ext uri="{FF2B5EF4-FFF2-40B4-BE49-F238E27FC236}">
                <a16:creationId xmlns:a16="http://schemas.microsoft.com/office/drawing/2014/main" id="{2F937D9D-20FC-9A5C-C68C-A0AF9E5D91A0}"/>
              </a:ext>
            </a:extLst>
          </p:cNvPr>
          <p:cNvSpPr txBox="1"/>
          <p:nvPr/>
        </p:nvSpPr>
        <p:spPr>
          <a:xfrm>
            <a:off x="635000" y="4254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規則的な構造を持つ</a:t>
            </a:r>
            <a:r>
              <a:rPr kumimoji="1" lang="en-US" altLang="ja-JP" sz="2300">
                <a:solidFill>
                  <a:srgbClr val="253746"/>
                </a:solidFill>
                <a:latin typeface="Meiryo" panose="020B0604030504040204" pitchFamily="50" charset="-128"/>
                <a:ea typeface="Meiryo" panose="020B0604030504040204" pitchFamily="50" charset="-128"/>
              </a:rPr>
              <a:t>2</a:t>
            </a:r>
            <a:r>
              <a:rPr kumimoji="1" lang="ja-JP" altLang="en-US" sz="2300">
                <a:solidFill>
                  <a:srgbClr val="253746"/>
                </a:solidFill>
                <a:latin typeface="Meiryo" panose="020B0604030504040204" pitchFamily="50" charset="-128"/>
                <a:ea typeface="Meiryo" panose="020B0604030504040204" pitchFamily="50" charset="-128"/>
              </a:rPr>
              <a:t>次元正方格子上で</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を実行する。</a:t>
            </a:r>
          </a:p>
        </p:txBody>
      </p:sp>
      <p:sp>
        <p:nvSpPr>
          <p:cNvPr id="9" name="text-8">
            <a:extLst>
              <a:ext uri="{FF2B5EF4-FFF2-40B4-BE49-F238E27FC236}">
                <a16:creationId xmlns:a16="http://schemas.microsoft.com/office/drawing/2014/main" id="{E1E06194-7DC4-2D54-65D9-F7383341CE46}"/>
              </a:ext>
            </a:extLst>
          </p:cNvPr>
          <p:cNvSpPr txBox="1"/>
          <p:nvPr/>
        </p:nvSpPr>
        <p:spPr>
          <a:xfrm>
            <a:off x="635000" y="5080000"/>
            <a:ext cx="10922000" cy="276999"/>
          </a:xfrm>
          <a:prstGeom prst="rect">
            <a:avLst/>
          </a:prstGeom>
          <a:noFill/>
        </p:spPr>
        <p:txBody>
          <a:bodyPr vert="horz" wrap="square" lIns="0" tIns="0" rIns="0" bIns="0" rtlCol="0">
            <a:noAutofit/>
          </a:bodyPr>
          <a:lstStyle/>
          <a:p>
            <a:pPr>
              <a:lnSpc>
                <a:spcPct val="112000"/>
              </a:lnSpc>
            </a:pPr>
            <a:r>
              <a:rPr kumimoji="1" lang="ja-JP" altLang="en-US" sz="2600" b="1">
                <a:solidFill>
                  <a:srgbClr val="17365D"/>
                </a:solidFill>
                <a:latin typeface="Meiryo" panose="020B0604030504040204" pitchFamily="50" charset="-128"/>
                <a:ea typeface="Meiryo" panose="020B0604030504040204" pitchFamily="50" charset="-128"/>
              </a:rPr>
              <a:t>特に経路長に制限がない場合に、
不連続転移が起こるかどうかを調べる。</a:t>
            </a:r>
          </a:p>
        </p:txBody>
      </p:sp>
    </p:spTree>
    <p:extLst>
      <p:ext uri="{BB962C8B-B14F-4D97-AF65-F5344CB8AC3E}">
        <p14:creationId xmlns:p14="http://schemas.microsoft.com/office/powerpoint/2010/main" val="3624992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2BA837F-5A10-8693-20FE-9D5B96A3CDB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における制御変数と最大連結成分</a:t>
            </a:r>
          </a:p>
        </p:txBody>
      </p:sp>
      <p:cxnSp>
        <p:nvCxnSpPr>
          <p:cNvPr id="3" name="直線コネクタ 2">
            <a:extLst>
              <a:ext uri="{FF2B5EF4-FFF2-40B4-BE49-F238E27FC236}">
                <a16:creationId xmlns:a16="http://schemas.microsoft.com/office/drawing/2014/main" id="{AD3D0504-8A85-702E-377A-A6C64B66A82B}"/>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BB70E14B-8EB7-066C-7952-956A0978205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49218A27-4977-ABD4-D223-404CE5162C2C}"/>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07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1.png">
            <a:extLst>
              <a:ext uri="{FF2B5EF4-FFF2-40B4-BE49-F238E27FC236}">
                <a16:creationId xmlns:a16="http://schemas.microsoft.com/office/drawing/2014/main" id="{5FBCEA38-3186-4C9D-5B62-EC3567261E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719010"/>
            <a:ext cx="4572000" cy="854579"/>
          </a:xfrm>
          <a:prstGeom prst="rect">
            <a:avLst/>
          </a:prstGeom>
        </p:spPr>
      </p:pic>
      <p:sp>
        <p:nvSpPr>
          <p:cNvPr id="8" name="text-6">
            <a:extLst>
              <a:ext uri="{FF2B5EF4-FFF2-40B4-BE49-F238E27FC236}">
                <a16:creationId xmlns:a16="http://schemas.microsoft.com/office/drawing/2014/main" id="{6FCBF647-A086-2BA2-7352-7BDBAF01FF24}"/>
              </a:ext>
            </a:extLst>
          </p:cNvPr>
          <p:cNvSpPr txBox="1"/>
          <p:nvPr/>
        </p:nvSpPr>
        <p:spPr>
          <a:xfrm>
            <a:off x="5588000" y="1625600"/>
            <a:ext cx="5969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p(t)</a:t>
            </a:r>
            <a:r>
              <a:rPr kumimoji="1" lang="ja-JP" altLang="en-US" sz="1900">
                <a:solidFill>
                  <a:srgbClr val="253746"/>
                </a:solidFill>
                <a:latin typeface="Meiryo" panose="020B0604030504040204" pitchFamily="50" charset="-128"/>
                <a:ea typeface="Meiryo" panose="020B0604030504040204" pitchFamily="50" charset="-128"/>
              </a:rPr>
              <a:t>：要求</a:t>
            </a: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に対応する時点の辺の削除率</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a:t>
            </a:r>
            <a:r>
              <a:rPr kumimoji="1" lang="en-US" altLang="ja-JP" sz="1406" baseline="-16000">
                <a:solidFill>
                  <a:srgbClr val="253746"/>
                </a:solidFill>
                <a:latin typeface="Meiryo" panose="020B0604030504040204" pitchFamily="50" charset="-128"/>
                <a:ea typeface="Meiryo" panose="020B0604030504040204" pitchFamily="50" charset="-128"/>
              </a:rPr>
              <a:t>1</a:t>
            </a:r>
            <a:r>
              <a:rPr kumimoji="1" lang="ja-JP" altLang="en-US" sz="1900">
                <a:solidFill>
                  <a:srgbClr val="253746"/>
                </a:solidFill>
                <a:latin typeface="Meiryo" panose="020B0604030504040204" pitchFamily="50" charset="-128"/>
                <a:ea typeface="Meiryo" panose="020B0604030504040204" pitchFamily="50" charset="-128"/>
              </a:rPr>
              <a:t>：初期辺数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a:t>
            </a:r>
            <a:r>
              <a:rPr kumimoji="1" lang="en-US" altLang="ja-JP" sz="1406" baseline="-160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：要求</a:t>
            </a: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に利用可能なグラフの辺数</a:t>
            </a:r>
          </a:p>
        </p:txBody>
      </p:sp>
      <p:sp>
        <p:nvSpPr>
          <p:cNvPr id="9" name="text-7">
            <a:extLst>
              <a:ext uri="{FF2B5EF4-FFF2-40B4-BE49-F238E27FC236}">
                <a16:creationId xmlns:a16="http://schemas.microsoft.com/office/drawing/2014/main" id="{39B3F13D-89AE-1793-4FCC-A2789E0477E9}"/>
              </a:ext>
            </a:extLst>
          </p:cNvPr>
          <p:cNvSpPr txBox="1"/>
          <p:nvPr/>
        </p:nvSpPr>
        <p:spPr>
          <a:xfrm>
            <a:off x="635000" y="2946400"/>
            <a:ext cx="10922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：始点・終点の組が要求された回数</a:t>
            </a:r>
          </a:p>
        </p:txBody>
      </p:sp>
      <p:pic>
        <p:nvPicPr>
          <p:cNvPr id="11" name="source-or-equation-image-8" descr="eq_s2.png">
            <a:extLst>
              <a:ext uri="{FF2B5EF4-FFF2-40B4-BE49-F238E27FC236}">
                <a16:creationId xmlns:a16="http://schemas.microsoft.com/office/drawing/2014/main" id="{BB2A8DCC-0267-4E69-0033-B92417A4851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6264" y="3708400"/>
            <a:ext cx="4129472" cy="1168400"/>
          </a:xfrm>
          <a:prstGeom prst="rect">
            <a:avLst/>
          </a:prstGeom>
        </p:spPr>
      </p:pic>
      <p:sp>
        <p:nvSpPr>
          <p:cNvPr id="12" name="text-9">
            <a:extLst>
              <a:ext uri="{FF2B5EF4-FFF2-40B4-BE49-F238E27FC236}">
                <a16:creationId xmlns:a16="http://schemas.microsoft.com/office/drawing/2014/main" id="{724A4E3D-0B21-C673-BC48-0E9DCC86F5C9}"/>
              </a:ext>
            </a:extLst>
          </p:cNvPr>
          <p:cNvSpPr txBox="1"/>
          <p:nvPr/>
        </p:nvSpPr>
        <p:spPr>
          <a:xfrm>
            <a:off x="5588000" y="3619500"/>
            <a:ext cx="5969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：最大連結成分の割合</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s</a:t>
            </a:r>
            <a:r>
              <a:rPr kumimoji="1" lang="en-US" altLang="ja-JP" sz="1480" baseline="-16000">
                <a:solidFill>
                  <a:srgbClr val="253746"/>
                </a:solidFill>
                <a:latin typeface="Meiryo" panose="020B0604030504040204" pitchFamily="50" charset="-128"/>
                <a:ea typeface="Meiryo" panose="020B0604030504040204" pitchFamily="50" charset="-128"/>
              </a:rPr>
              <a:t>R</a:t>
            </a:r>
            <a:r>
              <a:rPr kumimoji="1" lang="ja-JP" altLang="en-US" sz="2000">
                <a:solidFill>
                  <a:srgbClr val="253746"/>
                </a:solidFill>
                <a:latin typeface="Meiryo" panose="020B0604030504040204" pitchFamily="50" charset="-128"/>
                <a:ea typeface="Meiryo" panose="020B0604030504040204" pitchFamily="50" charset="-128"/>
              </a:rPr>
              <a:t>：最大連結成分の頂点数</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R</a:t>
            </a:r>
            <a:r>
              <a:rPr kumimoji="1" lang="ja-JP" altLang="en-US" sz="2000">
                <a:solidFill>
                  <a:srgbClr val="253746"/>
                </a:solidFill>
                <a:latin typeface="Meiryo" panose="020B0604030504040204" pitchFamily="50" charset="-128"/>
                <a:ea typeface="Meiryo" panose="020B0604030504040204" pitchFamily="50" charset="-128"/>
              </a:rPr>
              <a:t>：連結成分の総数　 </a:t>
            </a: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：総頂点数</a:t>
            </a:r>
          </a:p>
        </p:txBody>
      </p:sp>
      <p:sp>
        <p:nvSpPr>
          <p:cNvPr id="13" name="text-10">
            <a:extLst>
              <a:ext uri="{FF2B5EF4-FFF2-40B4-BE49-F238E27FC236}">
                <a16:creationId xmlns:a16="http://schemas.microsoft.com/office/drawing/2014/main" id="{1A4C8278-7237-4513-FBC3-86980B90CC9A}"/>
              </a:ext>
            </a:extLst>
          </p:cNvPr>
          <p:cNvSpPr txBox="1"/>
          <p:nvPr/>
        </p:nvSpPr>
        <p:spPr>
          <a:xfrm>
            <a:off x="635000" y="53975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で削除の進行、</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で最大連結成分の大きさを測る。</a:t>
            </a:r>
          </a:p>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削除できない要求でも</a:t>
            </a:r>
            <a:r>
              <a:rPr kumimoji="1" lang="en-US" altLang="ja-JP" sz="2000">
                <a:solidFill>
                  <a:srgbClr val="17365D"/>
                </a:solidFill>
                <a:latin typeface="Meiryo" panose="020B0604030504040204" pitchFamily="50" charset="-128"/>
                <a:ea typeface="Meiryo" panose="020B0604030504040204" pitchFamily="50" charset="-128"/>
              </a:rPr>
              <a:t>t</a:t>
            </a:r>
            <a:r>
              <a:rPr kumimoji="1" lang="ja-JP" altLang="en-US" sz="2000">
                <a:solidFill>
                  <a:srgbClr val="17365D"/>
                </a:solidFill>
                <a:latin typeface="Meiryo" panose="020B0604030504040204" pitchFamily="50" charset="-128"/>
                <a:ea typeface="Meiryo" panose="020B0604030504040204" pitchFamily="50" charset="-128"/>
              </a:rPr>
              <a:t>は増えるが、</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は変わらない。</a:t>
            </a:r>
          </a:p>
        </p:txBody>
      </p:sp>
    </p:spTree>
    <p:extLst>
      <p:ext uri="{BB962C8B-B14F-4D97-AF65-F5344CB8AC3E}">
        <p14:creationId xmlns:p14="http://schemas.microsoft.com/office/powerpoint/2010/main" val="80043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658A7B8F-0C47-693C-2C4B-4D382A26ED94}"/>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平均クラスターサイズ </a:t>
            </a:r>
            <a:r>
              <a:rPr kumimoji="1" lang="en-US" altLang="ja-JP" sz="3200" b="1">
                <a:solidFill>
                  <a:srgbClr val="17365D"/>
                </a:solidFill>
                <a:latin typeface="Meiryo" panose="020B0604030504040204" pitchFamily="50" charset="-128"/>
                <a:ea typeface="Meiryo" panose="020B0604030504040204" pitchFamily="50" charset="-128"/>
              </a:rPr>
              <a:t>S</a:t>
            </a:r>
            <a:endParaRPr kumimoji="1" lang="ja-JP" altLang="en-US" sz="3200" b="1">
              <a:solidFill>
                <a:srgbClr val="17365D"/>
              </a:solidFill>
              <a:latin typeface="Meiryo" panose="020B0604030504040204" pitchFamily="50" charset="-128"/>
              <a:ea typeface="Meiryo" panose="020B0604030504040204" pitchFamily="50" charset="-128"/>
            </a:endParaRPr>
          </a:p>
        </p:txBody>
      </p:sp>
      <p:cxnSp>
        <p:nvCxnSpPr>
          <p:cNvPr id="3" name="直線コネクタ 2">
            <a:extLst>
              <a:ext uri="{FF2B5EF4-FFF2-40B4-BE49-F238E27FC236}">
                <a16:creationId xmlns:a16="http://schemas.microsoft.com/office/drawing/2014/main" id="{7FDC12F2-91F4-1C6C-FE23-EAC6F190B48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783AA63-731A-5245-35C9-B420E0F5868B}"/>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(S3)</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F13E9563-F396-E137-B810-E53AC7CCB486}"/>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08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cluster_order.png">
            <a:extLst>
              <a:ext uri="{FF2B5EF4-FFF2-40B4-BE49-F238E27FC236}">
                <a16:creationId xmlns:a16="http://schemas.microsoft.com/office/drawing/2014/main" id="{FE8BF72E-5E31-B51D-2F60-8B6C562C17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54807" y="1524000"/>
            <a:ext cx="2932386" cy="571500"/>
          </a:xfrm>
          <a:prstGeom prst="rect">
            <a:avLst/>
          </a:prstGeom>
        </p:spPr>
      </p:pic>
      <p:pic>
        <p:nvPicPr>
          <p:cNvPr id="9" name="source-or-equation-image-6" descr="eq_s3.png">
            <a:extLst>
              <a:ext uri="{FF2B5EF4-FFF2-40B4-BE49-F238E27FC236}">
                <a16:creationId xmlns:a16="http://schemas.microsoft.com/office/drawing/2014/main" id="{DDEF3B0E-B07E-778D-0A91-EBF0C9C9696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067864" y="2476500"/>
            <a:ext cx="2595271" cy="1333500"/>
          </a:xfrm>
          <a:prstGeom prst="rect">
            <a:avLst/>
          </a:prstGeom>
        </p:spPr>
      </p:pic>
      <p:sp>
        <p:nvSpPr>
          <p:cNvPr id="10" name="text-7">
            <a:extLst>
              <a:ext uri="{FF2B5EF4-FFF2-40B4-BE49-F238E27FC236}">
                <a16:creationId xmlns:a16="http://schemas.microsoft.com/office/drawing/2014/main" id="{EEB2FE44-CA23-70E0-15E5-3FD9963CEF18}"/>
              </a:ext>
            </a:extLst>
          </p:cNvPr>
          <p:cNvSpPr txBox="1"/>
          <p:nvPr/>
        </p:nvSpPr>
        <p:spPr>
          <a:xfrm>
            <a:off x="6667500" y="1574800"/>
            <a:ext cx="48895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：連結成分の総数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en-US" altLang="ja-JP" sz="1406" baseline="-160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：第</a:t>
            </a:r>
            <a:r>
              <a:rPr kumimoji="1" lang="en-US" altLang="ja-JP" sz="19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番目の連結成分の頂点数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en-US" altLang="ja-JP" sz="1406" baseline="-160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：最大連結成分の頂点数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ja-JP" altLang="en-US" sz="1900">
                <a:solidFill>
                  <a:srgbClr val="253746"/>
                </a:solidFill>
                <a:latin typeface="Meiryo" panose="020B0604030504040204" pitchFamily="50" charset="-128"/>
                <a:ea typeface="Meiryo" panose="020B0604030504040204" pitchFamily="50" charset="-128"/>
              </a:rPr>
              <a:t>：最大連結成分を除いた</a:t>
            </a:r>
          </a:p>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　 平均クラスターサイズ</a:t>
            </a:r>
          </a:p>
        </p:txBody>
      </p:sp>
      <p:sp>
        <p:nvSpPr>
          <p:cNvPr id="11" name="text-8">
            <a:extLst>
              <a:ext uri="{FF2B5EF4-FFF2-40B4-BE49-F238E27FC236}">
                <a16:creationId xmlns:a16="http://schemas.microsoft.com/office/drawing/2014/main" id="{40FD2834-7FCB-97A3-E8B1-2F8375A8BECD}"/>
              </a:ext>
            </a:extLst>
          </p:cNvPr>
          <p:cNvSpPr txBox="1"/>
          <p:nvPr/>
        </p:nvSpPr>
        <p:spPr>
          <a:xfrm>
            <a:off x="635000" y="42545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最大連結成分を</a:t>
            </a:r>
            <a:r>
              <a:rPr kumimoji="1" lang="en-US" altLang="ja-JP" sz="2100">
                <a:solidFill>
                  <a:srgbClr val="253746"/>
                </a:solidFill>
                <a:latin typeface="Meiryo" panose="020B0604030504040204" pitchFamily="50" charset="-128"/>
                <a:ea typeface="Meiryo" panose="020B0604030504040204" pitchFamily="50" charset="-128"/>
              </a:rPr>
              <a:t>1</a:t>
            </a:r>
            <a:r>
              <a:rPr kumimoji="1" lang="ja-JP" altLang="en-US" sz="2100">
                <a:solidFill>
                  <a:srgbClr val="253746"/>
                </a:solidFill>
                <a:latin typeface="Meiryo" panose="020B0604030504040204" pitchFamily="50" charset="-128"/>
                <a:ea typeface="Meiryo" panose="020B0604030504040204" pitchFamily="50" charset="-128"/>
              </a:rPr>
              <a:t>個除き、残りのクラスターの大きさから</a:t>
            </a:r>
            <a:r>
              <a:rPr kumimoji="1" lang="en-US" altLang="ja-JP" sz="2100">
                <a:solidFill>
                  <a:srgbClr val="253746"/>
                </a:solidFill>
                <a:latin typeface="Meiryo" panose="020B0604030504040204" pitchFamily="50" charset="-128"/>
                <a:ea typeface="Meiryo" panose="020B0604030504040204" pitchFamily="50" charset="-128"/>
              </a:rPr>
              <a:t>S</a:t>
            </a:r>
            <a:r>
              <a:rPr kumimoji="1" lang="ja-JP" altLang="en-US" sz="2100">
                <a:solidFill>
                  <a:srgbClr val="253746"/>
                </a:solidFill>
                <a:latin typeface="Meiryo" panose="020B0604030504040204" pitchFamily="50" charset="-128"/>
                <a:ea typeface="Meiryo" panose="020B0604030504040204" pitchFamily="50" charset="-128"/>
              </a:rPr>
              <a:t>を定義する。</a:t>
            </a:r>
          </a:p>
        </p:txBody>
      </p:sp>
      <p:sp>
        <p:nvSpPr>
          <p:cNvPr id="12" name="text-9">
            <a:extLst>
              <a:ext uri="{FF2B5EF4-FFF2-40B4-BE49-F238E27FC236}">
                <a16:creationId xmlns:a16="http://schemas.microsoft.com/office/drawing/2014/main" id="{C019213D-77CD-8D98-0D09-53A125F28BA3}"/>
              </a:ext>
            </a:extLst>
          </p:cNvPr>
          <p:cNvSpPr txBox="1"/>
          <p:nvPr/>
        </p:nvSpPr>
        <p:spPr>
          <a:xfrm>
            <a:off x="635000" y="5016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17365D"/>
                </a:solidFill>
                <a:latin typeface="Meiryo" panose="020B0604030504040204" pitchFamily="50" charset="-128"/>
                <a:ea typeface="Meiryo" panose="020B0604030504040204" pitchFamily="50" charset="-128"/>
              </a:rPr>
              <a:t>残りの頂点を一様ランダムに選んだとき、その頂点が属する
クラスターの大きさの期待値として解釈できる。</a:t>
            </a:r>
          </a:p>
        </p:txBody>
      </p:sp>
      <p:sp>
        <p:nvSpPr>
          <p:cNvPr id="13" name="text-10">
            <a:extLst>
              <a:ext uri="{FF2B5EF4-FFF2-40B4-BE49-F238E27FC236}">
                <a16:creationId xmlns:a16="http://schemas.microsoft.com/office/drawing/2014/main" id="{1C630EF7-28F3-CB6E-C31F-6844715E8657}"/>
              </a:ext>
            </a:extLst>
          </p:cNvPr>
          <p:cNvSpPr txBox="1"/>
          <p:nvPr/>
        </p:nvSpPr>
        <p:spPr>
          <a:xfrm>
            <a:off x="635000" y="5867400"/>
            <a:ext cx="10922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期待値の説明は、式</a:t>
            </a:r>
            <a:r>
              <a:rPr kumimoji="1" lang="en-US" altLang="ja-JP" sz="1600">
                <a:solidFill>
                  <a:srgbClr val="253746"/>
                </a:solidFill>
                <a:latin typeface="Meiryo" panose="020B0604030504040204" pitchFamily="50" charset="-128"/>
                <a:ea typeface="Meiryo" panose="020B0604030504040204" pitchFamily="50" charset="-128"/>
              </a:rPr>
              <a:t>(S3)</a:t>
            </a:r>
            <a:r>
              <a:rPr kumimoji="1" lang="ja-JP" altLang="en-US" sz="1600">
                <a:solidFill>
                  <a:srgbClr val="253746"/>
                </a:solidFill>
                <a:latin typeface="Meiryo" panose="020B0604030504040204" pitchFamily="50" charset="-128"/>
                <a:ea typeface="Meiryo" panose="020B0604030504040204" pitchFamily="50" charset="-128"/>
              </a:rPr>
              <a:t>の数学的な補足。</a:t>
            </a:r>
          </a:p>
        </p:txBody>
      </p:sp>
    </p:spTree>
    <p:extLst>
      <p:ext uri="{BB962C8B-B14F-4D97-AF65-F5344CB8AC3E}">
        <p14:creationId xmlns:p14="http://schemas.microsoft.com/office/powerpoint/2010/main" val="691691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FEE95B8C-A848-F772-BB75-4F3283D74C9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ネットワークサイズと相転移の関係</a:t>
            </a:r>
          </a:p>
        </p:txBody>
      </p:sp>
      <p:cxnSp>
        <p:nvCxnSpPr>
          <p:cNvPr id="3" name="直線コネクタ 2">
            <a:extLst>
              <a:ext uri="{FF2B5EF4-FFF2-40B4-BE49-F238E27FC236}">
                <a16:creationId xmlns:a16="http://schemas.microsoft.com/office/drawing/2014/main" id="{3026CB9D-57A3-A67A-0C4B-861BD716C5F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64B37140-372F-C48F-6601-F84EDEC5B1A2}"/>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サイズ依存解析への動機付け（本発表の説明）。</a:t>
            </a:r>
            <a:r>
              <a:rPr kumimoji="1" lang="en-US" altLang="ja-JP" sz="950">
                <a:solidFill>
                  <a:srgbClr val="566573"/>
                </a:solidFill>
                <a:latin typeface="Meiryo" panose="020B0604030504040204" pitchFamily="50" charset="-128"/>
                <a:ea typeface="Meiryo" panose="020B0604030504040204" pitchFamily="50" charset="-128"/>
              </a:rPr>
              <a:t>P</a:t>
            </a:r>
            <a:r>
              <a:rPr kumimoji="1" lang="ja-JP" altLang="en-US" sz="950">
                <a:solidFill>
                  <a:srgbClr val="566573"/>
                </a:solidFill>
                <a:latin typeface="Meiryo" panose="020B0604030504040204" pitchFamily="50" charset="-128"/>
                <a:ea typeface="Meiryo" panose="020B0604030504040204" pitchFamily="50" charset="-128"/>
              </a:rPr>
              <a:t>の定義：補足 式</a:t>
            </a:r>
            <a:r>
              <a:rPr kumimoji="1" lang="en-US" altLang="ja-JP" sz="950">
                <a:solidFill>
                  <a:srgbClr val="566573"/>
                </a:solidFill>
                <a:latin typeface="Meiryo" panose="020B0604030504040204" pitchFamily="50" charset="-128"/>
                <a:ea typeface="Meiryo" panose="020B0604030504040204" pitchFamily="50" charset="-128"/>
              </a:rPr>
              <a:t>(S2)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082AD1AE-423C-BB72-B4B7-1885565F0DAA}"/>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09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1410DEAE-853C-084F-AE64-723C8F8F8D91}"/>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有限サイズのネットワークでは、相転移付近の観測量が
ネットワークサイズ</a:t>
            </a:r>
            <a:r>
              <a:rPr kumimoji="1" lang="en-US" altLang="ja-JP" sz="2300">
                <a:solidFill>
                  <a:srgbClr val="253746"/>
                </a:solidFill>
                <a:latin typeface="Meiryo" panose="020B0604030504040204" pitchFamily="50" charset="-128"/>
                <a:ea typeface="Meiryo" panose="020B0604030504040204" pitchFamily="50" charset="-128"/>
              </a:rPr>
              <a:t>N</a:t>
            </a:r>
            <a:r>
              <a:rPr kumimoji="1" lang="ja-JP" altLang="en-US" sz="2300">
                <a:solidFill>
                  <a:srgbClr val="253746"/>
                </a:solidFill>
                <a:latin typeface="Meiryo" panose="020B0604030504040204" pitchFamily="50" charset="-128"/>
                <a:ea typeface="Meiryo" panose="020B0604030504040204" pitchFamily="50" charset="-128"/>
              </a:rPr>
              <a:t>の影響を受ける。</a:t>
            </a:r>
          </a:p>
        </p:txBody>
      </p:sp>
      <p:sp>
        <p:nvSpPr>
          <p:cNvPr id="7" name="text-6">
            <a:extLst>
              <a:ext uri="{FF2B5EF4-FFF2-40B4-BE49-F238E27FC236}">
                <a16:creationId xmlns:a16="http://schemas.microsoft.com/office/drawing/2014/main" id="{02A922F2-0C93-8E54-34B5-64492D321408}"/>
              </a:ext>
            </a:extLst>
          </p:cNvPr>
          <p:cNvSpPr txBox="1"/>
          <p:nvPr/>
        </p:nvSpPr>
        <p:spPr>
          <a:xfrm>
            <a:off x="635000" y="285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P</a:t>
            </a:r>
            <a:r>
              <a:rPr kumimoji="1" lang="ja-JP" altLang="en-US" sz="2300">
                <a:solidFill>
                  <a:srgbClr val="253746"/>
                </a:solidFill>
                <a:latin typeface="Meiryo" panose="020B0604030504040204" pitchFamily="50" charset="-128"/>
                <a:ea typeface="Meiryo" panose="020B0604030504040204" pitchFamily="50" charset="-128"/>
              </a:rPr>
              <a:t>が急激に減少しても、有限サイズでの観測だけでは、
大きなサイズの極限でも不連続な変化が残るとは判断できない。</a:t>
            </a:r>
          </a:p>
        </p:txBody>
      </p:sp>
      <p:sp>
        <p:nvSpPr>
          <p:cNvPr id="8" name="text-7">
            <a:extLst>
              <a:ext uri="{FF2B5EF4-FFF2-40B4-BE49-F238E27FC236}">
                <a16:creationId xmlns:a16="http://schemas.microsoft.com/office/drawing/2014/main" id="{911299C2-ECB4-53F5-B322-BE054A5AC705}"/>
              </a:ext>
            </a:extLst>
          </p:cNvPr>
          <p:cNvSpPr txBox="1"/>
          <p:nvPr/>
        </p:nvSpPr>
        <p:spPr>
          <a:xfrm>
            <a:off x="635000" y="4140200"/>
            <a:ext cx="10922000" cy="276999"/>
          </a:xfrm>
          <a:prstGeom prst="rect">
            <a:avLst/>
          </a:prstGeom>
          <a:noFill/>
        </p:spPr>
        <p:txBody>
          <a:bodyPr vert="horz" wrap="square" lIns="0" tIns="0" rIns="0" bIns="0" rtlCol="0">
            <a:noAutofit/>
          </a:bodyPr>
          <a:lstStyle/>
          <a:p>
            <a:pPr>
              <a:lnSpc>
                <a:spcPct val="112000"/>
              </a:lnSpc>
            </a:pPr>
            <a:r>
              <a:rPr kumimoji="1" lang="en-US" altLang="ja-JP" sz="2200">
                <a:solidFill>
                  <a:srgbClr val="17365D"/>
                </a:solidFill>
                <a:latin typeface="Meiryo" panose="020B0604030504040204" pitchFamily="50" charset="-128"/>
                <a:ea typeface="Meiryo" panose="020B0604030504040204" pitchFamily="50" charset="-128"/>
              </a:rPr>
              <a:t>N</a:t>
            </a:r>
            <a:r>
              <a:rPr kumimoji="1" lang="ja-JP" altLang="en-US" sz="2200">
                <a:solidFill>
                  <a:srgbClr val="17365D"/>
                </a:solidFill>
                <a:latin typeface="Meiryo" panose="020B0604030504040204" pitchFamily="50" charset="-128"/>
                <a:ea typeface="Meiryo" panose="020B0604030504040204" pitchFamily="50" charset="-128"/>
              </a:rPr>
              <a:t>を変えて観測量の変化を調べ、大きなサイズでの振る舞いを推定する。</a:t>
            </a:r>
          </a:p>
        </p:txBody>
      </p:sp>
      <p:pic>
        <p:nvPicPr>
          <p:cNvPr id="10" name="source-or-equation-image-8" descr="size_n.png">
            <a:extLst>
              <a:ext uri="{FF2B5EF4-FFF2-40B4-BE49-F238E27FC236}">
                <a16:creationId xmlns:a16="http://schemas.microsoft.com/office/drawing/2014/main" id="{D7D05461-0954-0E03-491F-75BA0AB160E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34818" y="5156200"/>
            <a:ext cx="1457864" cy="685800"/>
          </a:xfrm>
          <a:prstGeom prst="rect">
            <a:avLst/>
          </a:prstGeom>
        </p:spPr>
      </p:pic>
      <p:sp>
        <p:nvSpPr>
          <p:cNvPr id="11" name="text-9">
            <a:extLst>
              <a:ext uri="{FF2B5EF4-FFF2-40B4-BE49-F238E27FC236}">
                <a16:creationId xmlns:a16="http://schemas.microsoft.com/office/drawing/2014/main" id="{8CFF61B9-8701-43FA-5723-D3BED2E1FDDC}"/>
              </a:ext>
            </a:extLst>
          </p:cNvPr>
          <p:cNvSpPr txBox="1"/>
          <p:nvPr/>
        </p:nvSpPr>
        <p:spPr>
          <a:xfrm>
            <a:off x="4191000" y="5016500"/>
            <a:ext cx="7366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：ネットワークの頂点数
</a:t>
            </a:r>
            <a:r>
              <a:rPr kumimoji="1" lang="en-US" altLang="ja-JP" sz="2000">
                <a:solidFill>
                  <a:srgbClr val="253746"/>
                </a:solidFill>
                <a:latin typeface="Meiryo" panose="020B0604030504040204" pitchFamily="50" charset="-128"/>
                <a:ea typeface="Meiryo" panose="020B0604030504040204" pitchFamily="50" charset="-128"/>
              </a:rPr>
              <a:t>L</a:t>
            </a:r>
            <a:r>
              <a:rPr kumimoji="1" lang="ja-JP" altLang="en-US" sz="2000">
                <a:solidFill>
                  <a:srgbClr val="253746"/>
                </a:solidFill>
                <a:latin typeface="Meiryo" panose="020B0604030504040204" pitchFamily="50" charset="-128"/>
                <a:ea typeface="Meiryo" panose="020B0604030504040204" pitchFamily="50" charset="-128"/>
              </a:rPr>
              <a:t>：</a:t>
            </a:r>
            <a:r>
              <a:rPr kumimoji="1" lang="en-US" altLang="ja-JP" sz="2000">
                <a:solidFill>
                  <a:srgbClr val="253746"/>
                </a:solidFill>
                <a:latin typeface="Meiryo" panose="020B0604030504040204" pitchFamily="50" charset="-128"/>
                <a:ea typeface="Meiryo" panose="020B0604030504040204" pitchFamily="50" charset="-128"/>
              </a:rPr>
              <a:t>2</a:t>
            </a:r>
            <a:r>
              <a:rPr kumimoji="1" lang="ja-JP" altLang="en-US" sz="2000">
                <a:solidFill>
                  <a:srgbClr val="253746"/>
                </a:solidFill>
                <a:latin typeface="Meiryo" panose="020B0604030504040204" pitchFamily="50" charset="-128"/>
                <a:ea typeface="Meiryo" panose="020B0604030504040204" pitchFamily="50" charset="-128"/>
              </a:rPr>
              <a:t>次元正方格子の一辺の頂点数
</a:t>
            </a: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：最大連結成分の割合</a:t>
            </a:r>
          </a:p>
        </p:txBody>
      </p:sp>
    </p:spTree>
    <p:extLst>
      <p:ext uri="{BB962C8B-B14F-4D97-AF65-F5344CB8AC3E}">
        <p14:creationId xmlns:p14="http://schemas.microsoft.com/office/powerpoint/2010/main" val="257220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4300851A-9D29-ACFE-7944-5B6C618373F9}"/>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べき乗則と指数の推定方法</a:t>
            </a:r>
          </a:p>
        </p:txBody>
      </p:sp>
      <p:cxnSp>
        <p:nvCxnSpPr>
          <p:cNvPr id="3" name="直線コネクタ 2">
            <a:extLst>
              <a:ext uri="{FF2B5EF4-FFF2-40B4-BE49-F238E27FC236}">
                <a16:creationId xmlns:a16="http://schemas.microsoft.com/office/drawing/2014/main" id="{6699D13E-3771-9305-D3AA-9F8DAF58BB00}"/>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FBE435F8-E5A7-C164-1CD8-53ADFE21E05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(S5)</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A717809A-7909-835A-97B2-3ED4E799C2D4}"/>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10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FE06F269-5A46-785C-72A4-3D9CFA147FEB}"/>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数値データのサイズ依存性を調べるため、原論文ではべき乗則を仮定し、
回帰分析によって指数を推定する。</a:t>
            </a:r>
          </a:p>
        </p:txBody>
      </p:sp>
      <p:pic>
        <p:nvPicPr>
          <p:cNvPr id="8" name="source-or-equation-image-6" descr="eq_s4.png">
            <a:extLst>
              <a:ext uri="{FF2B5EF4-FFF2-40B4-BE49-F238E27FC236}">
                <a16:creationId xmlns:a16="http://schemas.microsoft.com/office/drawing/2014/main" id="{7E5C634F-9984-E52F-4407-69D1F878CE0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2832100"/>
            <a:ext cx="3810000" cy="812800"/>
          </a:xfrm>
          <a:prstGeom prst="rect">
            <a:avLst/>
          </a:prstGeom>
        </p:spPr>
      </p:pic>
      <p:pic>
        <p:nvPicPr>
          <p:cNvPr id="10" name="source-or-equation-image-7" descr="eq_s5.png">
            <a:extLst>
              <a:ext uri="{FF2B5EF4-FFF2-40B4-BE49-F238E27FC236}">
                <a16:creationId xmlns:a16="http://schemas.microsoft.com/office/drawing/2014/main" id="{8DE70DAD-ECA1-50C1-47F2-509D27A3355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207000" y="2888138"/>
            <a:ext cx="6350000" cy="700723"/>
          </a:xfrm>
          <a:prstGeom prst="rect">
            <a:avLst/>
          </a:prstGeom>
        </p:spPr>
      </p:pic>
      <p:sp>
        <p:nvSpPr>
          <p:cNvPr id="11" name="text-8">
            <a:extLst>
              <a:ext uri="{FF2B5EF4-FFF2-40B4-BE49-F238E27FC236}">
                <a16:creationId xmlns:a16="http://schemas.microsoft.com/office/drawing/2014/main" id="{1ACD1F8E-2C1A-690A-5AA5-599633CBEE38}"/>
              </a:ext>
            </a:extLst>
          </p:cNvPr>
          <p:cNvSpPr txBox="1"/>
          <p:nvPr/>
        </p:nvSpPr>
        <p:spPr>
          <a:xfrm>
            <a:off x="635000" y="40640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x, y</a:t>
            </a:r>
            <a:r>
              <a:rPr kumimoji="1" lang="ja-JP" altLang="en-US" sz="2000">
                <a:solidFill>
                  <a:srgbClr val="253746"/>
                </a:solidFill>
                <a:latin typeface="Meiryo" panose="020B0604030504040204" pitchFamily="50" charset="-128"/>
                <a:ea typeface="Meiryo" panose="020B0604030504040204" pitchFamily="50" charset="-128"/>
              </a:rPr>
              <a:t>：関係を調べる正の量　 </a:t>
            </a:r>
            <a:r>
              <a:rPr kumimoji="1" lang="en-US" altLang="ja-JP" sz="2000">
                <a:solidFill>
                  <a:srgbClr val="253746"/>
                </a:solidFill>
                <a:latin typeface="Meiryo" panose="020B0604030504040204" pitchFamily="50" charset="-128"/>
                <a:ea typeface="Meiryo" panose="020B0604030504040204" pitchFamily="50" charset="-128"/>
              </a:rPr>
              <a:t>z</a:t>
            </a:r>
            <a:r>
              <a:rPr kumimoji="1" lang="ja-JP" altLang="en-US" sz="2000">
                <a:solidFill>
                  <a:srgbClr val="253746"/>
                </a:solidFill>
                <a:latin typeface="Meiryo" panose="020B0604030504040204" pitchFamily="50" charset="-128"/>
                <a:ea typeface="Meiryo" panose="020B0604030504040204" pitchFamily="50" charset="-128"/>
              </a:rPr>
              <a:t>：比例係数（</a:t>
            </a:r>
            <a:r>
              <a:rPr kumimoji="1" lang="en-US" altLang="ja-JP" sz="2000">
                <a:solidFill>
                  <a:srgbClr val="253746"/>
                </a:solidFill>
                <a:latin typeface="Meiryo" panose="020B0604030504040204" pitchFamily="50" charset="-128"/>
                <a:ea typeface="Meiryo" panose="020B0604030504040204" pitchFamily="50" charset="-128"/>
              </a:rPr>
              <a:t>z&gt;0</a:t>
            </a:r>
            <a:r>
              <a:rPr kumimoji="1" lang="ja-JP" altLang="en-US" sz="2000">
                <a:solidFill>
                  <a:srgbClr val="253746"/>
                </a:solidFill>
                <a:latin typeface="Meiryo" panose="020B0604030504040204" pitchFamily="50" charset="-128"/>
                <a:ea typeface="Meiryo" panose="020B0604030504040204" pitchFamily="50" charset="-128"/>
              </a:rPr>
              <a:t>）
</a:t>
            </a:r>
            <a:r>
              <a:rPr kumimoji="1" lang="en-US" altLang="ja-JP" sz="2000">
                <a:solidFill>
                  <a:srgbClr val="253746"/>
                </a:solidFill>
                <a:latin typeface="Meiryo" panose="020B0604030504040204" pitchFamily="50" charset="-128"/>
                <a:ea typeface="Meiryo" panose="020B0604030504040204" pitchFamily="50" charset="-128"/>
              </a:rPr>
              <a:t>ζ</a:t>
            </a:r>
            <a:r>
              <a:rPr kumimoji="1" lang="ja-JP" altLang="en-US" sz="2000">
                <a:solidFill>
                  <a:srgbClr val="253746"/>
                </a:solidFill>
                <a:latin typeface="Meiryo" panose="020B0604030504040204" pitchFamily="50" charset="-128"/>
                <a:ea typeface="Meiryo" panose="020B0604030504040204" pitchFamily="50" charset="-128"/>
              </a:rPr>
              <a:t>：推定するべき指数（ゼータ）　 </a:t>
            </a:r>
            <a:r>
              <a:rPr kumimoji="1" lang="en-US" altLang="ja-JP" sz="2000">
                <a:solidFill>
                  <a:srgbClr val="253746"/>
                </a:solidFill>
                <a:latin typeface="Meiryo" panose="020B0604030504040204" pitchFamily="50" charset="-128"/>
                <a:ea typeface="Meiryo" panose="020B0604030504040204" pitchFamily="50" charset="-128"/>
              </a:rPr>
              <a:t>log</a:t>
            </a:r>
            <a:r>
              <a:rPr kumimoji="1" lang="ja-JP" altLang="en-US" sz="2000">
                <a:solidFill>
                  <a:srgbClr val="253746"/>
                </a:solidFill>
                <a:latin typeface="Meiryo" panose="020B0604030504040204" pitchFamily="50" charset="-128"/>
                <a:ea typeface="Meiryo" panose="020B0604030504040204" pitchFamily="50" charset="-128"/>
              </a:rPr>
              <a:t>：対数</a:t>
            </a:r>
          </a:p>
        </p:txBody>
      </p:sp>
      <p:sp>
        <p:nvSpPr>
          <p:cNvPr id="12" name="text-9">
            <a:extLst>
              <a:ext uri="{FF2B5EF4-FFF2-40B4-BE49-F238E27FC236}">
                <a16:creationId xmlns:a16="http://schemas.microsoft.com/office/drawing/2014/main" id="{0CC8F5C0-8706-4F14-B384-E789317F8023}"/>
              </a:ext>
            </a:extLst>
          </p:cNvPr>
          <p:cNvSpPr txBox="1"/>
          <p:nvPr/>
        </p:nvSpPr>
        <p:spPr>
          <a:xfrm>
            <a:off x="635000" y="5207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17365D"/>
                </a:solidFill>
                <a:latin typeface="Meiryo" panose="020B0604030504040204" pitchFamily="50" charset="-128"/>
                <a:ea typeface="Meiryo" panose="020B0604030504040204" pitchFamily="50" charset="-128"/>
              </a:rPr>
              <a:t>対数変換したデータに直線回帰を行い、傾きから指数</a:t>
            </a:r>
            <a:r>
              <a:rPr kumimoji="1" lang="en-US" altLang="ja-JP" sz="2200">
                <a:solidFill>
                  <a:srgbClr val="17365D"/>
                </a:solidFill>
                <a:latin typeface="Meiryo" panose="020B0604030504040204" pitchFamily="50" charset="-128"/>
                <a:ea typeface="Meiryo" panose="020B0604030504040204" pitchFamily="50" charset="-128"/>
              </a:rPr>
              <a:t>ζ</a:t>
            </a:r>
            <a:r>
              <a:rPr kumimoji="1" lang="ja-JP" altLang="en-US" sz="2200">
                <a:solidFill>
                  <a:srgbClr val="17365D"/>
                </a:solidFill>
                <a:latin typeface="Meiryo" panose="020B0604030504040204" pitchFamily="50" charset="-128"/>
                <a:ea typeface="Meiryo" panose="020B0604030504040204" pitchFamily="50" charset="-128"/>
              </a:rPr>
              <a:t>を推定する。</a:t>
            </a:r>
          </a:p>
        </p:txBody>
      </p:sp>
      <p:sp>
        <p:nvSpPr>
          <p:cNvPr id="13" name="text-10">
            <a:extLst>
              <a:ext uri="{FF2B5EF4-FFF2-40B4-BE49-F238E27FC236}">
                <a16:creationId xmlns:a16="http://schemas.microsoft.com/office/drawing/2014/main" id="{D5EDBA44-7134-E03A-7782-E072D3E225C0}"/>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この方法を、後に扱う有限サイズスケーリングでの臨界指数推定に利用する。</a:t>
            </a:r>
          </a:p>
        </p:txBody>
      </p:sp>
    </p:spTree>
    <p:extLst>
      <p:ext uri="{BB962C8B-B14F-4D97-AF65-F5344CB8AC3E}">
        <p14:creationId xmlns:p14="http://schemas.microsoft.com/office/powerpoint/2010/main" val="1777930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itle-1">
            <a:extLst>
              <a:ext uri="{FF2B5EF4-FFF2-40B4-BE49-F238E27FC236}">
                <a16:creationId xmlns:a16="http://schemas.microsoft.com/office/drawing/2014/main" id="{A1FF90D2-8ECD-7C8E-F693-F2B0B62CFC7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有限サイズスケーリング（</a:t>
            </a:r>
            <a:r>
              <a:rPr kumimoji="1" lang="en-US" altLang="ja-JP" sz="3200" b="1">
                <a:solidFill>
                  <a:srgbClr val="17365D"/>
                </a:solidFill>
                <a:latin typeface="Meiryo" panose="020B0604030504040204" pitchFamily="50" charset="-128"/>
                <a:ea typeface="Meiryo" panose="020B0604030504040204" pitchFamily="50" charset="-128"/>
              </a:rPr>
              <a:t>FSS</a:t>
            </a:r>
            <a:r>
              <a:rPr kumimoji="1" lang="ja-JP" altLang="en-US" sz="3200" b="1">
                <a:solidFill>
                  <a:srgbClr val="17365D"/>
                </a:solidFill>
                <a:latin typeface="Meiryo" panose="020B0604030504040204" pitchFamily="50" charset="-128"/>
                <a:ea typeface="Meiryo" panose="020B0604030504040204" pitchFamily="50" charset="-128"/>
              </a:rPr>
              <a:t>）</a:t>
            </a:r>
          </a:p>
        </p:txBody>
      </p:sp>
      <p:cxnSp>
        <p:nvCxnSpPr>
          <p:cNvPr id="11" name="直線コネクタ 10">
            <a:extLst>
              <a:ext uri="{FF2B5EF4-FFF2-40B4-BE49-F238E27FC236}">
                <a16:creationId xmlns:a16="http://schemas.microsoft.com/office/drawing/2014/main" id="{BB8D24BC-92D8-B7D4-7FD5-F61C400B1A67}"/>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B42CE81A-7E29-7B4F-5088-F9BC893D1FF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。後続の式</a:t>
            </a:r>
            <a:r>
              <a:rPr kumimoji="1" lang="en-US" altLang="ja-JP" sz="950">
                <a:solidFill>
                  <a:srgbClr val="566573"/>
                </a:solidFill>
                <a:latin typeface="Meiryo" panose="020B0604030504040204" pitchFamily="50" charset="-128"/>
                <a:ea typeface="Meiryo" panose="020B0604030504040204" pitchFamily="50" charset="-128"/>
              </a:rPr>
              <a:t>(S9)</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(S10)</a:t>
            </a:r>
            <a:r>
              <a:rPr kumimoji="1" lang="ja-JP" altLang="en-US" sz="950">
                <a:solidFill>
                  <a:srgbClr val="566573"/>
                </a:solidFill>
                <a:latin typeface="Meiryo" panose="020B0604030504040204" pitchFamily="50" charset="-128"/>
                <a:ea typeface="Meiryo" panose="020B0604030504040204" pitchFamily="50" charset="-128"/>
              </a:rPr>
              <a:t>を先に紹介。記号・導出は後述。</a:t>
            </a:r>
          </a:p>
        </p:txBody>
      </p:sp>
      <p:sp>
        <p:nvSpPr>
          <p:cNvPr id="13" name="page-4">
            <a:extLst>
              <a:ext uri="{FF2B5EF4-FFF2-40B4-BE49-F238E27FC236}">
                <a16:creationId xmlns:a16="http://schemas.microsoft.com/office/drawing/2014/main" id="{DE175418-30FC-59DE-E5FC-5AC02B6F9D09}"/>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11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709AE34E-9AED-CAE3-AAB8-37AC04D37094}"/>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en-US" altLang="ja-JP" sz="2200">
                <a:solidFill>
                  <a:srgbClr val="263746"/>
                </a:solidFill>
                <a:latin typeface="Meiryo" panose="020B0604030504040204" pitchFamily="50" charset="-128"/>
                <a:ea typeface="Meiryo" panose="020B0604030504040204" pitchFamily="50" charset="-128"/>
              </a:rPr>
              <a:t>SPP</a:t>
            </a:r>
            <a:r>
              <a:rPr kumimoji="1" lang="ja-JP" altLang="en-US" sz="2200">
                <a:solidFill>
                  <a:srgbClr val="263746"/>
                </a:solidFill>
                <a:latin typeface="Meiryo" panose="020B0604030504040204" pitchFamily="50" charset="-128"/>
                <a:ea typeface="Meiryo" panose="020B0604030504040204" pitchFamily="50" charset="-128"/>
              </a:rPr>
              <a:t>原論文では、相転移の臨界点と臨界指数を推定するために、
有限サイズスケーリング（</a:t>
            </a:r>
            <a:r>
              <a:rPr kumimoji="1" lang="en-US" altLang="ja-JP" sz="2200">
                <a:solidFill>
                  <a:srgbClr val="263746"/>
                </a:solidFill>
                <a:latin typeface="Meiryo" panose="020B0604030504040204" pitchFamily="50" charset="-128"/>
                <a:ea typeface="Meiryo" panose="020B0604030504040204" pitchFamily="50" charset="-128"/>
              </a:rPr>
              <a:t>FSS</a:t>
            </a:r>
            <a:r>
              <a:rPr kumimoji="1" lang="ja-JP" altLang="en-US" sz="2200">
                <a:solidFill>
                  <a:srgbClr val="263746"/>
                </a:solidFill>
                <a:latin typeface="Meiryo" panose="020B0604030504040204" pitchFamily="50" charset="-128"/>
                <a:ea typeface="Meiryo" panose="020B0604030504040204" pitchFamily="50" charset="-128"/>
              </a:rPr>
              <a:t>）を用いる。</a:t>
            </a:r>
          </a:p>
        </p:txBody>
      </p:sp>
      <p:sp>
        <p:nvSpPr>
          <p:cNvPr id="15" name="text-6">
            <a:extLst>
              <a:ext uri="{FF2B5EF4-FFF2-40B4-BE49-F238E27FC236}">
                <a16:creationId xmlns:a16="http://schemas.microsoft.com/office/drawing/2014/main" id="{AAC39127-D4C5-9FD9-903E-8758909FD937}"/>
              </a:ext>
            </a:extLst>
          </p:cNvPr>
          <p:cNvSpPr txBox="1"/>
          <p:nvPr/>
        </p:nvSpPr>
        <p:spPr>
          <a:xfrm>
            <a:off x="635000" y="2413000"/>
            <a:ext cx="109220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ネットワークサイズ</a:t>
            </a:r>
            <a:r>
              <a:rPr kumimoji="1" lang="en-US" altLang="ja-JP" sz="2200" b="1">
                <a:solidFill>
                  <a:srgbClr val="17365D"/>
                </a:solidFill>
                <a:latin typeface="Meiryo" panose="020B0604030504040204" pitchFamily="50" charset="-128"/>
                <a:ea typeface="Meiryo" panose="020B0604030504040204" pitchFamily="50" charset="-128"/>
              </a:rPr>
              <a:t>N</a:t>
            </a:r>
            <a:r>
              <a:rPr kumimoji="1" lang="ja-JP" altLang="en-US" sz="2200" b="1">
                <a:solidFill>
                  <a:srgbClr val="17365D"/>
                </a:solidFill>
                <a:latin typeface="Meiryo" panose="020B0604030504040204" pitchFamily="50" charset="-128"/>
                <a:ea typeface="Meiryo" panose="020B0604030504040204" pitchFamily="50" charset="-128"/>
              </a:rPr>
              <a:t>に対する依存性の例</a:t>
            </a:r>
          </a:p>
        </p:txBody>
      </p:sp>
      <p:sp>
        <p:nvSpPr>
          <p:cNvPr id="16" name="text-7">
            <a:extLst>
              <a:ext uri="{FF2B5EF4-FFF2-40B4-BE49-F238E27FC236}">
                <a16:creationId xmlns:a16="http://schemas.microsoft.com/office/drawing/2014/main" id="{44FE1A3F-A5B1-7B91-8573-4B643244D962}"/>
              </a:ext>
            </a:extLst>
          </p:cNvPr>
          <p:cNvSpPr txBox="1"/>
          <p:nvPr/>
        </p:nvSpPr>
        <p:spPr>
          <a:xfrm>
            <a:off x="635000" y="29464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① 疑似臨界点の位置</a:t>
            </a:r>
          </a:p>
        </p:txBody>
      </p:sp>
      <p:pic>
        <p:nvPicPr>
          <p:cNvPr id="18" name="source-or-equation-image-8" descr="p_c=p_c(N)+bN^{-1/\bar\nu}\qquad\mathrm{(S9)}">
            <a:extLst>
              <a:ext uri="{FF2B5EF4-FFF2-40B4-BE49-F238E27FC236}">
                <a16:creationId xmlns:a16="http://schemas.microsoft.com/office/drawing/2014/main" id="{6D74A9D7-185A-A79C-3BE9-A5349F635E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92328" y="3378200"/>
            <a:ext cx="5007344" cy="622300"/>
          </a:xfrm>
          <a:prstGeom prst="rect">
            <a:avLst/>
          </a:prstGeom>
        </p:spPr>
      </p:pic>
      <p:sp>
        <p:nvSpPr>
          <p:cNvPr id="19" name="text-9">
            <a:extLst>
              <a:ext uri="{FF2B5EF4-FFF2-40B4-BE49-F238E27FC236}">
                <a16:creationId xmlns:a16="http://schemas.microsoft.com/office/drawing/2014/main" id="{4D06ECD3-E2D7-4414-B05F-0B9A89B1DB01}"/>
              </a:ext>
            </a:extLst>
          </p:cNvPr>
          <p:cNvSpPr txBox="1"/>
          <p:nvPr/>
        </p:nvSpPr>
        <p:spPr>
          <a:xfrm>
            <a:off x="635000" y="41529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② 臨界点における最大連結成分の割合</a:t>
            </a:r>
          </a:p>
        </p:txBody>
      </p:sp>
      <p:pic>
        <p:nvPicPr>
          <p:cNvPr id="21" name="source-or-equation-image-10" descr="\langle P(p=p_c,N)\rangle\sim N^{-\beta/\bar\nu}\qquad\mathrm{(S10)}">
            <a:extLst>
              <a:ext uri="{FF2B5EF4-FFF2-40B4-BE49-F238E27FC236}">
                <a16:creationId xmlns:a16="http://schemas.microsoft.com/office/drawing/2014/main" id="{6B861F47-3771-CD5A-61BD-EC95DE204C5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277560" y="4559300"/>
            <a:ext cx="5636880" cy="622300"/>
          </a:xfrm>
          <a:prstGeom prst="rect">
            <a:avLst/>
          </a:prstGeom>
        </p:spPr>
      </p:pic>
      <p:sp>
        <p:nvSpPr>
          <p:cNvPr id="22" name="text-11">
            <a:extLst>
              <a:ext uri="{FF2B5EF4-FFF2-40B4-BE49-F238E27FC236}">
                <a16:creationId xmlns:a16="http://schemas.microsoft.com/office/drawing/2014/main" id="{16B62B72-06CA-E468-78B1-9ECFDFE34794}"/>
              </a:ext>
            </a:extLst>
          </p:cNvPr>
          <p:cNvSpPr txBox="1"/>
          <p:nvPr/>
        </p:nvSpPr>
        <p:spPr>
          <a:xfrm>
            <a:off x="635000" y="5219700"/>
            <a:ext cx="10922000" cy="276999"/>
          </a:xfrm>
          <a:prstGeom prst="rect">
            <a:avLst/>
          </a:prstGeom>
          <a:noFill/>
        </p:spPr>
        <p:txBody>
          <a:bodyPr vert="horz" wrap="square" lIns="0" tIns="0" rIns="0" bIns="0" rtlCol="0">
            <a:noAutofit/>
          </a:bodyPr>
          <a:lstStyle/>
          <a:p>
            <a:pPr>
              <a:lnSpc>
                <a:spcPct val="112000"/>
              </a:lnSpc>
            </a:pPr>
            <a:r>
              <a:rPr kumimoji="1" lang="ja-JP" altLang="en-US" sz="1400">
                <a:solidFill>
                  <a:srgbClr val="263746"/>
                </a:solidFill>
                <a:latin typeface="Meiryo" panose="020B0604030504040204" pitchFamily="50" charset="-128"/>
                <a:ea typeface="Meiryo" panose="020B0604030504040204" pitchFamily="50" charset="-128"/>
              </a:rPr>
              <a:t>（</a:t>
            </a:r>
            <a:r>
              <a:rPr kumimoji="1" lang="en-US" altLang="ja-JP" sz="1400">
                <a:solidFill>
                  <a:srgbClr val="263746"/>
                </a:solidFill>
                <a:latin typeface="Meiryo" panose="020B0604030504040204" pitchFamily="50" charset="-128"/>
                <a:ea typeface="Meiryo" panose="020B0604030504040204" pitchFamily="50" charset="-128"/>
              </a:rPr>
              <a:t>S10</a:t>
            </a:r>
            <a:r>
              <a:rPr kumimoji="1" lang="ja-JP" altLang="en-US" sz="1400">
                <a:solidFill>
                  <a:srgbClr val="263746"/>
                </a:solidFill>
                <a:latin typeface="Meiryo" panose="020B0604030504040204" pitchFamily="50" charset="-128"/>
                <a:ea typeface="Meiryo" panose="020B0604030504040204" pitchFamily="50" charset="-128"/>
              </a:rPr>
              <a:t>）を明示的に書いた形：原文の省略記法</a:t>
            </a:r>
            <a:r>
              <a:rPr kumimoji="1" lang="en-US" altLang="ja-JP" sz="1400">
                <a:solidFill>
                  <a:srgbClr val="263746"/>
                </a:solidFill>
                <a:latin typeface="Meiryo" panose="020B0604030504040204" pitchFamily="50" charset="-128"/>
                <a:ea typeface="Meiryo" panose="020B0604030504040204" pitchFamily="50" charset="-128"/>
              </a:rPr>
              <a:t>P(p</a:t>
            </a:r>
            <a:r>
              <a:rPr kumimoji="1" lang="en-US" altLang="ja-JP" sz="1036" baseline="-16000">
                <a:solidFill>
                  <a:srgbClr val="263746"/>
                </a:solidFill>
                <a:latin typeface="Meiryo" panose="020B0604030504040204" pitchFamily="50" charset="-128"/>
                <a:ea typeface="Meiryo" panose="020B0604030504040204" pitchFamily="50" charset="-128"/>
              </a:rPr>
              <a:t>c</a:t>
            </a:r>
            <a:r>
              <a:rPr kumimoji="1" lang="en-US" altLang="ja-JP" sz="1400">
                <a:solidFill>
                  <a:srgbClr val="263746"/>
                </a:solidFill>
                <a:latin typeface="Meiryo" panose="020B0604030504040204" pitchFamily="50" charset="-128"/>
                <a:ea typeface="Meiryo" panose="020B0604030504040204" pitchFamily="50" charset="-128"/>
              </a:rPr>
              <a:t>)</a:t>
            </a:r>
            <a:r>
              <a:rPr kumimoji="1" lang="ja-JP" altLang="en-US" sz="1400">
                <a:solidFill>
                  <a:srgbClr val="263746"/>
                </a:solidFill>
                <a:latin typeface="Meiryo" panose="020B0604030504040204" pitchFamily="50" charset="-128"/>
                <a:ea typeface="Meiryo" panose="020B0604030504040204" pitchFamily="50" charset="-128"/>
              </a:rPr>
              <a:t>について、</a:t>
            </a:r>
          </a:p>
          <a:p>
            <a:pPr>
              <a:lnSpc>
                <a:spcPct val="112000"/>
              </a:lnSpc>
            </a:pPr>
            <a:r>
              <a:rPr kumimoji="1" lang="ja-JP" altLang="en-US" sz="1400">
                <a:solidFill>
                  <a:srgbClr val="263746"/>
                </a:solidFill>
                <a:latin typeface="Meiryo" panose="020B0604030504040204" pitchFamily="50" charset="-128"/>
                <a:ea typeface="Meiryo" panose="020B0604030504040204" pitchFamily="50" charset="-128"/>
              </a:rPr>
              <a:t>試行間平均と</a:t>
            </a:r>
            <a:r>
              <a:rPr kumimoji="1" lang="en-US" altLang="ja-JP" sz="1400">
                <a:solidFill>
                  <a:srgbClr val="263746"/>
                </a:solidFill>
                <a:latin typeface="Meiryo" panose="020B0604030504040204" pitchFamily="50" charset="-128"/>
                <a:ea typeface="Meiryo" panose="020B0604030504040204" pitchFamily="50" charset="-128"/>
              </a:rPr>
              <a:t>N</a:t>
            </a:r>
            <a:r>
              <a:rPr kumimoji="1" lang="ja-JP" altLang="en-US" sz="1400">
                <a:solidFill>
                  <a:srgbClr val="263746"/>
                </a:solidFill>
                <a:latin typeface="Meiryo" panose="020B0604030504040204" pitchFamily="50" charset="-128"/>
                <a:ea typeface="Meiryo" panose="020B0604030504040204" pitchFamily="50" charset="-128"/>
              </a:rPr>
              <a:t>依存性を明示している。</a:t>
            </a:r>
          </a:p>
        </p:txBody>
      </p:sp>
      <p:sp>
        <p:nvSpPr>
          <p:cNvPr id="23" name="text-12">
            <a:extLst>
              <a:ext uri="{FF2B5EF4-FFF2-40B4-BE49-F238E27FC236}">
                <a16:creationId xmlns:a16="http://schemas.microsoft.com/office/drawing/2014/main" id="{1EF2A5F7-A579-0973-602E-3E65D197451F}"/>
              </a:ext>
            </a:extLst>
          </p:cNvPr>
          <p:cNvSpPr txBox="1"/>
          <p:nvPr/>
        </p:nvSpPr>
        <p:spPr>
          <a:xfrm>
            <a:off x="635000" y="57658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異なるサイズの測定結果から、臨界点や臨界指数を推定する。</a:t>
            </a:r>
          </a:p>
        </p:txBody>
      </p:sp>
    </p:spTree>
    <p:extLst>
      <p:ext uri="{BB962C8B-B14F-4D97-AF65-F5344CB8AC3E}">
        <p14:creationId xmlns:p14="http://schemas.microsoft.com/office/powerpoint/2010/main" val="32844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A50AA27B-F745-B1B3-6EB3-D80728ECCA0E}"/>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最大連結成分の有限サイズスケーリング</a:t>
            </a:r>
          </a:p>
        </p:txBody>
      </p:sp>
      <p:cxnSp>
        <p:nvCxnSpPr>
          <p:cNvPr id="9" name="直線コネクタ 8">
            <a:extLst>
              <a:ext uri="{FF2B5EF4-FFF2-40B4-BE49-F238E27FC236}">
                <a16:creationId xmlns:a16="http://schemas.microsoft.com/office/drawing/2014/main" id="{C9CE53F7-80B9-1D2E-3EAF-9D14D2416519}"/>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4" name="source-3">
            <a:extLst>
              <a:ext uri="{FF2B5EF4-FFF2-40B4-BE49-F238E27FC236}">
                <a16:creationId xmlns:a16="http://schemas.microsoft.com/office/drawing/2014/main" id="{02AC173C-62CE-1063-9AC2-10FAFFF86537}"/>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(S6)</a:t>
            </a:r>
            <a:r>
              <a:rPr kumimoji="1" lang="ja-JP" altLang="en-US" sz="950">
                <a:solidFill>
                  <a:srgbClr val="566573"/>
                </a:solidFill>
                <a:latin typeface="Meiryo" panose="020B0604030504040204" pitchFamily="50" charset="-128"/>
                <a:ea typeface="Meiryo" panose="020B0604030504040204" pitchFamily="50" charset="-128"/>
              </a:rPr>
              <a:t>。右辺を</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つの役割に分けて説明。</a:t>
            </a:r>
          </a:p>
        </p:txBody>
      </p:sp>
      <p:sp>
        <p:nvSpPr>
          <p:cNvPr id="15" name="page-4">
            <a:extLst>
              <a:ext uri="{FF2B5EF4-FFF2-40B4-BE49-F238E27FC236}">
                <a16:creationId xmlns:a16="http://schemas.microsoft.com/office/drawing/2014/main" id="{3EB08BDB-8CDF-D9D3-A3AD-A50BF2B3E4F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12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6" name="text-5">
            <a:extLst>
              <a:ext uri="{FF2B5EF4-FFF2-40B4-BE49-F238E27FC236}">
                <a16:creationId xmlns:a16="http://schemas.microsoft.com/office/drawing/2014/main" id="{69CC78FE-2E27-B579-75E1-ADBA270FA0B2}"/>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63746"/>
                </a:solidFill>
                <a:latin typeface="Meiryo" panose="020B0604030504040204" pitchFamily="50" charset="-128"/>
                <a:ea typeface="Meiryo" panose="020B0604030504040204" pitchFamily="50" charset="-128"/>
              </a:rPr>
              <a:t>原論文では、最大連結成分の割合</a:t>
            </a:r>
            <a:r>
              <a:rPr kumimoji="1" lang="en-US" altLang="ja-JP" sz="2100">
                <a:solidFill>
                  <a:srgbClr val="263746"/>
                </a:solidFill>
                <a:latin typeface="Meiryo" panose="020B0604030504040204" pitchFamily="50" charset="-128"/>
                <a:ea typeface="Meiryo" panose="020B0604030504040204" pitchFamily="50" charset="-128"/>
              </a:rPr>
              <a:t>P</a:t>
            </a:r>
            <a:r>
              <a:rPr kumimoji="1" lang="ja-JP" altLang="en-US" sz="2100">
                <a:solidFill>
                  <a:srgbClr val="263746"/>
                </a:solidFill>
                <a:latin typeface="Meiryo" panose="020B0604030504040204" pitchFamily="50" charset="-128"/>
                <a:ea typeface="Meiryo" panose="020B0604030504040204" pitchFamily="50" charset="-128"/>
              </a:rPr>
              <a:t>について次の</a:t>
            </a:r>
            <a:r>
              <a:rPr kumimoji="1" lang="en-US" altLang="ja-JP" sz="2100">
                <a:solidFill>
                  <a:srgbClr val="263746"/>
                </a:solidFill>
                <a:latin typeface="Meiryo" panose="020B0604030504040204" pitchFamily="50" charset="-128"/>
                <a:ea typeface="Meiryo" panose="020B0604030504040204" pitchFamily="50" charset="-128"/>
              </a:rPr>
              <a:t>FSS</a:t>
            </a:r>
            <a:r>
              <a:rPr kumimoji="1" lang="ja-JP" altLang="en-US" sz="2100">
                <a:solidFill>
                  <a:srgbClr val="263746"/>
                </a:solidFill>
                <a:latin typeface="Meiryo" panose="020B0604030504040204" pitchFamily="50" charset="-128"/>
                <a:ea typeface="Meiryo" panose="020B0604030504040204" pitchFamily="50" charset="-128"/>
              </a:rPr>
              <a:t>を仮定する。</a:t>
            </a:r>
          </a:p>
        </p:txBody>
      </p:sp>
      <p:pic>
        <p:nvPicPr>
          <p:cNvPr id="18" name="source-or-equation-image-6" descr="\langle P(p,N)\rangle=N^{-\beta/\bar\nu}F^{(1)}[(p-p_c)N^{1/\bar\nu}]\qquad\mathrm{(S6)}">
            <a:extLst>
              <a:ext uri="{FF2B5EF4-FFF2-40B4-BE49-F238E27FC236}">
                <a16:creationId xmlns:a16="http://schemas.microsoft.com/office/drawing/2014/main" id="{7A0E543F-F4C1-9B1A-BD47-BA7FF3A480B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49128" y="2095500"/>
            <a:ext cx="10493744" cy="863600"/>
          </a:xfrm>
          <a:prstGeom prst="rect">
            <a:avLst/>
          </a:prstGeom>
        </p:spPr>
      </p:pic>
      <p:pic>
        <p:nvPicPr>
          <p:cNvPr id="20" name="source-or-equation-image-7" descr="N^{-\beta/\bar\nu}">
            <a:extLst>
              <a:ext uri="{FF2B5EF4-FFF2-40B4-BE49-F238E27FC236}">
                <a16:creationId xmlns:a16="http://schemas.microsoft.com/office/drawing/2014/main" id="{951694F0-B03E-186C-8881-FABDAF88778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320874" y="3302000"/>
            <a:ext cx="1168252" cy="685800"/>
          </a:xfrm>
          <a:prstGeom prst="rect">
            <a:avLst/>
          </a:prstGeom>
        </p:spPr>
      </p:pic>
      <p:sp>
        <p:nvSpPr>
          <p:cNvPr id="21" name="text-8">
            <a:extLst>
              <a:ext uri="{FF2B5EF4-FFF2-40B4-BE49-F238E27FC236}">
                <a16:creationId xmlns:a16="http://schemas.microsoft.com/office/drawing/2014/main" id="{324C2F10-6A1B-5D09-00CD-9F917BE0A908}"/>
              </a:ext>
            </a:extLst>
          </p:cNvPr>
          <p:cNvSpPr txBox="1"/>
          <p:nvPr/>
        </p:nvSpPr>
        <p:spPr>
          <a:xfrm>
            <a:off x="3429000" y="3289300"/>
            <a:ext cx="8128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63746"/>
                </a:solidFill>
                <a:latin typeface="Meiryo" panose="020B0604030504040204" pitchFamily="50" charset="-128"/>
                <a:ea typeface="Meiryo" panose="020B0604030504040204" pitchFamily="50" charset="-128"/>
              </a:rPr>
              <a:t>① 引数</a:t>
            </a:r>
            <a:r>
              <a:rPr kumimoji="1" lang="en-US" altLang="ja-JP" sz="2100">
                <a:solidFill>
                  <a:srgbClr val="263746"/>
                </a:solidFill>
                <a:latin typeface="Meiryo" panose="020B0604030504040204" pitchFamily="50" charset="-128"/>
                <a:ea typeface="Meiryo" panose="020B0604030504040204" pitchFamily="50" charset="-128"/>
              </a:rPr>
              <a:t>u</a:t>
            </a:r>
            <a:r>
              <a:rPr kumimoji="1" lang="ja-JP" altLang="en-US" sz="2100">
                <a:solidFill>
                  <a:srgbClr val="263746"/>
                </a:solidFill>
                <a:latin typeface="Meiryo" panose="020B0604030504040204" pitchFamily="50" charset="-128"/>
                <a:ea typeface="Meiryo" panose="020B0604030504040204" pitchFamily="50" charset="-128"/>
              </a:rPr>
              <a:t>が一定のときの、
　 </a:t>
            </a:r>
            <a:r>
              <a:rPr kumimoji="1" lang="en-US" altLang="ja-JP" sz="2100">
                <a:solidFill>
                  <a:srgbClr val="263746"/>
                </a:solidFill>
                <a:latin typeface="Meiryo" panose="020B0604030504040204" pitchFamily="50" charset="-128"/>
                <a:ea typeface="Meiryo" panose="020B0604030504040204" pitchFamily="50" charset="-128"/>
              </a:rPr>
              <a:t>P</a:t>
            </a:r>
            <a:r>
              <a:rPr kumimoji="1" lang="ja-JP" altLang="en-US" sz="2100">
                <a:solidFill>
                  <a:srgbClr val="263746"/>
                </a:solidFill>
                <a:latin typeface="Meiryo" panose="020B0604030504040204" pitchFamily="50" charset="-128"/>
                <a:ea typeface="Meiryo" panose="020B0604030504040204" pitchFamily="50" charset="-128"/>
              </a:rPr>
              <a:t>のサイズ依存性を表す。</a:t>
            </a:r>
          </a:p>
        </p:txBody>
      </p:sp>
      <p:pic>
        <p:nvPicPr>
          <p:cNvPr id="23" name="source-or-equation-image-9" descr="u=(p-p_c)N^{1/\bar\nu}">
            <a:extLst>
              <a:ext uri="{FF2B5EF4-FFF2-40B4-BE49-F238E27FC236}">
                <a16:creationId xmlns:a16="http://schemas.microsoft.com/office/drawing/2014/main" id="{DFA0BF67-3730-2407-CF92-E2D091138A0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746988" y="4203700"/>
            <a:ext cx="3110023" cy="685800"/>
          </a:xfrm>
          <a:prstGeom prst="rect">
            <a:avLst/>
          </a:prstGeom>
        </p:spPr>
      </p:pic>
      <p:sp>
        <p:nvSpPr>
          <p:cNvPr id="24" name="text-10">
            <a:extLst>
              <a:ext uri="{FF2B5EF4-FFF2-40B4-BE49-F238E27FC236}">
                <a16:creationId xmlns:a16="http://schemas.microsoft.com/office/drawing/2014/main" id="{03A19533-7AD6-BCAA-D7B9-97813A8CF0BD}"/>
              </a:ext>
            </a:extLst>
          </p:cNvPr>
          <p:cNvSpPr txBox="1"/>
          <p:nvPr/>
        </p:nvSpPr>
        <p:spPr>
          <a:xfrm>
            <a:off x="6223000" y="4191000"/>
            <a:ext cx="5334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63746"/>
                </a:solidFill>
                <a:latin typeface="Meiryo" panose="020B0604030504040204" pitchFamily="50" charset="-128"/>
                <a:ea typeface="Meiryo" panose="020B0604030504040204" pitchFamily="50" charset="-128"/>
              </a:rPr>
              <a:t>② 臨界点からの距離を、</a:t>
            </a:r>
            <a:r>
              <a:rPr kumimoji="1" lang="en-US" altLang="ja-JP" sz="1900">
                <a:solidFill>
                  <a:srgbClr val="263746"/>
                </a:solidFill>
                <a:latin typeface="Meiryo" panose="020B0604030504040204" pitchFamily="50" charset="-128"/>
                <a:ea typeface="Meiryo" panose="020B0604030504040204" pitchFamily="50" charset="-128"/>
              </a:rPr>
              <a:t>N</a:t>
            </a:r>
            <a:r>
              <a:rPr kumimoji="1" lang="ja-JP" altLang="en-US" sz="1900">
                <a:solidFill>
                  <a:srgbClr val="263746"/>
                </a:solidFill>
                <a:latin typeface="Meiryo" panose="020B0604030504040204" pitchFamily="50" charset="-128"/>
                <a:ea typeface="Meiryo" panose="020B0604030504040204" pitchFamily="50" charset="-128"/>
              </a:rPr>
              <a:t>に応じて調整。
　 </a:t>
            </a:r>
            <a:r>
              <a:rPr kumimoji="1" lang="en-US" altLang="ja-JP" sz="1900">
                <a:solidFill>
                  <a:srgbClr val="263746"/>
                </a:solidFill>
                <a:latin typeface="Meiryo" panose="020B0604030504040204" pitchFamily="50" charset="-128"/>
                <a:ea typeface="Meiryo" panose="020B0604030504040204" pitchFamily="50" charset="-128"/>
              </a:rPr>
              <a:t>u</a:t>
            </a:r>
            <a:r>
              <a:rPr kumimoji="1" lang="ja-JP" altLang="en-US" sz="1900">
                <a:solidFill>
                  <a:srgbClr val="263746"/>
                </a:solidFill>
                <a:latin typeface="Meiryo" panose="020B0604030504040204" pitchFamily="50" charset="-128"/>
                <a:ea typeface="Meiryo" panose="020B0604030504040204" pitchFamily="50" charset="-128"/>
              </a:rPr>
              <a:t>は説明用に導入した補助記号。</a:t>
            </a:r>
          </a:p>
        </p:txBody>
      </p:sp>
      <p:sp>
        <p:nvSpPr>
          <p:cNvPr id="25" name="text-11">
            <a:extLst>
              <a:ext uri="{FF2B5EF4-FFF2-40B4-BE49-F238E27FC236}">
                <a16:creationId xmlns:a16="http://schemas.microsoft.com/office/drawing/2014/main" id="{5E4BD421-A3C0-903C-906F-171C443666D9}"/>
              </a:ext>
            </a:extLst>
          </p:cNvPr>
          <p:cNvSpPr txBox="1"/>
          <p:nvPr/>
        </p:nvSpPr>
        <p:spPr>
          <a:xfrm>
            <a:off x="635000" y="5105400"/>
            <a:ext cx="5715000" cy="276999"/>
          </a:xfrm>
          <a:prstGeom prst="rect">
            <a:avLst/>
          </a:prstGeom>
          <a:noFill/>
        </p:spPr>
        <p:txBody>
          <a:bodyPr vert="horz" wrap="square" lIns="0" tIns="0" rIns="0" bIns="0" rtlCol="0">
            <a:noAutofit/>
          </a:bodyPr>
          <a:lstStyle/>
          <a:p>
            <a:pPr>
              <a:lnSpc>
                <a:spcPct val="112000"/>
              </a:lnSpc>
            </a:pPr>
            <a:r>
              <a:rPr kumimoji="1" lang="en-US" altLang="ja-JP">
                <a:solidFill>
                  <a:srgbClr val="263746"/>
                </a:solidFill>
                <a:latin typeface="Meiryo" panose="020B0604030504040204" pitchFamily="50" charset="-128"/>
                <a:ea typeface="Meiryo" panose="020B0604030504040204" pitchFamily="50" charset="-128"/>
              </a:rPr>
              <a:t>β</a:t>
            </a:r>
            <a:r>
              <a:rPr kumimoji="1" lang="ja-JP" altLang="en-US">
                <a:solidFill>
                  <a:srgbClr val="263746"/>
                </a:solidFill>
                <a:latin typeface="Meiryo" panose="020B0604030504040204" pitchFamily="50" charset="-128"/>
                <a:ea typeface="Meiryo" panose="020B0604030504040204" pitchFamily="50" charset="-128"/>
              </a:rPr>
              <a:t>（ベータ）：</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の臨界指数</a:t>
            </a:r>
          </a:p>
          <a:p>
            <a:pPr>
              <a:lnSpc>
                <a:spcPct val="112000"/>
              </a:lnSpc>
            </a:pPr>
            <a:r>
              <a:rPr kumimoji="1" lang="en-US" altLang="ja-JP">
                <a:solidFill>
                  <a:srgbClr val="263746"/>
                </a:solidFill>
                <a:latin typeface="Meiryo" panose="020B0604030504040204" pitchFamily="50" charset="-128"/>
                <a:ea typeface="Meiryo" panose="020B0604030504040204" pitchFamily="50" charset="-128"/>
              </a:rPr>
              <a:t>ν̄</a:t>
            </a:r>
            <a:r>
              <a:rPr kumimoji="1" lang="ja-JP" altLang="en-US">
                <a:solidFill>
                  <a:srgbClr val="263746"/>
                </a:solidFill>
                <a:latin typeface="Meiryo" panose="020B0604030504040204" pitchFamily="50" charset="-128"/>
                <a:ea typeface="Meiryo" panose="020B0604030504040204" pitchFamily="50" charset="-128"/>
              </a:rPr>
              <a:t>（ニューバー）：相関体積の臨界指数</a:t>
            </a:r>
          </a:p>
          <a:p>
            <a:pPr>
              <a:lnSpc>
                <a:spcPct val="112000"/>
              </a:lnSpc>
            </a:pPr>
            <a:r>
              <a:rPr kumimoji="1" lang="en-US" altLang="ja-JP">
                <a:solidFill>
                  <a:srgbClr val="263746"/>
                </a:solidFill>
                <a:latin typeface="Meiryo" panose="020B0604030504040204" pitchFamily="50" charset="-128"/>
                <a:ea typeface="Meiryo" panose="020B0604030504040204" pitchFamily="50" charset="-128"/>
              </a:rPr>
              <a:t>p</a:t>
            </a:r>
            <a:r>
              <a:rPr kumimoji="1" lang="en-US" altLang="ja-JP" sz="1332" baseline="-16000">
                <a:solidFill>
                  <a:srgbClr val="263746"/>
                </a:solidFill>
                <a:latin typeface="Meiryo" panose="020B0604030504040204" pitchFamily="50" charset="-128"/>
                <a:ea typeface="Meiryo" panose="020B0604030504040204" pitchFamily="50" charset="-128"/>
              </a:rPr>
              <a:t>c</a:t>
            </a:r>
            <a:r>
              <a:rPr kumimoji="1" lang="ja-JP" altLang="en-US">
                <a:solidFill>
                  <a:srgbClr val="263746"/>
                </a:solidFill>
                <a:latin typeface="Meiryo" panose="020B0604030504040204" pitchFamily="50" charset="-128"/>
                <a:ea typeface="Meiryo" panose="020B0604030504040204" pitchFamily="50" charset="-128"/>
              </a:rPr>
              <a:t>：無限サイズの臨界点</a:t>
            </a:r>
          </a:p>
        </p:txBody>
      </p:sp>
      <p:sp>
        <p:nvSpPr>
          <p:cNvPr id="26" name="text-12">
            <a:extLst>
              <a:ext uri="{FF2B5EF4-FFF2-40B4-BE49-F238E27FC236}">
                <a16:creationId xmlns:a16="http://schemas.microsoft.com/office/drawing/2014/main" id="{9527EEA6-016D-5DD0-7143-78DDDF4CD4A7}"/>
              </a:ext>
            </a:extLst>
          </p:cNvPr>
          <p:cNvSpPr txBox="1"/>
          <p:nvPr/>
        </p:nvSpPr>
        <p:spPr>
          <a:xfrm>
            <a:off x="6477000" y="5105400"/>
            <a:ext cx="5080000" cy="276999"/>
          </a:xfrm>
          <a:prstGeom prst="rect">
            <a:avLst/>
          </a:prstGeom>
          <a:noFill/>
        </p:spPr>
        <p:txBody>
          <a:bodyPr vert="horz" wrap="square" lIns="0" tIns="0" rIns="0" bIns="0" rtlCol="0">
            <a:noAutofit/>
          </a:bodyPr>
          <a:lstStyle/>
          <a:p>
            <a:pPr>
              <a:lnSpc>
                <a:spcPct val="112000"/>
              </a:lnSpc>
            </a:pPr>
            <a:r>
              <a:rPr kumimoji="1" lang="en-US" altLang="ja-JP">
                <a:solidFill>
                  <a:srgbClr val="263746"/>
                </a:solidFill>
                <a:latin typeface="Meiryo" panose="020B0604030504040204" pitchFamily="50" charset="-128"/>
                <a:ea typeface="Meiryo" panose="020B0604030504040204" pitchFamily="50" charset="-128"/>
              </a:rPr>
              <a:t>F⁽¹⁾</a:t>
            </a:r>
            <a:r>
              <a:rPr kumimoji="1" lang="ja-JP" altLang="en-US">
                <a:solidFill>
                  <a:srgbClr val="263746"/>
                </a:solidFill>
                <a:latin typeface="Meiryo" panose="020B0604030504040204" pitchFamily="50" charset="-128"/>
                <a:ea typeface="Meiryo" panose="020B0604030504040204" pitchFamily="50" charset="-128"/>
              </a:rPr>
              <a:t>：</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に対応するスケーリング関数
</a:t>
            </a:r>
            <a:r>
              <a:rPr kumimoji="1" lang="en-US" altLang="ja-JP">
                <a:solidFill>
                  <a:srgbClr val="263746"/>
                </a:solidFill>
                <a:latin typeface="Meiryo" panose="020B0604030504040204" pitchFamily="50" charset="-128"/>
                <a:ea typeface="Meiryo" panose="020B0604030504040204" pitchFamily="50" charset="-128"/>
              </a:rPr>
              <a:t>〈P(p,N)〉</a:t>
            </a:r>
            <a:r>
              <a:rPr kumimoji="1" lang="ja-JP" altLang="en-US">
                <a:solidFill>
                  <a:srgbClr val="263746"/>
                </a:solidFill>
                <a:latin typeface="Meiryo" panose="020B0604030504040204" pitchFamily="50" charset="-128"/>
                <a:ea typeface="Meiryo" panose="020B0604030504040204" pitchFamily="50" charset="-128"/>
              </a:rPr>
              <a:t>：削除率</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、サイズ</a:t>
            </a:r>
            <a:r>
              <a:rPr kumimoji="1" lang="en-US" altLang="ja-JP">
                <a:solidFill>
                  <a:srgbClr val="263746"/>
                </a:solidFill>
                <a:latin typeface="Meiryo" panose="020B0604030504040204" pitchFamily="50" charset="-128"/>
                <a:ea typeface="Meiryo" panose="020B0604030504040204" pitchFamily="50" charset="-128"/>
              </a:rPr>
              <a:t>N</a:t>
            </a:r>
            <a:r>
              <a:rPr kumimoji="1" lang="ja-JP" altLang="en-US">
                <a:solidFill>
                  <a:srgbClr val="263746"/>
                </a:solidFill>
                <a:latin typeface="Meiryo" panose="020B0604030504040204" pitchFamily="50" charset="-128"/>
                <a:ea typeface="Meiryo" panose="020B0604030504040204" pitchFamily="50" charset="-128"/>
              </a:rPr>
              <a:t>での
　　　　　 </a:t>
            </a:r>
            <a:r>
              <a:rPr kumimoji="1" lang="en-US" altLang="ja-JP">
                <a:solidFill>
                  <a:srgbClr val="263746"/>
                </a:solidFill>
                <a:latin typeface="Meiryo" panose="020B0604030504040204" pitchFamily="50" charset="-128"/>
                <a:ea typeface="Meiryo" panose="020B0604030504040204" pitchFamily="50" charset="-128"/>
              </a:rPr>
              <a:t>P</a:t>
            </a:r>
            <a:r>
              <a:rPr kumimoji="1" lang="ja-JP" altLang="en-US">
                <a:solidFill>
                  <a:srgbClr val="263746"/>
                </a:solidFill>
                <a:latin typeface="Meiryo" panose="020B0604030504040204" pitchFamily="50" charset="-128"/>
                <a:ea typeface="Meiryo" panose="020B0604030504040204" pitchFamily="50" charset="-128"/>
              </a:rPr>
              <a:t>の試行間平均</a:t>
            </a:r>
          </a:p>
        </p:txBody>
      </p:sp>
    </p:spTree>
    <p:extLst>
      <p:ext uri="{BB962C8B-B14F-4D97-AF65-F5344CB8AC3E}">
        <p14:creationId xmlns:p14="http://schemas.microsoft.com/office/powerpoint/2010/main" val="61003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4D7BC1A8-5BDB-1257-2737-E7CB183B653C}"/>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平均クラスターサイズの有限サイズスケーリング</a:t>
            </a:r>
          </a:p>
        </p:txBody>
      </p:sp>
      <p:cxnSp>
        <p:nvCxnSpPr>
          <p:cNvPr id="11" name="直線コネクタ 10">
            <a:extLst>
              <a:ext uri="{FF2B5EF4-FFF2-40B4-BE49-F238E27FC236}">
                <a16:creationId xmlns:a16="http://schemas.microsoft.com/office/drawing/2014/main" id="{85FC8AB8-F32E-C580-688D-B3A5B83C3E7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EC9B55EB-F480-1C1F-8468-01EB7D41408D}"/>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(S7)</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a:t>
            </a:r>
            <a:r>
              <a:rPr kumimoji="1" lang="ja-JP" altLang="en-US" sz="950">
                <a:solidFill>
                  <a:srgbClr val="566573"/>
                </a:solidFill>
                <a:latin typeface="Meiryo" panose="020B0604030504040204" pitchFamily="50" charset="-128"/>
                <a:ea typeface="Meiryo" panose="020B0604030504040204" pitchFamily="50" charset="-128"/>
              </a:rPr>
              <a:t>の関係は一般理論に基づく補足。</a:t>
            </a:r>
          </a:p>
        </p:txBody>
      </p:sp>
      <p:sp>
        <p:nvSpPr>
          <p:cNvPr id="13" name="page-4">
            <a:extLst>
              <a:ext uri="{FF2B5EF4-FFF2-40B4-BE49-F238E27FC236}">
                <a16:creationId xmlns:a16="http://schemas.microsoft.com/office/drawing/2014/main" id="{555B6917-4F67-B3B6-4E84-706EAFBD0D45}"/>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13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97B52824-27D3-EF2C-E937-0A578E647C64}"/>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63746"/>
                </a:solidFill>
                <a:latin typeface="Meiryo" panose="020B0604030504040204" pitchFamily="50" charset="-128"/>
                <a:ea typeface="Meiryo" panose="020B0604030504040204" pitchFamily="50" charset="-128"/>
              </a:rPr>
              <a:t>原論文では、平均クラスターサイズ</a:t>
            </a:r>
            <a:r>
              <a:rPr kumimoji="1" lang="en-US" altLang="ja-JP" sz="2100">
                <a:solidFill>
                  <a:srgbClr val="263746"/>
                </a:solidFill>
                <a:latin typeface="Meiryo" panose="020B0604030504040204" pitchFamily="50" charset="-128"/>
                <a:ea typeface="Meiryo" panose="020B0604030504040204" pitchFamily="50" charset="-128"/>
              </a:rPr>
              <a:t>S</a:t>
            </a:r>
            <a:r>
              <a:rPr kumimoji="1" lang="ja-JP" altLang="en-US" sz="2100">
                <a:solidFill>
                  <a:srgbClr val="263746"/>
                </a:solidFill>
                <a:latin typeface="Meiryo" panose="020B0604030504040204" pitchFamily="50" charset="-128"/>
                <a:ea typeface="Meiryo" panose="020B0604030504040204" pitchFamily="50" charset="-128"/>
              </a:rPr>
              <a:t>について次の</a:t>
            </a:r>
            <a:r>
              <a:rPr kumimoji="1" lang="en-US" altLang="ja-JP" sz="2100">
                <a:solidFill>
                  <a:srgbClr val="263746"/>
                </a:solidFill>
                <a:latin typeface="Meiryo" panose="020B0604030504040204" pitchFamily="50" charset="-128"/>
                <a:ea typeface="Meiryo" panose="020B0604030504040204" pitchFamily="50" charset="-128"/>
              </a:rPr>
              <a:t>FSS</a:t>
            </a:r>
            <a:r>
              <a:rPr kumimoji="1" lang="ja-JP" altLang="en-US" sz="2100">
                <a:solidFill>
                  <a:srgbClr val="263746"/>
                </a:solidFill>
                <a:latin typeface="Meiryo" panose="020B0604030504040204" pitchFamily="50" charset="-128"/>
                <a:ea typeface="Meiryo" panose="020B0604030504040204" pitchFamily="50" charset="-128"/>
              </a:rPr>
              <a:t>を仮定する。</a:t>
            </a:r>
          </a:p>
        </p:txBody>
      </p:sp>
      <p:pic>
        <p:nvPicPr>
          <p:cNvPr id="16" name="source-or-equation-image-6" descr="\langle S(p,N)\rangle=N^{\gamma/\bar\nu}F^{(2)}[(p-p_c)N^{1/\bar\nu}]\qquad\mathrm{(S7)}">
            <a:extLst>
              <a:ext uri="{FF2B5EF4-FFF2-40B4-BE49-F238E27FC236}">
                <a16:creationId xmlns:a16="http://schemas.microsoft.com/office/drawing/2014/main" id="{B5955C2E-BFB4-A3AD-A14C-24F5FA36FA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39923" y="2095500"/>
            <a:ext cx="10112153" cy="863600"/>
          </a:xfrm>
          <a:prstGeom prst="rect">
            <a:avLst/>
          </a:prstGeom>
        </p:spPr>
      </p:pic>
      <p:sp>
        <p:nvSpPr>
          <p:cNvPr id="17" name="text-7">
            <a:extLst>
              <a:ext uri="{FF2B5EF4-FFF2-40B4-BE49-F238E27FC236}">
                <a16:creationId xmlns:a16="http://schemas.microsoft.com/office/drawing/2014/main" id="{F57956FA-907F-25B5-3326-409CEF8B01AA}"/>
              </a:ext>
            </a:extLst>
          </p:cNvPr>
          <p:cNvSpPr txBox="1"/>
          <p:nvPr/>
        </p:nvSpPr>
        <p:spPr>
          <a:xfrm>
            <a:off x="635000" y="2997200"/>
            <a:ext cx="10922000" cy="276999"/>
          </a:xfrm>
          <a:prstGeom prst="rect">
            <a:avLst/>
          </a:prstGeom>
          <a:noFill/>
        </p:spPr>
        <p:txBody>
          <a:bodyPr vert="horz" wrap="square" lIns="0" tIns="0" rIns="0" bIns="0" rtlCol="0">
            <a:noAutofit/>
          </a:bodyPr>
          <a:lstStyle/>
          <a:p>
            <a:pPr>
              <a:lnSpc>
                <a:spcPct val="112000"/>
              </a:lnSpc>
            </a:pPr>
            <a:r>
              <a:rPr kumimoji="1" lang="ja-JP" altLang="en-US" sz="2000" b="1">
                <a:solidFill>
                  <a:srgbClr val="17365D"/>
                </a:solidFill>
                <a:latin typeface="Meiryo" panose="020B0604030504040204" pitchFamily="50" charset="-128"/>
                <a:ea typeface="Meiryo" panose="020B0604030504040204" pitchFamily="50" charset="-128"/>
              </a:rPr>
              <a:t>通常の連続転移の背景（原論文の式とは別）</a:t>
            </a:r>
          </a:p>
        </p:txBody>
      </p:sp>
      <p:pic>
        <p:nvPicPr>
          <p:cNvPr id="19" name="source-or-equation-image-8" descr="S_\infty(p)\propto|p-p_c|^{-\gamma}">
            <a:extLst>
              <a:ext uri="{FF2B5EF4-FFF2-40B4-BE49-F238E27FC236}">
                <a16:creationId xmlns:a16="http://schemas.microsoft.com/office/drawing/2014/main" id="{F1A7BC28-881B-DFB7-46AF-7149AF6C6F4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292245" y="3492500"/>
            <a:ext cx="3638510" cy="660400"/>
          </a:xfrm>
          <a:prstGeom prst="rect">
            <a:avLst/>
          </a:prstGeom>
        </p:spPr>
      </p:pic>
      <p:sp>
        <p:nvSpPr>
          <p:cNvPr id="20" name="text-9">
            <a:extLst>
              <a:ext uri="{FF2B5EF4-FFF2-40B4-BE49-F238E27FC236}">
                <a16:creationId xmlns:a16="http://schemas.microsoft.com/office/drawing/2014/main" id="{A2B33140-37E8-7977-F692-E09CF98E759E}"/>
              </a:ext>
            </a:extLst>
          </p:cNvPr>
          <p:cNvSpPr txBox="1"/>
          <p:nvPr/>
        </p:nvSpPr>
        <p:spPr>
          <a:xfrm>
            <a:off x="6223000" y="3492500"/>
            <a:ext cx="5334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63746"/>
                </a:solidFill>
                <a:latin typeface="Meiryo" panose="020B0604030504040204" pitchFamily="50" charset="-128"/>
                <a:ea typeface="Meiryo" panose="020B0604030504040204" pitchFamily="50" charset="-128"/>
              </a:rPr>
              <a:t>臨界点付近で、有限クラスターの
平均サイズが増大する（</a:t>
            </a:r>
            <a:r>
              <a:rPr kumimoji="1" lang="en-US" altLang="ja-JP" sz="2000">
                <a:solidFill>
                  <a:srgbClr val="263746"/>
                </a:solidFill>
                <a:latin typeface="Meiryo" panose="020B0604030504040204" pitchFamily="50" charset="-128"/>
                <a:ea typeface="Meiryo" panose="020B0604030504040204" pitchFamily="50" charset="-128"/>
              </a:rPr>
              <a:t>γ&gt;0</a:t>
            </a:r>
            <a:r>
              <a:rPr kumimoji="1" lang="ja-JP" altLang="en-US" sz="2000">
                <a:solidFill>
                  <a:srgbClr val="263746"/>
                </a:solidFill>
                <a:latin typeface="Meiryo" panose="020B0604030504040204" pitchFamily="50" charset="-128"/>
                <a:ea typeface="Meiryo" panose="020B0604030504040204" pitchFamily="50" charset="-128"/>
              </a:rPr>
              <a:t>）。</a:t>
            </a:r>
          </a:p>
        </p:txBody>
      </p:sp>
      <p:sp>
        <p:nvSpPr>
          <p:cNvPr id="21" name="text-10">
            <a:extLst>
              <a:ext uri="{FF2B5EF4-FFF2-40B4-BE49-F238E27FC236}">
                <a16:creationId xmlns:a16="http://schemas.microsoft.com/office/drawing/2014/main" id="{1BFB0170-5FF9-B0EE-2F0B-119D6F43A085}"/>
              </a:ext>
            </a:extLst>
          </p:cNvPr>
          <p:cNvSpPr txBox="1"/>
          <p:nvPr/>
        </p:nvSpPr>
        <p:spPr>
          <a:xfrm>
            <a:off x="635000" y="4318000"/>
            <a:ext cx="10922000" cy="276999"/>
          </a:xfrm>
          <a:prstGeom prst="rect">
            <a:avLst/>
          </a:prstGeom>
          <a:noFill/>
        </p:spPr>
        <p:txBody>
          <a:bodyPr vert="horz" wrap="square" lIns="0" tIns="0" rIns="0" bIns="0" rtlCol="0">
            <a:noAutofit/>
          </a:bodyPr>
          <a:lstStyle/>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S</a:t>
            </a:r>
            <a:r>
              <a:rPr kumimoji="1" lang="en-US" altLang="ja-JP" sz="1258" baseline="-16000">
                <a:solidFill>
                  <a:srgbClr val="263746"/>
                </a:solidFill>
                <a:latin typeface="Meiryo" panose="020B0604030504040204" pitchFamily="50" charset="-128"/>
                <a:ea typeface="Meiryo" panose="020B0604030504040204" pitchFamily="50" charset="-128"/>
              </a:rPr>
              <a:t>∞</a:t>
            </a:r>
            <a:r>
              <a:rPr kumimoji="1" lang="ja-JP" altLang="en-US" sz="1700">
                <a:solidFill>
                  <a:srgbClr val="263746"/>
                </a:solidFill>
                <a:latin typeface="Meiryo" panose="020B0604030504040204" pitchFamily="50" charset="-128"/>
                <a:ea typeface="Meiryo" panose="020B0604030504040204" pitchFamily="50" charset="-128"/>
              </a:rPr>
              <a:t>は無限系の有限クラスターの平均。有限系で最大成分</a:t>
            </a:r>
            <a:r>
              <a:rPr kumimoji="1" lang="en-US" altLang="ja-JP" sz="1700">
                <a:solidFill>
                  <a:srgbClr val="263746"/>
                </a:solidFill>
                <a:latin typeface="Meiryo" panose="020B0604030504040204" pitchFamily="50" charset="-128"/>
                <a:ea typeface="Meiryo" panose="020B0604030504040204" pitchFamily="50" charset="-128"/>
              </a:rPr>
              <a:t>1</a:t>
            </a:r>
            <a:r>
              <a:rPr kumimoji="1" lang="ja-JP" altLang="en-US" sz="1700">
                <a:solidFill>
                  <a:srgbClr val="263746"/>
                </a:solidFill>
                <a:latin typeface="Meiryo" panose="020B0604030504040204" pitchFamily="50" charset="-128"/>
                <a:ea typeface="Meiryo" panose="020B0604030504040204" pitchFamily="50" charset="-128"/>
              </a:rPr>
              <a:t>個を</a:t>
            </a:r>
          </a:p>
          <a:p>
            <a:pPr>
              <a:lnSpc>
                <a:spcPct val="112000"/>
              </a:lnSpc>
            </a:pPr>
            <a:r>
              <a:rPr kumimoji="1" lang="ja-JP" altLang="en-US" sz="1700">
                <a:solidFill>
                  <a:srgbClr val="263746"/>
                </a:solidFill>
                <a:latin typeface="Meiryo" panose="020B0604030504040204" pitchFamily="50" charset="-128"/>
                <a:ea typeface="Meiryo" panose="020B0604030504040204" pitchFamily="50" charset="-128"/>
              </a:rPr>
              <a:t>除く定義と、無条件に同一視しない。</a:t>
            </a:r>
          </a:p>
        </p:txBody>
      </p:sp>
      <p:sp>
        <p:nvSpPr>
          <p:cNvPr id="22" name="text-11">
            <a:extLst>
              <a:ext uri="{FF2B5EF4-FFF2-40B4-BE49-F238E27FC236}">
                <a16:creationId xmlns:a16="http://schemas.microsoft.com/office/drawing/2014/main" id="{D0BE3009-0C11-433F-F890-6CAE6FD3A769}"/>
              </a:ext>
            </a:extLst>
          </p:cNvPr>
          <p:cNvSpPr txBox="1"/>
          <p:nvPr/>
        </p:nvSpPr>
        <p:spPr>
          <a:xfrm>
            <a:off x="635000" y="50419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17365D"/>
                </a:solidFill>
                <a:latin typeface="Meiryo" panose="020B0604030504040204" pitchFamily="50" charset="-128"/>
                <a:ea typeface="Meiryo" panose="020B0604030504040204" pitchFamily="50" charset="-128"/>
              </a:rPr>
              <a:t>有限サイズの転移領域では、</a:t>
            </a:r>
            <a:r>
              <a:rPr kumimoji="1" lang="en-US" altLang="ja-JP" sz="2100">
                <a:solidFill>
                  <a:srgbClr val="17365D"/>
                </a:solidFill>
                <a:latin typeface="Meiryo" panose="020B0604030504040204" pitchFamily="50" charset="-128"/>
                <a:ea typeface="Meiryo" panose="020B0604030504040204" pitchFamily="50" charset="-128"/>
              </a:rPr>
              <a:t>S</a:t>
            </a:r>
            <a:r>
              <a:rPr kumimoji="1" lang="ja-JP" altLang="en-US" sz="2100">
                <a:solidFill>
                  <a:srgbClr val="17365D"/>
                </a:solidFill>
                <a:latin typeface="Meiryo" panose="020B0604030504040204" pitchFamily="50" charset="-128"/>
                <a:ea typeface="Meiryo" panose="020B0604030504040204" pitchFamily="50" charset="-128"/>
              </a:rPr>
              <a:t>の代表的な大きさが</a:t>
            </a:r>
            <a:r>
              <a:rPr kumimoji="1" lang="en-US" altLang="ja-JP" sz="2100">
                <a:solidFill>
                  <a:srgbClr val="17365D"/>
                </a:solidFill>
                <a:latin typeface="Meiryo" panose="020B0604030504040204" pitchFamily="50" charset="-128"/>
                <a:ea typeface="Meiryo" panose="020B0604030504040204" pitchFamily="50" charset="-128"/>
              </a:rPr>
              <a:t>N</a:t>
            </a:r>
            <a:r>
              <a:rPr kumimoji="1" lang="en-US" altLang="ja-JP" sz="1554" baseline="30000">
                <a:solidFill>
                  <a:srgbClr val="17365D"/>
                </a:solidFill>
                <a:latin typeface="Meiryo" panose="020B0604030504040204" pitchFamily="50" charset="-128"/>
                <a:ea typeface="Meiryo" panose="020B0604030504040204" pitchFamily="50" charset="-128"/>
              </a:rPr>
              <a:t>γ/ν̄</a:t>
            </a:r>
            <a:r>
              <a:rPr kumimoji="1" lang="ja-JP" altLang="en-US" sz="2100">
                <a:solidFill>
                  <a:srgbClr val="17365D"/>
                </a:solidFill>
                <a:latin typeface="Meiryo" panose="020B0604030504040204" pitchFamily="50" charset="-128"/>
                <a:ea typeface="Meiryo" panose="020B0604030504040204" pitchFamily="50" charset="-128"/>
              </a:rPr>
              <a:t>に従うと考える。</a:t>
            </a:r>
          </a:p>
        </p:txBody>
      </p:sp>
      <p:sp>
        <p:nvSpPr>
          <p:cNvPr id="23" name="text-12">
            <a:extLst>
              <a:ext uri="{FF2B5EF4-FFF2-40B4-BE49-F238E27FC236}">
                <a16:creationId xmlns:a16="http://schemas.microsoft.com/office/drawing/2014/main" id="{0BBF7C58-F3F7-A774-208D-11F8A1948FA4}"/>
              </a:ext>
            </a:extLst>
          </p:cNvPr>
          <p:cNvSpPr txBox="1"/>
          <p:nvPr/>
        </p:nvSpPr>
        <p:spPr>
          <a:xfrm>
            <a:off x="635000" y="5575300"/>
            <a:ext cx="10922000" cy="276999"/>
          </a:xfrm>
          <a:prstGeom prst="rect">
            <a:avLst/>
          </a:prstGeom>
          <a:noFill/>
        </p:spPr>
        <p:txBody>
          <a:bodyPr vert="horz" wrap="square" lIns="0" tIns="0" rIns="0" bIns="0" rtlCol="0">
            <a:noAutofit/>
          </a:bodyPr>
          <a:lstStyle/>
          <a:p>
            <a:pPr>
              <a:lnSpc>
                <a:spcPct val="112000"/>
              </a:lnSpc>
            </a:pPr>
            <a:r>
              <a:rPr kumimoji="1" lang="en-US" altLang="ja-JP" sz="1700">
                <a:solidFill>
                  <a:srgbClr val="263746"/>
                </a:solidFill>
                <a:latin typeface="Meiryo" panose="020B0604030504040204" pitchFamily="50" charset="-128"/>
                <a:ea typeface="Meiryo" panose="020B0604030504040204" pitchFamily="50" charset="-128"/>
              </a:rPr>
              <a:t>γ</a:t>
            </a:r>
            <a:r>
              <a:rPr kumimoji="1" lang="ja-JP" altLang="en-US" sz="1700">
                <a:solidFill>
                  <a:srgbClr val="263746"/>
                </a:solidFill>
                <a:latin typeface="Meiryo" panose="020B0604030504040204" pitchFamily="50" charset="-128"/>
                <a:ea typeface="Meiryo" panose="020B0604030504040204" pitchFamily="50" charset="-128"/>
              </a:rPr>
              <a:t>（ガンマ）：</a:t>
            </a:r>
            <a:r>
              <a:rPr kumimoji="1" lang="en-US" altLang="ja-JP" sz="1700">
                <a:solidFill>
                  <a:srgbClr val="263746"/>
                </a:solidFill>
                <a:latin typeface="Meiryo" panose="020B0604030504040204" pitchFamily="50" charset="-128"/>
                <a:ea typeface="Meiryo" panose="020B0604030504040204" pitchFamily="50" charset="-128"/>
              </a:rPr>
              <a:t>S</a:t>
            </a:r>
            <a:r>
              <a:rPr kumimoji="1" lang="ja-JP" altLang="en-US" sz="1700">
                <a:solidFill>
                  <a:srgbClr val="263746"/>
                </a:solidFill>
                <a:latin typeface="Meiryo" panose="020B0604030504040204" pitchFamily="50" charset="-128"/>
                <a:ea typeface="Meiryo" panose="020B0604030504040204" pitchFamily="50" charset="-128"/>
              </a:rPr>
              <a:t>の臨界指数　</a:t>
            </a:r>
            <a:r>
              <a:rPr kumimoji="1" lang="en-US" altLang="ja-JP" sz="1700">
                <a:solidFill>
                  <a:srgbClr val="263746"/>
                </a:solidFill>
                <a:latin typeface="Meiryo" panose="020B0604030504040204" pitchFamily="50" charset="-128"/>
                <a:ea typeface="Meiryo" panose="020B0604030504040204" pitchFamily="50" charset="-128"/>
              </a:rPr>
              <a:t>F⁽²⁾</a:t>
            </a:r>
            <a:r>
              <a:rPr kumimoji="1" lang="ja-JP" altLang="en-US" sz="1700">
                <a:solidFill>
                  <a:srgbClr val="263746"/>
                </a:solidFill>
                <a:latin typeface="Meiryo" panose="020B0604030504040204" pitchFamily="50" charset="-128"/>
                <a:ea typeface="Meiryo" panose="020B0604030504040204" pitchFamily="50" charset="-128"/>
              </a:rPr>
              <a:t>：</a:t>
            </a:r>
            <a:r>
              <a:rPr kumimoji="1" lang="en-US" altLang="ja-JP" sz="1700">
                <a:solidFill>
                  <a:srgbClr val="263746"/>
                </a:solidFill>
                <a:latin typeface="Meiryo" panose="020B0604030504040204" pitchFamily="50" charset="-128"/>
                <a:ea typeface="Meiryo" panose="020B0604030504040204" pitchFamily="50" charset="-128"/>
              </a:rPr>
              <a:t>S</a:t>
            </a:r>
            <a:r>
              <a:rPr kumimoji="1" lang="ja-JP" altLang="en-US" sz="1700">
                <a:solidFill>
                  <a:srgbClr val="263746"/>
                </a:solidFill>
                <a:latin typeface="Meiryo" panose="020B0604030504040204" pitchFamily="50" charset="-128"/>
                <a:ea typeface="Meiryo" panose="020B0604030504040204" pitchFamily="50" charset="-128"/>
              </a:rPr>
              <a:t>のスケーリング関数
</a:t>
            </a:r>
            <a:r>
              <a:rPr kumimoji="1" lang="en-US" altLang="ja-JP" sz="1700">
                <a:solidFill>
                  <a:srgbClr val="263746"/>
                </a:solidFill>
                <a:latin typeface="Meiryo" panose="020B0604030504040204" pitchFamily="50" charset="-128"/>
                <a:ea typeface="Meiryo" panose="020B0604030504040204" pitchFamily="50" charset="-128"/>
              </a:rPr>
              <a:t>ν̄</a:t>
            </a:r>
            <a:r>
              <a:rPr kumimoji="1" lang="ja-JP" altLang="en-US" sz="1700">
                <a:solidFill>
                  <a:srgbClr val="263746"/>
                </a:solidFill>
                <a:latin typeface="Meiryo" panose="020B0604030504040204" pitchFamily="50" charset="-128"/>
                <a:ea typeface="Meiryo" panose="020B0604030504040204" pitchFamily="50" charset="-128"/>
              </a:rPr>
              <a:t>（ニューバー）：相関体積の臨界指数（スライド</a:t>
            </a:r>
            <a:r>
              <a:rPr kumimoji="1" lang="en-US" altLang="ja-JP" sz="1700">
                <a:solidFill>
                  <a:srgbClr val="263746"/>
                </a:solidFill>
                <a:latin typeface="Meiryo" panose="020B0604030504040204" pitchFamily="50" charset="-128"/>
                <a:ea typeface="Meiryo" panose="020B0604030504040204" pitchFamily="50" charset="-128"/>
              </a:rPr>
              <a:t>12</a:t>
            </a:r>
            <a:r>
              <a:rPr kumimoji="1" lang="ja-JP" altLang="en-US" sz="1700">
                <a:solidFill>
                  <a:srgbClr val="263746"/>
                </a:solidFill>
                <a:latin typeface="Meiryo" panose="020B0604030504040204" pitchFamily="50" charset="-128"/>
                <a:ea typeface="Meiryo" panose="020B0604030504040204" pitchFamily="50" charset="-128"/>
              </a:rPr>
              <a:t>と共通）</a:t>
            </a:r>
          </a:p>
        </p:txBody>
      </p:sp>
    </p:spTree>
    <p:extLst>
      <p:ext uri="{BB962C8B-B14F-4D97-AF65-F5344CB8AC3E}">
        <p14:creationId xmlns:p14="http://schemas.microsoft.com/office/powerpoint/2010/main" val="2903857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1">
            <a:extLst>
              <a:ext uri="{FF2B5EF4-FFF2-40B4-BE49-F238E27FC236}">
                <a16:creationId xmlns:a16="http://schemas.microsoft.com/office/drawing/2014/main" id="{8CFE8A51-4921-03AF-4E19-729688130CC4}"/>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疑似臨界点：平均クラスターサイズの最大位置</a:t>
            </a:r>
          </a:p>
        </p:txBody>
      </p:sp>
      <p:cxnSp>
        <p:nvCxnSpPr>
          <p:cNvPr id="11" name="直線コネクタ 10">
            <a:extLst>
              <a:ext uri="{FF2B5EF4-FFF2-40B4-BE49-F238E27FC236}">
                <a16:creationId xmlns:a16="http://schemas.microsoft.com/office/drawing/2014/main" id="{205FEB43-7A2D-F266-2584-5DEC08176E55}"/>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12" name="source-3">
            <a:extLst>
              <a:ext uri="{FF2B5EF4-FFF2-40B4-BE49-F238E27FC236}">
                <a16:creationId xmlns:a16="http://schemas.microsoft.com/office/drawing/2014/main" id="{7D2AE754-AE29-47E8-E230-298C8E1EA9C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(S8)</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p_c(N)</a:t>
            </a:r>
            <a:r>
              <a:rPr kumimoji="1" lang="ja-JP" altLang="en-US" sz="950">
                <a:solidFill>
                  <a:srgbClr val="566573"/>
                </a:solidFill>
                <a:latin typeface="Meiryo" panose="020B0604030504040204" pitchFamily="50" charset="-128"/>
                <a:ea typeface="Meiryo" panose="020B0604030504040204" pitchFamily="50" charset="-128"/>
              </a:rPr>
              <a:t>は有限</a:t>
            </a:r>
            <a:r>
              <a:rPr kumimoji="1" lang="en-US" altLang="ja-JP" sz="950">
                <a:solidFill>
                  <a:srgbClr val="566573"/>
                </a:solidFill>
                <a:latin typeface="Meiryo" panose="020B0604030504040204" pitchFamily="50" charset="-128"/>
                <a:ea typeface="Meiryo" panose="020B0604030504040204" pitchFamily="50" charset="-128"/>
              </a:rPr>
              <a:t>N</a:t>
            </a:r>
            <a:r>
              <a:rPr kumimoji="1" lang="ja-JP" altLang="en-US" sz="950">
                <a:solidFill>
                  <a:srgbClr val="566573"/>
                </a:solidFill>
                <a:latin typeface="Meiryo" panose="020B0604030504040204" pitchFamily="50" charset="-128"/>
                <a:ea typeface="Meiryo" panose="020B0604030504040204" pitchFamily="50" charset="-128"/>
              </a:rPr>
              <a:t>ごとの量。</a:t>
            </a:r>
          </a:p>
        </p:txBody>
      </p:sp>
      <p:sp>
        <p:nvSpPr>
          <p:cNvPr id="13" name="page-4">
            <a:extLst>
              <a:ext uri="{FF2B5EF4-FFF2-40B4-BE49-F238E27FC236}">
                <a16:creationId xmlns:a16="http://schemas.microsoft.com/office/drawing/2014/main" id="{ABFD2E54-80DC-C6F2-2120-DBC54D0701BA}"/>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14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14" name="text-5">
            <a:extLst>
              <a:ext uri="{FF2B5EF4-FFF2-40B4-BE49-F238E27FC236}">
                <a16:creationId xmlns:a16="http://schemas.microsoft.com/office/drawing/2014/main" id="{2AFEC344-0435-8BA4-4EF1-2F2F0132C259}"/>
              </a:ext>
            </a:extLst>
          </p:cNvPr>
          <p:cNvSpPr txBox="1"/>
          <p:nvPr/>
        </p:nvSpPr>
        <p:spPr>
          <a:xfrm>
            <a:off x="635000" y="15367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63746"/>
                </a:solidFill>
                <a:latin typeface="Meiryo" panose="020B0604030504040204" pitchFamily="50" charset="-128"/>
                <a:ea typeface="Meiryo" panose="020B0604030504040204" pitchFamily="50" charset="-128"/>
              </a:rPr>
              <a:t>有限サイズ</a:t>
            </a:r>
            <a:r>
              <a:rPr kumimoji="1" lang="en-US" altLang="ja-JP" sz="2200">
                <a:solidFill>
                  <a:srgbClr val="263746"/>
                </a:solidFill>
                <a:latin typeface="Meiryo" panose="020B0604030504040204" pitchFamily="50" charset="-128"/>
                <a:ea typeface="Meiryo" panose="020B0604030504040204" pitchFamily="50" charset="-128"/>
              </a:rPr>
              <a:t>N</a:t>
            </a:r>
            <a:r>
              <a:rPr kumimoji="1" lang="ja-JP" altLang="en-US" sz="2200">
                <a:solidFill>
                  <a:srgbClr val="263746"/>
                </a:solidFill>
                <a:latin typeface="Meiryo" panose="020B0604030504040204" pitchFamily="50" charset="-128"/>
                <a:ea typeface="Meiryo" panose="020B0604030504040204" pitchFamily="50" charset="-128"/>
              </a:rPr>
              <a:t>の疑似臨界点を、平均クラスターサイズが
最大となる辺の削除率として定義する。</a:t>
            </a:r>
          </a:p>
        </p:txBody>
      </p:sp>
      <p:pic>
        <p:nvPicPr>
          <p:cNvPr id="16" name="source-or-equation-image-6" descr="p_c(N)=\underset{p}{\operatorname{arg\,max}}\,\langle S(p,N)\rangle\qquad\mathrm{(S8)}">
            <a:extLst>
              <a:ext uri="{FF2B5EF4-FFF2-40B4-BE49-F238E27FC236}">
                <a16:creationId xmlns:a16="http://schemas.microsoft.com/office/drawing/2014/main" id="{03BF57EF-0096-62F8-3EDF-8CDFF3E4532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71270" y="2362200"/>
            <a:ext cx="6849459" cy="939800"/>
          </a:xfrm>
          <a:prstGeom prst="rect">
            <a:avLst/>
          </a:prstGeom>
        </p:spPr>
      </p:pic>
      <p:pic>
        <p:nvPicPr>
          <p:cNvPr id="18" name="source-or-equation-image-7" descr="\max_p\,\langle S(p,N)\rangle">
            <a:extLst>
              <a:ext uri="{FF2B5EF4-FFF2-40B4-BE49-F238E27FC236}">
                <a16:creationId xmlns:a16="http://schemas.microsoft.com/office/drawing/2014/main" id="{7764C112-4A41-622C-9ADA-1AEB3E599AF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003905" y="3683000"/>
            <a:ext cx="2278690" cy="673100"/>
          </a:xfrm>
          <a:prstGeom prst="rect">
            <a:avLst/>
          </a:prstGeom>
        </p:spPr>
      </p:pic>
      <p:pic>
        <p:nvPicPr>
          <p:cNvPr id="20" name="source-or-equation-image-8" descr="\underset{p}{\operatorname{arg\,max}}\,\langle S(p,N)\rangle">
            <a:extLst>
              <a:ext uri="{FF2B5EF4-FFF2-40B4-BE49-F238E27FC236}">
                <a16:creationId xmlns:a16="http://schemas.microsoft.com/office/drawing/2014/main" id="{1528D7B4-EEBB-BCB7-65B8-44586901F76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7530850" y="3683000"/>
            <a:ext cx="2527799" cy="673100"/>
          </a:xfrm>
          <a:prstGeom prst="rect">
            <a:avLst/>
          </a:prstGeom>
        </p:spPr>
      </p:pic>
      <p:sp>
        <p:nvSpPr>
          <p:cNvPr id="21" name="text-9">
            <a:extLst>
              <a:ext uri="{FF2B5EF4-FFF2-40B4-BE49-F238E27FC236}">
                <a16:creationId xmlns:a16="http://schemas.microsoft.com/office/drawing/2014/main" id="{AB12707B-751D-E502-8611-79FEAFC72F65}"/>
              </a:ext>
            </a:extLst>
          </p:cNvPr>
          <p:cNvSpPr txBox="1"/>
          <p:nvPr/>
        </p:nvSpPr>
        <p:spPr>
          <a:xfrm>
            <a:off x="825500" y="4457700"/>
            <a:ext cx="4635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ピークの高さ</a:t>
            </a:r>
          </a:p>
        </p:txBody>
      </p:sp>
      <p:sp>
        <p:nvSpPr>
          <p:cNvPr id="22" name="text-10">
            <a:extLst>
              <a:ext uri="{FF2B5EF4-FFF2-40B4-BE49-F238E27FC236}">
                <a16:creationId xmlns:a16="http://schemas.microsoft.com/office/drawing/2014/main" id="{FB92D420-9B00-A248-D2CB-3DBB9A9D371E}"/>
              </a:ext>
            </a:extLst>
          </p:cNvPr>
          <p:cNvSpPr txBox="1"/>
          <p:nvPr/>
        </p:nvSpPr>
        <p:spPr>
          <a:xfrm>
            <a:off x="6477000" y="4457700"/>
            <a:ext cx="4635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ピークを与える削除率</a:t>
            </a:r>
            <a:r>
              <a:rPr kumimoji="1" lang="en-US" altLang="ja-JP" sz="2200" b="1">
                <a:solidFill>
                  <a:srgbClr val="17365D"/>
                </a:solidFill>
                <a:latin typeface="Meiryo" panose="020B0604030504040204" pitchFamily="50" charset="-128"/>
                <a:ea typeface="Meiryo" panose="020B0604030504040204" pitchFamily="50" charset="-128"/>
              </a:rPr>
              <a:t>p</a:t>
            </a:r>
            <a:endParaRPr kumimoji="1" lang="ja-JP" altLang="en-US" sz="2200" b="1">
              <a:solidFill>
                <a:srgbClr val="17365D"/>
              </a:solidFill>
              <a:latin typeface="Meiryo" panose="020B0604030504040204" pitchFamily="50" charset="-128"/>
              <a:ea typeface="Meiryo" panose="020B0604030504040204" pitchFamily="50" charset="-128"/>
            </a:endParaRPr>
          </a:p>
        </p:txBody>
      </p:sp>
      <p:sp>
        <p:nvSpPr>
          <p:cNvPr id="23" name="text-11">
            <a:extLst>
              <a:ext uri="{FF2B5EF4-FFF2-40B4-BE49-F238E27FC236}">
                <a16:creationId xmlns:a16="http://schemas.microsoft.com/office/drawing/2014/main" id="{4B5D2B4A-0661-1FAE-7BD4-6CDA004C2778}"/>
              </a:ext>
            </a:extLst>
          </p:cNvPr>
          <p:cNvSpPr txBox="1"/>
          <p:nvPr/>
        </p:nvSpPr>
        <p:spPr>
          <a:xfrm>
            <a:off x="635000" y="5105400"/>
            <a:ext cx="10922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63746"/>
                </a:solidFill>
                <a:latin typeface="Meiryo" panose="020B0604030504040204" pitchFamily="50" charset="-128"/>
                <a:ea typeface="Meiryo" panose="020B0604030504040204" pitchFamily="50" charset="-128"/>
              </a:rPr>
              <a:t>argmax</a:t>
            </a:r>
            <a:r>
              <a:rPr kumimoji="1" lang="ja-JP" altLang="en-US" sz="1900">
                <a:solidFill>
                  <a:srgbClr val="263746"/>
                </a:solidFill>
                <a:latin typeface="Meiryo" panose="020B0604030504040204" pitchFamily="50" charset="-128"/>
                <a:ea typeface="Meiryo" panose="020B0604030504040204" pitchFamily="50" charset="-128"/>
              </a:rPr>
              <a:t>（アーグマックス）：最大値を取る変数の値を求める演算。</a:t>
            </a:r>
          </a:p>
        </p:txBody>
      </p:sp>
      <p:sp>
        <p:nvSpPr>
          <p:cNvPr id="24" name="text-12">
            <a:extLst>
              <a:ext uri="{FF2B5EF4-FFF2-40B4-BE49-F238E27FC236}">
                <a16:creationId xmlns:a16="http://schemas.microsoft.com/office/drawing/2014/main" id="{596EA38C-45A3-7211-6E2B-E71783BC7FBF}"/>
              </a:ext>
            </a:extLst>
          </p:cNvPr>
          <p:cNvSpPr txBox="1"/>
          <p:nvPr/>
        </p:nvSpPr>
        <p:spPr>
          <a:xfrm>
            <a:off x="635000" y="55118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63746"/>
                </a:solidFill>
                <a:latin typeface="Meiryo" panose="020B0604030504040204" pitchFamily="50" charset="-128"/>
                <a:ea typeface="Meiryo" panose="020B0604030504040204" pitchFamily="50" charset="-128"/>
              </a:rPr>
              <a:t>同じ</a:t>
            </a:r>
            <a:r>
              <a:rPr kumimoji="1" lang="en-US" altLang="ja-JP" sz="1900">
                <a:solidFill>
                  <a:srgbClr val="263746"/>
                </a:solidFill>
                <a:latin typeface="Meiryo" panose="020B0604030504040204" pitchFamily="50" charset="-128"/>
                <a:ea typeface="Meiryo" panose="020B0604030504040204" pitchFamily="50" charset="-128"/>
              </a:rPr>
              <a:t>N</a:t>
            </a:r>
            <a:r>
              <a:rPr kumimoji="1" lang="ja-JP" altLang="en-US" sz="1900">
                <a:solidFill>
                  <a:srgbClr val="263746"/>
                </a:solidFill>
                <a:latin typeface="Meiryo" panose="020B0604030504040204" pitchFamily="50" charset="-128"/>
                <a:ea typeface="Meiryo" panose="020B0604030504040204" pitchFamily="50" charset="-128"/>
              </a:rPr>
              <a:t>と</a:t>
            </a:r>
            <a:r>
              <a:rPr kumimoji="1" lang="en-US" altLang="ja-JP" sz="1900">
                <a:solidFill>
                  <a:srgbClr val="263746"/>
                </a:solidFill>
                <a:latin typeface="Meiryo" panose="020B0604030504040204" pitchFamily="50" charset="-128"/>
                <a:ea typeface="Meiryo" panose="020B0604030504040204" pitchFamily="50" charset="-128"/>
              </a:rPr>
              <a:t>p</a:t>
            </a:r>
            <a:r>
              <a:rPr kumimoji="1" lang="ja-JP" altLang="en-US" sz="1900">
                <a:solidFill>
                  <a:srgbClr val="263746"/>
                </a:solidFill>
                <a:latin typeface="Meiryo" panose="020B0604030504040204" pitchFamily="50" charset="-128"/>
                <a:ea typeface="Meiryo" panose="020B0604030504040204" pitchFamily="50" charset="-128"/>
              </a:rPr>
              <a:t>で</a:t>
            </a:r>
            <a:r>
              <a:rPr kumimoji="1" lang="en-US" altLang="ja-JP" sz="1900">
                <a:solidFill>
                  <a:srgbClr val="263746"/>
                </a:solidFill>
                <a:latin typeface="Meiryo" panose="020B0604030504040204" pitchFamily="50" charset="-128"/>
                <a:ea typeface="Meiryo" panose="020B0604030504040204" pitchFamily="50" charset="-128"/>
              </a:rPr>
              <a:t>S</a:t>
            </a:r>
            <a:r>
              <a:rPr kumimoji="1" lang="ja-JP" altLang="en-US" sz="1900">
                <a:solidFill>
                  <a:srgbClr val="263746"/>
                </a:solidFill>
                <a:latin typeface="Meiryo" panose="020B0604030504040204" pitchFamily="50" charset="-128"/>
                <a:ea typeface="Meiryo" panose="020B0604030504040204" pitchFamily="50" charset="-128"/>
              </a:rPr>
              <a:t>を試行間平均し、</a:t>
            </a:r>
          </a:p>
          <a:p>
            <a:pPr>
              <a:lnSpc>
                <a:spcPct val="112000"/>
              </a:lnSpc>
            </a:pPr>
            <a:r>
              <a:rPr kumimoji="1" lang="ja-JP" altLang="en-US" sz="1900">
                <a:solidFill>
                  <a:srgbClr val="263746"/>
                </a:solidFill>
                <a:latin typeface="Meiryo" panose="020B0604030504040204" pitchFamily="50" charset="-128"/>
                <a:ea typeface="Meiryo" panose="020B0604030504040204" pitchFamily="50" charset="-128"/>
              </a:rPr>
              <a:t>その平均曲線が最大となる削除率を</a:t>
            </a:r>
            <a:r>
              <a:rPr kumimoji="1" lang="en-US" altLang="ja-JP" sz="1900">
                <a:solidFill>
                  <a:srgbClr val="263746"/>
                </a:solidFill>
                <a:latin typeface="Meiryo" panose="020B0604030504040204" pitchFamily="50" charset="-128"/>
                <a:ea typeface="Meiryo" panose="020B0604030504040204" pitchFamily="50" charset="-128"/>
              </a:rPr>
              <a:t>p</a:t>
            </a:r>
            <a:r>
              <a:rPr kumimoji="1" lang="en-US" altLang="ja-JP" sz="1406" baseline="-16000">
                <a:solidFill>
                  <a:srgbClr val="263746"/>
                </a:solidFill>
                <a:latin typeface="Meiryo" panose="020B0604030504040204" pitchFamily="50" charset="-128"/>
                <a:ea typeface="Meiryo" panose="020B0604030504040204" pitchFamily="50" charset="-128"/>
              </a:rPr>
              <a:t>c</a:t>
            </a:r>
            <a:r>
              <a:rPr kumimoji="1" lang="en-US" altLang="ja-JP" sz="1900">
                <a:solidFill>
                  <a:srgbClr val="263746"/>
                </a:solidFill>
                <a:latin typeface="Meiryo" panose="020B0604030504040204" pitchFamily="50" charset="-128"/>
                <a:ea typeface="Meiryo" panose="020B0604030504040204" pitchFamily="50" charset="-128"/>
              </a:rPr>
              <a:t>(N)</a:t>
            </a:r>
            <a:r>
              <a:rPr kumimoji="1" lang="ja-JP" altLang="en-US" sz="1900">
                <a:solidFill>
                  <a:srgbClr val="263746"/>
                </a:solidFill>
                <a:latin typeface="Meiryo" panose="020B0604030504040204" pitchFamily="50" charset="-128"/>
                <a:ea typeface="Meiryo" panose="020B0604030504040204" pitchFamily="50" charset="-128"/>
              </a:rPr>
              <a:t>とする。</a:t>
            </a:r>
          </a:p>
        </p:txBody>
      </p:sp>
    </p:spTree>
    <p:extLst>
      <p:ext uri="{BB962C8B-B14F-4D97-AF65-F5344CB8AC3E}">
        <p14:creationId xmlns:p14="http://schemas.microsoft.com/office/powerpoint/2010/main" val="85708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371ED9E3-6C1B-D0AA-E406-029C511709FF}"/>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臨界点と疑似臨界点の関係</a:t>
            </a:r>
          </a:p>
        </p:txBody>
      </p:sp>
      <p:cxnSp>
        <p:nvCxnSpPr>
          <p:cNvPr id="3" name="直線コネクタ 2">
            <a:extLst>
              <a:ext uri="{FF2B5EF4-FFF2-40B4-BE49-F238E27FC236}">
                <a16:creationId xmlns:a16="http://schemas.microsoft.com/office/drawing/2014/main" id="{904883DC-694C-5704-EFDB-212A073F61BC}"/>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7E31A58F-F805-0F5A-FEFC-4516443E6A9F}"/>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(S9)</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21338E7C-5D41-31F1-ADF0-9F0A1861D1F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15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9.png">
            <a:extLst>
              <a:ext uri="{FF2B5EF4-FFF2-40B4-BE49-F238E27FC236}">
                <a16:creationId xmlns:a16="http://schemas.microsoft.com/office/drawing/2014/main" id="{2F491170-F99F-64EA-DF18-B239D838A5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52895" y="1689100"/>
            <a:ext cx="8686209" cy="1079500"/>
          </a:xfrm>
          <a:prstGeom prst="rect">
            <a:avLst/>
          </a:prstGeom>
        </p:spPr>
      </p:pic>
      <p:sp>
        <p:nvSpPr>
          <p:cNvPr id="8" name="text-6">
            <a:extLst>
              <a:ext uri="{FF2B5EF4-FFF2-40B4-BE49-F238E27FC236}">
                <a16:creationId xmlns:a16="http://schemas.microsoft.com/office/drawing/2014/main" id="{DB6732E6-E645-017F-DCFB-265A86DB696C}"/>
              </a:ext>
            </a:extLst>
          </p:cNvPr>
          <p:cNvSpPr txBox="1"/>
          <p:nvPr/>
        </p:nvSpPr>
        <p:spPr>
          <a:xfrm>
            <a:off x="635000" y="3365500"/>
            <a:ext cx="10922000" cy="276999"/>
          </a:xfrm>
          <a:prstGeom prst="rect">
            <a:avLst/>
          </a:prstGeom>
          <a:noFill/>
        </p:spPr>
        <p:txBody>
          <a:bodyPr vert="horz" wrap="square" lIns="0" tIns="0" rIns="0" bIns="0" rtlCol="0">
            <a:noAutofit/>
          </a:bodyPr>
          <a:lstStyle/>
          <a:p>
            <a:pPr>
              <a:lnSpc>
                <a:spcPct val="112000"/>
              </a:lnSpc>
            </a:pPr>
            <a:r>
              <a:rPr kumimoji="1" lang="en-US" altLang="ja-JP" sz="2400">
                <a:solidFill>
                  <a:srgbClr val="17365D"/>
                </a:solidFill>
                <a:latin typeface="Meiryo" panose="020B0604030504040204" pitchFamily="50" charset="-128"/>
                <a:ea typeface="Meiryo" panose="020B0604030504040204" pitchFamily="50" charset="-128"/>
              </a:rPr>
              <a:t>p</a:t>
            </a:r>
            <a:r>
              <a:rPr kumimoji="1" lang="en-US" altLang="ja-JP" sz="1776" baseline="-16000">
                <a:solidFill>
                  <a:srgbClr val="17365D"/>
                </a:solidFill>
                <a:latin typeface="Meiryo" panose="020B0604030504040204" pitchFamily="50" charset="-128"/>
                <a:ea typeface="Meiryo" panose="020B0604030504040204" pitchFamily="50" charset="-128"/>
              </a:rPr>
              <a:t>c</a:t>
            </a:r>
            <a:r>
              <a:rPr kumimoji="1" lang="en-US" altLang="ja-JP" sz="2400">
                <a:solidFill>
                  <a:srgbClr val="17365D"/>
                </a:solidFill>
                <a:latin typeface="Meiryo" panose="020B0604030504040204" pitchFamily="50" charset="-128"/>
                <a:ea typeface="Meiryo" panose="020B0604030504040204" pitchFamily="50" charset="-128"/>
              </a:rPr>
              <a:t>(N)</a:t>
            </a:r>
            <a:r>
              <a:rPr kumimoji="1" lang="ja-JP" altLang="en-US" sz="2400">
                <a:solidFill>
                  <a:srgbClr val="17365D"/>
                </a:solidFill>
                <a:latin typeface="Meiryo" panose="020B0604030504040204" pitchFamily="50" charset="-128"/>
                <a:ea typeface="Meiryo" panose="020B0604030504040204" pitchFamily="50" charset="-128"/>
              </a:rPr>
              <a:t>と</a:t>
            </a:r>
            <a:r>
              <a:rPr kumimoji="1" lang="en-US" altLang="ja-JP" sz="2400">
                <a:solidFill>
                  <a:srgbClr val="17365D"/>
                </a:solidFill>
                <a:latin typeface="Meiryo" panose="020B0604030504040204" pitchFamily="50" charset="-128"/>
                <a:ea typeface="Meiryo" panose="020B0604030504040204" pitchFamily="50" charset="-128"/>
              </a:rPr>
              <a:t>p</a:t>
            </a:r>
            <a:r>
              <a:rPr kumimoji="1" lang="en-US" altLang="ja-JP" sz="1776" baseline="-16000">
                <a:solidFill>
                  <a:srgbClr val="17365D"/>
                </a:solidFill>
                <a:latin typeface="Meiryo" panose="020B0604030504040204" pitchFamily="50" charset="-128"/>
                <a:ea typeface="Meiryo" panose="020B0604030504040204" pitchFamily="50" charset="-128"/>
              </a:rPr>
              <a:t>c</a:t>
            </a:r>
            <a:r>
              <a:rPr kumimoji="1" lang="ja-JP" altLang="en-US" sz="2400">
                <a:solidFill>
                  <a:srgbClr val="17365D"/>
                </a:solidFill>
                <a:latin typeface="Meiryo" panose="020B0604030504040204" pitchFamily="50" charset="-128"/>
                <a:ea typeface="Meiryo" panose="020B0604030504040204" pitchFamily="50" charset="-128"/>
              </a:rPr>
              <a:t>のずれを、</a:t>
            </a:r>
            <a:r>
              <a:rPr kumimoji="1" lang="en-US" altLang="ja-JP" sz="2400">
                <a:solidFill>
                  <a:srgbClr val="17365D"/>
                </a:solidFill>
                <a:latin typeface="Meiryo" panose="020B0604030504040204" pitchFamily="50" charset="-128"/>
                <a:ea typeface="Meiryo" panose="020B0604030504040204" pitchFamily="50" charset="-128"/>
              </a:rPr>
              <a:t>N</a:t>
            </a:r>
            <a:r>
              <a:rPr kumimoji="1" lang="ja-JP" altLang="en-US" sz="2400">
                <a:solidFill>
                  <a:srgbClr val="17365D"/>
                </a:solidFill>
                <a:latin typeface="Meiryo" panose="020B0604030504040204" pitchFamily="50" charset="-128"/>
                <a:ea typeface="Meiryo" panose="020B0604030504040204" pitchFamily="50" charset="-128"/>
              </a:rPr>
              <a:t>のべき乗で表すシフト則。</a:t>
            </a:r>
          </a:p>
          <a:p>
            <a:pPr>
              <a:lnSpc>
                <a:spcPct val="112000"/>
              </a:lnSpc>
            </a:pPr>
            <a:r>
              <a:rPr kumimoji="1" lang="ja-JP" altLang="en-US" sz="2400">
                <a:solidFill>
                  <a:srgbClr val="17365D"/>
                </a:solidFill>
                <a:latin typeface="Meiryo" panose="020B0604030504040204" pitchFamily="50" charset="-128"/>
                <a:ea typeface="Meiryo" panose="020B0604030504040204" pitchFamily="50" charset="-128"/>
              </a:rPr>
              <a:t>原論文は推定した</a:t>
            </a:r>
            <a:r>
              <a:rPr kumimoji="1" lang="en-US" altLang="ja-JP" sz="2400">
                <a:solidFill>
                  <a:srgbClr val="17365D"/>
                </a:solidFill>
                <a:latin typeface="Meiryo" panose="020B0604030504040204" pitchFamily="50" charset="-128"/>
                <a:ea typeface="Meiryo" panose="020B0604030504040204" pitchFamily="50" charset="-128"/>
              </a:rPr>
              <a:t>p</a:t>
            </a:r>
            <a:r>
              <a:rPr kumimoji="1" lang="en-US" altLang="ja-JP" sz="1776" baseline="-16000">
                <a:solidFill>
                  <a:srgbClr val="17365D"/>
                </a:solidFill>
                <a:latin typeface="Meiryo" panose="020B0604030504040204" pitchFamily="50" charset="-128"/>
                <a:ea typeface="Meiryo" panose="020B0604030504040204" pitchFamily="50" charset="-128"/>
              </a:rPr>
              <a:t>c</a:t>
            </a:r>
            <a:r>
              <a:rPr kumimoji="1" lang="ja-JP" altLang="en-US" sz="2400">
                <a:solidFill>
                  <a:srgbClr val="17365D"/>
                </a:solidFill>
                <a:latin typeface="Meiryo" panose="020B0604030504040204" pitchFamily="50" charset="-128"/>
                <a:ea typeface="Meiryo" panose="020B0604030504040204" pitchFamily="50" charset="-128"/>
              </a:rPr>
              <a:t>と複数サイズの</a:t>
            </a:r>
            <a:r>
              <a:rPr kumimoji="1" lang="en-US" altLang="ja-JP" sz="2400">
                <a:solidFill>
                  <a:srgbClr val="17365D"/>
                </a:solidFill>
                <a:latin typeface="Meiryo" panose="020B0604030504040204" pitchFamily="50" charset="-128"/>
                <a:ea typeface="Meiryo" panose="020B0604030504040204" pitchFamily="50" charset="-128"/>
              </a:rPr>
              <a:t>p</a:t>
            </a:r>
            <a:r>
              <a:rPr kumimoji="1" lang="en-US" altLang="ja-JP" sz="1776" baseline="-16000">
                <a:solidFill>
                  <a:srgbClr val="17365D"/>
                </a:solidFill>
                <a:latin typeface="Meiryo" panose="020B0604030504040204" pitchFamily="50" charset="-128"/>
                <a:ea typeface="Meiryo" panose="020B0604030504040204" pitchFamily="50" charset="-128"/>
              </a:rPr>
              <a:t>c</a:t>
            </a:r>
            <a:r>
              <a:rPr kumimoji="1" lang="en-US" altLang="ja-JP" sz="2400">
                <a:solidFill>
                  <a:srgbClr val="17365D"/>
                </a:solidFill>
                <a:latin typeface="Meiryo" panose="020B0604030504040204" pitchFamily="50" charset="-128"/>
                <a:ea typeface="Meiryo" panose="020B0604030504040204" pitchFamily="50" charset="-128"/>
              </a:rPr>
              <a:t>(N)</a:t>
            </a:r>
            <a:r>
              <a:rPr kumimoji="1" lang="ja-JP" altLang="en-US" sz="2400">
                <a:solidFill>
                  <a:srgbClr val="17365D"/>
                </a:solidFill>
                <a:latin typeface="Meiryo" panose="020B0604030504040204" pitchFamily="50" charset="-128"/>
                <a:ea typeface="Meiryo" panose="020B0604030504040204" pitchFamily="50" charset="-128"/>
              </a:rPr>
              <a:t>から、</a:t>
            </a:r>
            <a:r>
              <a:rPr kumimoji="1" lang="en-US" altLang="ja-JP" sz="2400">
                <a:solidFill>
                  <a:srgbClr val="17365D"/>
                </a:solidFill>
                <a:latin typeface="Meiryo" panose="020B0604030504040204" pitchFamily="50" charset="-128"/>
                <a:ea typeface="Meiryo" panose="020B0604030504040204" pitchFamily="50" charset="-128"/>
              </a:rPr>
              <a:t>1/ν̄</a:t>
            </a:r>
            <a:r>
              <a:rPr kumimoji="1" lang="ja-JP" altLang="en-US" sz="2400">
                <a:solidFill>
                  <a:srgbClr val="17365D"/>
                </a:solidFill>
                <a:latin typeface="Meiryo" panose="020B0604030504040204" pitchFamily="50" charset="-128"/>
                <a:ea typeface="Meiryo" panose="020B0604030504040204" pitchFamily="50" charset="-128"/>
              </a:rPr>
              <a:t>を調べる。</a:t>
            </a:r>
          </a:p>
        </p:txBody>
      </p:sp>
      <p:sp>
        <p:nvSpPr>
          <p:cNvPr id="9" name="text-7">
            <a:extLst>
              <a:ext uri="{FF2B5EF4-FFF2-40B4-BE49-F238E27FC236}">
                <a16:creationId xmlns:a16="http://schemas.microsoft.com/office/drawing/2014/main" id="{D4DF5E83-9C17-4DF9-61F1-B0B139F170CF}"/>
              </a:ext>
            </a:extLst>
          </p:cNvPr>
          <p:cNvSpPr txBox="1"/>
          <p:nvPr/>
        </p:nvSpPr>
        <p:spPr>
          <a:xfrm>
            <a:off x="635000" y="4635500"/>
            <a:ext cx="10922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b</a:t>
            </a:r>
            <a:r>
              <a:rPr kumimoji="1" lang="ja-JP" altLang="en-US" sz="2100">
                <a:solidFill>
                  <a:srgbClr val="253746"/>
                </a:solidFill>
                <a:latin typeface="Meiryo" panose="020B0604030504040204" pitchFamily="50" charset="-128"/>
                <a:ea typeface="Meiryo" panose="020B0604030504040204" pitchFamily="50" charset="-128"/>
              </a:rPr>
              <a:t>（ビー）：サイズに依存しない係数。符号は固定しない。</a:t>
            </a:r>
          </a:p>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ν̄&gt;0</a:t>
            </a:r>
            <a:r>
              <a:rPr kumimoji="1" lang="ja-JP" altLang="en-US" sz="2100">
                <a:solidFill>
                  <a:srgbClr val="253746"/>
                </a:solidFill>
                <a:latin typeface="Meiryo" panose="020B0604030504040204" pitchFamily="50" charset="-128"/>
                <a:ea typeface="Meiryo" panose="020B0604030504040204" pitchFamily="50" charset="-128"/>
              </a:rPr>
              <a:t>なら、この形のずれは</a:t>
            </a:r>
            <a:r>
              <a:rPr kumimoji="1" lang="en-US" altLang="ja-JP" sz="2100">
                <a:solidFill>
                  <a:srgbClr val="253746"/>
                </a:solidFill>
                <a:latin typeface="Meiryo" panose="020B0604030504040204" pitchFamily="50" charset="-128"/>
                <a:ea typeface="Meiryo" panose="020B0604030504040204" pitchFamily="50" charset="-128"/>
              </a:rPr>
              <a:t>N</a:t>
            </a:r>
            <a:r>
              <a:rPr kumimoji="1" lang="ja-JP" altLang="en-US" sz="2100">
                <a:solidFill>
                  <a:srgbClr val="253746"/>
                </a:solidFill>
                <a:latin typeface="Meiryo" panose="020B0604030504040204" pitchFamily="50" charset="-128"/>
                <a:ea typeface="Meiryo" panose="020B0604030504040204" pitchFamily="50" charset="-128"/>
              </a:rPr>
              <a:t>の増大とともに小さくなる。</a:t>
            </a:r>
          </a:p>
        </p:txBody>
      </p:sp>
      <p:sp>
        <p:nvSpPr>
          <p:cNvPr id="10" name="text-8">
            <a:extLst>
              <a:ext uri="{FF2B5EF4-FFF2-40B4-BE49-F238E27FC236}">
                <a16:creationId xmlns:a16="http://schemas.microsoft.com/office/drawing/2014/main" id="{10C0BF31-FA61-3B63-E0A5-5F5AF66C9445}"/>
              </a:ext>
            </a:extLst>
          </p:cNvPr>
          <p:cNvSpPr txBox="1"/>
          <p:nvPr/>
        </p:nvSpPr>
        <p:spPr>
          <a:xfrm>
            <a:off x="635000" y="5753100"/>
            <a:ext cx="10922000" cy="276999"/>
          </a:xfrm>
          <a:prstGeom prst="rect">
            <a:avLst/>
          </a:prstGeom>
          <a:noFill/>
        </p:spPr>
        <p:txBody>
          <a:bodyPr vert="horz" wrap="square" lIns="0" tIns="0" rIns="0" bIns="0" rtlCol="0">
            <a:noAutofit/>
          </a:bodyPr>
          <a:lstStyle/>
          <a:p>
            <a:pPr>
              <a:lnSpc>
                <a:spcPct val="112000"/>
              </a:lnSpc>
            </a:pPr>
            <a:r>
              <a:rPr kumimoji="1" lang="en-US" altLang="ja-JP">
                <a:solidFill>
                  <a:srgbClr val="253746"/>
                </a:solidFill>
                <a:latin typeface="Meiryo" panose="020B0604030504040204" pitchFamily="50" charset="-128"/>
                <a:ea typeface="Meiryo" panose="020B0604030504040204" pitchFamily="50" charset="-128"/>
              </a:rPr>
              <a:t>S7</a:t>
            </a:r>
            <a:r>
              <a:rPr kumimoji="1" lang="ja-JP" altLang="en-US">
                <a:solidFill>
                  <a:srgbClr val="253746"/>
                </a:solidFill>
                <a:latin typeface="Meiryo" panose="020B0604030504040204" pitchFamily="50" charset="-128"/>
                <a:ea typeface="Meiryo" panose="020B0604030504040204" pitchFamily="50" charset="-128"/>
              </a:rPr>
              <a:t>のピークが一定の</a:t>
            </a:r>
            <a:r>
              <a:rPr kumimoji="1" lang="en-US" altLang="ja-JP">
                <a:solidFill>
                  <a:srgbClr val="253746"/>
                </a:solidFill>
                <a:latin typeface="Meiryo" panose="020B0604030504040204" pitchFamily="50" charset="-128"/>
                <a:ea typeface="Meiryo" panose="020B0604030504040204" pitchFamily="50" charset="-128"/>
              </a:rPr>
              <a:t>u</a:t>
            </a:r>
            <a:r>
              <a:rPr kumimoji="1" lang="ja-JP" altLang="en-US">
                <a:solidFill>
                  <a:srgbClr val="253746"/>
                </a:solidFill>
                <a:latin typeface="Meiryo" panose="020B0604030504040204" pitchFamily="50" charset="-128"/>
                <a:ea typeface="Meiryo" panose="020B0604030504040204" pitchFamily="50" charset="-128"/>
              </a:rPr>
              <a:t>に対応する等の前提を置いた、</a:t>
            </a:r>
            <a:r>
              <a:rPr kumimoji="1" lang="en-US" altLang="ja-JP">
                <a:solidFill>
                  <a:srgbClr val="253746"/>
                </a:solidFill>
                <a:latin typeface="Meiryo" panose="020B0604030504040204" pitchFamily="50" charset="-128"/>
                <a:ea typeface="Meiryo" panose="020B0604030504040204" pitchFamily="50" charset="-128"/>
              </a:rPr>
              <a:t>FSS</a:t>
            </a:r>
            <a:r>
              <a:rPr kumimoji="1" lang="ja-JP" altLang="en-US">
                <a:solidFill>
                  <a:srgbClr val="253746"/>
                </a:solidFill>
                <a:latin typeface="Meiryo" panose="020B0604030504040204" pitchFamily="50" charset="-128"/>
                <a:ea typeface="Meiryo" panose="020B0604030504040204" pitchFamily="50" charset="-128"/>
              </a:rPr>
              <a:t>のシフト則。</a:t>
            </a:r>
          </a:p>
        </p:txBody>
      </p:sp>
    </p:spTree>
    <p:extLst>
      <p:ext uri="{BB962C8B-B14F-4D97-AF65-F5344CB8AC3E}">
        <p14:creationId xmlns:p14="http://schemas.microsoft.com/office/powerpoint/2010/main" val="1936550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9D9B4ED8-AA6B-1D76-69ED-5B9191EA359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臨界点でのサイズ依存性</a:t>
            </a:r>
          </a:p>
        </p:txBody>
      </p:sp>
      <p:cxnSp>
        <p:nvCxnSpPr>
          <p:cNvPr id="3" name="直線コネクタ 2">
            <a:extLst>
              <a:ext uri="{FF2B5EF4-FFF2-40B4-BE49-F238E27FC236}">
                <a16:creationId xmlns:a16="http://schemas.microsoft.com/office/drawing/2014/main" id="{F048E9A9-A782-9D85-42EE-B60C3D472F06}"/>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517D353-A4CC-8E41-1551-47B4EEA2810A}"/>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(S10)</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F5D1F86C-CF1C-8164-A448-7C219E685AA4}"/>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16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10.png">
            <a:extLst>
              <a:ext uri="{FF2B5EF4-FFF2-40B4-BE49-F238E27FC236}">
                <a16:creationId xmlns:a16="http://schemas.microsoft.com/office/drawing/2014/main" id="{450658B3-6D36-9265-24A8-B10154359A4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609072"/>
            <a:ext cx="10922000" cy="972856"/>
          </a:xfrm>
          <a:prstGeom prst="rect">
            <a:avLst/>
          </a:prstGeom>
        </p:spPr>
      </p:pic>
      <p:sp>
        <p:nvSpPr>
          <p:cNvPr id="8" name="text-6">
            <a:extLst>
              <a:ext uri="{FF2B5EF4-FFF2-40B4-BE49-F238E27FC236}">
                <a16:creationId xmlns:a16="http://schemas.microsoft.com/office/drawing/2014/main" id="{6FCFF19B-30F2-CA2A-741D-1EB7693B3121}"/>
              </a:ext>
            </a:extLst>
          </p:cNvPr>
          <p:cNvSpPr txBox="1"/>
          <p:nvPr/>
        </p:nvSpPr>
        <p:spPr>
          <a:xfrm>
            <a:off x="635000" y="2857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原論文の</a:t>
            </a:r>
            <a:r>
              <a:rPr kumimoji="1" lang="en-US" altLang="ja-JP" sz="2200">
                <a:solidFill>
                  <a:srgbClr val="253746"/>
                </a:solidFill>
                <a:latin typeface="Meiryo" panose="020B0604030504040204" pitchFamily="50" charset="-128"/>
                <a:ea typeface="Meiryo" panose="020B0604030504040204" pitchFamily="50" charset="-128"/>
              </a:rPr>
              <a:t>P(p</a:t>
            </a:r>
            <a:r>
              <a:rPr kumimoji="1" lang="en-US" altLang="ja-JP" sz="1628" baseline="-16000">
                <a:solidFill>
                  <a:srgbClr val="253746"/>
                </a:solidFill>
                <a:latin typeface="Meiryo" panose="020B0604030504040204" pitchFamily="50" charset="-128"/>
                <a:ea typeface="Meiryo" panose="020B0604030504040204" pitchFamily="50" charset="-128"/>
              </a:rPr>
              <a:t>c</a:t>
            </a:r>
            <a:r>
              <a:rPr kumimoji="1" lang="en-US" altLang="ja-JP" sz="2200">
                <a:solidFill>
                  <a:srgbClr val="253746"/>
                </a:solidFill>
                <a:latin typeface="Meiryo" panose="020B0604030504040204" pitchFamily="50" charset="-128"/>
                <a:ea typeface="Meiryo" panose="020B0604030504040204" pitchFamily="50" charset="-128"/>
              </a:rPr>
              <a:t>)</a:t>
            </a:r>
            <a:r>
              <a:rPr kumimoji="1" lang="ja-JP" altLang="en-US" sz="2200">
                <a:solidFill>
                  <a:srgbClr val="253746"/>
                </a:solidFill>
                <a:latin typeface="Meiryo" panose="020B0604030504040204" pitchFamily="50" charset="-128"/>
                <a:ea typeface="Meiryo" panose="020B0604030504040204" pitchFamily="50" charset="-128"/>
              </a:rPr>
              <a:t>は、</a:t>
            </a:r>
            <a:r>
              <a:rPr kumimoji="1" lang="en-US" altLang="ja-JP" sz="2200">
                <a:solidFill>
                  <a:srgbClr val="253746"/>
                </a:solidFill>
                <a:latin typeface="Meiryo" panose="020B0604030504040204" pitchFamily="50" charset="-128"/>
                <a:ea typeface="Meiryo" panose="020B0604030504040204" pitchFamily="50" charset="-128"/>
              </a:rPr>
              <a:t>N</a:t>
            </a:r>
            <a:r>
              <a:rPr kumimoji="1" lang="ja-JP" altLang="en-US" sz="2200">
                <a:solidFill>
                  <a:srgbClr val="253746"/>
                </a:solidFill>
                <a:latin typeface="Meiryo" panose="020B0604030504040204" pitchFamily="50" charset="-128"/>
                <a:ea typeface="Meiryo" panose="020B0604030504040204" pitchFamily="50" charset="-128"/>
              </a:rPr>
              <a:t>依存を省略した平均</a:t>
            </a:r>
            <a:r>
              <a:rPr kumimoji="1" lang="en-US" altLang="ja-JP" sz="2200">
                <a:solidFill>
                  <a:srgbClr val="253746"/>
                </a:solidFill>
                <a:latin typeface="Meiryo" panose="020B0604030504040204" pitchFamily="50" charset="-128"/>
                <a:ea typeface="Meiryo" panose="020B0604030504040204" pitchFamily="50" charset="-128"/>
              </a:rPr>
              <a:t>P</a:t>
            </a:r>
            <a:r>
              <a:rPr kumimoji="1" lang="ja-JP" altLang="en-US" sz="2200">
                <a:solidFill>
                  <a:srgbClr val="253746"/>
                </a:solidFill>
                <a:latin typeface="Meiryo" panose="020B0604030504040204" pitchFamily="50" charset="-128"/>
                <a:ea typeface="Meiryo" panose="020B0604030504040204" pitchFamily="50" charset="-128"/>
              </a:rPr>
              <a:t>の簡略表記。</a:t>
            </a:r>
          </a:p>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全サイズで同じ</a:t>
            </a:r>
            <a:r>
              <a:rPr kumimoji="1" lang="en-US" altLang="ja-JP" sz="2200">
                <a:solidFill>
                  <a:srgbClr val="253746"/>
                </a:solidFill>
                <a:latin typeface="Meiryo" panose="020B0604030504040204" pitchFamily="50" charset="-128"/>
                <a:ea typeface="Meiryo" panose="020B0604030504040204" pitchFamily="50" charset="-128"/>
              </a:rPr>
              <a:t>p=p</a:t>
            </a:r>
            <a:r>
              <a:rPr kumimoji="1" lang="en-US" altLang="ja-JP" sz="1628" baseline="-16000">
                <a:solidFill>
                  <a:srgbClr val="253746"/>
                </a:solidFill>
                <a:latin typeface="Meiryo" panose="020B0604030504040204" pitchFamily="50" charset="-128"/>
                <a:ea typeface="Meiryo" panose="020B0604030504040204" pitchFamily="50" charset="-128"/>
              </a:rPr>
              <a:t>c</a:t>
            </a:r>
            <a:r>
              <a:rPr kumimoji="1" lang="ja-JP" altLang="en-US" sz="2200">
                <a:solidFill>
                  <a:srgbClr val="253746"/>
                </a:solidFill>
                <a:latin typeface="Meiryo" panose="020B0604030504040204" pitchFamily="50" charset="-128"/>
                <a:ea typeface="Meiryo" panose="020B0604030504040204" pitchFamily="50" charset="-128"/>
              </a:rPr>
              <a:t>を使う。</a:t>
            </a:r>
          </a:p>
        </p:txBody>
      </p:sp>
      <p:pic>
        <p:nvPicPr>
          <p:cNvPr id="10" name="source-or-equation-image-7" descr="eq_zero.png">
            <a:extLst>
              <a:ext uri="{FF2B5EF4-FFF2-40B4-BE49-F238E27FC236}">
                <a16:creationId xmlns:a16="http://schemas.microsoft.com/office/drawing/2014/main" id="{8EE00FDA-8487-7DE1-BD17-4A535820110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67865" y="4127500"/>
            <a:ext cx="4560271" cy="698500"/>
          </a:xfrm>
          <a:prstGeom prst="rect">
            <a:avLst/>
          </a:prstGeom>
        </p:spPr>
      </p:pic>
      <p:sp>
        <p:nvSpPr>
          <p:cNvPr id="11" name="text-8">
            <a:extLst>
              <a:ext uri="{FF2B5EF4-FFF2-40B4-BE49-F238E27FC236}">
                <a16:creationId xmlns:a16="http://schemas.microsoft.com/office/drawing/2014/main" id="{030B2267-6CCD-6269-0573-8042C55E0F77}"/>
              </a:ext>
            </a:extLst>
          </p:cNvPr>
          <p:cNvSpPr txBox="1"/>
          <p:nvPr/>
        </p:nvSpPr>
        <p:spPr>
          <a:xfrm>
            <a:off x="6096000" y="4064000"/>
            <a:ext cx="5461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F⁽¹⁾(0)</a:t>
            </a:r>
            <a:r>
              <a:rPr kumimoji="1" lang="ja-JP" altLang="en-US" sz="2100">
                <a:solidFill>
                  <a:srgbClr val="253746"/>
                </a:solidFill>
                <a:latin typeface="Meiryo" panose="020B0604030504040204" pitchFamily="50" charset="-128"/>
                <a:ea typeface="Meiryo" panose="020B0604030504040204" pitchFamily="50" charset="-128"/>
              </a:rPr>
              <a:t>が有限の非零定数なら、
</a:t>
            </a:r>
            <a:r>
              <a:rPr kumimoji="1" lang="en-US" altLang="ja-JP" sz="2100">
                <a:solidFill>
                  <a:srgbClr val="253746"/>
                </a:solidFill>
                <a:latin typeface="Meiryo" panose="020B0604030504040204" pitchFamily="50" charset="-128"/>
                <a:ea typeface="Meiryo" panose="020B0604030504040204" pitchFamily="50" charset="-128"/>
              </a:rPr>
              <a:t>N</a:t>
            </a:r>
            <a:r>
              <a:rPr kumimoji="1" lang="ja-JP" altLang="en-US" sz="2100">
                <a:solidFill>
                  <a:srgbClr val="253746"/>
                </a:solidFill>
                <a:latin typeface="Meiryo" panose="020B0604030504040204" pitchFamily="50" charset="-128"/>
                <a:ea typeface="Meiryo" panose="020B0604030504040204" pitchFamily="50" charset="-128"/>
              </a:rPr>
              <a:t>に関するべき乗則が得られる。</a:t>
            </a:r>
          </a:p>
        </p:txBody>
      </p:sp>
      <p:sp>
        <p:nvSpPr>
          <p:cNvPr id="12" name="text-9">
            <a:extLst>
              <a:ext uri="{FF2B5EF4-FFF2-40B4-BE49-F238E27FC236}">
                <a16:creationId xmlns:a16="http://schemas.microsoft.com/office/drawing/2014/main" id="{61A503F2-ECA8-8CF1-6106-D0A872EC1FA9}"/>
              </a:ext>
            </a:extLst>
          </p:cNvPr>
          <p:cNvSpPr txBox="1"/>
          <p:nvPr/>
        </p:nvSpPr>
        <p:spPr>
          <a:xfrm>
            <a:off x="635000" y="52832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17365D"/>
                </a:solidFill>
                <a:latin typeface="Meiryo" panose="020B0604030504040204" pitchFamily="50" charset="-128"/>
                <a:ea typeface="Meiryo" panose="020B0604030504040204" pitchFamily="50" charset="-128"/>
              </a:rPr>
              <a:t>横軸</a:t>
            </a:r>
            <a:r>
              <a:rPr kumimoji="1" lang="en-US" altLang="ja-JP" sz="2100">
                <a:solidFill>
                  <a:srgbClr val="17365D"/>
                </a:solidFill>
                <a:latin typeface="Meiryo" panose="020B0604030504040204" pitchFamily="50" charset="-128"/>
                <a:ea typeface="Meiryo" panose="020B0604030504040204" pitchFamily="50" charset="-128"/>
              </a:rPr>
              <a:t>log N</a:t>
            </a:r>
            <a:r>
              <a:rPr kumimoji="1" lang="ja-JP" altLang="en-US" sz="2100">
                <a:solidFill>
                  <a:srgbClr val="17365D"/>
                </a:solidFill>
                <a:latin typeface="Meiryo" panose="020B0604030504040204" pitchFamily="50" charset="-128"/>
                <a:ea typeface="Meiryo" panose="020B0604030504040204" pitchFamily="50" charset="-128"/>
              </a:rPr>
              <a:t>、縦軸</a:t>
            </a:r>
            <a:r>
              <a:rPr kumimoji="1" lang="en-US" altLang="ja-JP" sz="2100">
                <a:solidFill>
                  <a:srgbClr val="17365D"/>
                </a:solidFill>
                <a:latin typeface="Meiryo" panose="020B0604030504040204" pitchFamily="50" charset="-128"/>
                <a:ea typeface="Meiryo" panose="020B0604030504040204" pitchFamily="50" charset="-128"/>
              </a:rPr>
              <a:t>log〈P〉</a:t>
            </a:r>
            <a:r>
              <a:rPr kumimoji="1" lang="ja-JP" altLang="en-US" sz="2100">
                <a:solidFill>
                  <a:srgbClr val="17365D"/>
                </a:solidFill>
                <a:latin typeface="Meiryo" panose="020B0604030504040204" pitchFamily="50" charset="-128"/>
                <a:ea typeface="Meiryo" panose="020B0604030504040204" pitchFamily="50" charset="-128"/>
              </a:rPr>
              <a:t>の傾きは−</a:t>
            </a:r>
            <a:r>
              <a:rPr kumimoji="1" lang="en-US" altLang="ja-JP" sz="2100">
                <a:solidFill>
                  <a:srgbClr val="17365D"/>
                </a:solidFill>
                <a:latin typeface="Meiryo" panose="020B0604030504040204" pitchFamily="50" charset="-128"/>
                <a:ea typeface="Meiryo" panose="020B0604030504040204" pitchFamily="50" charset="-128"/>
              </a:rPr>
              <a:t>β/ν̄</a:t>
            </a:r>
            <a:r>
              <a:rPr kumimoji="1" lang="ja-JP" altLang="en-US" sz="2100">
                <a:solidFill>
                  <a:srgbClr val="17365D"/>
                </a:solidFill>
                <a:latin typeface="Meiryo" panose="020B0604030504040204" pitchFamily="50" charset="-128"/>
                <a:ea typeface="Meiryo" panose="020B0604030504040204" pitchFamily="50" charset="-128"/>
              </a:rPr>
              <a:t>。</a:t>
            </a:r>
          </a:p>
          <a:p>
            <a:pPr>
              <a:lnSpc>
                <a:spcPct val="112000"/>
              </a:lnSpc>
            </a:pPr>
            <a:r>
              <a:rPr kumimoji="1" lang="ja-JP" altLang="en-US" sz="2100">
                <a:solidFill>
                  <a:srgbClr val="17365D"/>
                </a:solidFill>
                <a:latin typeface="Meiryo" panose="020B0604030504040204" pitchFamily="50" charset="-128"/>
                <a:ea typeface="Meiryo" panose="020B0604030504040204" pitchFamily="50" charset="-128"/>
              </a:rPr>
              <a:t>候補の</a:t>
            </a:r>
            <a:r>
              <a:rPr kumimoji="1" lang="en-US" altLang="ja-JP" sz="2100">
                <a:solidFill>
                  <a:srgbClr val="17365D"/>
                </a:solidFill>
                <a:latin typeface="Meiryo" panose="020B0604030504040204" pitchFamily="50" charset="-128"/>
                <a:ea typeface="Meiryo" panose="020B0604030504040204" pitchFamily="50" charset="-128"/>
              </a:rPr>
              <a:t>p</a:t>
            </a:r>
            <a:r>
              <a:rPr kumimoji="1" lang="ja-JP" altLang="en-US" sz="2100">
                <a:solidFill>
                  <a:srgbClr val="17365D"/>
                </a:solidFill>
                <a:latin typeface="Meiryo" panose="020B0604030504040204" pitchFamily="50" charset="-128"/>
                <a:ea typeface="Meiryo" panose="020B0604030504040204" pitchFamily="50" charset="-128"/>
              </a:rPr>
              <a:t>を変えて回帰の当てはまりを比較し、</a:t>
            </a:r>
            <a:r>
              <a:rPr kumimoji="1" lang="en-US" altLang="ja-JP" sz="2100">
                <a:solidFill>
                  <a:srgbClr val="17365D"/>
                </a:solidFill>
                <a:latin typeface="Meiryo" panose="020B0604030504040204" pitchFamily="50" charset="-128"/>
                <a:ea typeface="Meiryo" panose="020B0604030504040204" pitchFamily="50" charset="-128"/>
              </a:rPr>
              <a:t>p</a:t>
            </a:r>
            <a:r>
              <a:rPr kumimoji="1" lang="en-US" altLang="ja-JP" sz="1554" baseline="-16000">
                <a:solidFill>
                  <a:srgbClr val="17365D"/>
                </a:solidFill>
                <a:latin typeface="Meiryo" panose="020B0604030504040204" pitchFamily="50" charset="-128"/>
                <a:ea typeface="Meiryo" panose="020B0604030504040204" pitchFamily="50" charset="-128"/>
              </a:rPr>
              <a:t>c</a:t>
            </a:r>
            <a:r>
              <a:rPr kumimoji="1" lang="ja-JP" altLang="en-US" sz="2100">
                <a:solidFill>
                  <a:srgbClr val="17365D"/>
                </a:solidFill>
                <a:latin typeface="Meiryo" panose="020B0604030504040204" pitchFamily="50" charset="-128"/>
                <a:ea typeface="Meiryo" panose="020B0604030504040204" pitchFamily="50" charset="-128"/>
              </a:rPr>
              <a:t>を調べる。</a:t>
            </a:r>
          </a:p>
        </p:txBody>
      </p:sp>
    </p:spTree>
    <p:extLst>
      <p:ext uri="{BB962C8B-B14F-4D97-AF65-F5344CB8AC3E}">
        <p14:creationId xmlns:p14="http://schemas.microsoft.com/office/powerpoint/2010/main" val="1196198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169F091A-4C66-7B5C-8166-DCEE6D0C39B1}"/>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疑似臨界点での指数推定</a:t>
            </a:r>
          </a:p>
        </p:txBody>
      </p:sp>
      <p:cxnSp>
        <p:nvCxnSpPr>
          <p:cNvPr id="3" name="直線コネクタ 2">
            <a:extLst>
              <a:ext uri="{FF2B5EF4-FFF2-40B4-BE49-F238E27FC236}">
                <a16:creationId xmlns:a16="http://schemas.microsoft.com/office/drawing/2014/main" id="{AC2570CF-218B-95F2-B2DD-83E60140F643}"/>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EDDC334D-B44E-7717-DA78-4DCF2F6DADC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8795238B-61C7-6909-A6AE-BABCB35D7A6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17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11.png">
            <a:extLst>
              <a:ext uri="{FF2B5EF4-FFF2-40B4-BE49-F238E27FC236}">
                <a16:creationId xmlns:a16="http://schemas.microsoft.com/office/drawing/2014/main" id="{8B0E0624-DA30-F6AE-F3FB-6E9E2CEFBC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578569"/>
            <a:ext cx="10922000" cy="944962"/>
          </a:xfrm>
          <a:prstGeom prst="rect">
            <a:avLst/>
          </a:prstGeom>
        </p:spPr>
      </p:pic>
      <p:pic>
        <p:nvPicPr>
          <p:cNvPr id="9" name="source-or-equation-image-6" descr="eq_s12.png">
            <a:extLst>
              <a:ext uri="{FF2B5EF4-FFF2-40B4-BE49-F238E27FC236}">
                <a16:creationId xmlns:a16="http://schemas.microsoft.com/office/drawing/2014/main" id="{118DBB68-BF8E-8D87-491D-492A1D244C3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37868" y="2857500"/>
            <a:ext cx="10516264" cy="952500"/>
          </a:xfrm>
          <a:prstGeom prst="rect">
            <a:avLst/>
          </a:prstGeom>
        </p:spPr>
      </p:pic>
      <p:sp>
        <p:nvSpPr>
          <p:cNvPr id="10" name="text-7">
            <a:extLst>
              <a:ext uri="{FF2B5EF4-FFF2-40B4-BE49-F238E27FC236}">
                <a16:creationId xmlns:a16="http://schemas.microsoft.com/office/drawing/2014/main" id="{2EF6A8F0-EE97-542A-E929-E4B937C0EDA4}"/>
              </a:ext>
            </a:extLst>
          </p:cNvPr>
          <p:cNvSpPr txBox="1"/>
          <p:nvPr/>
        </p:nvSpPr>
        <p:spPr>
          <a:xfrm>
            <a:off x="635000" y="4191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小文字</a:t>
            </a:r>
            <a:r>
              <a:rPr kumimoji="1" lang="en-US" altLang="ja-JP" sz="2200">
                <a:solidFill>
                  <a:srgbClr val="253746"/>
                </a:solidFill>
                <a:latin typeface="Meiryo" panose="020B0604030504040204" pitchFamily="50" charset="-128"/>
                <a:ea typeface="Meiryo" panose="020B0604030504040204" pitchFamily="50" charset="-128"/>
              </a:rPr>
              <a:t>p</a:t>
            </a:r>
            <a:r>
              <a:rPr kumimoji="1" lang="en-US" altLang="ja-JP" sz="1628" baseline="-16000">
                <a:solidFill>
                  <a:srgbClr val="253746"/>
                </a:solidFill>
                <a:latin typeface="Meiryo" panose="020B0604030504040204" pitchFamily="50" charset="-128"/>
                <a:ea typeface="Meiryo" panose="020B0604030504040204" pitchFamily="50" charset="-128"/>
              </a:rPr>
              <a:t>c</a:t>
            </a:r>
            <a:r>
              <a:rPr kumimoji="1" lang="en-US" altLang="ja-JP" sz="2200">
                <a:solidFill>
                  <a:srgbClr val="253746"/>
                </a:solidFill>
                <a:latin typeface="Meiryo" panose="020B0604030504040204" pitchFamily="50" charset="-128"/>
                <a:ea typeface="Meiryo" panose="020B0604030504040204" pitchFamily="50" charset="-128"/>
              </a:rPr>
              <a:t>(N)</a:t>
            </a:r>
            <a:r>
              <a:rPr kumimoji="1" lang="ja-JP" altLang="en-US" sz="2200">
                <a:solidFill>
                  <a:srgbClr val="253746"/>
                </a:solidFill>
                <a:latin typeface="Meiryo" panose="020B0604030504040204" pitchFamily="50" charset="-128"/>
                <a:ea typeface="Meiryo" panose="020B0604030504040204" pitchFamily="50" charset="-128"/>
              </a:rPr>
              <a:t>は削除率の位置。</a:t>
            </a:r>
          </a:p>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大文字</a:t>
            </a:r>
            <a:r>
              <a:rPr kumimoji="1" lang="en-US" altLang="ja-JP" sz="2200">
                <a:solidFill>
                  <a:srgbClr val="253746"/>
                </a:solidFill>
                <a:latin typeface="Meiryo" panose="020B0604030504040204" pitchFamily="50" charset="-128"/>
                <a:ea typeface="Meiryo" panose="020B0604030504040204" pitchFamily="50" charset="-128"/>
              </a:rPr>
              <a:t>P</a:t>
            </a:r>
            <a:r>
              <a:rPr kumimoji="1" lang="en-US" altLang="ja-JP" sz="1628" baseline="-16000">
                <a:solidFill>
                  <a:srgbClr val="253746"/>
                </a:solidFill>
                <a:latin typeface="Meiryo" panose="020B0604030504040204" pitchFamily="50" charset="-128"/>
                <a:ea typeface="Meiryo" panose="020B0604030504040204" pitchFamily="50" charset="-128"/>
              </a:rPr>
              <a:t>c</a:t>
            </a:r>
            <a:r>
              <a:rPr kumimoji="1" lang="en-US" altLang="ja-JP" sz="2200">
                <a:solidFill>
                  <a:srgbClr val="253746"/>
                </a:solidFill>
                <a:latin typeface="Meiryo" panose="020B0604030504040204" pitchFamily="50" charset="-128"/>
                <a:ea typeface="Meiryo" panose="020B0604030504040204" pitchFamily="50" charset="-128"/>
              </a:rPr>
              <a:t>(N)</a:t>
            </a:r>
            <a:r>
              <a:rPr kumimoji="1" lang="ja-JP" altLang="en-US" sz="2200">
                <a:solidFill>
                  <a:srgbClr val="253746"/>
                </a:solidFill>
                <a:latin typeface="Meiryo" panose="020B0604030504040204" pitchFamily="50" charset="-128"/>
                <a:ea typeface="Meiryo" panose="020B0604030504040204" pitchFamily="50" charset="-128"/>
              </a:rPr>
              <a:t>・</a:t>
            </a:r>
            <a:r>
              <a:rPr kumimoji="1" lang="en-US" altLang="ja-JP" sz="2200">
                <a:solidFill>
                  <a:srgbClr val="253746"/>
                </a:solidFill>
                <a:latin typeface="Meiryo" panose="020B0604030504040204" pitchFamily="50" charset="-128"/>
                <a:ea typeface="Meiryo" panose="020B0604030504040204" pitchFamily="50" charset="-128"/>
              </a:rPr>
              <a:t>S</a:t>
            </a:r>
            <a:r>
              <a:rPr kumimoji="1" lang="en-US" altLang="ja-JP" sz="1628" baseline="-16000">
                <a:solidFill>
                  <a:srgbClr val="253746"/>
                </a:solidFill>
                <a:latin typeface="Meiryo" panose="020B0604030504040204" pitchFamily="50" charset="-128"/>
                <a:ea typeface="Meiryo" panose="020B0604030504040204" pitchFamily="50" charset="-128"/>
              </a:rPr>
              <a:t>c</a:t>
            </a:r>
            <a:r>
              <a:rPr kumimoji="1" lang="en-US" altLang="ja-JP" sz="2200">
                <a:solidFill>
                  <a:srgbClr val="253746"/>
                </a:solidFill>
                <a:latin typeface="Meiryo" panose="020B0604030504040204" pitchFamily="50" charset="-128"/>
                <a:ea typeface="Meiryo" panose="020B0604030504040204" pitchFamily="50" charset="-128"/>
              </a:rPr>
              <a:t>(N)</a:t>
            </a:r>
            <a:r>
              <a:rPr kumimoji="1" lang="ja-JP" altLang="en-US" sz="2200">
                <a:solidFill>
                  <a:srgbClr val="253746"/>
                </a:solidFill>
                <a:latin typeface="Meiryo" panose="020B0604030504040204" pitchFamily="50" charset="-128"/>
                <a:ea typeface="Meiryo" panose="020B0604030504040204" pitchFamily="50" charset="-128"/>
              </a:rPr>
              <a:t>は、その位置での平均</a:t>
            </a:r>
            <a:r>
              <a:rPr kumimoji="1" lang="en-US" altLang="ja-JP" sz="2200">
                <a:solidFill>
                  <a:srgbClr val="253746"/>
                </a:solidFill>
                <a:latin typeface="Meiryo" panose="020B0604030504040204" pitchFamily="50" charset="-128"/>
                <a:ea typeface="Meiryo" panose="020B0604030504040204" pitchFamily="50" charset="-128"/>
              </a:rPr>
              <a:t>P</a:t>
            </a:r>
            <a:r>
              <a:rPr kumimoji="1" lang="ja-JP" altLang="en-US" sz="2200">
                <a:solidFill>
                  <a:srgbClr val="253746"/>
                </a:solidFill>
                <a:latin typeface="Meiryo" panose="020B0604030504040204" pitchFamily="50" charset="-128"/>
                <a:ea typeface="Meiryo" panose="020B0604030504040204" pitchFamily="50" charset="-128"/>
              </a:rPr>
              <a:t>・平均</a:t>
            </a:r>
            <a:r>
              <a:rPr kumimoji="1" lang="en-US" altLang="ja-JP" sz="2200">
                <a:solidFill>
                  <a:srgbClr val="253746"/>
                </a:solidFill>
                <a:latin typeface="Meiryo" panose="020B0604030504040204" pitchFamily="50" charset="-128"/>
                <a:ea typeface="Meiryo" panose="020B0604030504040204" pitchFamily="50" charset="-128"/>
              </a:rPr>
              <a:t>S</a:t>
            </a:r>
            <a:r>
              <a:rPr kumimoji="1" lang="ja-JP" altLang="en-US" sz="2200">
                <a:solidFill>
                  <a:srgbClr val="253746"/>
                </a:solidFill>
                <a:latin typeface="Meiryo" panose="020B0604030504040204" pitchFamily="50" charset="-128"/>
                <a:ea typeface="Meiryo" panose="020B0604030504040204" pitchFamily="50" charset="-128"/>
              </a:rPr>
              <a:t>。</a:t>
            </a:r>
          </a:p>
        </p:txBody>
      </p:sp>
      <p:sp>
        <p:nvSpPr>
          <p:cNvPr id="11" name="text-8">
            <a:extLst>
              <a:ext uri="{FF2B5EF4-FFF2-40B4-BE49-F238E27FC236}">
                <a16:creationId xmlns:a16="http://schemas.microsoft.com/office/drawing/2014/main" id="{CC5DBB63-2F50-4603-8F61-52704429743A}"/>
              </a:ext>
            </a:extLst>
          </p:cNvPr>
          <p:cNvSpPr txBox="1"/>
          <p:nvPr/>
        </p:nvSpPr>
        <p:spPr>
          <a:xfrm>
            <a:off x="635000" y="50800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S9</a:t>
            </a:r>
            <a:r>
              <a:rPr kumimoji="1" lang="ja-JP" altLang="en-US" sz="2000">
                <a:solidFill>
                  <a:srgbClr val="17365D"/>
                </a:solidFill>
                <a:latin typeface="Meiryo" panose="020B0604030504040204" pitchFamily="50" charset="-128"/>
                <a:ea typeface="Meiryo" panose="020B0604030504040204" pitchFamily="50" charset="-128"/>
              </a:rPr>
              <a:t>を使うと、スケーリング変数は</a:t>
            </a:r>
            <a:r>
              <a:rPr kumimoji="1" lang="en-US" altLang="ja-JP" sz="2000">
                <a:solidFill>
                  <a:srgbClr val="17365D"/>
                </a:solidFill>
                <a:latin typeface="Meiryo" panose="020B0604030504040204" pitchFamily="50" charset="-128"/>
                <a:ea typeface="Meiryo" panose="020B0604030504040204" pitchFamily="50" charset="-128"/>
              </a:rPr>
              <a:t>u=−b</a:t>
            </a:r>
            <a:r>
              <a:rPr kumimoji="1" lang="ja-JP" altLang="en-US" sz="2000">
                <a:solidFill>
                  <a:srgbClr val="17365D"/>
                </a:solidFill>
                <a:latin typeface="Meiryo" panose="020B0604030504040204" pitchFamily="50" charset="-128"/>
                <a:ea typeface="Meiryo" panose="020B0604030504040204" pitchFamily="50" charset="-128"/>
              </a:rPr>
              <a:t>で</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によらず一定。</a:t>
            </a:r>
          </a:p>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FSS</a:t>
            </a:r>
            <a:r>
              <a:rPr kumimoji="1" lang="ja-JP" altLang="en-US" sz="2000">
                <a:solidFill>
                  <a:srgbClr val="17365D"/>
                </a:solidFill>
                <a:latin typeface="Meiryo" panose="020B0604030504040204" pitchFamily="50" charset="-128"/>
                <a:ea typeface="Meiryo" panose="020B0604030504040204" pitchFamily="50" charset="-128"/>
              </a:rPr>
              <a:t>とシフト則、有限の非零関数値の前提の下で、</a:t>
            </a:r>
          </a:p>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サイズ依存から指数比を推定できる。</a:t>
            </a:r>
          </a:p>
        </p:txBody>
      </p:sp>
    </p:spTree>
    <p:extLst>
      <p:ext uri="{BB962C8B-B14F-4D97-AF65-F5344CB8AC3E}">
        <p14:creationId xmlns:p14="http://schemas.microsoft.com/office/powerpoint/2010/main" val="2372038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1A3F169-4BEC-2E1A-6FE7-7FDF1C96B941}"/>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原論文の臨界点推定：</a:t>
            </a:r>
            <a:r>
              <a:rPr kumimoji="1" lang="en-US" altLang="ja-JP" sz="3200" b="1">
                <a:solidFill>
                  <a:srgbClr val="17365D"/>
                </a:solidFill>
                <a:latin typeface="Meiryo" panose="020B0604030504040204" pitchFamily="50" charset="-128"/>
                <a:ea typeface="Meiryo" panose="020B0604030504040204" pitchFamily="50" charset="-128"/>
              </a:rPr>
              <a:t>C=1</a:t>
            </a:r>
            <a:endParaRPr kumimoji="1" lang="ja-JP" altLang="en-US" sz="3200" b="1">
              <a:solidFill>
                <a:srgbClr val="17365D"/>
              </a:solidFill>
              <a:latin typeface="Meiryo" panose="020B0604030504040204" pitchFamily="50" charset="-128"/>
              <a:ea typeface="Meiryo" panose="020B0604030504040204" pitchFamily="50" charset="-128"/>
            </a:endParaRPr>
          </a:p>
        </p:txBody>
      </p:sp>
      <p:cxnSp>
        <p:nvCxnSpPr>
          <p:cNvPr id="3" name="直線コネクタ 2">
            <a:extLst>
              <a:ext uri="{FF2B5EF4-FFF2-40B4-BE49-F238E27FC236}">
                <a16:creationId xmlns:a16="http://schemas.microsoft.com/office/drawing/2014/main" id="{E6DFEF82-2F56-60DB-1BB3-3112F319CC86}"/>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F65FD269-B472-3BC6-F95C-429E02681BA2}"/>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Fig.S1(a)(b)</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9394637E-A6BE-E7D4-24AE-061D994572D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18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1_ab.png">
            <a:extLst>
              <a:ext uri="{FF2B5EF4-FFF2-40B4-BE49-F238E27FC236}">
                <a16:creationId xmlns:a16="http://schemas.microsoft.com/office/drawing/2014/main" id="{6F2632EC-5FF0-15F5-8A38-CE90688D73D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656837"/>
            <a:ext cx="8509000" cy="3163326"/>
          </a:xfrm>
          <a:prstGeom prst="rect">
            <a:avLst/>
          </a:prstGeom>
        </p:spPr>
      </p:pic>
      <p:sp>
        <p:nvSpPr>
          <p:cNvPr id="8" name="text-6">
            <a:extLst>
              <a:ext uri="{FF2B5EF4-FFF2-40B4-BE49-F238E27FC236}">
                <a16:creationId xmlns:a16="http://schemas.microsoft.com/office/drawing/2014/main" id="{02232830-28DD-E18B-BFBE-5784C9DFB937}"/>
              </a:ext>
            </a:extLst>
          </p:cNvPr>
          <p:cNvSpPr txBox="1"/>
          <p:nvPr/>
        </p:nvSpPr>
        <p:spPr>
          <a:xfrm>
            <a:off x="9461500" y="1778000"/>
            <a:ext cx="2286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ER</a:t>
            </a:r>
            <a:r>
              <a:rPr kumimoji="1" lang="ja-JP" altLang="en-US" sz="2100">
                <a:solidFill>
                  <a:srgbClr val="17365D"/>
                </a:solidFill>
                <a:latin typeface="Meiryo" panose="020B0604030504040204" pitchFamily="50" charset="-128"/>
                <a:ea typeface="Meiryo" panose="020B0604030504040204" pitchFamily="50" charset="-128"/>
              </a:rPr>
              <a:t>上の結果</a:t>
            </a:r>
          </a:p>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p</a:t>
            </a:r>
            <a:r>
              <a:rPr kumimoji="1" lang="en-US" altLang="ja-JP" sz="1554" baseline="-16000">
                <a:solidFill>
                  <a:srgbClr val="17365D"/>
                </a:solidFill>
                <a:latin typeface="Meiryo" panose="020B0604030504040204" pitchFamily="50" charset="-128"/>
                <a:ea typeface="Meiryo" panose="020B0604030504040204" pitchFamily="50" charset="-128"/>
              </a:rPr>
              <a:t>c</a:t>
            </a:r>
            <a:r>
              <a:rPr kumimoji="1" lang="en-US" altLang="ja-JP" sz="2100">
                <a:solidFill>
                  <a:srgbClr val="17365D"/>
                </a:solidFill>
                <a:latin typeface="Meiryo" panose="020B0604030504040204" pitchFamily="50" charset="-128"/>
                <a:ea typeface="Meiryo" panose="020B0604030504040204" pitchFamily="50" charset="-128"/>
              </a:rPr>
              <a:t>=0.750</a:t>
            </a:r>
          </a:p>
          <a:p>
            <a:pPr>
              <a:lnSpc>
                <a:spcPct val="112000"/>
              </a:lnSpc>
            </a:pPr>
            <a:r>
              <a:rPr kumimoji="1" lang="el-GR" altLang="ja-JP" sz="2100">
                <a:solidFill>
                  <a:srgbClr val="17365D"/>
                </a:solidFill>
                <a:latin typeface="Meiryo" panose="020B0604030504040204" pitchFamily="50" charset="-128"/>
                <a:ea typeface="Meiryo" panose="020B0604030504040204" pitchFamily="50" charset="-128"/>
              </a:rPr>
              <a:t>Δ=0.005</a:t>
            </a:r>
            <a:endParaRPr kumimoji="1" lang="ja-JP" altLang="en-US" sz="2100">
              <a:solidFill>
                <a:srgbClr val="17365D"/>
              </a:solidFill>
              <a:latin typeface="Meiryo" panose="020B0604030504040204" pitchFamily="50" charset="-128"/>
              <a:ea typeface="Meiryo" panose="020B0604030504040204" pitchFamily="50" charset="-128"/>
            </a:endParaRPr>
          </a:p>
        </p:txBody>
      </p:sp>
      <p:sp>
        <p:nvSpPr>
          <p:cNvPr id="9" name="text-7">
            <a:extLst>
              <a:ext uri="{FF2B5EF4-FFF2-40B4-BE49-F238E27FC236}">
                <a16:creationId xmlns:a16="http://schemas.microsoft.com/office/drawing/2014/main" id="{0BB194A5-3E45-6A12-0C49-86ED5D3A4DE4}"/>
              </a:ext>
            </a:extLst>
          </p:cNvPr>
          <p:cNvSpPr txBox="1"/>
          <p:nvPr/>
        </p:nvSpPr>
        <p:spPr>
          <a:xfrm>
            <a:off x="9461500" y="3429000"/>
            <a:ext cx="2286000" cy="276999"/>
          </a:xfrm>
          <a:prstGeom prst="rect">
            <a:avLst/>
          </a:prstGeom>
          <a:noFill/>
        </p:spPr>
        <p:txBody>
          <a:bodyPr vert="horz" wrap="square" lIns="0" tIns="0" rIns="0" bIns="0" rtlCol="0">
            <a:noAutofit/>
          </a:bodyPr>
          <a:lstStyle/>
          <a:p>
            <a:pPr>
              <a:lnSpc>
                <a:spcPct val="112000"/>
              </a:lnSpc>
            </a:pPr>
            <a:r>
              <a:rPr kumimoji="1" lang="en-US" altLang="ja-JP">
                <a:solidFill>
                  <a:srgbClr val="253746"/>
                </a:solidFill>
                <a:latin typeface="Meiryo" panose="020B0604030504040204" pitchFamily="50" charset="-128"/>
                <a:ea typeface="Meiryo" panose="020B0604030504040204" pitchFamily="50" charset="-128"/>
              </a:rPr>
              <a:t>Δ</a:t>
            </a:r>
            <a:r>
              <a:rPr kumimoji="1" lang="ja-JP" altLang="en-US">
                <a:solidFill>
                  <a:srgbClr val="253746"/>
                </a:solidFill>
                <a:latin typeface="Meiryo" panose="020B0604030504040204" pitchFamily="50" charset="-128"/>
                <a:ea typeface="Meiryo" panose="020B0604030504040204" pitchFamily="50" charset="-128"/>
              </a:rPr>
              <a:t>：比較する</a:t>
            </a:r>
            <a:r>
              <a:rPr kumimoji="1" lang="en-US" altLang="ja-JP">
                <a:solidFill>
                  <a:srgbClr val="253746"/>
                </a:solidFill>
                <a:latin typeface="Meiryo" panose="020B0604030504040204" pitchFamily="50" charset="-128"/>
                <a:ea typeface="Meiryo" panose="020B0604030504040204" pitchFamily="50" charset="-128"/>
              </a:rPr>
              <a:t>p</a:t>
            </a:r>
            <a:r>
              <a:rPr kumimoji="1" lang="ja-JP" altLang="en-US">
                <a:solidFill>
                  <a:srgbClr val="253746"/>
                </a:solidFill>
                <a:latin typeface="Meiryo" panose="020B0604030504040204" pitchFamily="50" charset="-128"/>
                <a:ea typeface="Meiryo" panose="020B0604030504040204" pitchFamily="50" charset="-128"/>
              </a:rPr>
              <a:t>の幅</a:t>
            </a:r>
          </a:p>
          <a:p>
            <a:pPr>
              <a:lnSpc>
                <a:spcPct val="112000"/>
              </a:lnSpc>
            </a:pPr>
            <a:r>
              <a:rPr kumimoji="1" lang="en-US" altLang="ja-JP">
                <a:solidFill>
                  <a:srgbClr val="253746"/>
                </a:solidFill>
                <a:latin typeface="Meiryo" panose="020B0604030504040204" pitchFamily="50" charset="-128"/>
                <a:ea typeface="Meiryo" panose="020B0604030504040204" pitchFamily="50" charset="-128"/>
              </a:rPr>
              <a:t>r</a:t>
            </a:r>
            <a:r>
              <a:rPr kumimoji="1" lang="ja-JP" altLang="en-US">
                <a:solidFill>
                  <a:srgbClr val="253746"/>
                </a:solidFill>
                <a:latin typeface="Meiryo" panose="020B0604030504040204" pitchFamily="50" charset="-128"/>
                <a:ea typeface="Meiryo" panose="020B0604030504040204" pitchFamily="50" charset="-128"/>
              </a:rPr>
              <a:t>：回帰の相関係数</a:t>
            </a:r>
          </a:p>
        </p:txBody>
      </p:sp>
      <p:sp>
        <p:nvSpPr>
          <p:cNvPr id="10" name="text-8">
            <a:extLst>
              <a:ext uri="{FF2B5EF4-FFF2-40B4-BE49-F238E27FC236}">
                <a16:creationId xmlns:a16="http://schemas.microsoft.com/office/drawing/2014/main" id="{E2468A43-F735-8028-DAAB-8B9512C27006}"/>
              </a:ext>
            </a:extLst>
          </p:cNvPr>
          <p:cNvSpPr txBox="1"/>
          <p:nvPr/>
        </p:nvSpPr>
        <p:spPr>
          <a:xfrm>
            <a:off x="635000" y="5143500"/>
            <a:ext cx="10922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(a) </a:t>
            </a:r>
            <a:r>
              <a:rPr kumimoji="1" lang="ja-JP" altLang="en-US" sz="2100">
                <a:solidFill>
                  <a:srgbClr val="253746"/>
                </a:solidFill>
                <a:latin typeface="Meiryo" panose="020B0604030504040204" pitchFamily="50" charset="-128"/>
                <a:ea typeface="Meiryo" panose="020B0604030504040204" pitchFamily="50" charset="-128"/>
              </a:rPr>
              <a:t>固定</a:t>
            </a:r>
            <a:r>
              <a:rPr kumimoji="1" lang="en-US" altLang="ja-JP" sz="2100">
                <a:solidFill>
                  <a:srgbClr val="253746"/>
                </a:solidFill>
                <a:latin typeface="Meiryo" panose="020B0604030504040204" pitchFamily="50" charset="-128"/>
                <a:ea typeface="Meiryo" panose="020B0604030504040204" pitchFamily="50" charset="-128"/>
              </a:rPr>
              <a:t>p</a:t>
            </a:r>
            <a:r>
              <a:rPr kumimoji="1" lang="ja-JP" altLang="en-US" sz="2100">
                <a:solidFill>
                  <a:srgbClr val="253746"/>
                </a:solidFill>
                <a:latin typeface="Meiryo" panose="020B0604030504040204" pitchFamily="50" charset="-128"/>
                <a:ea typeface="Meiryo" panose="020B0604030504040204" pitchFamily="50" charset="-128"/>
              </a:rPr>
              <a:t>で平均</a:t>
            </a:r>
            <a:r>
              <a:rPr kumimoji="1" lang="en-US" altLang="ja-JP" sz="2100">
                <a:solidFill>
                  <a:srgbClr val="253746"/>
                </a:solidFill>
                <a:latin typeface="Meiryo" panose="020B0604030504040204" pitchFamily="50" charset="-128"/>
                <a:ea typeface="Meiryo" panose="020B0604030504040204" pitchFamily="50" charset="-128"/>
              </a:rPr>
              <a:t>P</a:t>
            </a:r>
            <a:r>
              <a:rPr kumimoji="1" lang="ja-JP" altLang="en-US" sz="2100">
                <a:solidFill>
                  <a:srgbClr val="253746"/>
                </a:solidFill>
                <a:latin typeface="Meiryo" panose="020B0604030504040204" pitchFamily="50" charset="-128"/>
                <a:ea typeface="Meiryo" panose="020B0604030504040204" pitchFamily="50" charset="-128"/>
              </a:rPr>
              <a:t>と</a:t>
            </a:r>
            <a:r>
              <a:rPr kumimoji="1" lang="en-US" altLang="ja-JP" sz="2100">
                <a:solidFill>
                  <a:srgbClr val="253746"/>
                </a:solidFill>
                <a:latin typeface="Meiryo" panose="020B0604030504040204" pitchFamily="50" charset="-128"/>
                <a:ea typeface="Meiryo" panose="020B0604030504040204" pitchFamily="50" charset="-128"/>
              </a:rPr>
              <a:t>N</a:t>
            </a:r>
            <a:r>
              <a:rPr kumimoji="1" lang="ja-JP" altLang="en-US" sz="2100">
                <a:solidFill>
                  <a:srgbClr val="253746"/>
                </a:solidFill>
                <a:latin typeface="Meiryo" panose="020B0604030504040204" pitchFamily="50" charset="-128"/>
                <a:ea typeface="Meiryo" panose="020B0604030504040204" pitchFamily="50" charset="-128"/>
              </a:rPr>
              <a:t>を両対数回帰し、決定係数</a:t>
            </a:r>
            <a:r>
              <a:rPr kumimoji="1" lang="en-US" altLang="ja-JP" sz="2100">
                <a:solidFill>
                  <a:srgbClr val="253746"/>
                </a:solidFill>
                <a:latin typeface="Meiryo" panose="020B0604030504040204" pitchFamily="50" charset="-128"/>
                <a:ea typeface="Meiryo" panose="020B0604030504040204" pitchFamily="50" charset="-128"/>
              </a:rPr>
              <a:t>r²</a:t>
            </a:r>
            <a:r>
              <a:rPr kumimoji="1" lang="ja-JP" altLang="en-US" sz="2100">
                <a:solidFill>
                  <a:srgbClr val="253746"/>
                </a:solidFill>
                <a:latin typeface="Meiryo" panose="020B0604030504040204" pitchFamily="50" charset="-128"/>
                <a:ea typeface="Meiryo" panose="020B0604030504040204" pitchFamily="50" charset="-128"/>
              </a:rPr>
              <a:t>の最大位置を探す。</a:t>
            </a:r>
          </a:p>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(b) p</a:t>
            </a:r>
            <a:r>
              <a:rPr kumimoji="1" lang="en-US" altLang="ja-JP" sz="1554" baseline="-160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と、その前後</a:t>
            </a:r>
            <a:r>
              <a:rPr kumimoji="1" lang="en-US" altLang="ja-JP" sz="2100">
                <a:solidFill>
                  <a:srgbClr val="253746"/>
                </a:solidFill>
                <a:latin typeface="Meiryo" panose="020B0604030504040204" pitchFamily="50" charset="-128"/>
                <a:ea typeface="Meiryo" panose="020B0604030504040204" pitchFamily="50" charset="-128"/>
              </a:rPr>
              <a:t>p</a:t>
            </a:r>
            <a:r>
              <a:rPr kumimoji="1" lang="en-US" altLang="ja-JP" sz="1554" baseline="-16000">
                <a:solidFill>
                  <a:srgbClr val="253746"/>
                </a:solidFill>
                <a:latin typeface="Meiryo" panose="020B0604030504040204" pitchFamily="50" charset="-128"/>
                <a:ea typeface="Meiryo" panose="020B0604030504040204" pitchFamily="50" charset="-128"/>
              </a:rPr>
              <a:t>c</a:t>
            </a:r>
            <a:r>
              <a:rPr kumimoji="1" lang="en-US" altLang="ja-JP" sz="2100">
                <a:solidFill>
                  <a:srgbClr val="253746"/>
                </a:solidFill>
                <a:latin typeface="Meiryo" panose="020B0604030504040204" pitchFamily="50" charset="-128"/>
                <a:ea typeface="Meiryo" panose="020B0604030504040204" pitchFamily="50" charset="-128"/>
              </a:rPr>
              <a:t>±Δ</a:t>
            </a:r>
            <a:r>
              <a:rPr kumimoji="1" lang="ja-JP" altLang="en-US" sz="2100">
                <a:solidFill>
                  <a:srgbClr val="253746"/>
                </a:solidFill>
                <a:latin typeface="Meiryo" panose="020B0604030504040204" pitchFamily="50" charset="-128"/>
                <a:ea typeface="Meiryo" panose="020B0604030504040204" pitchFamily="50" charset="-128"/>
              </a:rPr>
              <a:t>の平均</a:t>
            </a:r>
            <a:r>
              <a:rPr kumimoji="1" lang="en-US" altLang="ja-JP" sz="2100">
                <a:solidFill>
                  <a:srgbClr val="253746"/>
                </a:solidFill>
                <a:latin typeface="Meiryo" panose="020B0604030504040204" pitchFamily="50" charset="-128"/>
                <a:ea typeface="Meiryo" panose="020B0604030504040204" pitchFamily="50" charset="-128"/>
              </a:rPr>
              <a:t>P</a:t>
            </a:r>
            <a:r>
              <a:rPr kumimoji="1" lang="ja-JP" altLang="en-US" sz="2100">
                <a:solidFill>
                  <a:srgbClr val="253746"/>
                </a:solidFill>
                <a:latin typeface="Meiryo" panose="020B0604030504040204" pitchFamily="50" charset="-128"/>
                <a:ea typeface="Meiryo" panose="020B0604030504040204" pitchFamily="50" charset="-128"/>
              </a:rPr>
              <a:t>のサイズ依存を比較する。</a:t>
            </a:r>
          </a:p>
        </p:txBody>
      </p:sp>
    </p:spTree>
    <p:extLst>
      <p:ext uri="{BB962C8B-B14F-4D97-AF65-F5344CB8AC3E}">
        <p14:creationId xmlns:p14="http://schemas.microsoft.com/office/powerpoint/2010/main" val="3370424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E101311E-E033-0E4A-E938-824662DBDAD0}"/>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原論文の臨界点推定：制限なし</a:t>
            </a:r>
          </a:p>
        </p:txBody>
      </p:sp>
      <p:cxnSp>
        <p:nvCxnSpPr>
          <p:cNvPr id="3" name="直線コネクタ 2">
            <a:extLst>
              <a:ext uri="{FF2B5EF4-FFF2-40B4-BE49-F238E27FC236}">
                <a16:creationId xmlns:a16="http://schemas.microsoft.com/office/drawing/2014/main" id="{88303C83-0F32-94AF-1A27-916C0BE62A8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3CEC4A1-2C39-95BF-96B4-1276D6CE4D76}"/>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Fig.S1(c)(d)</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474CD252-5223-CEC5-A431-FF1D068E3200}"/>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19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1_cd.png">
            <a:extLst>
              <a:ext uri="{FF2B5EF4-FFF2-40B4-BE49-F238E27FC236}">
                <a16:creationId xmlns:a16="http://schemas.microsoft.com/office/drawing/2014/main" id="{2AA9FE1A-219C-1A73-48C9-1F0A7D8BFE3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687088"/>
            <a:ext cx="8509000" cy="3102825"/>
          </a:xfrm>
          <a:prstGeom prst="rect">
            <a:avLst/>
          </a:prstGeom>
        </p:spPr>
      </p:pic>
      <p:sp>
        <p:nvSpPr>
          <p:cNvPr id="8" name="text-6">
            <a:extLst>
              <a:ext uri="{FF2B5EF4-FFF2-40B4-BE49-F238E27FC236}">
                <a16:creationId xmlns:a16="http://schemas.microsoft.com/office/drawing/2014/main" id="{3187123C-AB1E-6FF3-9F22-67977D85EECB}"/>
              </a:ext>
            </a:extLst>
          </p:cNvPr>
          <p:cNvSpPr txBox="1"/>
          <p:nvPr/>
        </p:nvSpPr>
        <p:spPr>
          <a:xfrm>
            <a:off x="9461500" y="1778000"/>
            <a:ext cx="2286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ER</a:t>
            </a:r>
            <a:r>
              <a:rPr kumimoji="1" lang="ja-JP" altLang="en-US" sz="2100">
                <a:solidFill>
                  <a:srgbClr val="17365D"/>
                </a:solidFill>
                <a:latin typeface="Meiryo" panose="020B0604030504040204" pitchFamily="50" charset="-128"/>
                <a:ea typeface="Meiryo" panose="020B0604030504040204" pitchFamily="50" charset="-128"/>
              </a:rPr>
              <a:t>上の結果</a:t>
            </a:r>
          </a:p>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p</a:t>
            </a:r>
            <a:r>
              <a:rPr kumimoji="1" lang="en-US" altLang="ja-JP" sz="1554" baseline="-16000">
                <a:solidFill>
                  <a:srgbClr val="17365D"/>
                </a:solidFill>
                <a:latin typeface="Meiryo" panose="020B0604030504040204" pitchFamily="50" charset="-128"/>
                <a:ea typeface="Meiryo" panose="020B0604030504040204" pitchFamily="50" charset="-128"/>
              </a:rPr>
              <a:t>c</a:t>
            </a:r>
            <a:r>
              <a:rPr kumimoji="1" lang="en-US" altLang="ja-JP" sz="2100">
                <a:solidFill>
                  <a:srgbClr val="17365D"/>
                </a:solidFill>
                <a:latin typeface="Meiryo" panose="020B0604030504040204" pitchFamily="50" charset="-128"/>
                <a:ea typeface="Meiryo" panose="020B0604030504040204" pitchFamily="50" charset="-128"/>
              </a:rPr>
              <a:t>=0.646</a:t>
            </a:r>
          </a:p>
          <a:p>
            <a:pPr>
              <a:lnSpc>
                <a:spcPct val="112000"/>
              </a:lnSpc>
            </a:pPr>
            <a:r>
              <a:rPr kumimoji="1" lang="el-GR" altLang="ja-JP" sz="2100">
                <a:solidFill>
                  <a:srgbClr val="17365D"/>
                </a:solidFill>
                <a:latin typeface="Meiryo" panose="020B0604030504040204" pitchFamily="50" charset="-128"/>
                <a:ea typeface="Meiryo" panose="020B0604030504040204" pitchFamily="50" charset="-128"/>
              </a:rPr>
              <a:t>Δ=0.01</a:t>
            </a:r>
            <a:endParaRPr kumimoji="1" lang="ja-JP" altLang="en-US" sz="2100">
              <a:solidFill>
                <a:srgbClr val="17365D"/>
              </a:solidFill>
              <a:latin typeface="Meiryo" panose="020B0604030504040204" pitchFamily="50" charset="-128"/>
              <a:ea typeface="Meiryo" panose="020B0604030504040204" pitchFamily="50" charset="-128"/>
            </a:endParaRPr>
          </a:p>
        </p:txBody>
      </p:sp>
      <p:sp>
        <p:nvSpPr>
          <p:cNvPr id="9" name="text-7">
            <a:extLst>
              <a:ext uri="{FF2B5EF4-FFF2-40B4-BE49-F238E27FC236}">
                <a16:creationId xmlns:a16="http://schemas.microsoft.com/office/drawing/2014/main" id="{9A77D3FF-F6B7-9C99-133E-838FE75D4EB3}"/>
              </a:ext>
            </a:extLst>
          </p:cNvPr>
          <p:cNvSpPr txBox="1"/>
          <p:nvPr/>
        </p:nvSpPr>
        <p:spPr>
          <a:xfrm>
            <a:off x="9461500" y="3429000"/>
            <a:ext cx="2286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黒：</a:t>
            </a:r>
            <a:r>
              <a:rPr kumimoji="1" lang="en-US" altLang="ja-JP">
                <a:solidFill>
                  <a:srgbClr val="253746"/>
                </a:solidFill>
                <a:latin typeface="Meiryo" panose="020B0604030504040204" pitchFamily="50" charset="-128"/>
                <a:ea typeface="Meiryo" panose="020B0604030504040204" pitchFamily="50" charset="-128"/>
              </a:rPr>
              <a:t>p=p</a:t>
            </a:r>
            <a:r>
              <a:rPr kumimoji="1" lang="en-US" altLang="ja-JP" sz="1332" baseline="-16000">
                <a:solidFill>
                  <a:srgbClr val="253746"/>
                </a:solidFill>
                <a:latin typeface="Meiryo" panose="020B0604030504040204" pitchFamily="50" charset="-128"/>
                <a:ea typeface="Meiryo" panose="020B0604030504040204" pitchFamily="50" charset="-128"/>
              </a:rPr>
              <a:t>c</a:t>
            </a:r>
          </a:p>
          <a:p>
            <a:pPr>
              <a:lnSpc>
                <a:spcPct val="112000"/>
              </a:lnSpc>
            </a:pPr>
            <a:r>
              <a:rPr kumimoji="1" lang="ja-JP" altLang="en-US">
                <a:solidFill>
                  <a:srgbClr val="253746"/>
                </a:solidFill>
                <a:latin typeface="Meiryo" panose="020B0604030504040204" pitchFamily="50" charset="-128"/>
                <a:ea typeface="Meiryo" panose="020B0604030504040204" pitchFamily="50" charset="-128"/>
              </a:rPr>
              <a:t>紫：</a:t>
            </a:r>
            <a:r>
              <a:rPr kumimoji="1" lang="en-US" altLang="ja-JP">
                <a:solidFill>
                  <a:srgbClr val="253746"/>
                </a:solidFill>
                <a:latin typeface="Meiryo" panose="020B0604030504040204" pitchFamily="50" charset="-128"/>
                <a:ea typeface="Meiryo" panose="020B0604030504040204" pitchFamily="50" charset="-128"/>
              </a:rPr>
              <a:t>p=p</a:t>
            </a:r>
            <a:r>
              <a:rPr kumimoji="1" lang="en-US" altLang="ja-JP" sz="1332" baseline="-16000">
                <a:solidFill>
                  <a:srgbClr val="253746"/>
                </a:solidFill>
                <a:latin typeface="Meiryo" panose="020B0604030504040204" pitchFamily="50" charset="-128"/>
                <a:ea typeface="Meiryo" panose="020B0604030504040204" pitchFamily="50" charset="-128"/>
              </a:rPr>
              <a:t>c</a:t>
            </a:r>
            <a:r>
              <a:rPr kumimoji="1" lang="en-US" altLang="ja-JP">
                <a:solidFill>
                  <a:srgbClr val="253746"/>
                </a:solidFill>
                <a:latin typeface="Meiryo" panose="020B0604030504040204" pitchFamily="50" charset="-128"/>
                <a:ea typeface="Meiryo" panose="020B0604030504040204" pitchFamily="50" charset="-128"/>
              </a:rPr>
              <a:t>−</a:t>
            </a:r>
            <a:r>
              <a:rPr kumimoji="1" lang="el-GR" altLang="ja-JP">
                <a:solidFill>
                  <a:srgbClr val="253746"/>
                </a:solidFill>
                <a:latin typeface="Meiryo" panose="020B0604030504040204" pitchFamily="50" charset="-128"/>
                <a:ea typeface="Meiryo" panose="020B0604030504040204" pitchFamily="50" charset="-128"/>
              </a:rPr>
              <a:t>Δ</a:t>
            </a:r>
          </a:p>
          <a:p>
            <a:pPr>
              <a:lnSpc>
                <a:spcPct val="112000"/>
              </a:lnSpc>
            </a:pPr>
            <a:r>
              <a:rPr kumimoji="1" lang="ja-JP" altLang="en-US">
                <a:solidFill>
                  <a:srgbClr val="253746"/>
                </a:solidFill>
                <a:latin typeface="Meiryo" panose="020B0604030504040204" pitchFamily="50" charset="-128"/>
                <a:ea typeface="Meiryo" panose="020B0604030504040204" pitchFamily="50" charset="-128"/>
              </a:rPr>
              <a:t>赤：</a:t>
            </a:r>
            <a:r>
              <a:rPr kumimoji="1" lang="en-US" altLang="ja-JP">
                <a:solidFill>
                  <a:srgbClr val="253746"/>
                </a:solidFill>
                <a:latin typeface="Meiryo" panose="020B0604030504040204" pitchFamily="50" charset="-128"/>
                <a:ea typeface="Meiryo" panose="020B0604030504040204" pitchFamily="50" charset="-128"/>
              </a:rPr>
              <a:t>p=p</a:t>
            </a:r>
            <a:r>
              <a:rPr kumimoji="1" lang="en-US" altLang="ja-JP" sz="1332" baseline="-16000">
                <a:solidFill>
                  <a:srgbClr val="253746"/>
                </a:solidFill>
                <a:latin typeface="Meiryo" panose="020B0604030504040204" pitchFamily="50" charset="-128"/>
                <a:ea typeface="Meiryo" panose="020B0604030504040204" pitchFamily="50" charset="-128"/>
              </a:rPr>
              <a:t>c</a:t>
            </a:r>
            <a:r>
              <a:rPr kumimoji="1" lang="en-US" altLang="ja-JP">
                <a:solidFill>
                  <a:srgbClr val="253746"/>
                </a:solidFill>
                <a:latin typeface="Meiryo" panose="020B0604030504040204" pitchFamily="50" charset="-128"/>
                <a:ea typeface="Meiryo" panose="020B0604030504040204" pitchFamily="50" charset="-128"/>
              </a:rPr>
              <a:t>+</a:t>
            </a:r>
            <a:r>
              <a:rPr kumimoji="1" lang="el-GR" altLang="ja-JP">
                <a:solidFill>
                  <a:srgbClr val="253746"/>
                </a:solidFill>
                <a:latin typeface="Meiryo" panose="020B0604030504040204" pitchFamily="50" charset="-128"/>
                <a:ea typeface="Meiryo" panose="020B0604030504040204" pitchFamily="50" charset="-128"/>
              </a:rPr>
              <a:t>Δ</a:t>
            </a:r>
            <a:endParaRPr kumimoji="1" lang="ja-JP" altLang="en-US">
              <a:solidFill>
                <a:srgbClr val="253746"/>
              </a:solidFill>
              <a:latin typeface="Meiryo" panose="020B0604030504040204" pitchFamily="50" charset="-128"/>
              <a:ea typeface="Meiryo" panose="020B0604030504040204" pitchFamily="50" charset="-128"/>
            </a:endParaRPr>
          </a:p>
        </p:txBody>
      </p:sp>
      <p:sp>
        <p:nvSpPr>
          <p:cNvPr id="10" name="text-8">
            <a:extLst>
              <a:ext uri="{FF2B5EF4-FFF2-40B4-BE49-F238E27FC236}">
                <a16:creationId xmlns:a16="http://schemas.microsoft.com/office/drawing/2014/main" id="{6928B9E3-AB85-8E56-3866-B1DD6B0E915B}"/>
              </a:ext>
            </a:extLst>
          </p:cNvPr>
          <p:cNvSpPr txBox="1"/>
          <p:nvPr/>
        </p:nvSpPr>
        <p:spPr>
          <a:xfrm>
            <a:off x="635000" y="5143500"/>
            <a:ext cx="10922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(c)(d)</a:t>
            </a:r>
            <a:r>
              <a:rPr kumimoji="1" lang="ja-JP" altLang="en-US" sz="2100">
                <a:solidFill>
                  <a:srgbClr val="253746"/>
                </a:solidFill>
                <a:latin typeface="Meiryo" panose="020B0604030504040204" pitchFamily="50" charset="-128"/>
                <a:ea typeface="Meiryo" panose="020B0604030504040204" pitchFamily="50" charset="-128"/>
              </a:rPr>
              <a:t>は</a:t>
            </a:r>
            <a:r>
              <a:rPr kumimoji="1" lang="en-US" altLang="ja-JP" sz="2100">
                <a:solidFill>
                  <a:srgbClr val="253746"/>
                </a:solidFill>
                <a:latin typeface="Meiryo" panose="020B0604030504040204" pitchFamily="50" charset="-128"/>
                <a:ea typeface="Meiryo" panose="020B0604030504040204" pitchFamily="50" charset="-128"/>
              </a:rPr>
              <a:t>C=1</a:t>
            </a:r>
            <a:r>
              <a:rPr kumimoji="1" lang="ja-JP" altLang="en-US" sz="2100">
                <a:solidFill>
                  <a:srgbClr val="253746"/>
                </a:solidFill>
                <a:latin typeface="Meiryo" panose="020B0604030504040204" pitchFamily="50" charset="-128"/>
                <a:ea typeface="Meiryo" panose="020B0604030504040204" pitchFamily="50" charset="-128"/>
              </a:rPr>
              <a:t>と同じ手順。図</a:t>
            </a:r>
            <a:r>
              <a:rPr kumimoji="1" lang="en-US" altLang="ja-JP" sz="21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の</a:t>
            </a:r>
            <a:r>
              <a:rPr kumimoji="1" lang="en-US" altLang="ja-JP" sz="2100">
                <a:solidFill>
                  <a:srgbClr val="253746"/>
                </a:solidFill>
                <a:latin typeface="Meiryo" panose="020B0604030504040204" pitchFamily="50" charset="-128"/>
                <a:ea typeface="Meiryo" panose="020B0604030504040204" pitchFamily="50" charset="-128"/>
              </a:rPr>
              <a:t>r²</a:t>
            </a:r>
            <a:r>
              <a:rPr kumimoji="1" lang="ja-JP" altLang="en-US" sz="2100">
                <a:solidFill>
                  <a:srgbClr val="253746"/>
                </a:solidFill>
                <a:latin typeface="Meiryo" panose="020B0604030504040204" pitchFamily="50" charset="-128"/>
                <a:ea typeface="Meiryo" panose="020B0604030504040204" pitchFamily="50" charset="-128"/>
              </a:rPr>
              <a:t>軸は約</a:t>
            </a:r>
            <a:r>
              <a:rPr kumimoji="1" lang="en-US" altLang="ja-JP" sz="2100">
                <a:solidFill>
                  <a:srgbClr val="253746"/>
                </a:solidFill>
                <a:latin typeface="Meiryo" panose="020B0604030504040204" pitchFamily="50" charset="-128"/>
                <a:ea typeface="Meiryo" panose="020B0604030504040204" pitchFamily="50" charset="-128"/>
              </a:rPr>
              <a:t>0.7〜1</a:t>
            </a:r>
            <a:r>
              <a:rPr kumimoji="1" lang="ja-JP" altLang="en-US" sz="2100">
                <a:solidFill>
                  <a:srgbClr val="253746"/>
                </a:solidFill>
                <a:latin typeface="Meiryo" panose="020B0604030504040204" pitchFamily="50" charset="-128"/>
                <a:ea typeface="Meiryo" panose="020B0604030504040204" pitchFamily="50" charset="-128"/>
              </a:rPr>
              <a:t>に拡大。</a:t>
            </a:r>
          </a:p>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著者は、制限なしの固定</a:t>
            </a:r>
            <a:r>
              <a:rPr kumimoji="1" lang="en-US" altLang="ja-JP" sz="2100">
                <a:solidFill>
                  <a:srgbClr val="253746"/>
                </a:solidFill>
                <a:latin typeface="Meiryo" panose="020B0604030504040204" pitchFamily="50" charset="-128"/>
                <a:ea typeface="Meiryo" panose="020B0604030504040204" pitchFamily="50" charset="-128"/>
              </a:rPr>
              <a:t>p</a:t>
            </a:r>
            <a:r>
              <a:rPr kumimoji="1" lang="en-US" altLang="ja-JP" sz="1554" baseline="-160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での指数に強い有限サイズ効果を指摘する。</a:t>
            </a:r>
          </a:p>
        </p:txBody>
      </p:sp>
    </p:spTree>
    <p:extLst>
      <p:ext uri="{BB962C8B-B14F-4D97-AF65-F5344CB8AC3E}">
        <p14:creationId xmlns:p14="http://schemas.microsoft.com/office/powerpoint/2010/main" val="318967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606E2786-8EB4-1B90-504B-703953CB04C7}"/>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原論文のシフト則の当てはめ</a:t>
            </a:r>
          </a:p>
        </p:txBody>
      </p:sp>
      <p:cxnSp>
        <p:nvCxnSpPr>
          <p:cNvPr id="3" name="直線コネクタ 2">
            <a:extLst>
              <a:ext uri="{FF2B5EF4-FFF2-40B4-BE49-F238E27FC236}">
                <a16:creationId xmlns:a16="http://schemas.microsoft.com/office/drawing/2014/main" id="{79831CF1-B81C-6C6D-F800-EA0CC8F3AA1F}"/>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704DCC79-3392-BEAF-FE24-5525970D867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Fig.S2(a)</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(S9)</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CBBDB18B-8F85-DE99-E78D-1D471197254A}"/>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20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2_a.png">
            <a:extLst>
              <a:ext uri="{FF2B5EF4-FFF2-40B4-BE49-F238E27FC236}">
                <a16:creationId xmlns:a16="http://schemas.microsoft.com/office/drawing/2014/main" id="{15C596F5-DB1B-525C-A769-AFCE996BEF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1500" y="1602008"/>
            <a:ext cx="3619500" cy="4034984"/>
          </a:xfrm>
          <a:prstGeom prst="rect">
            <a:avLst/>
          </a:prstGeom>
        </p:spPr>
      </p:pic>
      <p:pic>
        <p:nvPicPr>
          <p:cNvPr id="9" name="source-or-equation-image-6" descr="eq_slope_shift.png">
            <a:extLst>
              <a:ext uri="{FF2B5EF4-FFF2-40B4-BE49-F238E27FC236}">
                <a16:creationId xmlns:a16="http://schemas.microsoft.com/office/drawing/2014/main" id="{E8A374E9-A18A-3696-A8A4-00681854CD6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826642" y="1651000"/>
            <a:ext cx="4729716" cy="863600"/>
          </a:xfrm>
          <a:prstGeom prst="rect">
            <a:avLst/>
          </a:prstGeom>
        </p:spPr>
      </p:pic>
      <p:sp>
        <p:nvSpPr>
          <p:cNvPr id="10" name="text-7">
            <a:extLst>
              <a:ext uri="{FF2B5EF4-FFF2-40B4-BE49-F238E27FC236}">
                <a16:creationId xmlns:a16="http://schemas.microsoft.com/office/drawing/2014/main" id="{A52F41F3-8135-BA58-B891-FC5F6E9780A5}"/>
              </a:ext>
            </a:extLst>
          </p:cNvPr>
          <p:cNvSpPr txBox="1"/>
          <p:nvPr/>
        </p:nvSpPr>
        <p:spPr>
          <a:xfrm>
            <a:off x="4953000" y="2857500"/>
            <a:ext cx="6604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Fig.S2(a)</a:t>
            </a:r>
            <a:r>
              <a:rPr kumimoji="1" lang="ja-JP" altLang="en-US" sz="2100">
                <a:solidFill>
                  <a:srgbClr val="17365D"/>
                </a:solidFill>
                <a:latin typeface="Meiryo" panose="020B0604030504040204" pitchFamily="50" charset="-128"/>
                <a:ea typeface="Meiryo" panose="020B0604030504040204" pitchFamily="50" charset="-128"/>
              </a:rPr>
              <a:t>：両対数の傾きから−</a:t>
            </a:r>
            <a:r>
              <a:rPr kumimoji="1" lang="en-US" altLang="ja-JP" sz="2100">
                <a:solidFill>
                  <a:srgbClr val="17365D"/>
                </a:solidFill>
                <a:latin typeface="Meiryo" panose="020B0604030504040204" pitchFamily="50" charset="-128"/>
                <a:ea typeface="Meiryo" panose="020B0604030504040204" pitchFamily="50" charset="-128"/>
              </a:rPr>
              <a:t>1/ν̄</a:t>
            </a:r>
            <a:r>
              <a:rPr kumimoji="1" lang="ja-JP" altLang="en-US" sz="2100">
                <a:solidFill>
                  <a:srgbClr val="17365D"/>
                </a:solidFill>
                <a:latin typeface="Meiryo" panose="020B0604030504040204" pitchFamily="50" charset="-128"/>
                <a:ea typeface="Meiryo" panose="020B0604030504040204" pitchFamily="50" charset="-128"/>
              </a:rPr>
              <a:t>を推定する。</a:t>
            </a:r>
          </a:p>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S9</a:t>
            </a:r>
            <a:r>
              <a:rPr kumimoji="1" lang="ja-JP" altLang="en-US" sz="2100">
                <a:solidFill>
                  <a:srgbClr val="17365D"/>
                </a:solidFill>
                <a:latin typeface="Meiryo" panose="020B0604030504040204" pitchFamily="50" charset="-128"/>
                <a:ea typeface="Meiryo" panose="020B0604030504040204" pitchFamily="50" charset="-128"/>
              </a:rPr>
              <a:t>が成り立ち、</a:t>
            </a:r>
            <a:r>
              <a:rPr kumimoji="1" lang="en-US" altLang="ja-JP" sz="2100">
                <a:solidFill>
                  <a:srgbClr val="17365D"/>
                </a:solidFill>
                <a:latin typeface="Meiryo" panose="020B0604030504040204" pitchFamily="50" charset="-128"/>
                <a:ea typeface="Meiryo" panose="020B0604030504040204" pitchFamily="50" charset="-128"/>
              </a:rPr>
              <a:t>b≠0</a:t>
            </a:r>
            <a:r>
              <a:rPr kumimoji="1" lang="ja-JP" altLang="en-US" sz="2100">
                <a:solidFill>
                  <a:srgbClr val="17365D"/>
                </a:solidFill>
                <a:latin typeface="Meiryo" panose="020B0604030504040204" pitchFamily="50" charset="-128"/>
                <a:ea typeface="Meiryo" panose="020B0604030504040204" pitchFamily="50" charset="-128"/>
              </a:rPr>
              <a:t>の場合。</a:t>
            </a:r>
          </a:p>
        </p:txBody>
      </p:sp>
      <p:pic>
        <p:nvPicPr>
          <p:cNvPr id="12" name="source-or-equation-image-8" descr="fig_s2_legend.png">
            <a:extLst>
              <a:ext uri="{FF2B5EF4-FFF2-40B4-BE49-F238E27FC236}">
                <a16:creationId xmlns:a16="http://schemas.microsoft.com/office/drawing/2014/main" id="{F30EFECC-41DB-38BD-C254-8A1A53621917}"/>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402410" y="4140200"/>
            <a:ext cx="1704680" cy="1524000"/>
          </a:xfrm>
          <a:prstGeom prst="rect">
            <a:avLst/>
          </a:prstGeom>
        </p:spPr>
      </p:pic>
      <p:sp>
        <p:nvSpPr>
          <p:cNvPr id="13" name="text-9">
            <a:extLst>
              <a:ext uri="{FF2B5EF4-FFF2-40B4-BE49-F238E27FC236}">
                <a16:creationId xmlns:a16="http://schemas.microsoft.com/office/drawing/2014/main" id="{0AC1ACE2-1A77-5A13-D223-D5552385FD3C}"/>
              </a:ext>
            </a:extLst>
          </p:cNvPr>
          <p:cNvSpPr txBox="1"/>
          <p:nvPr/>
        </p:nvSpPr>
        <p:spPr>
          <a:xfrm>
            <a:off x="7747000" y="4229100"/>
            <a:ext cx="3810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縦軸は見やすさのため</a:t>
            </a:r>
            <a:r>
              <a:rPr kumimoji="1" lang="en-US" altLang="ja-JP">
                <a:solidFill>
                  <a:srgbClr val="253746"/>
                </a:solidFill>
                <a:latin typeface="Meiryo" panose="020B0604030504040204" pitchFamily="50" charset="-128"/>
                <a:ea typeface="Meiryo" panose="020B0604030504040204" pitchFamily="50" charset="-128"/>
              </a:rPr>
              <a:t>10</a:t>
            </a:r>
            <a:r>
              <a:rPr kumimoji="1" lang="en-US" altLang="ja-JP" sz="1332" baseline="30000">
                <a:solidFill>
                  <a:srgbClr val="253746"/>
                </a:solidFill>
                <a:latin typeface="Meiryo" panose="020B0604030504040204" pitchFamily="50" charset="-128"/>
                <a:ea typeface="Meiryo" panose="020B0604030504040204" pitchFamily="50" charset="-128"/>
              </a:rPr>
              <a:t>X</a:t>
            </a:r>
            <a:r>
              <a:rPr kumimoji="1" lang="ja-JP" altLang="en-US">
                <a:solidFill>
                  <a:srgbClr val="253746"/>
                </a:solidFill>
                <a:latin typeface="Meiryo" panose="020B0604030504040204" pitchFamily="50" charset="-128"/>
                <a:ea typeface="Meiryo" panose="020B0604030504040204" pitchFamily="50" charset="-128"/>
              </a:rPr>
              <a:t>で割る。</a:t>
            </a:r>
          </a:p>
          <a:p>
            <a:pPr>
              <a:lnSpc>
                <a:spcPct val="112000"/>
              </a:lnSpc>
            </a:pPr>
            <a:r>
              <a:rPr kumimoji="1" lang="en-US" altLang="ja-JP">
                <a:solidFill>
                  <a:srgbClr val="253746"/>
                </a:solidFill>
                <a:latin typeface="Meiryo" panose="020B0604030504040204" pitchFamily="50" charset="-128"/>
                <a:ea typeface="Meiryo" panose="020B0604030504040204" pitchFamily="50" charset="-128"/>
              </a:rPr>
              <a:t>X=0,1,2,3</a:t>
            </a:r>
            <a:r>
              <a:rPr kumimoji="1" lang="ja-JP" altLang="en-US">
                <a:solidFill>
                  <a:srgbClr val="253746"/>
                </a:solidFill>
                <a:latin typeface="Meiryo" panose="020B0604030504040204" pitchFamily="50" charset="-128"/>
                <a:ea typeface="Meiryo" panose="020B0604030504040204" pitchFamily="50" charset="-128"/>
              </a:rPr>
              <a:t>を</a:t>
            </a:r>
            <a:r>
              <a:rPr kumimoji="1" lang="en-US" altLang="ja-JP">
                <a:solidFill>
                  <a:srgbClr val="253746"/>
                </a:solidFill>
                <a:latin typeface="Meiryo" panose="020B0604030504040204" pitchFamily="50" charset="-128"/>
                <a:ea typeface="Meiryo" panose="020B0604030504040204" pitchFamily="50" charset="-128"/>
              </a:rPr>
              <a:t>C=1,2,3,N</a:t>
            </a:r>
            <a:r>
              <a:rPr kumimoji="1" lang="ja-JP" altLang="en-US">
                <a:solidFill>
                  <a:srgbClr val="253746"/>
                </a:solidFill>
                <a:latin typeface="Meiryo" panose="020B0604030504040204" pitchFamily="50" charset="-128"/>
                <a:ea typeface="Meiryo" panose="020B0604030504040204" pitchFamily="50" charset="-128"/>
              </a:rPr>
              <a:t>に対応。</a:t>
            </a:r>
          </a:p>
          <a:p>
            <a:pPr>
              <a:lnSpc>
                <a:spcPct val="112000"/>
              </a:lnSpc>
            </a:pPr>
            <a:r>
              <a:rPr kumimoji="1" lang="ja-JP" altLang="en-US">
                <a:solidFill>
                  <a:srgbClr val="253746"/>
                </a:solidFill>
                <a:latin typeface="Meiryo" panose="020B0604030504040204" pitchFamily="50" charset="-128"/>
                <a:ea typeface="Meiryo" panose="020B0604030504040204" pitchFamily="50" charset="-128"/>
              </a:rPr>
              <a:t>定数倍は両対数の傾きを変えない。</a:t>
            </a:r>
          </a:p>
        </p:txBody>
      </p:sp>
      <p:sp>
        <p:nvSpPr>
          <p:cNvPr id="14" name="text-10">
            <a:extLst>
              <a:ext uri="{FF2B5EF4-FFF2-40B4-BE49-F238E27FC236}">
                <a16:creationId xmlns:a16="http://schemas.microsoft.com/office/drawing/2014/main" id="{C196351A-B7DA-7BBF-A300-66D37F0A82B0}"/>
              </a:ext>
            </a:extLst>
          </p:cNvPr>
          <p:cNvSpPr txBox="1"/>
          <p:nvPr/>
        </p:nvSpPr>
        <p:spPr>
          <a:xfrm>
            <a:off x="4953000" y="5765800"/>
            <a:ext cx="6604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絶対値の図なので、</a:t>
            </a:r>
            <a:r>
              <a:rPr kumimoji="1" lang="en-US" altLang="ja-JP">
                <a:solidFill>
                  <a:srgbClr val="253746"/>
                </a:solidFill>
                <a:latin typeface="Meiryo" panose="020B0604030504040204" pitchFamily="50" charset="-128"/>
                <a:ea typeface="Meiryo" panose="020B0604030504040204" pitchFamily="50" charset="-128"/>
              </a:rPr>
              <a:t>b</a:t>
            </a:r>
            <a:r>
              <a:rPr kumimoji="1" lang="ja-JP" altLang="en-US">
                <a:solidFill>
                  <a:srgbClr val="253746"/>
                </a:solidFill>
                <a:latin typeface="Meiryo" panose="020B0604030504040204" pitchFamily="50" charset="-128"/>
                <a:ea typeface="Meiryo" panose="020B0604030504040204" pitchFamily="50" charset="-128"/>
              </a:rPr>
              <a:t>の符号や近づく側は分からない。</a:t>
            </a:r>
          </a:p>
        </p:txBody>
      </p:sp>
    </p:spTree>
    <p:extLst>
      <p:ext uri="{BB962C8B-B14F-4D97-AF65-F5344CB8AC3E}">
        <p14:creationId xmlns:p14="http://schemas.microsoft.com/office/powerpoint/2010/main" val="3798004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ADD8293B-2B71-2E9E-B6F6-F84672816170}"/>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固定した臨界点での</a:t>
            </a:r>
            <a:r>
              <a:rPr kumimoji="1" lang="en-US" altLang="ja-JP" sz="3200" b="1">
                <a:solidFill>
                  <a:srgbClr val="17365D"/>
                </a:solidFill>
                <a:latin typeface="Meiryo" panose="020B0604030504040204" pitchFamily="50" charset="-128"/>
                <a:ea typeface="Meiryo" panose="020B0604030504040204" pitchFamily="50" charset="-128"/>
              </a:rPr>
              <a:t>P</a:t>
            </a:r>
            <a:r>
              <a:rPr kumimoji="1" lang="ja-JP" altLang="en-US" sz="3200" b="1">
                <a:solidFill>
                  <a:srgbClr val="17365D"/>
                </a:solidFill>
                <a:latin typeface="Meiryo" panose="020B0604030504040204" pitchFamily="50" charset="-128"/>
                <a:ea typeface="Meiryo" panose="020B0604030504040204" pitchFamily="50" charset="-128"/>
              </a:rPr>
              <a:t>・</a:t>
            </a:r>
            <a:r>
              <a:rPr kumimoji="1" lang="en-US" altLang="ja-JP" sz="3200" b="1">
                <a:solidFill>
                  <a:srgbClr val="17365D"/>
                </a:solidFill>
                <a:latin typeface="Meiryo" panose="020B0604030504040204" pitchFamily="50" charset="-128"/>
                <a:ea typeface="Meiryo" panose="020B0604030504040204" pitchFamily="50" charset="-128"/>
              </a:rPr>
              <a:t>S</a:t>
            </a:r>
            <a:r>
              <a:rPr kumimoji="1" lang="ja-JP" altLang="en-US" sz="3200" b="1">
                <a:solidFill>
                  <a:srgbClr val="17365D"/>
                </a:solidFill>
                <a:latin typeface="Meiryo" panose="020B0604030504040204" pitchFamily="50" charset="-128"/>
                <a:ea typeface="Meiryo" panose="020B0604030504040204" pitchFamily="50" charset="-128"/>
              </a:rPr>
              <a:t>の指数</a:t>
            </a:r>
          </a:p>
        </p:txBody>
      </p:sp>
      <p:cxnSp>
        <p:nvCxnSpPr>
          <p:cNvPr id="3" name="直線コネクタ 2">
            <a:extLst>
              <a:ext uri="{FF2B5EF4-FFF2-40B4-BE49-F238E27FC236}">
                <a16:creationId xmlns:a16="http://schemas.microsoft.com/office/drawing/2014/main" id="{CA97AC91-1BEE-5F3F-7C6B-11502E2C543F}"/>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383C30EA-F7A8-DE1E-B17D-854974EE69B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Fig.S2(b)(c)</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(S6)</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(S7)</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(S10)</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7CB9EBC3-E958-1829-09BC-3C680E16043E}"/>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21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2_bc.png">
            <a:extLst>
              <a:ext uri="{FF2B5EF4-FFF2-40B4-BE49-F238E27FC236}">
                <a16:creationId xmlns:a16="http://schemas.microsoft.com/office/drawing/2014/main" id="{AF13088C-CECC-6053-BF04-322D9D4A708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608548"/>
            <a:ext cx="7112000" cy="4021904"/>
          </a:xfrm>
          <a:prstGeom prst="rect">
            <a:avLst/>
          </a:prstGeom>
        </p:spPr>
      </p:pic>
      <p:sp>
        <p:nvSpPr>
          <p:cNvPr id="8" name="text-6">
            <a:extLst>
              <a:ext uri="{FF2B5EF4-FFF2-40B4-BE49-F238E27FC236}">
                <a16:creationId xmlns:a16="http://schemas.microsoft.com/office/drawing/2014/main" id="{D50B9D31-FF48-B5C6-52D3-D3BA1D9DF4A0}"/>
              </a:ext>
            </a:extLst>
          </p:cNvPr>
          <p:cNvSpPr txBox="1"/>
          <p:nvPr/>
        </p:nvSpPr>
        <p:spPr>
          <a:xfrm>
            <a:off x="8255000" y="1841500"/>
            <a:ext cx="34925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(b) </a:t>
            </a:r>
            <a:r>
              <a:rPr kumimoji="1" lang="ja-JP" altLang="en-US" sz="2000">
                <a:solidFill>
                  <a:srgbClr val="17365D"/>
                </a:solidFill>
                <a:latin typeface="Meiryo" panose="020B0604030504040204" pitchFamily="50" charset="-128"/>
                <a:ea typeface="Meiryo" panose="020B0604030504040204" pitchFamily="50" charset="-128"/>
              </a:rPr>
              <a:t>平均</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の傾き：−</a:t>
            </a:r>
            <a:r>
              <a:rPr kumimoji="1" lang="en-US" altLang="ja-JP" sz="2000">
                <a:solidFill>
                  <a:srgbClr val="17365D"/>
                </a:solidFill>
                <a:latin typeface="Meiryo" panose="020B0604030504040204" pitchFamily="50" charset="-128"/>
                <a:ea typeface="Meiryo" panose="020B0604030504040204" pitchFamily="50" charset="-128"/>
              </a:rPr>
              <a:t>β/ν̄</a:t>
            </a:r>
          </a:p>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(c) </a:t>
            </a:r>
            <a:r>
              <a:rPr kumimoji="1" lang="ja-JP" altLang="en-US" sz="2000">
                <a:solidFill>
                  <a:srgbClr val="17365D"/>
                </a:solidFill>
                <a:latin typeface="Meiryo" panose="020B0604030504040204" pitchFamily="50" charset="-128"/>
                <a:ea typeface="Meiryo" panose="020B0604030504040204" pitchFamily="50" charset="-128"/>
              </a:rPr>
              <a:t>平均</a:t>
            </a:r>
            <a:r>
              <a:rPr kumimoji="1" lang="en-US" altLang="ja-JP" sz="2000">
                <a:solidFill>
                  <a:srgbClr val="17365D"/>
                </a:solidFill>
                <a:latin typeface="Meiryo" panose="020B0604030504040204" pitchFamily="50" charset="-128"/>
                <a:ea typeface="Meiryo" panose="020B0604030504040204" pitchFamily="50" charset="-128"/>
              </a:rPr>
              <a:t>S</a:t>
            </a:r>
            <a:r>
              <a:rPr kumimoji="1" lang="ja-JP" altLang="en-US" sz="2000">
                <a:solidFill>
                  <a:srgbClr val="17365D"/>
                </a:solidFill>
                <a:latin typeface="Meiryo" panose="020B0604030504040204" pitchFamily="50" charset="-128"/>
                <a:ea typeface="Meiryo" panose="020B0604030504040204" pitchFamily="50" charset="-128"/>
              </a:rPr>
              <a:t>の傾き： </a:t>
            </a:r>
            <a:r>
              <a:rPr kumimoji="1" lang="en-US" altLang="ja-JP" sz="2000">
                <a:solidFill>
                  <a:srgbClr val="17365D"/>
                </a:solidFill>
                <a:latin typeface="Meiryo" panose="020B0604030504040204" pitchFamily="50" charset="-128"/>
                <a:ea typeface="Meiryo" panose="020B0604030504040204" pitchFamily="50" charset="-128"/>
              </a:rPr>
              <a:t>γ/ν̄</a:t>
            </a:r>
          </a:p>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全</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で同じ</a:t>
            </a:r>
            <a:r>
              <a:rPr kumimoji="1" lang="en-US" altLang="ja-JP" sz="2000">
                <a:solidFill>
                  <a:srgbClr val="17365D"/>
                </a:solidFill>
                <a:latin typeface="Meiryo" panose="020B0604030504040204" pitchFamily="50" charset="-128"/>
                <a:ea typeface="Meiryo" panose="020B0604030504040204" pitchFamily="50" charset="-128"/>
              </a:rPr>
              <a:t>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ja-JP" altLang="en-US" sz="2000">
                <a:solidFill>
                  <a:srgbClr val="17365D"/>
                </a:solidFill>
                <a:latin typeface="Meiryo" panose="020B0604030504040204" pitchFamily="50" charset="-128"/>
                <a:ea typeface="Meiryo" panose="020B0604030504040204" pitchFamily="50" charset="-128"/>
              </a:rPr>
              <a:t>を用いる。</a:t>
            </a:r>
          </a:p>
        </p:txBody>
      </p:sp>
      <p:pic>
        <p:nvPicPr>
          <p:cNvPr id="10" name="source-or-equation-image-7" descr="fig_s2_legend.png">
            <a:extLst>
              <a:ext uri="{FF2B5EF4-FFF2-40B4-BE49-F238E27FC236}">
                <a16:creationId xmlns:a16="http://schemas.microsoft.com/office/drawing/2014/main" id="{603F085F-3F74-A2B1-CAC8-DC1983103A5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94954" y="3708400"/>
            <a:ext cx="1733092" cy="1549400"/>
          </a:xfrm>
          <a:prstGeom prst="rect">
            <a:avLst/>
          </a:prstGeom>
        </p:spPr>
      </p:pic>
      <p:sp>
        <p:nvSpPr>
          <p:cNvPr id="11" name="text-8">
            <a:extLst>
              <a:ext uri="{FF2B5EF4-FFF2-40B4-BE49-F238E27FC236}">
                <a16:creationId xmlns:a16="http://schemas.microsoft.com/office/drawing/2014/main" id="{698E7CA4-31E9-EB62-6BB4-69BEB55A0C45}"/>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sz="1700">
                <a:solidFill>
                  <a:srgbClr val="253746"/>
                </a:solidFill>
                <a:latin typeface="Meiryo" panose="020B0604030504040204" pitchFamily="50" charset="-128"/>
                <a:ea typeface="Meiryo" panose="020B0604030504040204" pitchFamily="50" charset="-128"/>
              </a:rPr>
              <a:t>両対数軸。縦軸の</a:t>
            </a:r>
            <a:r>
              <a:rPr kumimoji="1" lang="en-US" altLang="ja-JP" sz="1700">
                <a:solidFill>
                  <a:srgbClr val="253746"/>
                </a:solidFill>
                <a:latin typeface="Meiryo" panose="020B0604030504040204" pitchFamily="50" charset="-128"/>
                <a:ea typeface="Meiryo" panose="020B0604030504040204" pitchFamily="50" charset="-128"/>
              </a:rPr>
              <a:t>10</a:t>
            </a:r>
            <a:r>
              <a:rPr kumimoji="1" lang="en-US" altLang="ja-JP" sz="1258" baseline="30000">
                <a:solidFill>
                  <a:srgbClr val="253746"/>
                </a:solidFill>
                <a:latin typeface="Meiryo" panose="020B0604030504040204" pitchFamily="50" charset="-128"/>
                <a:ea typeface="Meiryo" panose="020B0604030504040204" pitchFamily="50" charset="-128"/>
              </a:rPr>
              <a:t>X</a:t>
            </a:r>
            <a:r>
              <a:rPr kumimoji="1" lang="ja-JP" altLang="en-US" sz="1700">
                <a:solidFill>
                  <a:srgbClr val="253746"/>
                </a:solidFill>
                <a:latin typeface="Meiryo" panose="020B0604030504040204" pitchFamily="50" charset="-128"/>
                <a:ea typeface="Meiryo" panose="020B0604030504040204" pitchFamily="50" charset="-128"/>
              </a:rPr>
              <a:t>による定数倍、誤差棒省略は原図の表示。</a:t>
            </a:r>
          </a:p>
        </p:txBody>
      </p:sp>
    </p:spTree>
    <p:extLst>
      <p:ext uri="{BB962C8B-B14F-4D97-AF65-F5344CB8AC3E}">
        <p14:creationId xmlns:p14="http://schemas.microsoft.com/office/powerpoint/2010/main" val="3886222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3D5E0198-F685-715A-29AC-E18400DC2643}"/>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疑似臨界点での</a:t>
            </a:r>
            <a:r>
              <a:rPr kumimoji="1" lang="en-US" altLang="ja-JP" sz="3200" b="1">
                <a:solidFill>
                  <a:srgbClr val="17365D"/>
                </a:solidFill>
                <a:latin typeface="Meiryo" panose="020B0604030504040204" pitchFamily="50" charset="-128"/>
                <a:ea typeface="Meiryo" panose="020B0604030504040204" pitchFamily="50" charset="-128"/>
              </a:rPr>
              <a:t>P</a:t>
            </a:r>
            <a:r>
              <a:rPr kumimoji="1" lang="ja-JP" altLang="en-US" sz="3200" b="1">
                <a:solidFill>
                  <a:srgbClr val="17365D"/>
                </a:solidFill>
                <a:latin typeface="Meiryo" panose="020B0604030504040204" pitchFamily="50" charset="-128"/>
                <a:ea typeface="Meiryo" panose="020B0604030504040204" pitchFamily="50" charset="-128"/>
              </a:rPr>
              <a:t>・</a:t>
            </a:r>
            <a:r>
              <a:rPr kumimoji="1" lang="en-US" altLang="ja-JP" sz="3200" b="1">
                <a:solidFill>
                  <a:srgbClr val="17365D"/>
                </a:solidFill>
                <a:latin typeface="Meiryo" panose="020B0604030504040204" pitchFamily="50" charset="-128"/>
                <a:ea typeface="Meiryo" panose="020B0604030504040204" pitchFamily="50" charset="-128"/>
              </a:rPr>
              <a:t>S</a:t>
            </a:r>
            <a:r>
              <a:rPr kumimoji="1" lang="ja-JP" altLang="en-US" sz="3200" b="1">
                <a:solidFill>
                  <a:srgbClr val="17365D"/>
                </a:solidFill>
                <a:latin typeface="Meiryo" panose="020B0604030504040204" pitchFamily="50" charset="-128"/>
                <a:ea typeface="Meiryo" panose="020B0604030504040204" pitchFamily="50" charset="-128"/>
              </a:rPr>
              <a:t>の指数</a:t>
            </a:r>
          </a:p>
        </p:txBody>
      </p:sp>
      <p:cxnSp>
        <p:nvCxnSpPr>
          <p:cNvPr id="3" name="直線コネクタ 2">
            <a:extLst>
              <a:ext uri="{FF2B5EF4-FFF2-40B4-BE49-F238E27FC236}">
                <a16:creationId xmlns:a16="http://schemas.microsoft.com/office/drawing/2014/main" id="{5DC836E6-2700-ACB4-8D47-2B4D9C07221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23090BAF-865C-84B3-05CB-5E0005163EA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Fig.S2(d)(e)</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A2892057-C3BA-3DFF-6D21-6A05BD1516E9}"/>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22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2_de.png">
            <a:extLst>
              <a:ext uri="{FF2B5EF4-FFF2-40B4-BE49-F238E27FC236}">
                <a16:creationId xmlns:a16="http://schemas.microsoft.com/office/drawing/2014/main" id="{3E2C7135-E2A3-9F23-3A28-B0C569360A5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47232" y="1587500"/>
            <a:ext cx="7033537" cy="4064000"/>
          </a:xfrm>
          <a:prstGeom prst="rect">
            <a:avLst/>
          </a:prstGeom>
        </p:spPr>
      </p:pic>
      <p:sp>
        <p:nvSpPr>
          <p:cNvPr id="8" name="text-6">
            <a:extLst>
              <a:ext uri="{FF2B5EF4-FFF2-40B4-BE49-F238E27FC236}">
                <a16:creationId xmlns:a16="http://schemas.microsoft.com/office/drawing/2014/main" id="{8583BE20-7E58-F6B0-B77E-0086A2B6F6B8}"/>
              </a:ext>
            </a:extLst>
          </p:cNvPr>
          <p:cNvSpPr txBox="1"/>
          <p:nvPr/>
        </p:nvSpPr>
        <p:spPr>
          <a:xfrm>
            <a:off x="8255000" y="1841500"/>
            <a:ext cx="34925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(d) 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の傾き：−</a:t>
            </a:r>
            <a:r>
              <a:rPr kumimoji="1" lang="el-GR" altLang="ja-JP" sz="2000">
                <a:solidFill>
                  <a:srgbClr val="17365D"/>
                </a:solidFill>
                <a:latin typeface="Meiryo" panose="020B0604030504040204" pitchFamily="50" charset="-128"/>
                <a:ea typeface="Meiryo" panose="020B0604030504040204" pitchFamily="50" charset="-128"/>
              </a:rPr>
              <a:t>β/ν̄</a:t>
            </a:r>
          </a:p>
          <a:p>
            <a:pPr>
              <a:lnSpc>
                <a:spcPct val="112000"/>
              </a:lnSpc>
            </a:pPr>
            <a:r>
              <a:rPr kumimoji="1" lang="el-GR" altLang="ja-JP" sz="2000">
                <a:solidFill>
                  <a:srgbClr val="17365D"/>
                </a:solidFill>
                <a:latin typeface="Meiryo" panose="020B0604030504040204" pitchFamily="50" charset="-128"/>
                <a:ea typeface="Meiryo" panose="020B0604030504040204" pitchFamily="50" charset="-128"/>
              </a:rPr>
              <a:t>(</a:t>
            </a:r>
            <a:r>
              <a:rPr kumimoji="1" lang="en-US" altLang="ja-JP" sz="2000">
                <a:solidFill>
                  <a:srgbClr val="17365D"/>
                </a:solidFill>
                <a:latin typeface="Meiryo" panose="020B0604030504040204" pitchFamily="50" charset="-128"/>
                <a:ea typeface="Meiryo" panose="020B0604030504040204" pitchFamily="50" charset="-128"/>
              </a:rPr>
              <a:t>e) S</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の傾き： </a:t>
            </a:r>
            <a:r>
              <a:rPr kumimoji="1" lang="el-GR" altLang="ja-JP" sz="2000">
                <a:solidFill>
                  <a:srgbClr val="17365D"/>
                </a:solidFill>
                <a:latin typeface="Meiryo" panose="020B0604030504040204" pitchFamily="50" charset="-128"/>
                <a:ea typeface="Meiryo" panose="020B0604030504040204" pitchFamily="50" charset="-128"/>
              </a:rPr>
              <a:t>γ/ν̄</a:t>
            </a:r>
          </a:p>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ごとに</a:t>
            </a:r>
            <a:r>
              <a:rPr kumimoji="1" lang="en-US" altLang="ja-JP" sz="2000">
                <a:solidFill>
                  <a:srgbClr val="17365D"/>
                </a:solidFill>
                <a:latin typeface="Meiryo" panose="020B0604030504040204" pitchFamily="50" charset="-128"/>
                <a:ea typeface="Meiryo" panose="020B0604030504040204" pitchFamily="50" charset="-128"/>
              </a:rPr>
              <a:t>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を用いる。</a:t>
            </a:r>
          </a:p>
        </p:txBody>
      </p:sp>
      <p:pic>
        <p:nvPicPr>
          <p:cNvPr id="10" name="source-or-equation-image-7" descr="fig_s2_legend.png">
            <a:extLst>
              <a:ext uri="{FF2B5EF4-FFF2-40B4-BE49-F238E27FC236}">
                <a16:creationId xmlns:a16="http://schemas.microsoft.com/office/drawing/2014/main" id="{0AD4D2EA-B275-C2A7-8AA9-4FCDF4D6A6A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94954" y="3708400"/>
            <a:ext cx="1733092" cy="1549400"/>
          </a:xfrm>
          <a:prstGeom prst="rect">
            <a:avLst/>
          </a:prstGeom>
        </p:spPr>
      </p:pic>
      <p:sp>
        <p:nvSpPr>
          <p:cNvPr id="11" name="text-8">
            <a:extLst>
              <a:ext uri="{FF2B5EF4-FFF2-40B4-BE49-F238E27FC236}">
                <a16:creationId xmlns:a16="http://schemas.microsoft.com/office/drawing/2014/main" id="{981F2BA3-54E8-215F-2E81-61B69F63BE0F}"/>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同じ指数比を狙う方法でも、評価位置と有限サイズ効果を区別する。</a:t>
            </a:r>
          </a:p>
        </p:txBody>
      </p:sp>
    </p:spTree>
    <p:extLst>
      <p:ext uri="{BB962C8B-B14F-4D97-AF65-F5344CB8AC3E}">
        <p14:creationId xmlns:p14="http://schemas.microsoft.com/office/powerpoint/2010/main" val="2976261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22B59132-B724-A744-3D34-95471BF47ECF}"/>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原論文の推定値と</a:t>
            </a:r>
            <a:r>
              <a:rPr kumimoji="1" lang="en-US" altLang="ja-JP" sz="3200" b="1">
                <a:solidFill>
                  <a:srgbClr val="17365D"/>
                </a:solidFill>
                <a:latin typeface="Meiryo" panose="020B0604030504040204" pitchFamily="50" charset="-128"/>
                <a:ea typeface="Meiryo" panose="020B0604030504040204" pitchFamily="50" charset="-128"/>
              </a:rPr>
              <a:t>2D</a:t>
            </a:r>
            <a:r>
              <a:rPr kumimoji="1" lang="ja-JP" altLang="en-US" sz="3200" b="1">
                <a:solidFill>
                  <a:srgbClr val="17365D"/>
                </a:solidFill>
                <a:latin typeface="Meiryo" panose="020B0604030504040204" pitchFamily="50" charset="-128"/>
                <a:ea typeface="Meiryo" panose="020B0604030504040204" pitchFamily="50" charset="-128"/>
              </a:rPr>
              <a:t>格子との区別</a:t>
            </a:r>
          </a:p>
        </p:txBody>
      </p:sp>
      <p:cxnSp>
        <p:nvCxnSpPr>
          <p:cNvPr id="3" name="直線コネクタ 2">
            <a:extLst>
              <a:ext uri="{FF2B5EF4-FFF2-40B4-BE49-F238E27FC236}">
                <a16:creationId xmlns:a16="http://schemas.microsoft.com/office/drawing/2014/main" id="{AC256109-AFEF-73BE-369E-8367B51BFB35}"/>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17E5431-0AE0-3144-4B62-7B04FDA1DC46}"/>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Table S2</a:t>
            </a:r>
            <a:r>
              <a:rPr kumimoji="1" lang="ja-JP" altLang="en-US" sz="950">
                <a:solidFill>
                  <a:srgbClr val="566573"/>
                </a:solidFill>
                <a:latin typeface="Meiryo" panose="020B0604030504040204" pitchFamily="50" charset="-128"/>
                <a:ea typeface="Meiryo" panose="020B0604030504040204" pitchFamily="50" charset="-128"/>
              </a:rPr>
              <a:t>。主論文</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047402-3</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F04CAC83-A8A1-37C7-64E1-A5C03CF24FAE}"/>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23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table_s2.png">
            <a:extLst>
              <a:ext uri="{FF2B5EF4-FFF2-40B4-BE49-F238E27FC236}">
                <a16:creationId xmlns:a16="http://schemas.microsoft.com/office/drawing/2014/main" id="{137E8FFC-47E4-61DA-A6AE-B2FAB90A763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87026" y="1485900"/>
            <a:ext cx="10617947" cy="2959100"/>
          </a:xfrm>
          <a:prstGeom prst="rect">
            <a:avLst/>
          </a:prstGeom>
        </p:spPr>
      </p:pic>
      <p:sp>
        <p:nvSpPr>
          <p:cNvPr id="8" name="text-6">
            <a:extLst>
              <a:ext uri="{FF2B5EF4-FFF2-40B4-BE49-F238E27FC236}">
                <a16:creationId xmlns:a16="http://schemas.microsoft.com/office/drawing/2014/main" id="{88CDE617-EAEA-79D5-3022-6FF619AF747A}"/>
              </a:ext>
            </a:extLst>
          </p:cNvPr>
          <p:cNvSpPr txBox="1"/>
          <p:nvPr/>
        </p:nvSpPr>
        <p:spPr>
          <a:xfrm>
            <a:off x="635000" y="4495800"/>
            <a:ext cx="10922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ER</a:t>
            </a:r>
            <a:r>
              <a:rPr kumimoji="1" lang="ja-JP" altLang="en-US" sz="1900">
                <a:solidFill>
                  <a:srgbClr val="253746"/>
                </a:solidFill>
                <a:latin typeface="Meiryo" panose="020B0604030504040204" pitchFamily="50" charset="-128"/>
                <a:ea typeface="Meiryo" panose="020B0604030504040204" pitchFamily="50" charset="-128"/>
              </a:rPr>
              <a:t>の</a:t>
            </a:r>
            <a:r>
              <a:rPr kumimoji="1" lang="en-US" altLang="ja-JP" sz="1900">
                <a:solidFill>
                  <a:srgbClr val="253746"/>
                </a:solidFill>
                <a:latin typeface="Meiryo" panose="020B0604030504040204" pitchFamily="50" charset="-128"/>
                <a:ea typeface="Meiryo" panose="020B0604030504040204" pitchFamily="50" charset="-128"/>
              </a:rPr>
              <a:t>Table S2</a:t>
            </a:r>
            <a:r>
              <a:rPr kumimoji="1" lang="ja-JP" altLang="en-US" sz="1900">
                <a:solidFill>
                  <a:srgbClr val="253746"/>
                </a:solidFill>
                <a:latin typeface="Meiryo" panose="020B0604030504040204" pitchFamily="50" charset="-128"/>
                <a:ea typeface="Meiryo" panose="020B0604030504040204" pitchFamily="50" charset="-128"/>
              </a:rPr>
              <a:t>：</a:t>
            </a:r>
            <a:r>
              <a:rPr kumimoji="1" lang="en-US" altLang="ja-JP" sz="1900">
                <a:solidFill>
                  <a:srgbClr val="253746"/>
                </a:solidFill>
                <a:latin typeface="Meiryo" panose="020B0604030504040204" pitchFamily="50" charset="-128"/>
                <a:ea typeface="Meiryo" panose="020B0604030504040204" pitchFamily="50" charset="-128"/>
              </a:rPr>
              <a:t>critical</a:t>
            </a:r>
            <a:r>
              <a:rPr kumimoji="1" lang="ja-JP" altLang="en-US" sz="1900">
                <a:solidFill>
                  <a:srgbClr val="253746"/>
                </a:solidFill>
                <a:latin typeface="Meiryo" panose="020B0604030504040204" pitchFamily="50" charset="-128"/>
                <a:ea typeface="Meiryo" panose="020B0604030504040204" pitchFamily="50" charset="-128"/>
              </a:rPr>
              <a:t>は固定</a:t>
            </a:r>
            <a:r>
              <a:rPr kumimoji="1" lang="en-US" altLang="ja-JP" sz="1900">
                <a:solidFill>
                  <a:srgbClr val="253746"/>
                </a:solidFill>
                <a:latin typeface="Meiryo" panose="020B0604030504040204" pitchFamily="50" charset="-128"/>
                <a:ea typeface="Meiryo" panose="020B0604030504040204" pitchFamily="50" charset="-128"/>
              </a:rPr>
              <a:t>p</a:t>
            </a:r>
            <a:r>
              <a:rPr kumimoji="1" lang="en-US" altLang="ja-JP" sz="1406" baseline="-16000">
                <a:solidFill>
                  <a:srgbClr val="253746"/>
                </a:solidFill>
                <a:latin typeface="Meiryo" panose="020B0604030504040204" pitchFamily="50" charset="-128"/>
                <a:ea typeface="Meiryo" panose="020B0604030504040204" pitchFamily="50" charset="-128"/>
              </a:rPr>
              <a:t>c</a:t>
            </a:r>
            <a:r>
              <a:rPr kumimoji="1" lang="ja-JP" altLang="en-US" sz="1900">
                <a:solidFill>
                  <a:srgbClr val="253746"/>
                </a:solidFill>
                <a:latin typeface="Meiryo" panose="020B0604030504040204" pitchFamily="50" charset="-128"/>
                <a:ea typeface="Meiryo" panose="020B0604030504040204" pitchFamily="50" charset="-128"/>
              </a:rPr>
              <a:t>、</a:t>
            </a:r>
            <a:r>
              <a:rPr kumimoji="1" lang="en-US" altLang="ja-JP" sz="1900">
                <a:solidFill>
                  <a:srgbClr val="253746"/>
                </a:solidFill>
                <a:latin typeface="Meiryo" panose="020B0604030504040204" pitchFamily="50" charset="-128"/>
                <a:ea typeface="Meiryo" panose="020B0604030504040204" pitchFamily="50" charset="-128"/>
              </a:rPr>
              <a:t>pseudo-critical</a:t>
            </a:r>
            <a:r>
              <a:rPr kumimoji="1" lang="ja-JP" altLang="en-US" sz="1900">
                <a:solidFill>
                  <a:srgbClr val="253746"/>
                </a:solidFill>
                <a:latin typeface="Meiryo" panose="020B0604030504040204" pitchFamily="50" charset="-128"/>
                <a:ea typeface="Meiryo" panose="020B0604030504040204" pitchFamily="50" charset="-128"/>
              </a:rPr>
              <a:t>は平均</a:t>
            </a:r>
            <a:r>
              <a:rPr kumimoji="1" lang="en-US" altLang="ja-JP" sz="1900">
                <a:solidFill>
                  <a:srgbClr val="253746"/>
                </a:solidFill>
                <a:latin typeface="Meiryo" panose="020B0604030504040204" pitchFamily="50" charset="-128"/>
                <a:ea typeface="Meiryo" panose="020B0604030504040204" pitchFamily="50" charset="-128"/>
              </a:rPr>
              <a:t>S</a:t>
            </a:r>
            <a:r>
              <a:rPr kumimoji="1" lang="ja-JP" altLang="en-US" sz="1900">
                <a:solidFill>
                  <a:srgbClr val="253746"/>
                </a:solidFill>
                <a:latin typeface="Meiryo" panose="020B0604030504040204" pitchFamily="50" charset="-128"/>
                <a:ea typeface="Meiryo" panose="020B0604030504040204" pitchFamily="50" charset="-128"/>
              </a:rPr>
              <a:t>のピーク位置。</a:t>
            </a:r>
          </a:p>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有限</a:t>
            </a:r>
            <a:r>
              <a:rPr kumimoji="1" lang="en-US" altLang="ja-JP" sz="1900">
                <a:solidFill>
                  <a:srgbClr val="253746"/>
                </a:solidFill>
                <a:latin typeface="Meiryo" panose="020B0604030504040204" pitchFamily="50" charset="-128"/>
                <a:ea typeface="Meiryo" panose="020B0604030504040204" pitchFamily="50" charset="-128"/>
              </a:rPr>
              <a:t>C=1,2,3</a:t>
            </a:r>
            <a:r>
              <a:rPr kumimoji="1" lang="ja-JP" altLang="en-US" sz="1900">
                <a:solidFill>
                  <a:srgbClr val="253746"/>
                </a:solidFill>
                <a:latin typeface="Meiryo" panose="020B0604030504040204" pitchFamily="50" charset="-128"/>
                <a:ea typeface="Meiryo" panose="020B0604030504040204" pitchFamily="50" charset="-128"/>
              </a:rPr>
              <a:t>は近い指数比。制限なしは異なる推定値を報告。</a:t>
            </a:r>
          </a:p>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制限なしの固定</a:t>
            </a:r>
            <a:r>
              <a:rPr kumimoji="1" lang="en-US" altLang="ja-JP" sz="1900">
                <a:solidFill>
                  <a:srgbClr val="253746"/>
                </a:solidFill>
                <a:latin typeface="Meiryo" panose="020B0604030504040204" pitchFamily="50" charset="-128"/>
                <a:ea typeface="Meiryo" panose="020B0604030504040204" pitchFamily="50" charset="-128"/>
              </a:rPr>
              <a:t>p</a:t>
            </a:r>
            <a:r>
              <a:rPr kumimoji="1" lang="en-US" altLang="ja-JP" sz="1406" baseline="-16000">
                <a:solidFill>
                  <a:srgbClr val="253746"/>
                </a:solidFill>
                <a:latin typeface="Meiryo" panose="020B0604030504040204" pitchFamily="50" charset="-128"/>
                <a:ea typeface="Meiryo" panose="020B0604030504040204" pitchFamily="50" charset="-128"/>
              </a:rPr>
              <a:t>c</a:t>
            </a:r>
            <a:r>
              <a:rPr kumimoji="1" lang="ja-JP" altLang="en-US" sz="1900">
                <a:solidFill>
                  <a:srgbClr val="253746"/>
                </a:solidFill>
                <a:latin typeface="Meiryo" panose="020B0604030504040204" pitchFamily="50" charset="-128"/>
                <a:ea typeface="Meiryo" panose="020B0604030504040204" pitchFamily="50" charset="-128"/>
              </a:rPr>
              <a:t>の指数には、強い有限サイズ効果がある。</a:t>
            </a:r>
          </a:p>
        </p:txBody>
      </p:sp>
      <p:sp>
        <p:nvSpPr>
          <p:cNvPr id="9" name="text-7">
            <a:extLst>
              <a:ext uri="{FF2B5EF4-FFF2-40B4-BE49-F238E27FC236}">
                <a16:creationId xmlns:a16="http://schemas.microsoft.com/office/drawing/2014/main" id="{0B04948C-BACA-BC41-C59D-DCCC7B186274}"/>
              </a:ext>
            </a:extLst>
          </p:cNvPr>
          <p:cNvSpPr txBox="1"/>
          <p:nvPr/>
        </p:nvSpPr>
        <p:spPr>
          <a:xfrm>
            <a:off x="635000" y="5524500"/>
            <a:ext cx="10922000" cy="276999"/>
          </a:xfrm>
          <a:prstGeom prst="rect">
            <a:avLst/>
          </a:prstGeom>
          <a:noFill/>
        </p:spPr>
        <p:txBody>
          <a:bodyPr vert="horz" wrap="square" lIns="0" tIns="0" rIns="0" bIns="0" rtlCol="0">
            <a:noAutofit/>
          </a:bodyPr>
          <a:lstStyle/>
          <a:p>
            <a:pPr>
              <a:lnSpc>
                <a:spcPct val="112000"/>
              </a:lnSpc>
            </a:pPr>
            <a:r>
              <a:rPr kumimoji="1" lang="en-US" altLang="ja-JP" sz="1700">
                <a:solidFill>
                  <a:srgbClr val="17365D"/>
                </a:solidFill>
                <a:latin typeface="Meiryo" panose="020B0604030504040204" pitchFamily="50" charset="-128"/>
                <a:ea typeface="Meiryo" panose="020B0604030504040204" pitchFamily="50" charset="-128"/>
              </a:rPr>
              <a:t>2D</a:t>
            </a:r>
            <a:r>
              <a:rPr kumimoji="1" lang="ja-JP" altLang="en-US" sz="1700">
                <a:solidFill>
                  <a:srgbClr val="17365D"/>
                </a:solidFill>
                <a:latin typeface="Meiryo" panose="020B0604030504040204" pitchFamily="50" charset="-128"/>
                <a:ea typeface="Meiryo" panose="020B0604030504040204" pitchFamily="50" charset="-128"/>
              </a:rPr>
              <a:t>格子では</a:t>
            </a:r>
            <a:r>
              <a:rPr kumimoji="1" lang="en-US" altLang="ja-JP" sz="1700">
                <a:solidFill>
                  <a:srgbClr val="17365D"/>
                </a:solidFill>
                <a:latin typeface="Meiryo" panose="020B0604030504040204" pitchFamily="50" charset="-128"/>
                <a:ea typeface="Meiryo" panose="020B0604030504040204" pitchFamily="50" charset="-128"/>
              </a:rPr>
              <a:t>N=L²</a:t>
            </a:r>
            <a:r>
              <a:rPr kumimoji="1" lang="ja-JP" altLang="en-US" sz="1700">
                <a:solidFill>
                  <a:srgbClr val="17365D"/>
                </a:solidFill>
                <a:latin typeface="Meiryo" panose="020B0604030504040204" pitchFamily="50" charset="-128"/>
                <a:ea typeface="Meiryo" panose="020B0604030504040204" pitchFamily="50" charset="-128"/>
              </a:rPr>
              <a:t>とサイズ変数を明示し、指数と転移の性質を別に調べる。</a:t>
            </a:r>
          </a:p>
        </p:txBody>
      </p:sp>
      <p:sp>
        <p:nvSpPr>
          <p:cNvPr id="10" name="text-8">
            <a:extLst>
              <a:ext uri="{FF2B5EF4-FFF2-40B4-BE49-F238E27FC236}">
                <a16:creationId xmlns:a16="http://schemas.microsoft.com/office/drawing/2014/main" id="{82DFD009-105C-A10D-9451-CD757EACBBFD}"/>
              </a:ext>
            </a:extLst>
          </p:cNvPr>
          <p:cNvSpPr txBox="1"/>
          <p:nvPr/>
        </p:nvSpPr>
        <p:spPr>
          <a:xfrm>
            <a:off x="635000" y="5918200"/>
            <a:ext cx="10922000" cy="276999"/>
          </a:xfrm>
          <a:prstGeom prst="rect">
            <a:avLst/>
          </a:prstGeom>
          <a:noFill/>
        </p:spPr>
        <p:txBody>
          <a:bodyPr vert="horz" wrap="square" lIns="0" tIns="0" rIns="0" bIns="0" rtlCol="0">
            <a:noAutofit/>
          </a:bodyPr>
          <a:lstStyle/>
          <a:p>
            <a:pPr>
              <a:lnSpc>
                <a:spcPct val="112000"/>
              </a:lnSpc>
            </a:pPr>
            <a:r>
              <a:rPr kumimoji="1" lang="en-US" altLang="ja-JP" sz="1500">
                <a:solidFill>
                  <a:srgbClr val="253746"/>
                </a:solidFill>
                <a:latin typeface="Meiryo" panose="020B0604030504040204" pitchFamily="50" charset="-128"/>
                <a:ea typeface="Meiryo" panose="020B0604030504040204" pitchFamily="50" charset="-128"/>
              </a:rPr>
              <a:t>C=1</a:t>
            </a:r>
            <a:r>
              <a:rPr kumimoji="1" lang="ja-JP" altLang="en-US" sz="1500">
                <a:solidFill>
                  <a:srgbClr val="253746"/>
                </a:solidFill>
                <a:latin typeface="Meiryo" panose="020B0604030504040204" pitchFamily="50" charset="-128"/>
                <a:ea typeface="Meiryo" panose="020B0604030504040204" pitchFamily="50" charset="-128"/>
              </a:rPr>
              <a:t>の</a:t>
            </a:r>
            <a:r>
              <a:rPr kumimoji="1" lang="en-US" altLang="ja-JP" sz="1500">
                <a:solidFill>
                  <a:srgbClr val="253746"/>
                </a:solidFill>
                <a:latin typeface="Meiryo" panose="020B0604030504040204" pitchFamily="50" charset="-128"/>
                <a:ea typeface="Meiryo" panose="020B0604030504040204" pitchFamily="50" charset="-128"/>
              </a:rPr>
              <a:t>S</a:t>
            </a:r>
            <a:r>
              <a:rPr kumimoji="1" lang="en-US" altLang="ja-JP" sz="1110" baseline="-16000">
                <a:solidFill>
                  <a:srgbClr val="253746"/>
                </a:solidFill>
                <a:latin typeface="Meiryo" panose="020B0604030504040204" pitchFamily="50" charset="-128"/>
                <a:ea typeface="Meiryo" panose="020B0604030504040204" pitchFamily="50" charset="-128"/>
              </a:rPr>
              <a:t>c</a:t>
            </a:r>
            <a:r>
              <a:rPr kumimoji="1" lang="ja-JP" altLang="en-US" sz="1500">
                <a:solidFill>
                  <a:srgbClr val="253746"/>
                </a:solidFill>
                <a:latin typeface="Meiryo" panose="020B0604030504040204" pitchFamily="50" charset="-128"/>
                <a:ea typeface="Meiryo" panose="020B0604030504040204" pitchFamily="50" charset="-128"/>
              </a:rPr>
              <a:t>指数の誤差：表は</a:t>
            </a:r>
            <a:r>
              <a:rPr kumimoji="1" lang="en-US" altLang="ja-JP" sz="1500">
                <a:solidFill>
                  <a:srgbClr val="253746"/>
                </a:solidFill>
                <a:latin typeface="Meiryo" panose="020B0604030504040204" pitchFamily="50" charset="-128"/>
                <a:ea typeface="Meiryo" panose="020B0604030504040204" pitchFamily="50" charset="-128"/>
              </a:rPr>
              <a:t>±0.001</a:t>
            </a:r>
            <a:r>
              <a:rPr kumimoji="1" lang="ja-JP" altLang="en-US" sz="1500">
                <a:solidFill>
                  <a:srgbClr val="253746"/>
                </a:solidFill>
                <a:latin typeface="Meiryo" panose="020B0604030504040204" pitchFamily="50" charset="-128"/>
                <a:ea typeface="Meiryo" panose="020B0604030504040204" pitchFamily="50" charset="-128"/>
              </a:rPr>
              <a:t>、主論文</a:t>
            </a:r>
            <a:r>
              <a:rPr kumimoji="1" lang="en-US" altLang="ja-JP" sz="1500">
                <a:solidFill>
                  <a:srgbClr val="253746"/>
                </a:solidFill>
                <a:latin typeface="Meiryo" panose="020B0604030504040204" pitchFamily="50" charset="-128"/>
                <a:ea typeface="Meiryo" panose="020B0604030504040204" pitchFamily="50" charset="-128"/>
              </a:rPr>
              <a:t>PDF3</a:t>
            </a:r>
            <a:r>
              <a:rPr kumimoji="1" lang="ja-JP" altLang="en-US" sz="1500">
                <a:solidFill>
                  <a:srgbClr val="253746"/>
                </a:solidFill>
                <a:latin typeface="Meiryo" panose="020B0604030504040204" pitchFamily="50" charset="-128"/>
                <a:ea typeface="Meiryo" panose="020B0604030504040204" pitchFamily="50" charset="-128"/>
              </a:rPr>
              <a:t>は</a:t>
            </a:r>
            <a:r>
              <a:rPr kumimoji="1" lang="en-US" altLang="ja-JP" sz="1500">
                <a:solidFill>
                  <a:srgbClr val="253746"/>
                </a:solidFill>
                <a:latin typeface="Meiryo" panose="020B0604030504040204" pitchFamily="50" charset="-128"/>
                <a:ea typeface="Meiryo" panose="020B0604030504040204" pitchFamily="50" charset="-128"/>
              </a:rPr>
              <a:t>±0.01</a:t>
            </a:r>
            <a:r>
              <a:rPr kumimoji="1" lang="ja-JP" altLang="en-US" sz="1500">
                <a:solidFill>
                  <a:srgbClr val="253746"/>
                </a:solidFill>
                <a:latin typeface="Meiryo" panose="020B0604030504040204" pitchFamily="50" charset="-128"/>
                <a:ea typeface="Meiryo" panose="020B0604030504040204" pitchFamily="50" charset="-128"/>
              </a:rPr>
              <a:t>（原文どおり掲載）。</a:t>
            </a:r>
          </a:p>
        </p:txBody>
      </p:sp>
    </p:spTree>
    <p:extLst>
      <p:ext uri="{BB962C8B-B14F-4D97-AF65-F5344CB8AC3E}">
        <p14:creationId xmlns:p14="http://schemas.microsoft.com/office/powerpoint/2010/main" val="223894243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4735</Words>
  <Application>Microsoft Office PowerPoint</Application>
  <PresentationFormat>ワイド画面</PresentationFormat>
  <Paragraphs>243</Paragraphs>
  <Slides>23</Slides>
  <Notes>23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游ゴシック Light</vt:lpstr>
      <vt:lpstr>Arial</vt:lpstr>
      <vt:lpstr>Meiryo</vt:lpstr>
      <vt:lpstr>游ゴシック</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Raiki Yoshinari</dc:creator>
  <cp:lastModifiedBy>Raiki Yoshinari</cp:lastModifiedBy>
  <cp:revision>3</cp:revision>
  <dcterms:created xsi:type="dcterms:W3CDTF">2026-10-12T17:25:13Z</dcterms:created>
  <dcterms:modified xsi:type="dcterms:W3CDTF">2026-10-13T03:41:25Z</dcterms:modified>
</cp:coreProperties>
</file>