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embeddedFontLst>
    <p:embeddedFont>
      <p:font typeface="Meiryo" panose="020B0604030504040204" pitchFamily="50" charset="-128"/>
      <p:regular r:id="rId26"/>
      <p:bold r:id="rId27"/>
      <p:italic r:id="rId28"/>
      <p:boldItalic r:id="rId29"/>
    </p:embeddedFont>
    <p:embeddedFont>
      <p:font typeface="游ゴシック" panose="020B0400000000000000" pitchFamily="50" charset="-128"/>
      <p:regular r:id="rId30"/>
      <p:bold r:id="rId31"/>
    </p:embeddedFont>
    <p:embeddedFont>
      <p:font typeface="游ゴシック Light" panose="020B0300000000000000" pitchFamily="50" charset="-128"/>
      <p:regular r:id="rId32"/>
    </p:embeddedFont>
  </p:embeddedFont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67349D-1C5A-498A-999B-D642A4745AC7}" type="datetimeFigureOut">
              <a:rPr kumimoji="1" lang="ja-JP" altLang="en-US" smtClean="0"/>
              <a:t>2026/10/13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1220A5-C5C7-40DE-9AF0-5CCB1E885E91}" type="slidenum">
              <a:rPr kumimoji="1" lang="ja-JP" altLang="en-US" smtClean="0"/>
              <a:t>‹#›</a:t>
            </a:fld>
            <a:endParaRPr kumimoji="1" lang="ja-JP" altLang="en-US"/>
          </a:p>
        </p:txBody>
      </p:sp>
    </p:spTree>
    <p:extLst>
      <p:ext uri="{BB962C8B-B14F-4D97-AF65-F5344CB8AC3E}">
        <p14:creationId xmlns:p14="http://schemas.microsoft.com/office/powerpoint/2010/main" val="351070921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今回の対象は</a:t>
            </a:r>
            <a:r>
              <a:rPr kumimoji="1" lang="en-US" altLang="ja-JP">
                <a:latin typeface="Meiryo" panose="020B0604030504040204" pitchFamily="50" charset="-128"/>
              </a:rPr>
              <a:t>2</a:t>
            </a:r>
            <a:r>
              <a:rPr kumimoji="1" lang="ja-JP" altLang="en-US">
                <a:latin typeface="Meiryo" panose="020B0604030504040204" pitchFamily="50" charset="-128"/>
              </a:rPr>
              <a:t>次元正方格子上の</a:t>
            </a:r>
            <a:r>
              <a:rPr kumimoji="1" lang="en-US" altLang="ja-JP">
                <a:latin typeface="Meiryo" panose="020B0604030504040204" pitchFamily="50" charset="-128"/>
              </a:rPr>
              <a:t>SPP</a:t>
            </a:r>
            <a:r>
              <a:rPr kumimoji="1" lang="ja-JP" altLang="en-US">
                <a:latin typeface="Meiryo" panose="020B0604030504040204" pitchFamily="50" charset="-128"/>
              </a:rPr>
              <a:t>です。研究途中であり、不連続転移の成立を確定した発表ではありません。今回の説明は研究背景、操作、研究目的、</a:t>
            </a:r>
            <a:r>
              <a:rPr kumimoji="1" lang="en-US" altLang="ja-JP">
                <a:latin typeface="Meiryo" panose="020B0604030504040204" pitchFamily="50" charset="-128"/>
              </a:rPr>
              <a:t>Supplemental Material</a:t>
            </a:r>
            <a:r>
              <a:rPr kumimoji="1" lang="ja-JP" altLang="en-US">
                <a:latin typeface="Meiryo" panose="020B0604030504040204" pitchFamily="50" charset="-128"/>
              </a:rPr>
              <a:t>の式</a:t>
            </a:r>
            <a:r>
              <a:rPr kumimoji="1" lang="en-US" altLang="ja-JP">
                <a:latin typeface="Meiryo" panose="020B0604030504040204" pitchFamily="50" charset="-128"/>
              </a:rPr>
              <a:t>(S1)〜(S5)</a:t>
            </a:r>
            <a:r>
              <a:rPr kumimoji="1" lang="ja-JP" altLang="en-US">
                <a:latin typeface="Meiryo" panose="020B0604030504040204" pitchFamily="50" charset="-128"/>
              </a:rPr>
              <a:t>までです。所属・氏名は追加していません。板書なし。</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a:t>
            </a:fld>
            <a:endParaRPr kumimoji="1" lang="ja-JP" altLang="en-US"/>
          </a:p>
        </p:txBody>
      </p:sp>
    </p:spTree>
    <p:extLst>
      <p:ext uri="{BB962C8B-B14F-4D97-AF65-F5344CB8AC3E}">
        <p14:creationId xmlns:p14="http://schemas.microsoft.com/office/powerpoint/2010/main" val="723340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板書なし。連結性・最大連結成分・臨界点・転移の性質を簡潔に導入します。削除だけがパーコレーションの本質とは説明しません。本文</a:t>
            </a:r>
            <a:r>
              <a:rPr kumimoji="1" lang="en-US" altLang="ja-JP">
                <a:latin typeface="Meiryo" panose="020B0604030504040204" pitchFamily="50" charset="-128"/>
              </a:rPr>
              <a:t>PDF1</a:t>
            </a:r>
            <a:r>
              <a:rPr kumimoji="1" lang="ja-JP" altLang="en-US">
                <a:latin typeface="Meiryo" panose="020B0604030504040204" pitchFamily="50" charset="-128"/>
              </a:rPr>
              <a:t>の一般的な背景とモデル依存性を日本語で要約しています。数学的な観測量はスライド</a:t>
            </a:r>
            <a:r>
              <a:rPr kumimoji="1" lang="en-US" altLang="ja-JP">
                <a:latin typeface="Meiryo" panose="020B0604030504040204" pitchFamily="50" charset="-128"/>
              </a:rPr>
              <a:t>7</a:t>
            </a:r>
            <a:r>
              <a:rPr kumimoji="1" lang="ja-JP" altLang="en-US">
                <a:latin typeface="Meiryo" panose="020B0604030504040204" pitchFamily="50" charset="-128"/>
              </a:rPr>
              <a:t>以降で定義します。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a:t>
            </a:fld>
            <a:endParaRPr kumimoji="1" lang="ja-JP" altLang="en-US"/>
          </a:p>
        </p:txBody>
      </p:sp>
    </p:spTree>
    <p:extLst>
      <p:ext uri="{BB962C8B-B14F-4D97-AF65-F5344CB8AC3E}">
        <p14:creationId xmlns:p14="http://schemas.microsoft.com/office/powerpoint/2010/main" val="956324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板書補助：</a:t>
            </a:r>
            <a:r>
              <a:rPr kumimoji="1" lang="en-US" altLang="ja-JP">
                <a:latin typeface="Meiryo" panose="020B0604030504040204" pitchFamily="50" charset="-128"/>
              </a:rPr>
              <a:t>G_t=(V,ℰ_t)</a:t>
            </a:r>
            <a:r>
              <a:rPr kumimoji="1" lang="ja-JP" altLang="en-US">
                <a:latin typeface="Meiryo" panose="020B0604030504040204" pitchFamily="50" charset="-128"/>
              </a:rPr>
              <a:t>、</a:t>
            </a:r>
            <a:r>
              <a:rPr kumimoji="1" lang="en-US" altLang="ja-JP">
                <a:latin typeface="Meiryo" panose="020B0604030504040204" pitchFamily="50" charset="-128"/>
              </a:rPr>
              <a:t>E_t=|ℰ_t|</a:t>
            </a:r>
            <a:r>
              <a:rPr kumimoji="1" lang="ja-JP" altLang="en-US">
                <a:latin typeface="Meiryo" panose="020B0604030504040204" pitchFamily="50" charset="-128"/>
              </a:rPr>
              <a:t>、</a:t>
            </a:r>
            <a:r>
              <a:rPr kumimoji="1" lang="en-US" altLang="ja-JP">
                <a:latin typeface="Meiryo" panose="020B0604030504040204" pitchFamily="50" charset="-128"/>
              </a:rPr>
              <a:t>Q_t≤C</a:t>
            </a:r>
            <a:r>
              <a:rPr kumimoji="1" lang="ja-JP" altLang="en-US">
                <a:latin typeface="Meiryo" panose="020B0604030504040204" pitchFamily="50" charset="-128"/>
              </a:rPr>
              <a:t>。</a:t>
            </a:r>
            <a:r>
              <a:rPr kumimoji="1" lang="en-US" altLang="ja-JP">
                <a:latin typeface="Meiryo" panose="020B0604030504040204" pitchFamily="50" charset="-128"/>
              </a:rPr>
              <a:t>G_t</a:t>
            </a:r>
            <a:r>
              <a:rPr kumimoji="1" lang="ja-JP" altLang="en-US">
                <a:latin typeface="Meiryo" panose="020B0604030504040204" pitchFamily="50" charset="-128"/>
              </a:rPr>
              <a:t>は要求</a:t>
            </a:r>
            <a:r>
              <a:rPr kumimoji="1" lang="en-US" altLang="ja-JP">
                <a:latin typeface="Meiryo" panose="020B0604030504040204" pitchFamily="50" charset="-128"/>
              </a:rPr>
              <a:t>t</a:t>
            </a:r>
            <a:r>
              <a:rPr kumimoji="1" lang="ja-JP" altLang="en-US">
                <a:latin typeface="Meiryo" panose="020B0604030504040204" pitchFamily="50" charset="-128"/>
              </a:rPr>
              <a:t>に利用可能なグラフで、削除後の状態と呼びません。元の</a:t>
            </a:r>
            <a:r>
              <a:rPr kumimoji="1" lang="en-US" altLang="ja-JP">
                <a:latin typeface="Meiryo" panose="020B0604030504040204" pitchFamily="50" charset="-128"/>
              </a:rPr>
              <a:t>Fig.1(a)(b)</a:t>
            </a:r>
            <a:r>
              <a:rPr kumimoji="1" lang="ja-JP" altLang="en-US">
                <a:latin typeface="Meiryo" panose="020B0604030504040204" pitchFamily="50" charset="-128"/>
              </a:rPr>
              <a:t>を引用し、</a:t>
            </a:r>
            <a:r>
              <a:rPr kumimoji="1" lang="en-US" altLang="ja-JP">
                <a:latin typeface="Meiryo" panose="020B0604030504040204" pitchFamily="50" charset="-128"/>
              </a:rPr>
              <a:t>Q_t=4</a:t>
            </a:r>
            <a:r>
              <a:rPr kumimoji="1" lang="ja-JP" altLang="en-US">
                <a:latin typeface="Meiryo" panose="020B0604030504040204" pitchFamily="50" charset="-128"/>
              </a:rPr>
              <a:t>、</a:t>
            </a:r>
            <a:r>
              <a:rPr kumimoji="1" lang="en-US" altLang="ja-JP">
                <a:latin typeface="Meiryo" panose="020B0604030504040204" pitchFamily="50" charset="-128"/>
              </a:rPr>
              <a:t>C≥4</a:t>
            </a:r>
            <a:r>
              <a:rPr kumimoji="1" lang="ja-JP" altLang="en-US">
                <a:latin typeface="Meiryo" panose="020B0604030504040204" pitchFamily="50" charset="-128"/>
              </a:rPr>
              <a:t>を確認。成功なら選択経路の全辺を除き、失敗なら辺集合を保ったまま次の要求へ進みます。いずれも</a:t>
            </a:r>
            <a:r>
              <a:rPr kumimoji="1" lang="en-US" altLang="ja-JP">
                <a:latin typeface="Meiryo" panose="020B0604030504040204" pitchFamily="50" charset="-128"/>
              </a:rPr>
              <a:t>t</a:t>
            </a:r>
            <a:r>
              <a:rPr kumimoji="1" lang="ja-JP" altLang="en-US">
                <a:latin typeface="Meiryo" panose="020B0604030504040204" pitchFamily="50" charset="-128"/>
              </a:rPr>
              <a:t>が</a:t>
            </a:r>
            <a:r>
              <a:rPr kumimoji="1" lang="en-US" altLang="ja-JP">
                <a:latin typeface="Meiryo" panose="020B0604030504040204" pitchFamily="50" charset="-128"/>
              </a:rPr>
              <a:t>1</a:t>
            </a:r>
            <a:r>
              <a:rPr kumimoji="1" lang="ja-JP" altLang="en-US">
                <a:latin typeface="Meiryo" panose="020B0604030504040204" pitchFamily="50" charset="-128"/>
              </a:rPr>
              <a:t>増えます。本文</a:t>
            </a:r>
            <a:r>
              <a:rPr kumimoji="1" lang="en-US" altLang="ja-JP">
                <a:latin typeface="Meiryo" panose="020B0604030504040204" pitchFamily="50" charset="-128"/>
              </a:rPr>
              <a:t>PDF1–2</a:t>
            </a:r>
            <a:r>
              <a:rPr kumimoji="1" lang="ja-JP" altLang="en-US">
                <a:latin typeface="Meiryo" panose="020B0604030504040204" pitchFamily="50" charset="-128"/>
              </a:rPr>
              <a:t>、</a:t>
            </a:r>
            <a:r>
              <a:rPr kumimoji="1" lang="en-US" altLang="ja-JP">
                <a:latin typeface="Meiryo" panose="020B0604030504040204" pitchFamily="50" charset="-128"/>
              </a:rPr>
              <a:t>Fig.1 caption</a:t>
            </a:r>
            <a:r>
              <a:rPr kumimoji="1" lang="ja-JP" altLang="en-US">
                <a:latin typeface="Meiryo" panose="020B0604030504040204" pitchFamily="50" charset="-128"/>
              </a:rPr>
              <a:t>に基づく日本語説明です。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3</a:t>
            </a:fld>
            <a:endParaRPr kumimoji="1" lang="ja-JP" altLang="en-US"/>
          </a:p>
        </p:txBody>
      </p:sp>
    </p:spTree>
    <p:extLst>
      <p:ext uri="{BB962C8B-B14F-4D97-AF65-F5344CB8AC3E}">
        <p14:creationId xmlns:p14="http://schemas.microsoft.com/office/powerpoint/2010/main" val="2011136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板書補助：横</a:t>
            </a:r>
            <a:r>
              <a:rPr kumimoji="1" lang="en-US" altLang="ja-JP">
                <a:latin typeface="Meiryo" panose="020B0604030504040204" pitchFamily="50" charset="-128"/>
              </a:rPr>
              <a:t>2</a:t>
            </a:r>
            <a:r>
              <a:rPr kumimoji="1" lang="ja-JP" altLang="en-US">
                <a:latin typeface="Meiryo" panose="020B0604030504040204" pitchFamily="50" charset="-128"/>
              </a:rPr>
              <a:t>回＋縦</a:t>
            </a:r>
            <a:r>
              <a:rPr kumimoji="1" lang="en-US" altLang="ja-JP">
                <a:latin typeface="Meiryo" panose="020B0604030504040204" pitchFamily="50" charset="-128"/>
              </a:rPr>
              <a:t>2</a:t>
            </a:r>
            <a:r>
              <a:rPr kumimoji="1" lang="ja-JP" altLang="en-US">
                <a:latin typeface="Meiryo" panose="020B0604030504040204" pitchFamily="50" charset="-128"/>
              </a:rPr>
              <a:t>回＝</a:t>
            </a:r>
            <a:r>
              <a:rPr kumimoji="1" lang="en-US" altLang="ja-JP">
                <a:latin typeface="Meiryo" panose="020B0604030504040204" pitchFamily="50" charset="-128"/>
              </a:rPr>
              <a:t>4</a:t>
            </a:r>
            <a:r>
              <a:rPr kumimoji="1" lang="ja-JP" altLang="en-US">
                <a:latin typeface="Meiryo" panose="020B0604030504040204" pitchFamily="50" charset="-128"/>
              </a:rPr>
              <a:t>辺。初期</a:t>
            </a:r>
            <a:r>
              <a:rPr kumimoji="1" lang="en-US" altLang="ja-JP">
                <a:latin typeface="Meiryo" panose="020B0604030504040204" pitchFamily="50" charset="-128"/>
              </a:rPr>
              <a:t>3×3</a:t>
            </a:r>
            <a:r>
              <a:rPr kumimoji="1" lang="ja-JP" altLang="en-US">
                <a:latin typeface="Meiryo" panose="020B0604030504040204" pitchFamily="50" charset="-128"/>
              </a:rPr>
              <a:t>格子の左上と右下には</a:t>
            </a:r>
            <a:r>
              <a:rPr kumimoji="1" lang="en-US" altLang="ja-JP">
                <a:latin typeface="Meiryo" panose="020B0604030504040204" pitchFamily="50" charset="-128"/>
              </a:rPr>
              <a:t>6</a:t>
            </a:r>
            <a:r>
              <a:rPr kumimoji="1" lang="ja-JP" altLang="en-US">
                <a:latin typeface="Meiryo" panose="020B0604030504040204" pitchFamily="50" charset="-128"/>
              </a:rPr>
              <a:t>本の最短経路があります（横</a:t>
            </a:r>
            <a:r>
              <a:rPr kumimoji="1" lang="en-US" altLang="ja-JP">
                <a:latin typeface="Meiryo" panose="020B0604030504040204" pitchFamily="50" charset="-128"/>
              </a:rPr>
              <a:t>2</a:t>
            </a:r>
            <a:r>
              <a:rPr kumimoji="1" lang="ja-JP" altLang="en-US">
                <a:latin typeface="Meiryo" panose="020B0604030504040204" pitchFamily="50" charset="-128"/>
              </a:rPr>
              <a:t>回・縦</a:t>
            </a:r>
            <a:r>
              <a:rPr kumimoji="1" lang="en-US" altLang="ja-JP">
                <a:latin typeface="Meiryo" panose="020B0604030504040204" pitchFamily="50" charset="-128"/>
              </a:rPr>
              <a:t>2</a:t>
            </a:r>
            <a:r>
              <a:rPr kumimoji="1" lang="ja-JP" altLang="en-US">
                <a:latin typeface="Meiryo" panose="020B0604030504040204" pitchFamily="50" charset="-128"/>
              </a:rPr>
              <a:t>回の順序）。図では上側</a:t>
            </a:r>
            <a:r>
              <a:rPr kumimoji="1" lang="en-US" altLang="ja-JP">
                <a:latin typeface="Meiryo" panose="020B0604030504040204" pitchFamily="50" charset="-128"/>
              </a:rPr>
              <a:t>2</a:t>
            </a:r>
            <a:r>
              <a:rPr kumimoji="1" lang="ja-JP" altLang="en-US">
                <a:latin typeface="Meiryo" panose="020B0604030504040204" pitchFamily="50" charset="-128"/>
              </a:rPr>
              <a:t>辺、右側</a:t>
            </a:r>
            <a:r>
              <a:rPr kumimoji="1" lang="en-US" altLang="ja-JP">
                <a:latin typeface="Meiryo" panose="020B0604030504040204" pitchFamily="50" charset="-128"/>
              </a:rPr>
              <a:t>2</a:t>
            </a:r>
            <a:r>
              <a:rPr kumimoji="1" lang="ja-JP" altLang="en-US">
                <a:latin typeface="Meiryo" panose="020B0604030504040204" pitchFamily="50" charset="-128"/>
              </a:rPr>
              <a:t>辺の計</a:t>
            </a:r>
            <a:r>
              <a:rPr kumimoji="1" lang="en-US" altLang="ja-JP">
                <a:latin typeface="Meiryo" panose="020B0604030504040204" pitchFamily="50" charset="-128"/>
              </a:rPr>
              <a:t>4</a:t>
            </a:r>
            <a:r>
              <a:rPr kumimoji="1" lang="ja-JP" altLang="en-US">
                <a:latin typeface="Meiryo" panose="020B0604030504040204" pitchFamily="50" charset="-128"/>
              </a:rPr>
              <a:t>辺を選び、</a:t>
            </a:r>
            <a:r>
              <a:rPr kumimoji="1" lang="en-US" altLang="ja-JP">
                <a:latin typeface="Meiryo" panose="020B0604030504040204" pitchFamily="50" charset="-128"/>
              </a:rPr>
              <a:t>C≥4</a:t>
            </a:r>
            <a:r>
              <a:rPr kumimoji="1" lang="ja-JP" altLang="en-US">
                <a:latin typeface="Meiryo" panose="020B0604030504040204" pitchFamily="50" charset="-128"/>
              </a:rPr>
              <a:t>の場合だけ削除します。除去辺集合は</a:t>
            </a:r>
            <a:r>
              <a:rPr kumimoji="1" lang="en-US" altLang="ja-JP">
                <a:latin typeface="Meiryo" panose="020B0604030504040204" pitchFamily="50" charset="-128"/>
              </a:rPr>
              <a:t>{0–1,1–2,2–5,5–8}</a:t>
            </a:r>
            <a:r>
              <a:rPr kumimoji="1" lang="ja-JP" altLang="en-US">
                <a:latin typeface="Meiryo" panose="020B0604030504040204" pitchFamily="50" charset="-128"/>
              </a:rPr>
              <a:t>、初期</a:t>
            </a:r>
            <a:r>
              <a:rPr kumimoji="1" lang="en-US" altLang="ja-JP">
                <a:latin typeface="Meiryo" panose="020B0604030504040204" pitchFamily="50" charset="-128"/>
              </a:rPr>
              <a:t>12</a:t>
            </a:r>
            <a:r>
              <a:rPr kumimoji="1" lang="ja-JP" altLang="en-US">
                <a:latin typeface="Meiryo" panose="020B0604030504040204" pitchFamily="50" charset="-128"/>
              </a:rPr>
              <a:t>辺から</a:t>
            </a:r>
            <a:r>
              <a:rPr kumimoji="1" lang="en-US" altLang="ja-JP">
                <a:latin typeface="Meiryo" panose="020B0604030504040204" pitchFamily="50" charset="-128"/>
              </a:rPr>
              <a:t>8</a:t>
            </a:r>
            <a:r>
              <a:rPr kumimoji="1" lang="ja-JP" altLang="en-US">
                <a:latin typeface="Meiryo" panose="020B0604030504040204" pitchFamily="50" charset="-128"/>
              </a:rPr>
              <a:t>辺になります。</a:t>
            </a:r>
            <a:r>
              <a:rPr kumimoji="1" lang="en-US" altLang="ja-JP">
                <a:latin typeface="Meiryo" panose="020B0604030504040204" pitchFamily="50" charset="-128"/>
              </a:rPr>
              <a:t>9</a:t>
            </a:r>
            <a:r>
              <a:rPr kumimoji="1" lang="ja-JP" altLang="en-US">
                <a:latin typeface="Meiryo" panose="020B0604030504040204" pitchFamily="50" charset="-128"/>
              </a:rPr>
              <a:t>頂点は削除しません。</a:t>
            </a:r>
            <a:r>
              <a:rPr kumimoji="1" lang="en-US" altLang="ja-JP">
                <a:latin typeface="Meiryo" panose="020B0604030504040204" pitchFamily="50" charset="-128"/>
              </a:rPr>
              <a:t>C&lt;4</a:t>
            </a:r>
            <a:r>
              <a:rPr kumimoji="1" lang="ja-JP" altLang="en-US">
                <a:latin typeface="Meiryo" panose="020B0604030504040204" pitchFamily="50" charset="-128"/>
              </a:rPr>
              <a:t>なら初期の辺集合を保持して次の要求へ進みます。図の開いた外周はこの説明例の指定であり、研究本体の境界条件をこの図から断定しません。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4</a:t>
            </a:fld>
            <a:endParaRPr kumimoji="1" lang="ja-JP" altLang="en-US"/>
          </a:p>
        </p:txBody>
      </p:sp>
    </p:spTree>
    <p:extLst>
      <p:ext uri="{BB962C8B-B14F-4D97-AF65-F5344CB8AC3E}">
        <p14:creationId xmlns:p14="http://schemas.microsoft.com/office/powerpoint/2010/main" val="235625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板書なし。これは</a:t>
            </a:r>
            <a:r>
              <a:rPr kumimoji="1" lang="en-US" altLang="ja-JP">
                <a:latin typeface="Meiryo" panose="020B0604030504040204" pitchFamily="50" charset="-128"/>
              </a:rPr>
              <a:t>ER</a:t>
            </a:r>
            <a:r>
              <a:rPr kumimoji="1" lang="ja-JP" altLang="en-US">
                <a:latin typeface="Meiryo" panose="020B0604030504040204" pitchFamily="50" charset="-128"/>
              </a:rPr>
              <a:t>上での著者の数値的報告です。有限</a:t>
            </a:r>
            <a:r>
              <a:rPr kumimoji="1" lang="en-US" altLang="ja-JP">
                <a:latin typeface="Meiryo" panose="020B0604030504040204" pitchFamily="50" charset="-128"/>
              </a:rPr>
              <a:t>C</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を増やしても固定された予算を指します。有限グラフでは到達可能な最短経路は</a:t>
            </a:r>
            <a:r>
              <a:rPr kumimoji="1" lang="en-US" altLang="ja-JP">
                <a:latin typeface="Meiryo" panose="020B0604030504040204" pitchFamily="50" charset="-128"/>
              </a:rPr>
              <a:t>N−1</a:t>
            </a:r>
            <a:r>
              <a:rPr kumimoji="1" lang="ja-JP" altLang="en-US">
                <a:latin typeface="Meiryo" panose="020B0604030504040204" pitchFamily="50" charset="-128"/>
              </a:rPr>
              <a:t>辺以下なので</a:t>
            </a:r>
            <a:r>
              <a:rPr kumimoji="1" lang="en-US" altLang="ja-JP">
                <a:latin typeface="Meiryo" panose="020B0604030504040204" pitchFamily="50" charset="-128"/>
              </a:rPr>
              <a:t>C=N</a:t>
            </a:r>
            <a:r>
              <a:rPr kumimoji="1" lang="ja-JP" altLang="en-US">
                <a:latin typeface="Meiryo" panose="020B0604030504040204" pitchFamily="50" charset="-128"/>
              </a:rPr>
              <a:t>なら長さ制限は実質ありません。</a:t>
            </a:r>
            <a:r>
              <a:rPr kumimoji="1" lang="en-US" altLang="ja-JP">
                <a:latin typeface="Meiryo" panose="020B0604030504040204" pitchFamily="50" charset="-128"/>
              </a:rPr>
              <a:t>weakly discontinuous</a:t>
            </a:r>
            <a:r>
              <a:rPr kumimoji="1" lang="ja-JP" altLang="en-US">
                <a:latin typeface="Meiryo" panose="020B0604030504040204" pitchFamily="50" charset="-128"/>
              </a:rPr>
              <a:t>という語は本文</a:t>
            </a:r>
            <a:r>
              <a:rPr kumimoji="1" lang="en-US" altLang="ja-JP">
                <a:latin typeface="Meiryo" panose="020B0604030504040204" pitchFamily="50" charset="-128"/>
              </a:rPr>
              <a:t>PDF4</a:t>
            </a:r>
            <a:r>
              <a:rPr kumimoji="1" lang="ja-JP" altLang="en-US">
                <a:latin typeface="Meiryo" panose="020B0604030504040204" pitchFamily="50" charset="-128"/>
              </a:rPr>
              <a:t>にあり、今回その転移幅の詳細は説明しません。数学的に不連続転移が証明されたとは述べません。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5</a:t>
            </a:fld>
            <a:endParaRPr kumimoji="1" lang="ja-JP" altLang="en-US"/>
          </a:p>
        </p:txBody>
      </p:sp>
    </p:spTree>
    <p:extLst>
      <p:ext uri="{BB962C8B-B14F-4D97-AF65-F5344CB8AC3E}">
        <p14:creationId xmlns:p14="http://schemas.microsoft.com/office/powerpoint/2010/main" val="170666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板書なし。研究目的は制限なし</a:t>
            </a:r>
            <a:r>
              <a:rPr kumimoji="1" lang="en-US" altLang="ja-JP">
                <a:latin typeface="Meiryo" panose="020B0604030504040204" pitchFamily="50" charset="-128"/>
              </a:rPr>
              <a:t>SPP</a:t>
            </a:r>
            <a:r>
              <a:rPr kumimoji="1" lang="ja-JP" altLang="en-US">
                <a:latin typeface="Meiryo" panose="020B0604030504040204" pitchFamily="50" charset="-128"/>
              </a:rPr>
              <a:t>で不連続転移が起こるかを調べることであり、</a:t>
            </a:r>
            <a:r>
              <a:rPr kumimoji="1" lang="en-US" altLang="ja-JP">
                <a:latin typeface="Meiryo" panose="020B0604030504040204" pitchFamily="50" charset="-128"/>
              </a:rPr>
              <a:t>weakly discontinuous</a:t>
            </a:r>
            <a:r>
              <a:rPr kumimoji="1" lang="ja-JP" altLang="en-US">
                <a:latin typeface="Meiryo" panose="020B0604030504040204" pitchFamily="50" charset="-128"/>
              </a:rPr>
              <a:t>の再現を目的に変えません。サイズを大きくしても不連続性が残るかが重要です。</a:t>
            </a:r>
            <a:r>
              <a:rPr kumimoji="1" lang="en-US" altLang="ja-JP">
                <a:latin typeface="Meiryo" panose="020B0604030504040204" pitchFamily="50" charset="-128"/>
              </a:rPr>
              <a:t>ER</a:t>
            </a:r>
            <a:r>
              <a:rPr kumimoji="1" lang="ja-JP" altLang="en-US">
                <a:latin typeface="Meiryo" panose="020B0604030504040204" pitchFamily="50" charset="-128"/>
              </a:rPr>
              <a:t>での結果を格子へ無条件に適用しません。研究結果・指数は今回の</a:t>
            </a:r>
            <a:r>
              <a:rPr kumimoji="1" lang="en-US" altLang="ja-JP">
                <a:latin typeface="Meiryo" panose="020B0604030504040204" pitchFamily="50" charset="-128"/>
              </a:rPr>
              <a:t>10</a:t>
            </a:r>
            <a:r>
              <a:rPr kumimoji="1" lang="ja-JP" altLang="en-US">
                <a:latin typeface="Meiryo" panose="020B0604030504040204" pitchFamily="50" charset="-128"/>
              </a:rPr>
              <a:t>枚には掲載しません。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6</a:t>
            </a:fld>
            <a:endParaRPr kumimoji="1" lang="ja-JP" altLang="en-US"/>
          </a:p>
        </p:txBody>
      </p:sp>
    </p:spTree>
    <p:extLst>
      <p:ext uri="{BB962C8B-B14F-4D97-AF65-F5344CB8AC3E}">
        <p14:creationId xmlns:p14="http://schemas.microsoft.com/office/powerpoint/2010/main" val="1111227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No.1</a:t>
            </a:r>
            <a:r>
              <a:rPr kumimoji="1" lang="ja-JP" altLang="en-US">
                <a:latin typeface="Meiryo" panose="020B0604030504040204" pitchFamily="50" charset="-128"/>
              </a:rPr>
              <a:t>。</a:t>
            </a:r>
            <a:r>
              <a:rPr kumimoji="1" lang="en-US" altLang="ja-JP">
                <a:latin typeface="Meiryo" panose="020B0604030504040204" pitchFamily="50" charset="-128"/>
              </a:rPr>
              <a:t>SM PDF1</a:t>
            </a:r>
            <a:r>
              <a:rPr kumimoji="1" lang="ja-JP" altLang="en-US">
                <a:latin typeface="Meiryo" panose="020B0604030504040204" pitchFamily="50" charset="-128"/>
              </a:rPr>
              <a:t>式</a:t>
            </a:r>
            <a:r>
              <a:rPr kumimoji="1" lang="en-US" altLang="ja-JP">
                <a:latin typeface="Meiryo" panose="020B0604030504040204" pitchFamily="50" charset="-128"/>
              </a:rPr>
              <a:t>(S1)</a:t>
            </a:r>
            <a:r>
              <a:rPr kumimoji="1" lang="ja-JP" altLang="en-US">
                <a:latin typeface="Meiryo" panose="020B0604030504040204" pitchFamily="50" charset="-128"/>
              </a:rPr>
              <a:t>は</a:t>
            </a:r>
            <a:r>
              <a:rPr kumimoji="1" lang="en-US" altLang="ja-JP">
                <a:latin typeface="Meiryo" panose="020B0604030504040204" pitchFamily="50" charset="-128"/>
              </a:rPr>
              <a:t>G_t</a:t>
            </a:r>
            <a:r>
              <a:rPr kumimoji="1" lang="ja-JP" altLang="en-US">
                <a:latin typeface="Meiryo" panose="020B0604030504040204" pitchFamily="50" charset="-128"/>
              </a:rPr>
              <a:t>が</a:t>
            </a:r>
            <a:r>
              <a:rPr kumimoji="1" lang="en-US" altLang="ja-JP">
                <a:latin typeface="Meiryo" panose="020B0604030504040204" pitchFamily="50" charset="-128"/>
              </a:rPr>
              <a:t>t</a:t>
            </a:r>
            <a:r>
              <a:rPr kumimoji="1" lang="ja-JP" altLang="en-US">
                <a:latin typeface="Meiryo" panose="020B0604030504040204" pitchFamily="50" charset="-128"/>
              </a:rPr>
              <a:t>番目の要求に利用可能なグラフと定義します。辺集合</a:t>
            </a:r>
            <a:r>
              <a:rPr kumimoji="1" lang="en-US" altLang="ja-JP">
                <a:latin typeface="Meiryo" panose="020B0604030504040204" pitchFamily="50" charset="-128"/>
              </a:rPr>
              <a:t>ℰ_t</a:t>
            </a:r>
            <a:r>
              <a:rPr kumimoji="1" lang="ja-JP" altLang="en-US">
                <a:latin typeface="Meiryo" panose="020B0604030504040204" pitchFamily="50" charset="-128"/>
              </a:rPr>
              <a:t>と辺数</a:t>
            </a:r>
            <a:r>
              <a:rPr kumimoji="1" lang="en-US" altLang="ja-JP">
                <a:latin typeface="Meiryo" panose="020B0604030504040204" pitchFamily="50" charset="-128"/>
              </a:rPr>
              <a:t>E_t=|ℰ_t|</a:t>
            </a:r>
            <a:r>
              <a:rPr kumimoji="1" lang="ja-JP" altLang="en-US">
                <a:latin typeface="Meiryo" panose="020B0604030504040204" pitchFamily="50" charset="-128"/>
              </a:rPr>
              <a:t>を区別します。</a:t>
            </a:r>
            <a:r>
              <a:rPr kumimoji="1" lang="en-US" altLang="ja-JP">
                <a:latin typeface="Meiryo" panose="020B0604030504040204" pitchFamily="50" charset="-128"/>
              </a:rPr>
              <a:t>p=(E_1−E_t)/E_1</a:t>
            </a:r>
            <a:r>
              <a:rPr kumimoji="1" lang="ja-JP" altLang="en-US">
                <a:latin typeface="Meiryo" panose="020B0604030504040204" pitchFamily="50" charset="-128"/>
              </a:rPr>
              <a:t>から導出。</a:t>
            </a:r>
            <a:r>
              <a:rPr kumimoji="1" lang="en-US" altLang="ja-JP">
                <a:latin typeface="Meiryo" panose="020B0604030504040204" pitchFamily="50" charset="-128"/>
              </a:rPr>
              <a:t>SM PDF2</a:t>
            </a:r>
            <a:r>
              <a:rPr kumimoji="1" lang="ja-JP" altLang="en-US">
                <a:latin typeface="Meiryo" panose="020B0604030504040204" pitchFamily="50" charset="-128"/>
              </a:rPr>
              <a:t>式</a:t>
            </a:r>
            <a:r>
              <a:rPr kumimoji="1" lang="en-US" altLang="ja-JP">
                <a:latin typeface="Meiryo" panose="020B0604030504040204" pitchFamily="50" charset="-128"/>
              </a:rPr>
              <a:t>(S2)</a:t>
            </a:r>
            <a:r>
              <a:rPr kumimoji="1" lang="ja-JP" altLang="en-US">
                <a:latin typeface="Meiryo" panose="020B0604030504040204" pitchFamily="50" charset="-128"/>
              </a:rPr>
              <a:t>は全連結成分の頂点数の和が</a:t>
            </a:r>
            <a:r>
              <a:rPr kumimoji="1" lang="en-US" altLang="ja-JP">
                <a:latin typeface="Meiryo" panose="020B0604030504040204" pitchFamily="50" charset="-128"/>
              </a:rPr>
              <a:t>N</a:t>
            </a:r>
            <a:r>
              <a:rPr kumimoji="1" lang="ja-JP" altLang="en-US">
                <a:latin typeface="Meiryo" panose="020B0604030504040204" pitchFamily="50" charset="-128"/>
              </a:rPr>
              <a:t>なので</a:t>
            </a:r>
            <a:r>
              <a:rPr kumimoji="1" lang="en-US" altLang="ja-JP">
                <a:latin typeface="Meiryo" panose="020B0604030504040204" pitchFamily="50" charset="-128"/>
              </a:rPr>
              <a:t>P=s_R/N</a:t>
            </a:r>
            <a:r>
              <a:rPr kumimoji="1" lang="ja-JP" altLang="en-US">
                <a:latin typeface="Meiryo" panose="020B0604030504040204" pitchFamily="50" charset="-128"/>
              </a:rPr>
              <a:t>。この等号は代数的補足です。</a:t>
            </a:r>
            <a:r>
              <a:rPr kumimoji="1" lang="en-US" altLang="ja-JP">
                <a:latin typeface="Meiryo" panose="020B0604030504040204" pitchFamily="50" charset="-128"/>
              </a:rPr>
              <a:t>t</a:t>
            </a:r>
            <a:r>
              <a:rPr kumimoji="1" lang="ja-JP" altLang="en-US">
                <a:latin typeface="Meiryo" panose="020B0604030504040204" pitchFamily="50" charset="-128"/>
              </a:rPr>
              <a:t>を要求</a:t>
            </a:r>
            <a:r>
              <a:rPr kumimoji="1" lang="en-US" altLang="ja-JP">
                <a:latin typeface="Meiryo" panose="020B0604030504040204" pitchFamily="50" charset="-128"/>
              </a:rPr>
              <a:t>t</a:t>
            </a:r>
            <a:r>
              <a:rPr kumimoji="1" lang="ja-JP" altLang="en-US">
                <a:latin typeface="Meiryo" panose="020B0604030504040204" pitchFamily="50" charset="-128"/>
              </a:rPr>
              <a:t>の削除後という意味にしません。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7</a:t>
            </a:fld>
            <a:endParaRPr kumimoji="1" lang="ja-JP" altLang="en-US"/>
          </a:p>
        </p:txBody>
      </p:sp>
    </p:spTree>
    <p:extLst>
      <p:ext uri="{BB962C8B-B14F-4D97-AF65-F5344CB8AC3E}">
        <p14:creationId xmlns:p14="http://schemas.microsoft.com/office/powerpoint/2010/main" val="3889815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No.2</a:t>
            </a:r>
            <a:r>
              <a:rPr kumimoji="1" lang="ja-JP" altLang="en-US">
                <a:latin typeface="Meiryo" panose="020B0604030504040204" pitchFamily="50" charset="-128"/>
              </a:rPr>
              <a:t>。</a:t>
            </a:r>
            <a:r>
              <a:rPr kumimoji="1" lang="en-US" altLang="ja-JP">
                <a:latin typeface="Meiryo" panose="020B0604030504040204" pitchFamily="50" charset="-128"/>
              </a:rPr>
              <a:t>S3</a:t>
            </a:r>
            <a:r>
              <a:rPr kumimoji="1" lang="ja-JP" altLang="en-US">
                <a:latin typeface="Meiryo" panose="020B0604030504040204" pitchFamily="50" charset="-128"/>
              </a:rPr>
              <a:t>の和は</a:t>
            </a:r>
            <a:r>
              <a:rPr kumimoji="1" lang="en-US" altLang="ja-JP">
                <a:latin typeface="Meiryo" panose="020B0604030504040204" pitchFamily="50" charset="-128"/>
              </a:rPr>
              <a:t>r=1</a:t>
            </a:r>
            <a:r>
              <a:rPr kumimoji="1" lang="ja-JP" altLang="en-US">
                <a:latin typeface="Meiryo" panose="020B0604030504040204" pitchFamily="50" charset="-128"/>
              </a:rPr>
              <a:t>から</a:t>
            </a:r>
            <a:r>
              <a:rPr kumimoji="1" lang="en-US" altLang="ja-JP">
                <a:latin typeface="Meiryo" panose="020B0604030504040204" pitchFamily="50" charset="-128"/>
              </a:rPr>
              <a:t>R−1</a:t>
            </a:r>
            <a:r>
              <a:rPr kumimoji="1" lang="ja-JP" altLang="en-US">
                <a:latin typeface="Meiryo" panose="020B0604030504040204" pitchFamily="50" charset="-128"/>
              </a:rPr>
              <a:t>で最大を</a:t>
            </a:r>
            <a:r>
              <a:rPr kumimoji="1" lang="en-US" altLang="ja-JP">
                <a:latin typeface="Meiryo" panose="020B0604030504040204" pitchFamily="50" charset="-128"/>
              </a:rPr>
              <a:t>1</a:t>
            </a:r>
            <a:r>
              <a:rPr kumimoji="1" lang="ja-JP" altLang="en-US">
                <a:latin typeface="Meiryo" panose="020B0604030504040204" pitchFamily="50" charset="-128"/>
              </a:rPr>
              <a:t>個除きます。期待値解釈は数学的補足であり、原論文が頂点を抽出して測定したという主張ではありません。詳細な頂点重みの導出、</a:t>
            </a:r>
            <a:r>
              <a:rPr kumimoji="1" lang="en-US" altLang="ja-JP">
                <a:latin typeface="Meiryo" panose="020B0604030504040204" pitchFamily="50" charset="-128"/>
              </a:rPr>
              <a:t>m_s</a:t>
            </a:r>
            <a:r>
              <a:rPr kumimoji="1" lang="ja-JP" altLang="en-US">
                <a:latin typeface="Meiryo" panose="020B0604030504040204" pitchFamily="50" charset="-128"/>
              </a:rPr>
              <a:t>・</a:t>
            </a:r>
            <a:r>
              <a:rPr kumimoji="1" lang="en-US" altLang="ja-JP">
                <a:latin typeface="Meiryo" panose="020B0604030504040204" pitchFamily="50" charset="-128"/>
              </a:rPr>
              <a:t>n_s</a:t>
            </a:r>
            <a:r>
              <a:rPr kumimoji="1" lang="ja-JP" altLang="en-US">
                <a:latin typeface="Meiryo" panose="020B0604030504040204" pitchFamily="50" charset="-128"/>
              </a:rPr>
              <a:t>との等価性、最大成分の支配的寄与、</a:t>
            </a:r>
            <a:r>
              <a:rPr kumimoji="1" lang="en-US" altLang="ja-JP">
                <a:latin typeface="Meiryo" panose="020B0604030504040204" pitchFamily="50" charset="-128"/>
              </a:rPr>
              <a:t>R=1</a:t>
            </a:r>
            <a:r>
              <a:rPr kumimoji="1" lang="ja-JP" altLang="en-US">
                <a:latin typeface="Meiryo" panose="020B0604030504040204" pitchFamily="50" charset="-128"/>
              </a:rPr>
              <a:t>の注意は独立した板書案に記載します。同率最大なら</a:t>
            </a:r>
            <a:r>
              <a:rPr kumimoji="1" lang="en-US" altLang="ja-JP">
                <a:latin typeface="Meiryo" panose="020B0604030504040204" pitchFamily="50" charset="-128"/>
              </a:rPr>
              <a:t>1</a:t>
            </a:r>
            <a:r>
              <a:rPr kumimoji="1" lang="ja-JP" altLang="en-US">
                <a:latin typeface="Meiryo" panose="020B0604030504040204" pitchFamily="50" charset="-128"/>
              </a:rPr>
              <a:t>個だけ除きます。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8</a:t>
            </a:fld>
            <a:endParaRPr kumimoji="1" lang="ja-JP" altLang="en-US"/>
          </a:p>
        </p:txBody>
      </p:sp>
    </p:spTree>
    <p:extLst>
      <p:ext uri="{BB962C8B-B14F-4D97-AF65-F5344CB8AC3E}">
        <p14:creationId xmlns:p14="http://schemas.microsoft.com/office/powerpoint/2010/main" val="1500840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No.3-A</a:t>
            </a:r>
            <a:r>
              <a:rPr kumimoji="1" lang="ja-JP" altLang="en-US">
                <a:latin typeface="Meiryo" panose="020B0604030504040204" pitchFamily="50" charset="-128"/>
              </a:rPr>
              <a:t>。</a:t>
            </a:r>
            <a:r>
              <a:rPr kumimoji="1" lang="en-US" altLang="ja-JP">
                <a:latin typeface="Meiryo" panose="020B0604030504040204" pitchFamily="50" charset="-128"/>
              </a:rPr>
              <a:t>P=s_max/N</a:t>
            </a:r>
            <a:r>
              <a:rPr kumimoji="1" lang="ja-JP" altLang="en-US">
                <a:latin typeface="Meiryo" panose="020B0604030504040204" pitchFamily="50" charset="-128"/>
              </a:rPr>
              <a:t>、</a:t>
            </a:r>
            <a:r>
              <a:rPr kumimoji="1" lang="en-US" altLang="ja-JP">
                <a:latin typeface="Meiryo" panose="020B0604030504040204" pitchFamily="50" charset="-128"/>
              </a:rPr>
              <a:t>N=L²</a:t>
            </a:r>
            <a:r>
              <a:rPr kumimoji="1" lang="ja-JP" altLang="en-US">
                <a:latin typeface="Meiryo" panose="020B0604030504040204" pitchFamily="50" charset="-128"/>
              </a:rPr>
              <a:t>。有限</a:t>
            </a:r>
            <a:r>
              <a:rPr kumimoji="1" lang="en-US" altLang="ja-JP">
                <a:latin typeface="Meiryo" panose="020B0604030504040204" pitchFamily="50" charset="-128"/>
              </a:rPr>
              <a:t>N</a:t>
            </a:r>
            <a:r>
              <a:rPr kumimoji="1" lang="ja-JP" altLang="en-US">
                <a:latin typeface="Meiryo" panose="020B0604030504040204" pitchFamily="50" charset="-128"/>
              </a:rPr>
              <a:t>で</a:t>
            </a:r>
            <a:r>
              <a:rPr kumimoji="1" lang="en-US" altLang="ja-JP">
                <a:latin typeface="Meiryo" panose="020B0604030504040204" pitchFamily="50" charset="-128"/>
              </a:rPr>
              <a:t>s_max</a:t>
            </a:r>
            <a:r>
              <a:rPr kumimoji="1" lang="ja-JP" altLang="en-US">
                <a:latin typeface="Meiryo" panose="020B0604030504040204" pitchFamily="50" charset="-128"/>
              </a:rPr>
              <a:t>は整数であり、</a:t>
            </a:r>
            <a:r>
              <a:rPr kumimoji="1" lang="en-US" altLang="ja-JP">
                <a:latin typeface="Meiryo" panose="020B0604030504040204" pitchFamily="50" charset="-128"/>
              </a:rPr>
              <a:t>P</a:t>
            </a:r>
            <a:r>
              <a:rPr kumimoji="1" lang="ja-JP" altLang="en-US">
                <a:latin typeface="Meiryo" panose="020B0604030504040204" pitchFamily="50" charset="-128"/>
              </a:rPr>
              <a:t>の取り得る値は離散的です。要求</a:t>
            </a:r>
            <a:r>
              <a:rPr kumimoji="1" lang="en-US" altLang="ja-JP">
                <a:latin typeface="Meiryo" panose="020B0604030504040204" pitchFamily="50" charset="-128"/>
              </a:rPr>
              <a:t>1</a:t>
            </a:r>
            <a:r>
              <a:rPr kumimoji="1" lang="ja-JP" altLang="en-US">
                <a:latin typeface="Meiryo" panose="020B0604030504040204" pitchFamily="50" charset="-128"/>
              </a:rPr>
              <a:t>回で複数辺を削除することもあります。ある有限サイズでの急変だけでは無限サイズの不連続性は判断できません。これは解析への動機付けで、原論文の日本語逐語引用ではありません。</a:t>
            </a:r>
            <a:r>
              <a:rPr kumimoji="1" lang="en-US" altLang="ja-JP">
                <a:latin typeface="Meiryo" panose="020B0604030504040204" pitchFamily="50" charset="-128"/>
              </a:rPr>
              <a:t>S4/S5</a:t>
            </a:r>
            <a:r>
              <a:rPr kumimoji="1" lang="ja-JP" altLang="en-US">
                <a:latin typeface="Meiryo" panose="020B0604030504040204" pitchFamily="50" charset="-128"/>
              </a:rPr>
              <a:t>と指数計算は次のスライドへ進め、</a:t>
            </a:r>
            <a:r>
              <a:rPr kumimoji="1" lang="en-US" altLang="ja-JP">
                <a:latin typeface="Meiryo" panose="020B0604030504040204" pitchFamily="50" charset="-128"/>
              </a:rPr>
              <a:t>FSS</a:t>
            </a:r>
            <a:r>
              <a:rPr kumimoji="1" lang="ja-JP" altLang="en-US">
                <a:latin typeface="Meiryo" panose="020B0604030504040204" pitchFamily="50" charset="-128"/>
              </a:rPr>
              <a:t>の式は先取りしません。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9</a:t>
            </a:fld>
            <a:endParaRPr kumimoji="1" lang="ja-JP" altLang="en-US"/>
          </a:p>
        </p:txBody>
      </p:sp>
    </p:spTree>
    <p:extLst>
      <p:ext uri="{BB962C8B-B14F-4D97-AF65-F5344CB8AC3E}">
        <p14:creationId xmlns:p14="http://schemas.microsoft.com/office/powerpoint/2010/main" val="2374171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No.3-B</a:t>
            </a:r>
            <a:r>
              <a:rPr kumimoji="1" lang="ja-JP" altLang="en-US">
                <a:latin typeface="Meiryo" panose="020B0604030504040204" pitchFamily="50" charset="-128"/>
              </a:rPr>
              <a:t>。</a:t>
            </a:r>
            <a:r>
              <a:rPr kumimoji="1" lang="en-US" altLang="ja-JP">
                <a:latin typeface="Meiryo" panose="020B0604030504040204" pitchFamily="50" charset="-128"/>
              </a:rPr>
              <a:t>S4</a:t>
            </a:r>
            <a:r>
              <a:rPr kumimoji="1" lang="ja-JP" altLang="en-US">
                <a:latin typeface="Meiryo" panose="020B0604030504040204" pitchFamily="50" charset="-128"/>
              </a:rPr>
              <a:t>は仮定、</a:t>
            </a:r>
            <a:r>
              <a:rPr kumimoji="1" lang="en-US" altLang="ja-JP">
                <a:latin typeface="Meiryo" panose="020B0604030504040204" pitchFamily="50" charset="-128"/>
              </a:rPr>
              <a:t>S5</a:t>
            </a:r>
            <a:r>
              <a:rPr kumimoji="1" lang="ja-JP" altLang="en-US">
                <a:latin typeface="Meiryo" panose="020B0604030504040204" pitchFamily="50" charset="-128"/>
              </a:rPr>
              <a:t>は</a:t>
            </a:r>
            <a:r>
              <a:rPr kumimoji="1" lang="en-US" altLang="ja-JP">
                <a:latin typeface="Meiryo" panose="020B0604030504040204" pitchFamily="50" charset="-128"/>
              </a:rPr>
              <a:t>x,y,z&gt;0</a:t>
            </a:r>
            <a:r>
              <a:rPr kumimoji="1" lang="ja-JP" altLang="en-US">
                <a:latin typeface="Meiryo" panose="020B0604030504040204" pitchFamily="50" charset="-128"/>
              </a:rPr>
              <a:t>で対数法則を適用した結果です。</a:t>
            </a:r>
            <a:r>
              <a:rPr kumimoji="1" lang="en-US" altLang="ja-JP">
                <a:latin typeface="Meiryo" panose="020B0604030504040204" pitchFamily="50" charset="-128"/>
              </a:rPr>
              <a:t>X=log y</a:t>
            </a:r>
            <a:r>
              <a:rPr kumimoji="1" lang="ja-JP" altLang="en-US">
                <a:latin typeface="Meiryo" panose="020B0604030504040204" pitchFamily="50" charset="-128"/>
              </a:rPr>
              <a:t>、</a:t>
            </a:r>
            <a:r>
              <a:rPr kumimoji="1" lang="en-US" altLang="ja-JP">
                <a:latin typeface="Meiryo" panose="020B0604030504040204" pitchFamily="50" charset="-128"/>
              </a:rPr>
              <a:t>Y=log x</a:t>
            </a:r>
            <a:r>
              <a:rPr kumimoji="1" lang="ja-JP" altLang="en-US">
                <a:latin typeface="Meiryo" panose="020B0604030504040204" pitchFamily="50" charset="-128"/>
              </a:rPr>
              <a:t>、</a:t>
            </a:r>
            <a:r>
              <a:rPr kumimoji="1" lang="en-US" altLang="ja-JP">
                <a:latin typeface="Meiryo" panose="020B0604030504040204" pitchFamily="50" charset="-128"/>
              </a:rPr>
              <a:t>b=log z</a:t>
            </a:r>
            <a:r>
              <a:rPr kumimoji="1" lang="ja-JP" altLang="en-US">
                <a:latin typeface="Meiryo" panose="020B0604030504040204" pitchFamily="50" charset="-128"/>
              </a:rPr>
              <a:t>とすれば</a:t>
            </a:r>
            <a:r>
              <a:rPr kumimoji="1" lang="en-US" altLang="ja-JP">
                <a:latin typeface="Meiryo" panose="020B0604030504040204" pitchFamily="50" charset="-128"/>
              </a:rPr>
              <a:t>Y=ζX+b</a:t>
            </a:r>
            <a:r>
              <a:rPr kumimoji="1" lang="ja-JP" altLang="en-US">
                <a:latin typeface="Meiryo" panose="020B0604030504040204" pitchFamily="50" charset="-128"/>
              </a:rPr>
              <a:t>となり、傾きが指数です。対数の底は共通で</a:t>
            </a:r>
            <a:r>
              <a:rPr kumimoji="1" lang="en-US" altLang="ja-JP">
                <a:latin typeface="Meiryo" panose="020B0604030504040204" pitchFamily="50" charset="-128"/>
              </a:rPr>
              <a:t>1</a:t>
            </a:r>
            <a:r>
              <a:rPr kumimoji="1" lang="ja-JP" altLang="en-US">
                <a:latin typeface="Meiryo" panose="020B0604030504040204" pitchFamily="50" charset="-128"/>
              </a:rPr>
              <a:t>以外の正数を使います。最小二乗公式は板書補足のみ。</a:t>
            </a:r>
            <a:r>
              <a:rPr kumimoji="1" lang="en-US" altLang="ja-JP">
                <a:latin typeface="Meiryo" panose="020B0604030504040204" pitchFamily="50" charset="-128"/>
              </a:rPr>
              <a:t>FSS</a:t>
            </a:r>
            <a:r>
              <a:rPr kumimoji="1" lang="ja-JP" altLang="en-US">
                <a:latin typeface="Meiryo" panose="020B0604030504040204" pitchFamily="50" charset="-128"/>
              </a:rPr>
              <a:t>の関係は</a:t>
            </a:r>
            <a:r>
              <a:rPr kumimoji="1" lang="en-US" altLang="ja-JP">
                <a:latin typeface="Meiryo" panose="020B0604030504040204" pitchFamily="50" charset="-128"/>
              </a:rPr>
              <a:t>S4/S5</a:t>
            </a:r>
            <a:r>
              <a:rPr kumimoji="1" lang="ja-JP" altLang="en-US">
                <a:latin typeface="Meiryo" panose="020B0604030504040204" pitchFamily="50" charset="-128"/>
              </a:rPr>
              <a:t>から自動的に導出されず、直線への当てはまりだけでべき乗則は証明されません。今回は</a:t>
            </a:r>
            <a:r>
              <a:rPr kumimoji="1" lang="en-US" altLang="ja-JP">
                <a:latin typeface="Meiryo" panose="020B0604030504040204" pitchFamily="50" charset="-128"/>
              </a:rPr>
              <a:t>S5</a:t>
            </a:r>
            <a:r>
              <a:rPr kumimoji="1" lang="ja-JP" altLang="en-US">
                <a:latin typeface="Meiryo" panose="020B0604030504040204" pitchFamily="50" charset="-128"/>
              </a:rPr>
              <a:t>で終え、</a:t>
            </a:r>
            <a:r>
              <a:rPr kumimoji="1" lang="en-US" altLang="ja-JP">
                <a:latin typeface="Meiryo" panose="020B0604030504040204" pitchFamily="50" charset="-128"/>
              </a:rPr>
              <a:t>S6</a:t>
            </a:r>
            <a:r>
              <a:rPr kumimoji="1" lang="ja-JP" altLang="en-US">
                <a:latin typeface="Meiryo" panose="020B0604030504040204" pitchFamily="50" charset="-128"/>
              </a:rPr>
              <a:t>以降の詳細や未定義の臨界指数を先取りしません。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10</a:t>
            </a:fld>
            <a:endParaRPr kumimoji="1" lang="ja-JP" altLang="en-US"/>
          </a:p>
        </p:txBody>
      </p:sp>
    </p:spTree>
    <p:extLst>
      <p:ext uri="{BB962C8B-B14F-4D97-AF65-F5344CB8AC3E}">
        <p14:creationId xmlns:p14="http://schemas.microsoft.com/office/powerpoint/2010/main" val="3428904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】Supplemental Material IV.A/IV.B</a:t>
            </a:r>
            <a:r>
              <a:rPr kumimoji="1" lang="ja-JP" altLang="en-US">
                <a:latin typeface="Meiryo" panose="020B0604030504040204" pitchFamily="50" charset="-128"/>
              </a:rPr>
              <a:t>（</a:t>
            </a:r>
            <a:r>
              <a:rPr kumimoji="1" lang="en-US" altLang="ja-JP">
                <a:latin typeface="Meiryo" panose="020B0604030504040204" pitchFamily="50" charset="-128"/>
              </a:rPr>
              <a:t>PDF3</a:t>
            </a:r>
            <a:r>
              <a:rPr kumimoji="1" lang="ja-JP" altLang="en-US">
                <a:latin typeface="Meiryo" panose="020B0604030504040204" pitchFamily="50" charset="-128"/>
              </a:rPr>
              <a:t>）の</a:t>
            </a:r>
            <a:r>
              <a:rPr kumimoji="1" lang="en-US" altLang="ja-JP">
                <a:latin typeface="Meiryo" panose="020B0604030504040204" pitchFamily="50" charset="-128"/>
              </a:rPr>
              <a:t>S9</a:t>
            </a:r>
            <a:r>
              <a:rPr kumimoji="1" lang="ja-JP" altLang="en-US">
                <a:latin typeface="Meiryo" panose="020B0604030504040204" pitchFamily="50" charset="-128"/>
              </a:rPr>
              <a:t>、</a:t>
            </a:r>
            <a:r>
              <a:rPr kumimoji="1" lang="en-US" altLang="ja-JP">
                <a:latin typeface="Meiryo" panose="020B0604030504040204" pitchFamily="50" charset="-128"/>
              </a:rPr>
              <a:t>S10</a:t>
            </a:r>
            <a:r>
              <a:rPr kumimoji="1" lang="ja-JP" altLang="en-US">
                <a:latin typeface="Meiryo" panose="020B0604030504040204" pitchFamily="50" charset="-128"/>
              </a:rPr>
              <a:t>を先に紹介する。</a:t>
            </a:r>
            <a:r>
              <a:rPr kumimoji="1" lang="en-US" altLang="ja-JP">
                <a:latin typeface="Meiryo" panose="020B0604030504040204" pitchFamily="50" charset="-128"/>
              </a:rPr>
              <a:t>S9</a:t>
            </a:r>
            <a:r>
              <a:rPr kumimoji="1" lang="ja-JP" altLang="en-US">
                <a:latin typeface="Meiryo" panose="020B0604030504040204" pitchFamily="50" charset="-128"/>
              </a:rPr>
              <a:t>は有限サイズの疑似臨界点と無限サイズの臨界点の関係、</a:t>
            </a:r>
            <a:r>
              <a:rPr kumimoji="1" lang="en-US" altLang="ja-JP">
                <a:latin typeface="Meiryo" panose="020B0604030504040204" pitchFamily="50" charset="-128"/>
              </a:rPr>
              <a:t>S10</a:t>
            </a:r>
            <a:r>
              <a:rPr kumimoji="1" lang="ja-JP" altLang="en-US">
                <a:latin typeface="Meiryo" panose="020B0604030504040204" pitchFamily="50" charset="-128"/>
              </a:rPr>
              <a:t>は臨界点での</a:t>
            </a:r>
            <a:r>
              <a:rPr kumimoji="1" lang="en-US" altLang="ja-JP">
                <a:latin typeface="Meiryo" panose="020B0604030504040204" pitchFamily="50" charset="-128"/>
              </a:rPr>
              <a:t>P</a:t>
            </a:r>
            <a:r>
              <a:rPr kumimoji="1" lang="ja-JP" altLang="en-US">
                <a:latin typeface="Meiryo" panose="020B0604030504040204" pitchFamily="50" charset="-128"/>
              </a:rPr>
              <a:t>のサイズ依存。</a:t>
            </a:r>
            <a:r>
              <a:rPr kumimoji="1" lang="en-US" altLang="ja-JP">
                <a:latin typeface="Meiryo" panose="020B0604030504040204" pitchFamily="50" charset="-128"/>
              </a:rPr>
              <a:t>p_c</a:t>
            </a:r>
            <a:r>
              <a:rPr kumimoji="1" lang="ja-JP" altLang="en-US">
                <a:latin typeface="Meiryo" panose="020B0604030504040204" pitchFamily="50" charset="-128"/>
              </a:rPr>
              <a:t>：無限サイズの臨界点、</a:t>
            </a:r>
            <a:r>
              <a:rPr kumimoji="1" lang="en-US" altLang="ja-JP">
                <a:latin typeface="Meiryo" panose="020B0604030504040204" pitchFamily="50" charset="-128"/>
              </a:rPr>
              <a:t>p_c(N)</a:t>
            </a:r>
            <a:r>
              <a:rPr kumimoji="1" lang="ja-JP" altLang="en-US">
                <a:latin typeface="Meiryo" panose="020B0604030504040204" pitchFamily="50" charset="-128"/>
              </a:rPr>
              <a:t>：有限サイズの疑似臨界点、</a:t>
            </a:r>
            <a:r>
              <a:rPr kumimoji="1" lang="en-US" altLang="ja-JP">
                <a:latin typeface="Meiryo" panose="020B0604030504040204" pitchFamily="50" charset="-128"/>
              </a:rPr>
              <a:t>N</a:t>
            </a:r>
            <a:r>
              <a:rPr kumimoji="1" lang="ja-JP" altLang="en-US">
                <a:latin typeface="Meiryo" panose="020B0604030504040204" pitchFamily="50" charset="-128"/>
              </a:rPr>
              <a:t>：頂点数、</a:t>
            </a:r>
            <a:r>
              <a:rPr kumimoji="1" lang="en-US" altLang="ja-JP">
                <a:latin typeface="Meiryo" panose="020B0604030504040204" pitchFamily="50" charset="-128"/>
              </a:rPr>
              <a:t>β</a:t>
            </a:r>
            <a:r>
              <a:rPr kumimoji="1" lang="ja-JP" altLang="en-US">
                <a:latin typeface="Meiryo" panose="020B0604030504040204" pitchFamily="50" charset="-128"/>
              </a:rPr>
              <a:t>（ベータ）と</a:t>
            </a:r>
            <a:r>
              <a:rPr kumimoji="1" lang="en-US" altLang="ja-JP">
                <a:latin typeface="Meiryo" panose="020B0604030504040204" pitchFamily="50" charset="-128"/>
              </a:rPr>
              <a:t>ν̄</a:t>
            </a:r>
            <a:r>
              <a:rPr kumimoji="1" lang="ja-JP" altLang="en-US">
                <a:latin typeface="Meiryo" panose="020B0604030504040204" pitchFamily="50" charset="-128"/>
              </a:rPr>
              <a:t>（ニューバー）：臨界指数、</a:t>
            </a:r>
            <a:r>
              <a:rPr kumimoji="1" lang="en-US" altLang="ja-JP">
                <a:latin typeface="Meiryo" panose="020B0604030504040204" pitchFamily="50" charset="-128"/>
              </a:rPr>
              <a:t>b</a:t>
            </a:r>
            <a:r>
              <a:rPr kumimoji="1" lang="ja-JP" altLang="en-US">
                <a:latin typeface="Meiryo" panose="020B0604030504040204" pitchFamily="50" charset="-128"/>
              </a:rPr>
              <a:t>：係数。画面の</a:t>
            </a:r>
            <a:r>
              <a:rPr kumimoji="1" lang="en-US" altLang="ja-JP">
                <a:latin typeface="Meiryo" panose="020B0604030504040204" pitchFamily="50" charset="-128"/>
              </a:rPr>
              <a:t>2</a:t>
            </a:r>
            <a:r>
              <a:rPr kumimoji="1" lang="ja-JP" altLang="en-US">
                <a:latin typeface="Meiryo" panose="020B0604030504040204" pitchFamily="50" charset="-128"/>
              </a:rPr>
              <a:t>式を指す。詳細な意味と導出は後続で説明するので追加板書は不要。</a:t>
            </a:r>
            <a:r>
              <a:rPr kumimoji="1" lang="en-US" altLang="ja-JP">
                <a:latin typeface="Meiryo" panose="020B0604030504040204" pitchFamily="50" charset="-128"/>
              </a:rPr>
              <a:t>S10</a:t>
            </a:r>
            <a:r>
              <a:rPr kumimoji="1" lang="ja-JP" altLang="en-US">
                <a:latin typeface="Meiryo" panose="020B0604030504040204" pitchFamily="50" charset="-128"/>
              </a:rPr>
              <a:t>の画面表記は説明用に平均と</a:t>
            </a:r>
            <a:r>
              <a:rPr kumimoji="1" lang="en-US" altLang="ja-JP">
                <a:latin typeface="Meiryo" panose="020B0604030504040204" pitchFamily="50" charset="-128"/>
              </a:rPr>
              <a:t>N</a:t>
            </a:r>
            <a:r>
              <a:rPr kumimoji="1" lang="ja-JP" altLang="en-US">
                <a:latin typeface="Meiryo" panose="020B0604030504040204" pitchFamily="50" charset="-128"/>
              </a:rPr>
              <a:t>依存性を明示したもので、原文は</a:t>
            </a:r>
            <a:r>
              <a:rPr kumimoji="1" lang="en-US" altLang="ja-JP">
                <a:latin typeface="Meiryo" panose="020B0604030504040204" pitchFamily="50" charset="-128"/>
              </a:rPr>
              <a:t>P(p_c)=〈P(p=p_c,N)〉〜N^{-β/ν̄}</a:t>
            </a:r>
            <a:r>
              <a:rPr kumimoji="1" lang="ja-JP" altLang="en-US">
                <a:latin typeface="Meiryo" panose="020B0604030504040204" pitchFamily="50" charset="-128"/>
              </a:rPr>
              <a:t>。原文の左辺を厳密にそのまま引用したと誤認させない。</a:t>
            </a:r>
            <a:r>
              <a:rPr kumimoji="1" lang="en-US" altLang="ja-JP">
                <a:latin typeface="Meiryo" panose="020B0604030504040204" pitchFamily="50" charset="-128"/>
              </a:rPr>
              <a:t>【</a:t>
            </a:r>
            <a:r>
              <a:rPr kumimoji="1" lang="ja-JP" altLang="en-US">
                <a:latin typeface="Meiryo" panose="020B0604030504040204" pitchFamily="50" charset="-128"/>
              </a:rPr>
              <a:t>補足</a:t>
            </a:r>
            <a:r>
              <a:rPr kumimoji="1" lang="en-US" altLang="ja-JP">
                <a:latin typeface="Meiryo" panose="020B0604030504040204" pitchFamily="50" charset="-128"/>
              </a:rPr>
              <a:t>】FSS</a:t>
            </a:r>
            <a:r>
              <a:rPr kumimoji="1" lang="ja-JP" altLang="en-US">
                <a:latin typeface="Meiryo" panose="020B0604030504040204" pitchFamily="50" charset="-128"/>
              </a:rPr>
              <a:t>の仮定に基づく関係であり、</a:t>
            </a:r>
            <a:r>
              <a:rPr kumimoji="1" lang="en-US" altLang="ja-JP">
                <a:latin typeface="Meiryo" panose="020B0604030504040204" pitchFamily="50" charset="-128"/>
              </a:rPr>
              <a:t>SPP</a:t>
            </a:r>
            <a:r>
              <a:rPr kumimoji="1" lang="ja-JP" altLang="en-US">
                <a:latin typeface="Meiryo" panose="020B0604030504040204" pitchFamily="50" charset="-128"/>
              </a:rPr>
              <a:t>の操作規則から厳密に導かれた恒等式ではない。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11</a:t>
            </a:fld>
            <a:endParaRPr kumimoji="1" lang="ja-JP" altLang="en-US"/>
          </a:p>
        </p:txBody>
      </p:sp>
    </p:spTree>
    <p:extLst>
      <p:ext uri="{BB962C8B-B14F-4D97-AF65-F5344CB8AC3E}">
        <p14:creationId xmlns:p14="http://schemas.microsoft.com/office/powerpoint/2010/main" val="38472402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】Supplemental Material IV.A</a:t>
            </a:r>
            <a:r>
              <a:rPr kumimoji="1" lang="ja-JP" altLang="en-US">
                <a:latin typeface="Meiryo" panose="020B0604030504040204" pitchFamily="50" charset="-128"/>
              </a:rPr>
              <a:t>（</a:t>
            </a:r>
            <a:r>
              <a:rPr kumimoji="1" lang="en-US" altLang="ja-JP">
                <a:latin typeface="Meiryo" panose="020B0604030504040204" pitchFamily="50" charset="-128"/>
              </a:rPr>
              <a:t>PDF2</a:t>
            </a:r>
            <a:r>
              <a:rPr kumimoji="1" lang="ja-JP" altLang="en-US">
                <a:latin typeface="Meiryo" panose="020B0604030504040204" pitchFamily="50" charset="-128"/>
              </a:rPr>
              <a:t>）は式</a:t>
            </a:r>
            <a:r>
              <a:rPr kumimoji="1" lang="en-US" altLang="ja-JP">
                <a:latin typeface="Meiryo" panose="020B0604030504040204" pitchFamily="50" charset="-128"/>
              </a:rPr>
              <a:t>S6</a:t>
            </a:r>
            <a:r>
              <a:rPr kumimoji="1" lang="ja-JP" altLang="en-US">
                <a:latin typeface="Meiryo" panose="020B0604030504040204" pitchFamily="50" charset="-128"/>
              </a:rPr>
              <a:t>を</a:t>
            </a:r>
            <a:r>
              <a:rPr kumimoji="1" lang="en-US" altLang="ja-JP">
                <a:latin typeface="Meiryo" panose="020B0604030504040204" pitchFamily="50" charset="-128"/>
              </a:rPr>
              <a:t>FSS</a:t>
            </a:r>
            <a:r>
              <a:rPr kumimoji="1" lang="ja-JP" altLang="en-US">
                <a:latin typeface="Meiryo" panose="020B0604030504040204" pitchFamily="50" charset="-128"/>
              </a:rPr>
              <a:t>の仮定として採用する。</a:t>
            </a:r>
            <a:r>
              <a:rPr kumimoji="1" lang="en-US" altLang="ja-JP">
                <a:latin typeface="Meiryo" panose="020B0604030504040204" pitchFamily="50" charset="-128"/>
              </a:rPr>
              <a:t>β</a:t>
            </a:r>
            <a:r>
              <a:rPr kumimoji="1" lang="ja-JP" altLang="en-US">
                <a:latin typeface="Meiryo" panose="020B0604030504040204" pitchFamily="50" charset="-128"/>
              </a:rPr>
              <a:t>は</a:t>
            </a:r>
            <a:r>
              <a:rPr kumimoji="1" lang="en-US" altLang="ja-JP">
                <a:latin typeface="Meiryo" panose="020B0604030504040204" pitchFamily="50" charset="-128"/>
              </a:rPr>
              <a:t>P</a:t>
            </a:r>
            <a:r>
              <a:rPr kumimoji="1" lang="ja-JP" altLang="en-US">
                <a:latin typeface="Meiryo" panose="020B0604030504040204" pitchFamily="50" charset="-128"/>
              </a:rPr>
              <a:t>、</a:t>
            </a:r>
            <a:r>
              <a:rPr kumimoji="1" lang="en-US" altLang="ja-JP">
                <a:latin typeface="Meiryo" panose="020B0604030504040204" pitchFamily="50" charset="-128"/>
              </a:rPr>
              <a:t>ν̄</a:t>
            </a:r>
            <a:r>
              <a:rPr kumimoji="1" lang="ja-JP" altLang="en-US">
                <a:latin typeface="Meiryo" panose="020B0604030504040204" pitchFamily="50" charset="-128"/>
              </a:rPr>
              <a:t>は相関体積の指数。右辺の前因子</a:t>
            </a:r>
            <a:r>
              <a:rPr kumimoji="1" lang="en-US" altLang="ja-JP">
                <a:latin typeface="Meiryo" panose="020B0604030504040204" pitchFamily="50" charset="-128"/>
              </a:rPr>
              <a:t>N^{-β/ν̄}</a:t>
            </a:r>
            <a:r>
              <a:rPr kumimoji="1" lang="ja-JP" altLang="en-US">
                <a:latin typeface="Meiryo" panose="020B0604030504040204" pitchFamily="50" charset="-128"/>
              </a:rPr>
              <a:t>はスケーリング関数の引数を一定にしたときのサイズ依存、</a:t>
            </a:r>
            <a:r>
              <a:rPr kumimoji="1" lang="en-US" altLang="ja-JP">
                <a:latin typeface="Meiryo" panose="020B0604030504040204" pitchFamily="50" charset="-128"/>
              </a:rPr>
              <a:t>u=(p-p_c)N^{1/ν̄}</a:t>
            </a:r>
            <a:r>
              <a:rPr kumimoji="1" lang="ja-JP" altLang="en-US">
                <a:latin typeface="Meiryo" panose="020B0604030504040204" pitchFamily="50" charset="-128"/>
              </a:rPr>
              <a:t>は説明用補助記号である。</a:t>
            </a:r>
            <a:r>
              <a:rPr kumimoji="1" lang="en-US" altLang="ja-JP">
                <a:latin typeface="Meiryo" panose="020B0604030504040204" pitchFamily="50" charset="-128"/>
              </a:rPr>
              <a:t>【</a:t>
            </a:r>
            <a:r>
              <a:rPr kumimoji="1" lang="ja-JP" altLang="en-US">
                <a:latin typeface="Meiryo" panose="020B0604030504040204" pitchFamily="50" charset="-128"/>
              </a:rPr>
              <a:t>一般理論に基づく補足：原論文掲載の導出ではない</a:t>
            </a:r>
            <a:r>
              <a:rPr kumimoji="1" lang="en-US" altLang="ja-JP">
                <a:latin typeface="Meiryo" panose="020B0604030504040204" pitchFamily="50" charset="-128"/>
              </a:rPr>
              <a:t>】</a:t>
            </a:r>
            <a:r>
              <a:rPr kumimoji="1" lang="ja-JP" altLang="en-US">
                <a:latin typeface="Meiryo" panose="020B0604030504040204" pitchFamily="50" charset="-128"/>
              </a:rPr>
              <a:t>通常の連続パーコレーションの連結側</a:t>
            </a:r>
            <a:r>
              <a:rPr kumimoji="1" lang="en-US" altLang="ja-JP">
                <a:latin typeface="Meiryo" panose="020B0604030504040204" pitchFamily="50" charset="-128"/>
              </a:rPr>
              <a:t>p&lt;p_c</a:t>
            </a:r>
            <a:r>
              <a:rPr kumimoji="1" lang="ja-JP" altLang="en-US">
                <a:latin typeface="Meiryo" panose="020B0604030504040204" pitchFamily="50" charset="-128"/>
              </a:rPr>
              <a:t>で</a:t>
            </a:r>
            <a:r>
              <a:rPr kumimoji="1" lang="en-US" altLang="ja-JP">
                <a:latin typeface="Meiryo" panose="020B0604030504040204" pitchFamily="50" charset="-128"/>
              </a:rPr>
              <a:t>δ=p_c-p&gt;0</a:t>
            </a:r>
            <a:r>
              <a:rPr kumimoji="1" lang="ja-JP" altLang="en-US">
                <a:latin typeface="Meiryo" panose="020B0604030504040204" pitchFamily="50" charset="-128"/>
              </a:rPr>
              <a:t>、</a:t>
            </a:r>
            <a:r>
              <a:rPr kumimoji="1" lang="en-US" altLang="ja-JP">
                <a:latin typeface="Meiryo" panose="020B0604030504040204" pitchFamily="50" charset="-128"/>
              </a:rPr>
              <a:t>P_∞∝δ^β</a:t>
            </a:r>
            <a:r>
              <a:rPr kumimoji="1" lang="ja-JP" altLang="en-US">
                <a:latin typeface="Meiryo" panose="020B0604030504040204" pitchFamily="50" charset="-128"/>
              </a:rPr>
              <a:t>を想定する。相関体積</a:t>
            </a:r>
            <a:r>
              <a:rPr kumimoji="1" lang="en-US" altLang="ja-JP">
                <a:latin typeface="Meiryo" panose="020B0604030504040204" pitchFamily="50" charset="-128"/>
              </a:rPr>
              <a:t>V_corr∝|p-p_c|^{-ν̄}</a:t>
            </a:r>
            <a:r>
              <a:rPr kumimoji="1" lang="ja-JP" altLang="en-US">
                <a:latin typeface="Meiryo" panose="020B0604030504040204" pitchFamily="50" charset="-128"/>
              </a:rPr>
              <a:t>、有限サイズ効果が重要となる規模</a:t>
            </a:r>
            <a:r>
              <a:rPr kumimoji="1" lang="en-US" altLang="ja-JP">
                <a:latin typeface="Meiryo" panose="020B0604030504040204" pitchFamily="50" charset="-128"/>
              </a:rPr>
              <a:t>V_corr〜N</a:t>
            </a:r>
            <a:r>
              <a:rPr kumimoji="1" lang="ja-JP" altLang="en-US">
                <a:latin typeface="Meiryo" panose="020B0604030504040204" pitchFamily="50" charset="-128"/>
              </a:rPr>
              <a:t>から、</a:t>
            </a:r>
            <a:r>
              <a:rPr kumimoji="1" lang="en-US" altLang="ja-JP">
                <a:latin typeface="Meiryo" panose="020B0604030504040204" pitchFamily="50" charset="-128"/>
              </a:rPr>
              <a:t>|p-p_c|〜N^{-1/ν̄}</a:t>
            </a:r>
            <a:r>
              <a:rPr kumimoji="1" lang="ja-JP" altLang="en-US">
                <a:latin typeface="Meiryo" panose="020B0604030504040204" pitchFamily="50" charset="-128"/>
              </a:rPr>
              <a:t>と考える。この幅を基準にした符号付き距離が</a:t>
            </a:r>
            <a:r>
              <a:rPr kumimoji="1" lang="en-US" altLang="ja-JP">
                <a:latin typeface="Meiryo" panose="020B0604030504040204" pitchFamily="50" charset="-128"/>
              </a:rPr>
              <a:t>u=(p-p_c)/N^{-1/ν̄}</a:t>
            </a:r>
            <a:r>
              <a:rPr kumimoji="1" lang="ja-JP" altLang="en-US">
                <a:latin typeface="Meiryo" panose="020B0604030504040204" pitchFamily="50" charset="-128"/>
              </a:rPr>
              <a:t>。</a:t>
            </a:r>
            <a:r>
              <a:rPr kumimoji="1" lang="en-US" altLang="ja-JP">
                <a:latin typeface="Meiryo" panose="020B0604030504040204" pitchFamily="50" charset="-128"/>
              </a:rPr>
              <a:t>u</a:t>
            </a:r>
            <a:r>
              <a:rPr kumimoji="1" lang="ja-JP" altLang="en-US">
                <a:latin typeface="Meiryo" panose="020B0604030504040204" pitchFamily="50" charset="-128"/>
              </a:rPr>
              <a:t>固定なら</a:t>
            </a:r>
            <a:r>
              <a:rPr kumimoji="1" lang="en-US" altLang="ja-JP">
                <a:latin typeface="Meiryo" panose="020B0604030504040204" pitchFamily="50" charset="-128"/>
              </a:rPr>
              <a:t>p-p_c=uN^{-1/ν̄}</a:t>
            </a:r>
            <a:r>
              <a:rPr kumimoji="1" lang="ja-JP" altLang="en-US">
                <a:latin typeface="Meiryo" panose="020B0604030504040204" pitchFamily="50" charset="-128"/>
              </a:rPr>
              <a:t>とともに</a:t>
            </a:r>
            <a:r>
              <a:rPr kumimoji="1" lang="en-US" altLang="ja-JP">
                <a:latin typeface="Meiryo" panose="020B0604030504040204" pitchFamily="50" charset="-128"/>
              </a:rPr>
              <a:t>p</a:t>
            </a:r>
            <a:r>
              <a:rPr kumimoji="1" lang="ja-JP" altLang="en-US">
                <a:latin typeface="Meiryo" panose="020B0604030504040204" pitchFamily="50" charset="-128"/>
              </a:rPr>
              <a:t>も変化する。代表的大きさ</a:t>
            </a:r>
            <a:r>
              <a:rPr kumimoji="1" lang="en-US" altLang="ja-JP">
                <a:latin typeface="Meiryo" panose="020B0604030504040204" pitchFamily="50" charset="-128"/>
              </a:rPr>
              <a:t>P_scale〜(N^{-1/ν̄})^β=N^{-β/ν̄}</a:t>
            </a:r>
            <a:r>
              <a:rPr kumimoji="1" lang="ja-JP" altLang="en-US">
                <a:latin typeface="Meiryo" panose="020B0604030504040204" pitchFamily="50" charset="-128"/>
              </a:rPr>
              <a:t>。</a:t>
            </a:r>
            <a:r>
              <a:rPr kumimoji="1" lang="en-US" altLang="ja-JP">
                <a:latin typeface="Meiryo" panose="020B0604030504040204" pitchFamily="50" charset="-128"/>
              </a:rPr>
              <a:t>u</a:t>
            </a:r>
            <a:r>
              <a:rPr kumimoji="1" lang="ja-JP" altLang="en-US">
                <a:latin typeface="Meiryo" panose="020B0604030504040204" pitchFamily="50" charset="-128"/>
              </a:rPr>
              <a:t>による変化を</a:t>
            </a:r>
            <a:r>
              <a:rPr kumimoji="1" lang="en-US" altLang="ja-JP">
                <a:latin typeface="Meiryo" panose="020B0604030504040204" pitchFamily="50" charset="-128"/>
              </a:rPr>
              <a:t>F^{(1)}</a:t>
            </a:r>
            <a:r>
              <a:rPr kumimoji="1" lang="ja-JP" altLang="en-US">
                <a:latin typeface="Meiryo" panose="020B0604030504040204" pitchFamily="50" charset="-128"/>
              </a:rPr>
              <a:t>で表すことで</a:t>
            </a:r>
            <a:r>
              <a:rPr kumimoji="1" lang="en-US" altLang="ja-JP">
                <a:latin typeface="Meiryo" panose="020B0604030504040204" pitchFamily="50" charset="-128"/>
              </a:rPr>
              <a:t>S6</a:t>
            </a:r>
            <a:r>
              <a:rPr kumimoji="1" lang="ja-JP" altLang="en-US">
                <a:latin typeface="Meiryo" panose="020B0604030504040204" pitchFamily="50" charset="-128"/>
              </a:rPr>
              <a:t>の形を動機づける。これは厳密な証明ではなく、無制限</a:t>
            </a:r>
            <a:r>
              <a:rPr kumimoji="1" lang="en-US" altLang="ja-JP">
                <a:latin typeface="Meiryo" panose="020B0604030504040204" pitchFamily="50" charset="-128"/>
              </a:rPr>
              <a:t>SPP</a:t>
            </a:r>
            <a:r>
              <a:rPr kumimoji="1" lang="ja-JP" altLang="en-US">
                <a:latin typeface="Meiryo" panose="020B0604030504040204" pitchFamily="50" charset="-128"/>
              </a:rPr>
              <a:t>や本研究の</a:t>
            </a:r>
            <a:r>
              <a:rPr kumimoji="1" lang="en-US" altLang="ja-JP">
                <a:latin typeface="Meiryo" panose="020B0604030504040204" pitchFamily="50" charset="-128"/>
              </a:rPr>
              <a:t>2D</a:t>
            </a:r>
            <a:r>
              <a:rPr kumimoji="1" lang="ja-JP" altLang="en-US">
                <a:latin typeface="Meiryo" panose="020B0604030504040204" pitchFamily="50" charset="-128"/>
              </a:rPr>
              <a:t>格子で連続転移の描像が必ず成立するとの主張でもない。</a:t>
            </a:r>
            <a:r>
              <a:rPr kumimoji="1" lang="en-US" altLang="ja-JP">
                <a:latin typeface="Meiryo" panose="020B0604030504040204" pitchFamily="50" charset="-128"/>
              </a:rPr>
              <a:t>ER</a:t>
            </a:r>
            <a:r>
              <a:rPr kumimoji="1" lang="ja-JP" altLang="en-US">
                <a:latin typeface="Meiryo" panose="020B0604030504040204" pitchFamily="50" charset="-128"/>
              </a:rPr>
              <a:t>の</a:t>
            </a:r>
            <a:r>
              <a:rPr kumimoji="1" lang="en-US" altLang="ja-JP">
                <a:latin typeface="Meiryo" panose="020B0604030504040204" pitchFamily="50" charset="-128"/>
              </a:rPr>
              <a:t>V_corr</a:t>
            </a:r>
            <a:r>
              <a:rPr kumimoji="1" lang="ja-JP" altLang="en-US">
                <a:latin typeface="Meiryo" panose="020B0604030504040204" pitchFamily="50" charset="-128"/>
              </a:rPr>
              <a:t>を自然な実空間体積と同一視しない。</a:t>
            </a:r>
            <a:r>
              <a:rPr kumimoji="1" lang="en-US" altLang="ja-JP">
                <a:latin typeface="Meiryo" panose="020B0604030504040204" pitchFamily="50" charset="-128"/>
              </a:rPr>
              <a:t>FSS</a:t>
            </a:r>
            <a:r>
              <a:rPr kumimoji="1" lang="ja-JP" altLang="en-US">
                <a:latin typeface="Meiryo" panose="020B0604030504040204" pitchFamily="50" charset="-128"/>
              </a:rPr>
              <a:t>が成立すれば</a:t>
            </a:r>
            <a:r>
              <a:rPr kumimoji="1" lang="en-US" altLang="ja-JP">
                <a:latin typeface="Meiryo" panose="020B0604030504040204" pitchFamily="50" charset="-128"/>
              </a:rPr>
              <a:t>N^{β/ν̄}〈P〉=F^{(1)}(u)</a:t>
            </a:r>
            <a:r>
              <a:rPr kumimoji="1" lang="ja-JP" altLang="en-US">
                <a:latin typeface="Meiryo" panose="020B0604030504040204" pitchFamily="50" charset="-128"/>
              </a:rPr>
              <a:t>としてデータコラプスを考えられる。質問時のみ、連結側の漸近形</a:t>
            </a:r>
            <a:r>
              <a:rPr kumimoji="1" lang="en-US" altLang="ja-JP">
                <a:latin typeface="Meiryo" panose="020B0604030504040204" pitchFamily="50" charset="-128"/>
              </a:rPr>
              <a:t>F^{(1)}(u)∝(-u)^β</a:t>
            </a:r>
            <a:r>
              <a:rPr kumimoji="1" lang="ja-JP" altLang="en-US">
                <a:latin typeface="Meiryo" panose="020B0604030504040204" pitchFamily="50" charset="-128"/>
              </a:rPr>
              <a:t>による</a:t>
            </a:r>
            <a:r>
              <a:rPr kumimoji="1" lang="en-US" altLang="ja-JP">
                <a:latin typeface="Meiryo" panose="020B0604030504040204" pitchFamily="50" charset="-128"/>
              </a:rPr>
              <a:t>P_∞</a:t>
            </a:r>
            <a:r>
              <a:rPr kumimoji="1" lang="ja-JP" altLang="en-US">
                <a:latin typeface="Meiryo" panose="020B0604030504040204" pitchFamily="50" charset="-128"/>
              </a:rPr>
              <a:t>との整合性を説明する。</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12</a:t>
            </a:fld>
            <a:endParaRPr kumimoji="1" lang="ja-JP" altLang="en-US"/>
          </a:p>
        </p:txBody>
      </p:sp>
    </p:spTree>
    <p:extLst>
      <p:ext uri="{BB962C8B-B14F-4D97-AF65-F5344CB8AC3E}">
        <p14:creationId xmlns:p14="http://schemas.microsoft.com/office/powerpoint/2010/main" val="2867963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】Supplemental Material IV.A</a:t>
            </a:r>
            <a:r>
              <a:rPr kumimoji="1" lang="ja-JP" altLang="en-US">
                <a:latin typeface="Meiryo" panose="020B0604030504040204" pitchFamily="50" charset="-128"/>
              </a:rPr>
              <a:t>（</a:t>
            </a:r>
            <a:r>
              <a:rPr kumimoji="1" lang="en-US" altLang="ja-JP">
                <a:latin typeface="Meiryo" panose="020B0604030504040204" pitchFamily="50" charset="-128"/>
              </a:rPr>
              <a:t>PDF2</a:t>
            </a:r>
            <a:r>
              <a:rPr kumimoji="1" lang="ja-JP" altLang="en-US">
                <a:latin typeface="Meiryo" panose="020B0604030504040204" pitchFamily="50" charset="-128"/>
              </a:rPr>
              <a:t>）の</a:t>
            </a:r>
            <a:r>
              <a:rPr kumimoji="1" lang="en-US" altLang="ja-JP">
                <a:latin typeface="Meiryo" panose="020B0604030504040204" pitchFamily="50" charset="-128"/>
              </a:rPr>
              <a:t>S7</a:t>
            </a:r>
            <a:r>
              <a:rPr kumimoji="1" lang="ja-JP" altLang="en-US">
                <a:latin typeface="Meiryo" panose="020B0604030504040204" pitchFamily="50" charset="-128"/>
              </a:rPr>
              <a:t>。</a:t>
            </a:r>
            <a:r>
              <a:rPr kumimoji="1" lang="en-US" altLang="ja-JP">
                <a:latin typeface="Meiryo" panose="020B0604030504040204" pitchFamily="50" charset="-128"/>
              </a:rPr>
              <a:t>γ</a:t>
            </a:r>
            <a:r>
              <a:rPr kumimoji="1" lang="ja-JP" altLang="en-US">
                <a:latin typeface="Meiryo" panose="020B0604030504040204" pitchFamily="50" charset="-128"/>
              </a:rPr>
              <a:t>（ガンマ）は平均クラスターサイズ</a:t>
            </a:r>
            <a:r>
              <a:rPr kumimoji="1" lang="en-US" altLang="ja-JP">
                <a:latin typeface="Meiryo" panose="020B0604030504040204" pitchFamily="50" charset="-128"/>
              </a:rPr>
              <a:t>S</a:t>
            </a:r>
            <a:r>
              <a:rPr kumimoji="1" lang="ja-JP" altLang="en-US">
                <a:latin typeface="Meiryo" panose="020B0604030504040204" pitchFamily="50" charset="-128"/>
              </a:rPr>
              <a:t>の指数、</a:t>
            </a:r>
            <a:r>
              <a:rPr kumimoji="1" lang="en-US" altLang="ja-JP">
                <a:latin typeface="Meiryo" panose="020B0604030504040204" pitchFamily="50" charset="-128"/>
              </a:rPr>
              <a:t>ν̄</a:t>
            </a:r>
            <a:r>
              <a:rPr kumimoji="1" lang="ja-JP" altLang="en-US">
                <a:latin typeface="Meiryo" panose="020B0604030504040204" pitchFamily="50" charset="-128"/>
              </a:rPr>
              <a:t>はスライド</a:t>
            </a:r>
            <a:r>
              <a:rPr kumimoji="1" lang="en-US" altLang="ja-JP">
                <a:latin typeface="Meiryo" panose="020B0604030504040204" pitchFamily="50" charset="-128"/>
              </a:rPr>
              <a:t>12</a:t>
            </a:r>
            <a:r>
              <a:rPr kumimoji="1" lang="ja-JP" altLang="en-US">
                <a:latin typeface="Meiryo" panose="020B0604030504040204" pitchFamily="50" charset="-128"/>
              </a:rPr>
              <a:t>と共通の相関体積の指数、</a:t>
            </a:r>
            <a:r>
              <a:rPr kumimoji="1" lang="en-US" altLang="ja-JP">
                <a:latin typeface="Meiryo" panose="020B0604030504040204" pitchFamily="50" charset="-128"/>
              </a:rPr>
              <a:t>F^{(2)}</a:t>
            </a:r>
            <a:r>
              <a:rPr kumimoji="1" lang="ja-JP" altLang="en-US">
                <a:latin typeface="Meiryo" panose="020B0604030504040204" pitchFamily="50" charset="-128"/>
              </a:rPr>
              <a:t>は</a:t>
            </a:r>
            <a:r>
              <a:rPr kumimoji="1" lang="en-US" altLang="ja-JP">
                <a:latin typeface="Meiryo" panose="020B0604030504040204" pitchFamily="50" charset="-128"/>
              </a:rPr>
              <a:t>S</a:t>
            </a:r>
            <a:r>
              <a:rPr kumimoji="1" lang="ja-JP" altLang="en-US">
                <a:latin typeface="Meiryo" panose="020B0604030504040204" pitchFamily="50" charset="-128"/>
              </a:rPr>
              <a:t>の関数。</a:t>
            </a:r>
            <a:r>
              <a:rPr kumimoji="1" lang="en-US" altLang="ja-JP">
                <a:latin typeface="Meiryo" panose="020B0604030504040204" pitchFamily="50" charset="-128"/>
              </a:rPr>
              <a:t>【</a:t>
            </a:r>
            <a:r>
              <a:rPr kumimoji="1" lang="ja-JP" altLang="en-US">
                <a:latin typeface="Meiryo" panose="020B0604030504040204" pitchFamily="50" charset="-128"/>
              </a:rPr>
              <a:t>一般理論に基づく補足：原論文の式ではない</a:t>
            </a:r>
            <a:r>
              <a:rPr kumimoji="1" lang="en-US" altLang="ja-JP">
                <a:latin typeface="Meiryo" panose="020B0604030504040204" pitchFamily="50" charset="-128"/>
              </a:rPr>
              <a:t>】</a:t>
            </a:r>
            <a:r>
              <a:rPr kumimoji="1" lang="ja-JP" altLang="en-US">
                <a:latin typeface="Meiryo" panose="020B0604030504040204" pitchFamily="50" charset="-128"/>
              </a:rPr>
              <a:t>通常の連続転移の無限系で、有限クラスターの平均</a:t>
            </a:r>
            <a:r>
              <a:rPr kumimoji="1" lang="en-US" altLang="ja-JP">
                <a:latin typeface="Meiryo" panose="020B0604030504040204" pitchFamily="50" charset="-128"/>
              </a:rPr>
              <a:t>S_∞∝|p-p_c|^{-γ}</a:t>
            </a:r>
            <a:r>
              <a:rPr kumimoji="1" lang="ja-JP" altLang="en-US">
                <a:latin typeface="Meiryo" panose="020B0604030504040204" pitchFamily="50" charset="-128"/>
              </a:rPr>
              <a:t>（</a:t>
            </a:r>
            <a:r>
              <a:rPr kumimoji="1" lang="en-US" altLang="ja-JP">
                <a:latin typeface="Meiryo" panose="020B0604030504040204" pitchFamily="50" charset="-128"/>
              </a:rPr>
              <a:t>γ&gt;0</a:t>
            </a:r>
            <a:r>
              <a:rPr kumimoji="1" lang="ja-JP" altLang="en-US">
                <a:latin typeface="Meiryo" panose="020B0604030504040204" pitchFamily="50" charset="-128"/>
              </a:rPr>
              <a:t>）。</a:t>
            </a:r>
            <a:r>
              <a:rPr kumimoji="1" lang="en-US" altLang="ja-JP">
                <a:latin typeface="Meiryo" panose="020B0604030504040204" pitchFamily="50" charset="-128"/>
              </a:rPr>
              <a:t>S_∞</a:t>
            </a:r>
            <a:r>
              <a:rPr kumimoji="1" lang="ja-JP" altLang="en-US">
                <a:latin typeface="Meiryo" panose="020B0604030504040204" pitchFamily="50" charset="-128"/>
              </a:rPr>
              <a:t>は無限系の有限クラスターについての平均であり、有限系で最大成分を</a:t>
            </a:r>
            <a:r>
              <a:rPr kumimoji="1" lang="en-US" altLang="ja-JP">
                <a:latin typeface="Meiryo" panose="020B0604030504040204" pitchFamily="50" charset="-128"/>
              </a:rPr>
              <a:t>1</a:t>
            </a:r>
            <a:r>
              <a:rPr kumimoji="1" lang="ja-JP" altLang="en-US">
                <a:latin typeface="Meiryo" panose="020B0604030504040204" pitchFamily="50" charset="-128"/>
              </a:rPr>
              <a:t>個除く定義と無条件に同一視しない。スライド</a:t>
            </a:r>
            <a:r>
              <a:rPr kumimoji="1" lang="en-US" altLang="ja-JP">
                <a:latin typeface="Meiryo" panose="020B0604030504040204" pitchFamily="50" charset="-128"/>
              </a:rPr>
              <a:t>12</a:t>
            </a:r>
            <a:r>
              <a:rPr kumimoji="1" lang="ja-JP" altLang="en-US">
                <a:latin typeface="Meiryo" panose="020B0604030504040204" pitchFamily="50" charset="-128"/>
              </a:rPr>
              <a:t>の幅</a:t>
            </a:r>
            <a:r>
              <a:rPr kumimoji="1" lang="en-US" altLang="ja-JP">
                <a:latin typeface="Meiryo" panose="020B0604030504040204" pitchFamily="50" charset="-128"/>
              </a:rPr>
              <a:t>|p-p_c|〜N^{-1/ν̄}</a:t>
            </a:r>
            <a:r>
              <a:rPr kumimoji="1" lang="ja-JP" altLang="en-US">
                <a:latin typeface="Meiryo" panose="020B0604030504040204" pitchFamily="50" charset="-128"/>
              </a:rPr>
              <a:t>を用い、代表的大きさ</a:t>
            </a:r>
            <a:r>
              <a:rPr kumimoji="1" lang="en-US" altLang="ja-JP">
                <a:latin typeface="Meiryo" panose="020B0604030504040204" pitchFamily="50" charset="-128"/>
              </a:rPr>
              <a:t>S_scale〜(N^{-1/ν̄})^{-γ}=N^{γ/ν̄}</a:t>
            </a:r>
            <a:r>
              <a:rPr kumimoji="1" lang="ja-JP" altLang="en-US">
                <a:latin typeface="Meiryo" panose="020B0604030504040204" pitchFamily="50" charset="-128"/>
              </a:rPr>
              <a:t>を動機づける。</a:t>
            </a:r>
            <a:r>
              <a:rPr kumimoji="1" lang="en-US" altLang="ja-JP">
                <a:latin typeface="Meiryo" panose="020B0604030504040204" pitchFamily="50" charset="-128"/>
              </a:rPr>
              <a:t>P</a:t>
            </a:r>
            <a:r>
              <a:rPr kumimoji="1" lang="ja-JP" altLang="en-US">
                <a:latin typeface="Meiryo" panose="020B0604030504040204" pitchFamily="50" charset="-128"/>
              </a:rPr>
              <a:t>は小さくなる、</a:t>
            </a:r>
            <a:r>
              <a:rPr kumimoji="1" lang="en-US" altLang="ja-JP">
                <a:latin typeface="Meiryo" panose="020B0604030504040204" pitchFamily="50" charset="-128"/>
              </a:rPr>
              <a:t>S</a:t>
            </a:r>
            <a:r>
              <a:rPr kumimoji="1" lang="ja-JP" altLang="en-US">
                <a:latin typeface="Meiryo" panose="020B0604030504040204" pitchFamily="50" charset="-128"/>
              </a:rPr>
              <a:t>は増大するという通常の連続転移の臨界挙動の違いが、前因子の符号に対応する。同じ</a:t>
            </a:r>
            <a:r>
              <a:rPr kumimoji="1" lang="en-US" altLang="ja-JP">
                <a:latin typeface="Meiryo" panose="020B0604030504040204" pitchFamily="50" charset="-128"/>
              </a:rPr>
              <a:t>u</a:t>
            </a:r>
            <a:r>
              <a:rPr kumimoji="1" lang="ja-JP" altLang="en-US">
                <a:latin typeface="Meiryo" panose="020B0604030504040204" pitchFamily="50" charset="-128"/>
              </a:rPr>
              <a:t>を使うが</a:t>
            </a:r>
            <a:r>
              <a:rPr kumimoji="1" lang="en-US" altLang="ja-JP">
                <a:latin typeface="Meiryo" panose="020B0604030504040204" pitchFamily="50" charset="-128"/>
              </a:rPr>
              <a:t>F^{(1)}</a:t>
            </a:r>
            <a:r>
              <a:rPr kumimoji="1" lang="ja-JP" altLang="en-US">
                <a:latin typeface="Meiryo" panose="020B0604030504040204" pitchFamily="50" charset="-128"/>
              </a:rPr>
              <a:t>と</a:t>
            </a:r>
            <a:r>
              <a:rPr kumimoji="1" lang="en-US" altLang="ja-JP">
                <a:latin typeface="Meiryo" panose="020B0604030504040204" pitchFamily="50" charset="-128"/>
              </a:rPr>
              <a:t>F^{(2)}</a:t>
            </a:r>
            <a:r>
              <a:rPr kumimoji="1" lang="ja-JP" altLang="en-US">
                <a:latin typeface="Meiryo" panose="020B0604030504040204" pitchFamily="50" charset="-128"/>
              </a:rPr>
              <a:t>は異なる。</a:t>
            </a:r>
            <a:r>
              <a:rPr kumimoji="1" lang="en-US" altLang="ja-JP">
                <a:latin typeface="Meiryo" panose="020B0604030504040204" pitchFamily="50" charset="-128"/>
              </a:rPr>
              <a:t>S7</a:t>
            </a:r>
            <a:r>
              <a:rPr kumimoji="1" lang="ja-JP" altLang="en-US">
                <a:latin typeface="Meiryo" panose="020B0604030504040204" pitchFamily="50" charset="-128"/>
              </a:rPr>
              <a:t>も仮定であり、</a:t>
            </a:r>
            <a:r>
              <a:rPr kumimoji="1" lang="en-US" altLang="ja-JP">
                <a:latin typeface="Meiryo" panose="020B0604030504040204" pitchFamily="50" charset="-128"/>
              </a:rPr>
              <a:t>2D</a:t>
            </a:r>
            <a:r>
              <a:rPr kumimoji="1" lang="ja-JP" altLang="en-US">
                <a:latin typeface="Meiryo" panose="020B0604030504040204" pitchFamily="50" charset="-128"/>
              </a:rPr>
              <a:t>制限なし</a:t>
            </a:r>
            <a:r>
              <a:rPr kumimoji="1" lang="en-US" altLang="ja-JP">
                <a:latin typeface="Meiryo" panose="020B0604030504040204" pitchFamily="50" charset="-128"/>
              </a:rPr>
              <a:t>SPP</a:t>
            </a:r>
            <a:r>
              <a:rPr kumimoji="1" lang="ja-JP" altLang="en-US">
                <a:latin typeface="Meiryo" panose="020B0604030504040204" pitchFamily="50" charset="-128"/>
              </a:rPr>
              <a:t>への適用や厳密証明を主張しない。相関体積の導出は繰り返さない。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13</a:t>
            </a:fld>
            <a:endParaRPr kumimoji="1" lang="ja-JP" altLang="en-US"/>
          </a:p>
        </p:txBody>
      </p:sp>
    </p:spTree>
    <p:extLst>
      <p:ext uri="{BB962C8B-B14F-4D97-AF65-F5344CB8AC3E}">
        <p14:creationId xmlns:p14="http://schemas.microsoft.com/office/powerpoint/2010/main" val="3996034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】Supplemental Material IV.A</a:t>
            </a:r>
            <a:r>
              <a:rPr kumimoji="1" lang="ja-JP" altLang="en-US">
                <a:latin typeface="Meiryo" panose="020B0604030504040204" pitchFamily="50" charset="-128"/>
              </a:rPr>
              <a:t>（</a:t>
            </a:r>
            <a:r>
              <a:rPr kumimoji="1" lang="en-US" altLang="ja-JP">
                <a:latin typeface="Meiryo" panose="020B0604030504040204" pitchFamily="50" charset="-128"/>
              </a:rPr>
              <a:t>PDF3</a:t>
            </a:r>
            <a:r>
              <a:rPr kumimoji="1" lang="ja-JP" altLang="en-US">
                <a:latin typeface="Meiryo" panose="020B0604030504040204" pitchFamily="50" charset="-128"/>
              </a:rPr>
              <a:t>）の</a:t>
            </a:r>
            <a:r>
              <a:rPr kumimoji="1" lang="en-US" altLang="ja-JP">
                <a:latin typeface="Meiryo" panose="020B0604030504040204" pitchFamily="50" charset="-128"/>
              </a:rPr>
              <a:t>S8</a:t>
            </a:r>
            <a:r>
              <a:rPr kumimoji="1" lang="ja-JP" altLang="en-US">
                <a:latin typeface="Meiryo" panose="020B0604030504040204" pitchFamily="50" charset="-128"/>
              </a:rPr>
              <a:t>は、平均</a:t>
            </a:r>
            <a:r>
              <a:rPr kumimoji="1" lang="en-US" altLang="ja-JP">
                <a:latin typeface="Meiryo" panose="020B0604030504040204" pitchFamily="50" charset="-128"/>
              </a:rPr>
              <a:t>S</a:t>
            </a:r>
            <a:r>
              <a:rPr kumimoji="1" lang="ja-JP" altLang="en-US">
                <a:latin typeface="Meiryo" panose="020B0604030504040204" pitchFamily="50" charset="-128"/>
              </a:rPr>
              <a:t>最大位置を有限サイズの疑似臨界点と定義する。最大クラスターの最大減少位置を使う定義とは区別する。</a:t>
            </a:r>
            <a:r>
              <a:rPr kumimoji="1" lang="en-US" altLang="ja-JP">
                <a:latin typeface="Meiryo" panose="020B0604030504040204" pitchFamily="50" charset="-128"/>
              </a:rPr>
              <a:t>【</a:t>
            </a:r>
            <a:r>
              <a:rPr kumimoji="1" lang="ja-JP" altLang="en-US">
                <a:latin typeface="Meiryo" panose="020B0604030504040204" pitchFamily="50" charset="-128"/>
              </a:rPr>
              <a:t>一般的な説明</a:t>
            </a:r>
            <a:r>
              <a:rPr kumimoji="1" lang="en-US" altLang="ja-JP">
                <a:latin typeface="Meiryo" panose="020B0604030504040204" pitchFamily="50" charset="-128"/>
              </a:rPr>
              <a:t>】</a:t>
            </a:r>
            <a:r>
              <a:rPr kumimoji="1" lang="ja-JP" altLang="en-US">
                <a:latin typeface="Meiryo" panose="020B0604030504040204" pitchFamily="50" charset="-128"/>
              </a:rPr>
              <a:t>通常の連続パーコレーションでは転移付近にさまざまなサイズのクラスターが現れ、有限クラスターの平均サイズ</a:t>
            </a:r>
            <a:r>
              <a:rPr kumimoji="1" lang="en-US" altLang="ja-JP">
                <a:latin typeface="Meiryo" panose="020B0604030504040204" pitchFamily="50" charset="-128"/>
              </a:rPr>
              <a:t>S</a:t>
            </a:r>
            <a:r>
              <a:rPr kumimoji="1" lang="ja-JP" altLang="en-US">
                <a:latin typeface="Meiryo" panose="020B0604030504040204" pitchFamily="50" charset="-128"/>
              </a:rPr>
              <a:t>が大きくなりやすい。</a:t>
            </a:r>
            <a:r>
              <a:rPr kumimoji="1" lang="en-US" altLang="ja-JP">
                <a:latin typeface="Meiryo" panose="020B0604030504040204" pitchFamily="50" charset="-128"/>
              </a:rPr>
              <a:t>N</a:t>
            </a:r>
            <a:r>
              <a:rPr kumimoji="1" lang="ja-JP" altLang="en-US">
                <a:latin typeface="Meiryo" panose="020B0604030504040204" pitchFamily="50" charset="-128"/>
              </a:rPr>
              <a:t>固定で</a:t>
            </a:r>
            <a:r>
              <a:rPr kumimoji="1" lang="en-US" altLang="ja-JP">
                <a:latin typeface="Meiryo" panose="020B0604030504040204" pitchFamily="50" charset="-128"/>
              </a:rPr>
              <a:t>p</a:t>
            </a:r>
            <a:r>
              <a:rPr kumimoji="1" lang="ja-JP" altLang="en-US">
                <a:latin typeface="Meiryo" panose="020B0604030504040204" pitchFamily="50" charset="-128"/>
              </a:rPr>
              <a:t>を変化させ、各</a:t>
            </a:r>
            <a:r>
              <a:rPr kumimoji="1" lang="en-US" altLang="ja-JP">
                <a:latin typeface="Meiryo" panose="020B0604030504040204" pitchFamily="50" charset="-128"/>
              </a:rPr>
              <a:t>p</a:t>
            </a:r>
            <a:r>
              <a:rPr kumimoji="1" lang="ja-JP" altLang="en-US">
                <a:latin typeface="Meiryo" panose="020B0604030504040204" pitchFamily="50" charset="-128"/>
              </a:rPr>
              <a:t>で</a:t>
            </a:r>
            <a:r>
              <a:rPr kumimoji="1" lang="en-US" altLang="ja-JP">
                <a:latin typeface="Meiryo" panose="020B0604030504040204" pitchFamily="50" charset="-128"/>
              </a:rPr>
              <a:t>S</a:t>
            </a:r>
            <a:r>
              <a:rPr kumimoji="1" lang="ja-JP" altLang="en-US">
                <a:latin typeface="Meiryo" panose="020B0604030504040204" pitchFamily="50" charset="-128"/>
              </a:rPr>
              <a:t>を試行平均し、その平均曲線の最大位置</a:t>
            </a:r>
            <a:r>
              <a:rPr kumimoji="1" lang="en-US" altLang="ja-JP">
                <a:latin typeface="Meiryo" panose="020B0604030504040204" pitchFamily="50" charset="-128"/>
              </a:rPr>
              <a:t>p</a:t>
            </a:r>
            <a:r>
              <a:rPr kumimoji="1" lang="ja-JP" altLang="en-US">
                <a:latin typeface="Meiryo" panose="020B0604030504040204" pitchFamily="50" charset="-128"/>
              </a:rPr>
              <a:t>を求める。各試行のピーク位置を先に求めて平均する操作とは一般に異なる。</a:t>
            </a:r>
            <a:r>
              <a:rPr kumimoji="1" lang="en-US" altLang="ja-JP">
                <a:latin typeface="Meiryo" panose="020B0604030504040204" pitchFamily="50" charset="-128"/>
              </a:rPr>
              <a:t>max</a:t>
            </a:r>
            <a:r>
              <a:rPr kumimoji="1" lang="ja-JP" altLang="en-US">
                <a:latin typeface="Meiryo" panose="020B0604030504040204" pitchFamily="50" charset="-128"/>
              </a:rPr>
              <a:t>は関数の最大値、</a:t>
            </a:r>
            <a:r>
              <a:rPr kumimoji="1" lang="en-US" altLang="ja-JP">
                <a:latin typeface="Meiryo" panose="020B0604030504040204" pitchFamily="50" charset="-128"/>
              </a:rPr>
              <a:t>argmax</a:t>
            </a:r>
            <a:r>
              <a:rPr kumimoji="1" lang="ja-JP" altLang="en-US">
                <a:latin typeface="Meiryo" panose="020B0604030504040204" pitchFamily="50" charset="-128"/>
              </a:rPr>
              <a:t>（</a:t>
            </a:r>
            <a:r>
              <a:rPr kumimoji="1" lang="en-US" altLang="ja-JP">
                <a:latin typeface="Meiryo" panose="020B0604030504040204" pitchFamily="50" charset="-128"/>
              </a:rPr>
              <a:t>argument of the maximum</a:t>
            </a:r>
            <a:r>
              <a:rPr kumimoji="1" lang="ja-JP" altLang="en-US">
                <a:latin typeface="Meiryo" panose="020B0604030504040204" pitchFamily="50" charset="-128"/>
              </a:rPr>
              <a:t>）はそれを与える変数の値を求める一つの演算であり、</a:t>
            </a:r>
            <a:r>
              <a:rPr kumimoji="1" lang="en-US" altLang="ja-JP">
                <a:latin typeface="Meiryo" panose="020B0604030504040204" pitchFamily="50" charset="-128"/>
              </a:rPr>
              <a:t>arg</a:t>
            </a:r>
            <a:r>
              <a:rPr kumimoji="1" lang="ja-JP" altLang="en-US">
                <a:latin typeface="Meiryo" panose="020B0604030504040204" pitchFamily="50" charset="-128"/>
              </a:rPr>
              <a:t>と</a:t>
            </a:r>
            <a:r>
              <a:rPr kumimoji="1" lang="en-US" altLang="ja-JP">
                <a:latin typeface="Meiryo" panose="020B0604030504040204" pitchFamily="50" charset="-128"/>
              </a:rPr>
              <a:t>max</a:t>
            </a:r>
            <a:r>
              <a:rPr kumimoji="1" lang="ja-JP" altLang="en-US">
                <a:latin typeface="Meiryo" panose="020B0604030504040204" pitchFamily="50" charset="-128"/>
              </a:rPr>
              <a:t>を別々に計算しない。複素数の偏角</a:t>
            </a:r>
            <a:r>
              <a:rPr kumimoji="1" lang="en-US" altLang="ja-JP">
                <a:latin typeface="Meiryo" panose="020B0604030504040204" pitchFamily="50" charset="-128"/>
              </a:rPr>
              <a:t>arg</a:t>
            </a:r>
            <a:r>
              <a:rPr kumimoji="1" lang="ja-JP" altLang="en-US">
                <a:latin typeface="Meiryo" panose="020B0604030504040204" pitchFamily="50" charset="-128"/>
              </a:rPr>
              <a:t>とは区別。必要なら数学例</a:t>
            </a:r>
            <a:r>
              <a:rPr kumimoji="1" lang="en-US" altLang="ja-JP">
                <a:latin typeface="Meiryo" panose="020B0604030504040204" pitchFamily="50" charset="-128"/>
              </a:rPr>
              <a:t>f(p)=5-(p-0.6)^2</a:t>
            </a:r>
            <a:r>
              <a:rPr kumimoji="1" lang="ja-JP" altLang="en-US">
                <a:latin typeface="Meiryo" panose="020B0604030504040204" pitchFamily="50" charset="-128"/>
              </a:rPr>
              <a:t>、</a:t>
            </a:r>
            <a:r>
              <a:rPr kumimoji="1" lang="en-US" altLang="ja-JP">
                <a:latin typeface="Meiryo" panose="020B0604030504040204" pitchFamily="50" charset="-128"/>
              </a:rPr>
              <a:t>max f=5</a:t>
            </a:r>
            <a:r>
              <a:rPr kumimoji="1" lang="ja-JP" altLang="en-US">
                <a:latin typeface="Meiryo" panose="020B0604030504040204" pitchFamily="50" charset="-128"/>
              </a:rPr>
              <a:t>、</a:t>
            </a:r>
            <a:r>
              <a:rPr kumimoji="1" lang="en-US" altLang="ja-JP">
                <a:latin typeface="Meiryo" panose="020B0604030504040204" pitchFamily="50" charset="-128"/>
              </a:rPr>
              <a:t>argmax f=0.6</a:t>
            </a:r>
            <a:r>
              <a:rPr kumimoji="1" lang="ja-JP" altLang="en-US">
                <a:latin typeface="Meiryo" panose="020B0604030504040204" pitchFamily="50" charset="-128"/>
              </a:rPr>
              <a:t>を使うが、</a:t>
            </a:r>
            <a:r>
              <a:rPr kumimoji="1" lang="en-US" altLang="ja-JP">
                <a:latin typeface="Meiryo" panose="020B0604030504040204" pitchFamily="50" charset="-128"/>
              </a:rPr>
              <a:t>SPP</a:t>
            </a:r>
            <a:r>
              <a:rPr kumimoji="1" lang="ja-JP" altLang="en-US">
                <a:latin typeface="Meiryo" panose="020B0604030504040204" pitchFamily="50" charset="-128"/>
              </a:rPr>
              <a:t>実測データではないと明示。</a:t>
            </a:r>
            <a:r>
              <a:rPr kumimoji="1" lang="en-US" altLang="ja-JP">
                <a:latin typeface="Meiryo" panose="020B0604030504040204" pitchFamily="50" charset="-128"/>
              </a:rPr>
              <a:t>S8</a:t>
            </a:r>
            <a:r>
              <a:rPr kumimoji="1" lang="ja-JP" altLang="en-US">
                <a:latin typeface="Meiryo" panose="020B0604030504040204" pitchFamily="50" charset="-128"/>
              </a:rPr>
              <a:t>自体は画面を指し、書き写さない。</a:t>
            </a:r>
            <a:r>
              <a:rPr kumimoji="1" lang="en-US" altLang="ja-JP">
                <a:latin typeface="Meiryo" panose="020B0604030504040204" pitchFamily="50" charset="-128"/>
              </a:rPr>
              <a:t>p_c(N)</a:t>
            </a:r>
            <a:r>
              <a:rPr kumimoji="1" lang="ja-JP" altLang="en-US">
                <a:latin typeface="Meiryo" panose="020B0604030504040204" pitchFamily="50" charset="-128"/>
              </a:rPr>
              <a:t>は無限サイズの</a:t>
            </a:r>
            <a:r>
              <a:rPr kumimoji="1" lang="en-US" altLang="ja-JP">
                <a:latin typeface="Meiryo" panose="020B0604030504040204" pitchFamily="50" charset="-128"/>
              </a:rPr>
              <a:t>p_c</a:t>
            </a:r>
            <a:r>
              <a:rPr kumimoji="1" lang="ja-JP" altLang="en-US">
                <a:latin typeface="Meiryo" panose="020B0604030504040204" pitchFamily="50" charset="-128"/>
              </a:rPr>
              <a:t>と同じとは限らず、スライド</a:t>
            </a:r>
            <a:r>
              <a:rPr kumimoji="1" lang="en-US" altLang="ja-JP">
                <a:latin typeface="Meiryo" panose="020B0604030504040204" pitchFamily="50" charset="-128"/>
              </a:rPr>
              <a:t>15</a:t>
            </a:r>
            <a:r>
              <a:rPr kumimoji="1" lang="ja-JP" altLang="en-US">
                <a:latin typeface="Meiryo" panose="020B0604030504040204" pitchFamily="50" charset="-128"/>
              </a:rPr>
              <a:t>で関係を説明する。同率最大が複数なら</a:t>
            </a:r>
            <a:r>
              <a:rPr kumimoji="1" lang="en-US" altLang="ja-JP">
                <a:latin typeface="Meiryo" panose="020B0604030504040204" pitchFamily="50" charset="-128"/>
              </a:rPr>
              <a:t>argmax</a:t>
            </a:r>
            <a:r>
              <a:rPr kumimoji="1" lang="ja-JP" altLang="en-US">
                <a:latin typeface="Meiryo" panose="020B0604030504040204" pitchFamily="50" charset="-128"/>
              </a:rPr>
              <a:t>は集合となることがあるため、数値解析では選択規則が必要。</a:t>
            </a:r>
            <a:r>
              <a:rPr kumimoji="1" lang="en-US" altLang="ja-JP">
                <a:latin typeface="Meiryo" panose="020B0604030504040204" pitchFamily="50" charset="-128"/>
              </a:rPr>
              <a:t>S</a:t>
            </a:r>
            <a:r>
              <a:rPr kumimoji="1" lang="ja-JP" altLang="en-US">
                <a:latin typeface="Meiryo" panose="020B0604030504040204" pitchFamily="50" charset="-128"/>
              </a:rPr>
              <a:t>のピーク位置と</a:t>
            </a:r>
            <a:r>
              <a:rPr kumimoji="1" lang="en-US" altLang="ja-JP">
                <a:latin typeface="Meiryo" panose="020B0604030504040204" pitchFamily="50" charset="-128"/>
              </a:rPr>
              <a:t>P</a:t>
            </a:r>
            <a:r>
              <a:rPr kumimoji="1" lang="ja-JP" altLang="en-US">
                <a:latin typeface="Meiryo" panose="020B0604030504040204" pitchFamily="50" charset="-128"/>
              </a:rPr>
              <a:t>の最大減少位置は必ずしも一致しない。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14</a:t>
            </a:fld>
            <a:endParaRPr kumimoji="1" lang="ja-JP" altLang="en-US"/>
          </a:p>
        </p:txBody>
      </p:sp>
    </p:spTree>
    <p:extLst>
      <p:ext uri="{BB962C8B-B14F-4D97-AF65-F5344CB8AC3E}">
        <p14:creationId xmlns:p14="http://schemas.microsoft.com/office/powerpoint/2010/main" val="3655470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】Supplemental Material IV.A</a:t>
            </a:r>
            <a:r>
              <a:rPr kumimoji="1" lang="ja-JP" altLang="en-US">
                <a:latin typeface="Meiryo" panose="020B0604030504040204" pitchFamily="50" charset="-128"/>
              </a:rPr>
              <a:t>の</a:t>
            </a:r>
            <a:r>
              <a:rPr kumimoji="1" lang="en-US" altLang="ja-JP">
                <a:latin typeface="Meiryo" panose="020B0604030504040204" pitchFamily="50" charset="-128"/>
              </a:rPr>
              <a:t>S9</a:t>
            </a:r>
            <a:r>
              <a:rPr kumimoji="1" lang="ja-JP" altLang="en-US">
                <a:latin typeface="Meiryo" panose="020B0604030504040204" pitchFamily="50" charset="-128"/>
              </a:rPr>
              <a:t>は</a:t>
            </a:r>
            <a:r>
              <a:rPr kumimoji="1" lang="en-US" altLang="ja-JP">
                <a:latin typeface="Meiryo" panose="020B0604030504040204" pitchFamily="50" charset="-128"/>
              </a:rPr>
              <a:t>p_c=p_c(N)+bN^{-1/ν̄}</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によらない係数で符号を限定しない。複数サイズの疑似臨界点から極限の臨界点とシフト指数の情報を得る。著者の実際の解析順序では</a:t>
            </a:r>
            <a:r>
              <a:rPr kumimoji="1" lang="en-US" altLang="ja-JP">
                <a:latin typeface="Meiryo" panose="020B0604030504040204" pitchFamily="50" charset="-128"/>
              </a:rPr>
              <a:t>P</a:t>
            </a:r>
            <a:r>
              <a:rPr kumimoji="1" lang="ja-JP" altLang="en-US">
                <a:latin typeface="Meiryo" panose="020B0604030504040204" pitchFamily="50" charset="-128"/>
              </a:rPr>
              <a:t>のべき乗当てはまりから</a:t>
            </a:r>
            <a:r>
              <a:rPr kumimoji="1" lang="en-US" altLang="ja-JP">
                <a:latin typeface="Meiryo" panose="020B0604030504040204" pitchFamily="50" charset="-128"/>
              </a:rPr>
              <a:t>p_c</a:t>
            </a:r>
            <a:r>
              <a:rPr kumimoji="1" lang="ja-JP" altLang="en-US">
                <a:latin typeface="Meiryo" panose="020B0604030504040204" pitchFamily="50" charset="-128"/>
              </a:rPr>
              <a:t>を先に推定し、その</a:t>
            </a:r>
            <a:r>
              <a:rPr kumimoji="1" lang="en-US" altLang="ja-JP">
                <a:latin typeface="Meiryo" panose="020B0604030504040204" pitchFamily="50" charset="-128"/>
              </a:rPr>
              <a:t>p_c</a:t>
            </a:r>
            <a:r>
              <a:rPr kumimoji="1" lang="ja-JP" altLang="en-US">
                <a:latin typeface="Meiryo" panose="020B0604030504040204" pitchFamily="50" charset="-128"/>
              </a:rPr>
              <a:t>と</a:t>
            </a:r>
            <a:r>
              <a:rPr kumimoji="1" lang="en-US" altLang="ja-JP">
                <a:latin typeface="Meiryo" panose="020B0604030504040204" pitchFamily="50" charset="-128"/>
              </a:rPr>
              <a:t>p_c(N)</a:t>
            </a:r>
            <a:r>
              <a:rPr kumimoji="1" lang="ja-JP" altLang="en-US">
                <a:latin typeface="Meiryo" panose="020B0604030504040204" pitchFamily="50" charset="-128"/>
              </a:rPr>
              <a:t>の差から</a:t>
            </a:r>
            <a:r>
              <a:rPr kumimoji="1" lang="en-US" altLang="ja-JP">
                <a:latin typeface="Meiryo" panose="020B0604030504040204" pitchFamily="50" charset="-128"/>
              </a:rPr>
              <a:t>1/ν̄</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を推定する（</a:t>
            </a:r>
            <a:r>
              <a:rPr kumimoji="1" lang="en-US" altLang="ja-JP">
                <a:latin typeface="Meiryo" panose="020B0604030504040204" pitchFamily="50" charset="-128"/>
              </a:rPr>
              <a:t>IV.B PDF3–4</a:t>
            </a:r>
            <a:r>
              <a:rPr kumimoji="1" lang="ja-JP" altLang="en-US">
                <a:latin typeface="Meiryo" panose="020B0604030504040204" pitchFamily="50" charset="-128"/>
              </a:rPr>
              <a:t>）。本スライドは同時非線形フィットを実施したとの主張ではない。</a:t>
            </a:r>
            <a:r>
              <a:rPr kumimoji="1" lang="en-US" altLang="ja-JP">
                <a:latin typeface="Meiryo" panose="020B0604030504040204" pitchFamily="50" charset="-128"/>
              </a:rPr>
              <a:t>【</a:t>
            </a:r>
            <a:r>
              <a:rPr kumimoji="1" lang="ja-JP" altLang="en-US">
                <a:latin typeface="Meiryo" panose="020B0604030504040204" pitchFamily="50" charset="-128"/>
              </a:rPr>
              <a:t>説明用の数学的補足</a:t>
            </a:r>
            <a:r>
              <a:rPr kumimoji="1" lang="en-US" altLang="ja-JP">
                <a:latin typeface="Meiryo" panose="020B0604030504040204" pitchFamily="50" charset="-128"/>
              </a:rPr>
              <a:t>】S7</a:t>
            </a:r>
            <a:r>
              <a:rPr kumimoji="1" lang="ja-JP" altLang="en-US">
                <a:latin typeface="Meiryo" panose="020B0604030504040204" pitchFamily="50" charset="-128"/>
              </a:rPr>
              <a:t>で</a:t>
            </a:r>
            <a:r>
              <a:rPr kumimoji="1" lang="en-US" altLang="ja-JP">
                <a:latin typeface="Meiryo" panose="020B0604030504040204" pitchFamily="50" charset="-128"/>
              </a:rPr>
              <a:t>u=(p-p_c)N^{1/ν̄}</a:t>
            </a:r>
            <a:r>
              <a:rPr kumimoji="1" lang="ja-JP" altLang="en-US">
                <a:latin typeface="Meiryo" panose="020B0604030504040204" pitchFamily="50" charset="-128"/>
              </a:rPr>
              <a:t>。</a:t>
            </a:r>
            <a:r>
              <a:rPr kumimoji="1" lang="en-US" altLang="ja-JP">
                <a:latin typeface="Meiryo" panose="020B0604030504040204" pitchFamily="50" charset="-128"/>
              </a:rPr>
              <a:t>N</a:t>
            </a:r>
            <a:r>
              <a:rPr kumimoji="1" lang="ja-JP" altLang="en-US">
                <a:latin typeface="Meiryo" panose="020B0604030504040204" pitchFamily="50" charset="-128"/>
              </a:rPr>
              <a:t>固定では前因子</a:t>
            </a:r>
            <a:r>
              <a:rPr kumimoji="1" lang="en-US" altLang="ja-JP">
                <a:latin typeface="Meiryo" panose="020B0604030504040204" pitchFamily="50" charset="-128"/>
              </a:rPr>
              <a:t>N^{γ/ν̄}</a:t>
            </a:r>
            <a:r>
              <a:rPr kumimoji="1" lang="ja-JP" altLang="en-US">
                <a:latin typeface="Meiryo" panose="020B0604030504040204" pitchFamily="50" charset="-128"/>
              </a:rPr>
              <a:t>は</a:t>
            </a:r>
            <a:r>
              <a:rPr kumimoji="1" lang="en-US" altLang="ja-JP">
                <a:latin typeface="Meiryo" panose="020B0604030504040204" pitchFamily="50" charset="-128"/>
              </a:rPr>
              <a:t>p</a:t>
            </a:r>
            <a:r>
              <a:rPr kumimoji="1" lang="ja-JP" altLang="en-US">
                <a:latin typeface="Meiryo" panose="020B0604030504040204" pitchFamily="50" charset="-128"/>
              </a:rPr>
              <a:t>によらない正定数。サイズに依存しない関数</a:t>
            </a:r>
            <a:r>
              <a:rPr kumimoji="1" lang="en-US" altLang="ja-JP">
                <a:latin typeface="Meiryo" panose="020B0604030504040204" pitchFamily="50" charset="-128"/>
              </a:rPr>
              <a:t>F^{(2)}</a:t>
            </a:r>
            <a:r>
              <a:rPr kumimoji="1" lang="ja-JP" altLang="en-US">
                <a:latin typeface="Meiryo" panose="020B0604030504040204" pitchFamily="50" charset="-128"/>
              </a:rPr>
              <a:t>のピーク</a:t>
            </a:r>
            <a:r>
              <a:rPr kumimoji="1" lang="en-US" altLang="ja-JP">
                <a:latin typeface="Meiryo" panose="020B0604030504040204" pitchFamily="50" charset="-128"/>
              </a:rPr>
              <a:t>u_*</a:t>
            </a:r>
            <a:r>
              <a:rPr kumimoji="1" lang="ja-JP" altLang="en-US">
                <a:latin typeface="Meiryo" panose="020B0604030504040204" pitchFamily="50" charset="-128"/>
              </a:rPr>
              <a:t>がスケーリング領域内にあり、有限サイズ補正・離散化・観測範囲端の影響を無視できるなら、</a:t>
            </a:r>
            <a:r>
              <a:rPr kumimoji="1" lang="en-US" altLang="ja-JP">
                <a:latin typeface="Meiryo" panose="020B0604030504040204" pitchFamily="50" charset="-128"/>
              </a:rPr>
              <a:t>S8</a:t>
            </a:r>
            <a:r>
              <a:rPr kumimoji="1" lang="ja-JP" altLang="en-US">
                <a:latin typeface="Meiryo" panose="020B0604030504040204" pitchFamily="50" charset="-128"/>
              </a:rPr>
              <a:t>の平均</a:t>
            </a:r>
            <a:r>
              <a:rPr kumimoji="1" lang="en-US" altLang="ja-JP">
                <a:latin typeface="Meiryo" panose="020B0604030504040204" pitchFamily="50" charset="-128"/>
              </a:rPr>
              <a:t>S</a:t>
            </a:r>
            <a:r>
              <a:rPr kumimoji="1" lang="ja-JP" altLang="en-US">
                <a:latin typeface="Meiryo" panose="020B0604030504040204" pitchFamily="50" charset="-128"/>
              </a:rPr>
              <a:t>ピーク位置は</a:t>
            </a:r>
            <a:r>
              <a:rPr kumimoji="1" lang="en-US" altLang="ja-JP">
                <a:latin typeface="Meiryo" panose="020B0604030504040204" pitchFamily="50" charset="-128"/>
              </a:rPr>
              <a:t>u_*=[p_c(N)-p_c]N^{1/ν̄}</a:t>
            </a:r>
            <a:r>
              <a:rPr kumimoji="1" lang="ja-JP" altLang="en-US">
                <a:latin typeface="Meiryo" panose="020B0604030504040204" pitchFamily="50" charset="-128"/>
              </a:rPr>
              <a:t>に対応する。</a:t>
            </a:r>
            <a:r>
              <a:rPr kumimoji="1" lang="en-US" altLang="ja-JP">
                <a:latin typeface="Meiryo" panose="020B0604030504040204" pitchFamily="50" charset="-128"/>
              </a:rPr>
              <a:t>p_c(N)-p_c=u_*N^{-1/ν̄}</a:t>
            </a:r>
            <a:r>
              <a:rPr kumimoji="1" lang="ja-JP" altLang="en-US">
                <a:latin typeface="Meiryo" panose="020B0604030504040204" pitchFamily="50" charset="-128"/>
              </a:rPr>
              <a:t>、</a:t>
            </a:r>
            <a:r>
              <a:rPr kumimoji="1" lang="en-US" altLang="ja-JP">
                <a:latin typeface="Meiryo" panose="020B0604030504040204" pitchFamily="50" charset="-128"/>
              </a:rPr>
              <a:t>b=-u_*</a:t>
            </a:r>
            <a:r>
              <a:rPr kumimoji="1" lang="ja-JP" altLang="en-US">
                <a:latin typeface="Meiryo" panose="020B0604030504040204" pitchFamily="50" charset="-128"/>
              </a:rPr>
              <a:t>と定義すれば</a:t>
            </a:r>
            <a:r>
              <a:rPr kumimoji="1" lang="en-US" altLang="ja-JP">
                <a:latin typeface="Meiryo" panose="020B0604030504040204" pitchFamily="50" charset="-128"/>
              </a:rPr>
              <a:t>S9</a:t>
            </a:r>
            <a:r>
              <a:rPr kumimoji="1" lang="ja-JP" altLang="en-US">
                <a:latin typeface="Meiryo" panose="020B0604030504040204" pitchFamily="50" charset="-128"/>
              </a:rPr>
              <a:t>を得る。これは原文に記載された厳密導出ではなく、</a:t>
            </a:r>
            <a:r>
              <a:rPr kumimoji="1" lang="en-US" altLang="ja-JP">
                <a:latin typeface="Meiryo" panose="020B0604030504040204" pitchFamily="50" charset="-128"/>
              </a:rPr>
              <a:t>FSS</a:t>
            </a:r>
            <a:r>
              <a:rPr kumimoji="1" lang="ja-JP" altLang="en-US">
                <a:latin typeface="Meiryo" panose="020B0604030504040204" pitchFamily="50" charset="-128"/>
              </a:rPr>
              <a:t>仮定の数学的説明。</a:t>
            </a:r>
            <a:r>
              <a:rPr kumimoji="1" lang="en-US" altLang="ja-JP">
                <a:latin typeface="Meiryo" panose="020B0604030504040204" pitchFamily="50" charset="-128"/>
              </a:rPr>
              <a:t>ν̄&gt;0</a:t>
            </a:r>
            <a:r>
              <a:rPr kumimoji="1" lang="ja-JP" altLang="en-US">
                <a:latin typeface="Meiryo" panose="020B0604030504040204" pitchFamily="50" charset="-128"/>
              </a:rPr>
              <a:t>かつ</a:t>
            </a:r>
            <a:r>
              <a:rPr kumimoji="1" lang="en-US" altLang="ja-JP">
                <a:latin typeface="Meiryo" panose="020B0604030504040204" pitchFamily="50" charset="-128"/>
              </a:rPr>
              <a:t>b</a:t>
            </a:r>
            <a:r>
              <a:rPr kumimoji="1" lang="ja-JP" altLang="en-US">
                <a:latin typeface="Meiryo" panose="020B0604030504040204" pitchFamily="50" charset="-128"/>
              </a:rPr>
              <a:t>有限なら</a:t>
            </a:r>
            <a:r>
              <a:rPr kumimoji="1" lang="en-US" altLang="ja-JP">
                <a:latin typeface="Meiryo" panose="020B0604030504040204" pitchFamily="50" charset="-128"/>
              </a:rPr>
              <a:t>N→∞</a:t>
            </a:r>
            <a:r>
              <a:rPr kumimoji="1" lang="ja-JP" altLang="en-US">
                <a:latin typeface="Meiryo" panose="020B0604030504040204" pitchFamily="50" charset="-128"/>
              </a:rPr>
              <a:t>でずれが</a:t>
            </a:r>
            <a:r>
              <a:rPr kumimoji="1" lang="en-US" altLang="ja-JP">
                <a:latin typeface="Meiryo" panose="020B0604030504040204" pitchFamily="50" charset="-128"/>
              </a:rPr>
              <a:t>0</a:t>
            </a:r>
            <a:r>
              <a:rPr kumimoji="1" lang="ja-JP" altLang="en-US">
                <a:latin typeface="Meiryo" panose="020B0604030504040204" pitchFamily="50" charset="-128"/>
              </a:rPr>
              <a:t>になり</a:t>
            </a:r>
            <a:r>
              <a:rPr kumimoji="1" lang="en-US" altLang="ja-JP">
                <a:latin typeface="Meiryo" panose="020B0604030504040204" pitchFamily="50" charset="-128"/>
              </a:rPr>
              <a:t>p_c(N)→p_c</a:t>
            </a:r>
            <a:r>
              <a:rPr kumimoji="1" lang="ja-JP" altLang="en-US">
                <a:latin typeface="Meiryo" panose="020B0604030504040204" pitchFamily="50" charset="-128"/>
              </a:rPr>
              <a:t>だが、</a:t>
            </a:r>
            <a:r>
              <a:rPr kumimoji="1" lang="en-US" altLang="ja-JP">
                <a:latin typeface="Meiryo" panose="020B0604030504040204" pitchFamily="50" charset="-128"/>
              </a:rPr>
              <a:t>S9</a:t>
            </a:r>
            <a:r>
              <a:rPr kumimoji="1" lang="ja-JP" altLang="en-US">
                <a:latin typeface="Meiryo" panose="020B0604030504040204" pitchFamily="50" charset="-128"/>
              </a:rPr>
              <a:t>を書くだけで</a:t>
            </a:r>
            <a:r>
              <a:rPr kumimoji="1" lang="en-US" altLang="ja-JP">
                <a:latin typeface="Meiryo" panose="020B0604030504040204" pitchFamily="50" charset="-128"/>
              </a:rPr>
              <a:t>ν̄&gt;0</a:t>
            </a:r>
            <a:r>
              <a:rPr kumimoji="1" lang="ja-JP" altLang="en-US">
                <a:latin typeface="Meiryo" panose="020B0604030504040204" pitchFamily="50" charset="-128"/>
              </a:rPr>
              <a:t>を証明するわけではない。</a:t>
            </a:r>
            <a:r>
              <a:rPr kumimoji="1" lang="en-US" altLang="ja-JP">
                <a:latin typeface="Meiryo" panose="020B0604030504040204" pitchFamily="50" charset="-128"/>
              </a:rPr>
              <a:t>b≠0</a:t>
            </a:r>
            <a:r>
              <a:rPr kumimoji="1" lang="ja-JP" altLang="en-US">
                <a:latin typeface="Meiryo" panose="020B0604030504040204" pitchFamily="50" charset="-128"/>
              </a:rPr>
              <a:t>なら対数シフトの傾きは</a:t>
            </a:r>
            <a:r>
              <a:rPr kumimoji="1" lang="en-US" altLang="ja-JP">
                <a:latin typeface="Meiryo" panose="020B0604030504040204" pitchFamily="50" charset="-128"/>
              </a:rPr>
              <a:t>-1/ν̄</a:t>
            </a:r>
            <a:r>
              <a:rPr kumimoji="1" lang="ja-JP" altLang="en-US">
                <a:latin typeface="Meiryo" panose="020B0604030504040204" pitchFamily="50" charset="-128"/>
              </a:rPr>
              <a:t>。</a:t>
            </a:r>
            <a:r>
              <a:rPr kumimoji="1" lang="en-US" altLang="ja-JP">
                <a:latin typeface="Meiryo" panose="020B0604030504040204" pitchFamily="50" charset="-128"/>
              </a:rPr>
              <a:t>2D</a:t>
            </a:r>
            <a:r>
              <a:rPr kumimoji="1" lang="ja-JP" altLang="en-US">
                <a:latin typeface="Meiryo" panose="020B0604030504040204" pitchFamily="50" charset="-128"/>
              </a:rPr>
              <a:t>制限なし</a:t>
            </a:r>
            <a:r>
              <a:rPr kumimoji="1" lang="en-US" altLang="ja-JP">
                <a:latin typeface="Meiryo" panose="020B0604030504040204" pitchFamily="50" charset="-128"/>
              </a:rPr>
              <a:t>SPP</a:t>
            </a:r>
            <a:r>
              <a:rPr kumimoji="1" lang="ja-JP" altLang="en-US">
                <a:latin typeface="Meiryo" panose="020B0604030504040204" pitchFamily="50" charset="-128"/>
              </a:rPr>
              <a:t>での指数や転移次数は別途検討する。</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15</a:t>
            </a:fld>
            <a:endParaRPr kumimoji="1" lang="ja-JP" altLang="en-US"/>
          </a:p>
        </p:txBody>
      </p:sp>
    </p:spTree>
    <p:extLst>
      <p:ext uri="{BB962C8B-B14F-4D97-AF65-F5344CB8AC3E}">
        <p14:creationId xmlns:p14="http://schemas.microsoft.com/office/powerpoint/2010/main" val="2709064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】S10</a:t>
            </a:r>
            <a:r>
              <a:rPr kumimoji="1" lang="ja-JP" altLang="en-US">
                <a:latin typeface="Meiryo" panose="020B0604030504040204" pitchFamily="50" charset="-128"/>
              </a:rPr>
              <a:t>の原文は</a:t>
            </a:r>
            <a:r>
              <a:rPr kumimoji="1" lang="en-US" altLang="ja-JP">
                <a:latin typeface="Meiryo" panose="020B0604030504040204" pitchFamily="50" charset="-128"/>
              </a:rPr>
              <a:t>P(p_c)=〈P(p=p_c,N)〉〜N^{-β/ν̄}</a:t>
            </a:r>
            <a:r>
              <a:rPr kumimoji="1" lang="ja-JP" altLang="en-US">
                <a:latin typeface="Meiryo" panose="020B0604030504040204" pitchFamily="50" charset="-128"/>
              </a:rPr>
              <a:t>。原文の</a:t>
            </a:r>
            <a:r>
              <a:rPr kumimoji="1" lang="en-US" altLang="ja-JP">
                <a:latin typeface="Meiryo" panose="020B0604030504040204" pitchFamily="50" charset="-128"/>
              </a:rPr>
              <a:t>P(p_c)</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依存を省略した平均</a:t>
            </a:r>
            <a:r>
              <a:rPr kumimoji="1" lang="en-US" altLang="ja-JP">
                <a:latin typeface="Meiryo" panose="020B0604030504040204" pitchFamily="50" charset="-128"/>
              </a:rPr>
              <a:t>P</a:t>
            </a:r>
            <a:r>
              <a:rPr kumimoji="1" lang="ja-JP" altLang="en-US">
                <a:latin typeface="Meiryo" panose="020B0604030504040204" pitchFamily="50" charset="-128"/>
              </a:rPr>
              <a:t>の記法。全サイズで共通の</a:t>
            </a:r>
            <a:r>
              <a:rPr kumimoji="1" lang="en-US" altLang="ja-JP">
                <a:latin typeface="Meiryo" panose="020B0604030504040204" pitchFamily="50" charset="-128"/>
              </a:rPr>
              <a:t>p_c</a:t>
            </a:r>
            <a:r>
              <a:rPr kumimoji="1" lang="ja-JP" altLang="en-US">
                <a:latin typeface="Meiryo" panose="020B0604030504040204" pitchFamily="50" charset="-128"/>
              </a:rPr>
              <a:t>を用い、</a:t>
            </a:r>
            <a:r>
              <a:rPr kumimoji="1" lang="en-US" altLang="ja-JP">
                <a:latin typeface="Meiryo" panose="020B0604030504040204" pitchFamily="50" charset="-128"/>
              </a:rPr>
              <a:t>N</a:t>
            </a:r>
            <a:r>
              <a:rPr kumimoji="1" lang="ja-JP" altLang="en-US">
                <a:latin typeface="Meiryo" panose="020B0604030504040204" pitchFamily="50" charset="-128"/>
              </a:rPr>
              <a:t>ごとに移動する</a:t>
            </a:r>
            <a:r>
              <a:rPr kumimoji="1" lang="en-US" altLang="ja-JP">
                <a:latin typeface="Meiryo" panose="020B0604030504040204" pitchFamily="50" charset="-128"/>
              </a:rPr>
              <a:t>p_c(N)</a:t>
            </a:r>
            <a:r>
              <a:rPr kumimoji="1" lang="ja-JP" altLang="en-US">
                <a:latin typeface="Meiryo" panose="020B0604030504040204" pitchFamily="50" charset="-128"/>
              </a:rPr>
              <a:t>での評価とは区別する。</a:t>
            </a:r>
            <a:r>
              <a:rPr kumimoji="1" lang="en-US" altLang="ja-JP">
                <a:latin typeface="Meiryo" panose="020B0604030504040204" pitchFamily="50" charset="-128"/>
              </a:rPr>
              <a:t>【</a:t>
            </a:r>
            <a:r>
              <a:rPr kumimoji="1" lang="ja-JP" altLang="en-US">
                <a:latin typeface="Meiryo" panose="020B0604030504040204" pitchFamily="50" charset="-128"/>
              </a:rPr>
              <a:t>説明用の数学的補足</a:t>
            </a:r>
            <a:r>
              <a:rPr kumimoji="1" lang="en-US" altLang="ja-JP">
                <a:latin typeface="Meiryo" panose="020B0604030504040204" pitchFamily="50" charset="-128"/>
              </a:rPr>
              <a:t>】S6</a:t>
            </a:r>
            <a:r>
              <a:rPr kumimoji="1" lang="ja-JP" altLang="en-US">
                <a:latin typeface="Meiryo" panose="020B0604030504040204" pitchFamily="50" charset="-128"/>
              </a:rPr>
              <a:t>の</a:t>
            </a:r>
            <a:r>
              <a:rPr kumimoji="1" lang="en-US" altLang="ja-JP">
                <a:latin typeface="Meiryo" panose="020B0604030504040204" pitchFamily="50" charset="-128"/>
              </a:rPr>
              <a:t>u=(p-p_c)N^{1/ν̄}</a:t>
            </a:r>
            <a:r>
              <a:rPr kumimoji="1" lang="ja-JP" altLang="en-US">
                <a:latin typeface="Meiryo" panose="020B0604030504040204" pitchFamily="50" charset="-128"/>
              </a:rPr>
              <a:t>に</a:t>
            </a:r>
            <a:r>
              <a:rPr kumimoji="1" lang="en-US" altLang="ja-JP">
                <a:latin typeface="Meiryo" panose="020B0604030504040204" pitchFamily="50" charset="-128"/>
              </a:rPr>
              <a:t>p=p_c</a:t>
            </a:r>
            <a:r>
              <a:rPr kumimoji="1" lang="ja-JP" altLang="en-US">
                <a:latin typeface="Meiryo" panose="020B0604030504040204" pitchFamily="50" charset="-128"/>
              </a:rPr>
              <a:t>を代入する理由は引数を</a:t>
            </a:r>
            <a:r>
              <a:rPr kumimoji="1" lang="en-US" altLang="ja-JP">
                <a:latin typeface="Meiryo" panose="020B0604030504040204" pitchFamily="50" charset="-128"/>
              </a:rPr>
              <a:t>0</a:t>
            </a:r>
            <a:r>
              <a:rPr kumimoji="1" lang="ja-JP" altLang="en-US">
                <a:latin typeface="Meiryo" panose="020B0604030504040204" pitchFamily="50" charset="-128"/>
              </a:rPr>
              <a:t>に固定するため。</a:t>
            </a:r>
            <a:r>
              <a:rPr kumimoji="1" lang="en-US" altLang="ja-JP">
                <a:latin typeface="Meiryo" panose="020B0604030504040204" pitchFamily="50" charset="-128"/>
              </a:rPr>
              <a:t>〈P(p_c,N)〉=N^{-β/ν̄}F^{(1)}(0)=A_0N^{-β/ν̄}〜N^{-β/ν̄}</a:t>
            </a:r>
            <a:r>
              <a:rPr kumimoji="1" lang="ja-JP" altLang="en-US">
                <a:latin typeface="Meiryo" panose="020B0604030504040204" pitchFamily="50" charset="-128"/>
              </a:rPr>
              <a:t>。</a:t>
            </a:r>
            <a:r>
              <a:rPr kumimoji="1" lang="en-US" altLang="ja-JP">
                <a:latin typeface="Meiryo" panose="020B0604030504040204" pitchFamily="50" charset="-128"/>
              </a:rPr>
              <a:t>A_0=F^{(1)}(0)</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によらない有限の正定数とする。</a:t>
            </a:r>
            <a:r>
              <a:rPr kumimoji="1" lang="en-US" altLang="ja-JP">
                <a:latin typeface="Meiryo" panose="020B0604030504040204" pitchFamily="50" charset="-128"/>
              </a:rPr>
              <a:t>P</a:t>
            </a:r>
            <a:r>
              <a:rPr kumimoji="1" lang="ja-JP" altLang="en-US">
                <a:latin typeface="Meiryo" panose="020B0604030504040204" pitchFamily="50" charset="-128"/>
              </a:rPr>
              <a:t>が非負なので有限非零を正定数として解釈する。ここでは代入の論理を説明し、グラフの軸や候補</a:t>
            </a:r>
            <a:r>
              <a:rPr kumimoji="1" lang="en-US" altLang="ja-JP">
                <a:latin typeface="Meiryo" panose="020B0604030504040204" pitchFamily="50" charset="-128"/>
              </a:rPr>
              <a:t>p</a:t>
            </a:r>
            <a:r>
              <a:rPr kumimoji="1" lang="ja-JP" altLang="en-US">
                <a:latin typeface="Meiryo" panose="020B0604030504040204" pitchFamily="50" charset="-128"/>
              </a:rPr>
              <a:t>ごとの回帰は説明しない。</a:t>
            </a:r>
            <a:r>
              <a:rPr kumimoji="1" lang="en-US" altLang="ja-JP">
                <a:latin typeface="Meiryo" panose="020B0604030504040204" pitchFamily="50" charset="-128"/>
              </a:rPr>
              <a:t>p_c</a:t>
            </a:r>
            <a:r>
              <a:rPr kumimoji="1" lang="ja-JP" altLang="en-US">
                <a:latin typeface="Meiryo" panose="020B0604030504040204" pitchFamily="50" charset="-128"/>
              </a:rPr>
              <a:t>は最初から既知とは限らず、数値推定は次の</a:t>
            </a:r>
            <a:r>
              <a:rPr kumimoji="1" lang="en-US" altLang="ja-JP">
                <a:latin typeface="Meiryo" panose="020B0604030504040204" pitchFamily="50" charset="-128"/>
              </a:rPr>
              <a:t>Fig.S1(a)(b)</a:t>
            </a:r>
            <a:r>
              <a:rPr kumimoji="1" lang="ja-JP" altLang="en-US">
                <a:latin typeface="Meiryo" panose="020B0604030504040204" pitchFamily="50" charset="-128"/>
              </a:rPr>
              <a:t>で説明する。</a:t>
            </a:r>
            <a:r>
              <a:rPr kumimoji="1" lang="en-US" altLang="ja-JP">
                <a:latin typeface="Meiryo" panose="020B0604030504040204" pitchFamily="50" charset="-128"/>
              </a:rPr>
              <a:t>FSS</a:t>
            </a:r>
            <a:r>
              <a:rPr kumimoji="1" lang="ja-JP" altLang="en-US">
                <a:latin typeface="Meiryo" panose="020B0604030504040204" pitchFamily="50" charset="-128"/>
              </a:rPr>
              <a:t>の仮定からの関係であり、</a:t>
            </a:r>
            <a:r>
              <a:rPr kumimoji="1" lang="en-US" altLang="ja-JP">
                <a:latin typeface="Meiryo" panose="020B0604030504040204" pitchFamily="50" charset="-128"/>
              </a:rPr>
              <a:t>SPP</a:t>
            </a:r>
            <a:r>
              <a:rPr kumimoji="1" lang="ja-JP" altLang="en-US">
                <a:latin typeface="Meiryo" panose="020B0604030504040204" pitchFamily="50" charset="-128"/>
              </a:rPr>
              <a:t>転移次数の証明ではない。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16</a:t>
            </a:fld>
            <a:endParaRPr kumimoji="1" lang="ja-JP" altLang="en-US"/>
          </a:p>
        </p:txBody>
      </p:sp>
    </p:spTree>
    <p:extLst>
      <p:ext uri="{BB962C8B-B14F-4D97-AF65-F5344CB8AC3E}">
        <p14:creationId xmlns:p14="http://schemas.microsoft.com/office/powerpoint/2010/main" val="3739350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】S11</a:t>
            </a:r>
            <a:r>
              <a:rPr kumimoji="1" lang="ja-JP" altLang="en-US">
                <a:latin typeface="Meiryo" panose="020B0604030504040204" pitchFamily="50" charset="-128"/>
              </a:rPr>
              <a:t>は</a:t>
            </a:r>
            <a:r>
              <a:rPr kumimoji="1" lang="en-US" altLang="ja-JP">
                <a:latin typeface="Meiryo" panose="020B0604030504040204" pitchFamily="50" charset="-128"/>
              </a:rPr>
              <a:t>P_c(N)=〈P(p=p_c(N),N)〉〜N^{-β/ν̄}</a:t>
            </a:r>
            <a:r>
              <a:rPr kumimoji="1" lang="ja-JP" altLang="en-US">
                <a:latin typeface="Meiryo" panose="020B0604030504040204" pitchFamily="50" charset="-128"/>
              </a:rPr>
              <a:t>、</a:t>
            </a:r>
            <a:r>
              <a:rPr kumimoji="1" lang="en-US" altLang="ja-JP">
                <a:latin typeface="Meiryo" panose="020B0604030504040204" pitchFamily="50" charset="-128"/>
              </a:rPr>
              <a:t>S12</a:t>
            </a:r>
            <a:r>
              <a:rPr kumimoji="1" lang="ja-JP" altLang="en-US">
                <a:latin typeface="Meiryo" panose="020B0604030504040204" pitchFamily="50" charset="-128"/>
              </a:rPr>
              <a:t>は</a:t>
            </a:r>
            <a:r>
              <a:rPr kumimoji="1" lang="en-US" altLang="ja-JP">
                <a:latin typeface="Meiryo" panose="020B0604030504040204" pitchFamily="50" charset="-128"/>
              </a:rPr>
              <a:t>S_c(N)=〈S(p=p_c(N),N)〉〜N^{γ/ν̄}</a:t>
            </a:r>
            <a:r>
              <a:rPr kumimoji="1" lang="ja-JP" altLang="en-US">
                <a:latin typeface="Meiryo" panose="020B0604030504040204" pitchFamily="50" charset="-128"/>
              </a:rPr>
              <a:t>。</a:t>
            </a:r>
            <a:r>
              <a:rPr kumimoji="1" lang="en-US" altLang="ja-JP">
                <a:latin typeface="Meiryo" panose="020B0604030504040204" pitchFamily="50" charset="-128"/>
              </a:rPr>
              <a:t>p_c(N)</a:t>
            </a:r>
            <a:r>
              <a:rPr kumimoji="1" lang="ja-JP" altLang="en-US">
                <a:latin typeface="Meiryo" panose="020B0604030504040204" pitchFamily="50" charset="-128"/>
              </a:rPr>
              <a:t>は</a:t>
            </a:r>
            <a:r>
              <a:rPr kumimoji="1" lang="en-US" altLang="ja-JP">
                <a:latin typeface="Meiryo" panose="020B0604030504040204" pitchFamily="50" charset="-128"/>
              </a:rPr>
              <a:t>S8</a:t>
            </a:r>
            <a:r>
              <a:rPr kumimoji="1" lang="ja-JP" altLang="en-US">
                <a:latin typeface="Meiryo" panose="020B0604030504040204" pitchFamily="50" charset="-128"/>
              </a:rPr>
              <a:t>の試行平均</a:t>
            </a:r>
            <a:r>
              <a:rPr kumimoji="1" lang="en-US" altLang="ja-JP">
                <a:latin typeface="Meiryo" panose="020B0604030504040204" pitchFamily="50" charset="-128"/>
              </a:rPr>
              <a:t>S</a:t>
            </a:r>
            <a:r>
              <a:rPr kumimoji="1" lang="ja-JP" altLang="en-US">
                <a:latin typeface="Meiryo" panose="020B0604030504040204" pitchFamily="50" charset="-128"/>
              </a:rPr>
              <a:t>最大位置であり、各試行のピーク位置を先に平均した量ではない。</a:t>
            </a:r>
            <a:r>
              <a:rPr kumimoji="1" lang="en-US" altLang="ja-JP">
                <a:latin typeface="Meiryo" panose="020B0604030504040204" pitchFamily="50" charset="-128"/>
              </a:rPr>
              <a:t>P</a:t>
            </a:r>
            <a:r>
              <a:rPr kumimoji="1" lang="ja-JP" altLang="en-US">
                <a:latin typeface="Meiryo" panose="020B0604030504040204" pitchFamily="50" charset="-128"/>
              </a:rPr>
              <a:t>は最大連結成分そのものではなくその割合、</a:t>
            </a:r>
            <a:r>
              <a:rPr kumimoji="1" lang="en-US" altLang="ja-JP">
                <a:latin typeface="Meiryo" panose="020B0604030504040204" pitchFamily="50" charset="-128"/>
              </a:rPr>
              <a:t>S</a:t>
            </a:r>
            <a:r>
              <a:rPr kumimoji="1" lang="ja-JP" altLang="en-US">
                <a:latin typeface="Meiryo" panose="020B0604030504040204" pitchFamily="50" charset="-128"/>
              </a:rPr>
              <a:t>は平均クラスターサイズでありクラスタリング係数ではない。</a:t>
            </a:r>
            <a:r>
              <a:rPr kumimoji="1" lang="en-US" altLang="ja-JP">
                <a:latin typeface="Meiryo" panose="020B0604030504040204" pitchFamily="50" charset="-128"/>
              </a:rPr>
              <a:t>S</a:t>
            </a:r>
            <a:r>
              <a:rPr kumimoji="1" lang="ja-JP" altLang="en-US">
                <a:latin typeface="Meiryo" panose="020B0604030504040204" pitchFamily="50" charset="-128"/>
              </a:rPr>
              <a:t>は</a:t>
            </a:r>
            <a:r>
              <a:rPr kumimoji="1" lang="en-US" altLang="ja-JP">
                <a:latin typeface="Meiryo" panose="020B0604030504040204" pitchFamily="50" charset="-128"/>
              </a:rPr>
              <a:t>1</a:t>
            </a:r>
            <a:r>
              <a:rPr kumimoji="1" lang="ja-JP" altLang="en-US">
                <a:latin typeface="Meiryo" panose="020B0604030504040204" pitchFamily="50" charset="-128"/>
              </a:rPr>
              <a:t>試行内で最大成分</a:t>
            </a:r>
            <a:r>
              <a:rPr kumimoji="1" lang="en-US" altLang="ja-JP">
                <a:latin typeface="Meiryo" panose="020B0604030504040204" pitchFamily="50" charset="-128"/>
              </a:rPr>
              <a:t>1</a:t>
            </a:r>
            <a:r>
              <a:rPr kumimoji="1" lang="ja-JP" altLang="en-US">
                <a:latin typeface="Meiryo" panose="020B0604030504040204" pitchFamily="50" charset="-128"/>
              </a:rPr>
              <a:t>個を除いて計算する頂点重みの平均、</a:t>
            </a:r>
            <a:r>
              <a:rPr kumimoji="1" lang="en-US" altLang="ja-JP">
                <a:latin typeface="Meiryo" panose="020B0604030504040204" pitchFamily="50" charset="-128"/>
              </a:rPr>
              <a:t>〈S〉</a:t>
            </a:r>
            <a:r>
              <a:rPr kumimoji="1" lang="ja-JP" altLang="en-US">
                <a:latin typeface="Meiryo" panose="020B0604030504040204" pitchFamily="50" charset="-128"/>
              </a:rPr>
              <a:t>はさらに異なる試行間での平均。添字</a:t>
            </a:r>
            <a:r>
              <a:rPr kumimoji="1" lang="en-US" altLang="ja-JP">
                <a:latin typeface="Meiryo" panose="020B0604030504040204" pitchFamily="50" charset="-128"/>
              </a:rPr>
              <a:t>c</a:t>
            </a:r>
            <a:r>
              <a:rPr kumimoji="1" lang="ja-JP" altLang="en-US">
                <a:latin typeface="Meiryo" panose="020B0604030504040204" pitchFamily="50" charset="-128"/>
              </a:rPr>
              <a:t>は臨界・疑似臨界の評価位置を表し、</a:t>
            </a:r>
            <a:r>
              <a:rPr kumimoji="1" lang="en-US" altLang="ja-JP">
                <a:latin typeface="Meiryo" panose="020B0604030504040204" pitchFamily="50" charset="-128"/>
              </a:rPr>
              <a:t>SPP</a:t>
            </a:r>
            <a:r>
              <a:rPr kumimoji="1" lang="ja-JP" altLang="en-US">
                <a:latin typeface="Meiryo" panose="020B0604030504040204" pitchFamily="50" charset="-128"/>
              </a:rPr>
              <a:t>の経路長上限</a:t>
            </a:r>
            <a:r>
              <a:rPr kumimoji="1" lang="en-US" altLang="ja-JP">
                <a:latin typeface="Meiryo" panose="020B0604030504040204" pitchFamily="50" charset="-128"/>
              </a:rPr>
              <a:t>C</a:t>
            </a:r>
            <a:r>
              <a:rPr kumimoji="1" lang="ja-JP" altLang="en-US">
                <a:latin typeface="Meiryo" panose="020B0604030504040204" pitchFamily="50" charset="-128"/>
              </a:rPr>
              <a:t>とは別の記号。式の最初の等号は観測量の定義、右側の</a:t>
            </a:r>
            <a:r>
              <a:rPr kumimoji="1" lang="en-US" altLang="ja-JP">
                <a:latin typeface="Meiryo" panose="020B0604030504040204" pitchFamily="50" charset="-128"/>
              </a:rPr>
              <a:t>〜</a:t>
            </a:r>
            <a:r>
              <a:rPr kumimoji="1" lang="ja-JP" altLang="en-US">
                <a:latin typeface="Meiryo" panose="020B0604030504040204" pitchFamily="50" charset="-128"/>
              </a:rPr>
              <a:t>は</a:t>
            </a:r>
            <a:r>
              <a:rPr kumimoji="1" lang="en-US" altLang="ja-JP">
                <a:latin typeface="Meiryo" panose="020B0604030504040204" pitchFamily="50" charset="-128"/>
              </a:rPr>
              <a:t>FSS</a:t>
            </a:r>
            <a:r>
              <a:rPr kumimoji="1" lang="ja-JP" altLang="en-US">
                <a:latin typeface="Meiryo" panose="020B0604030504040204" pitchFamily="50" charset="-128"/>
              </a:rPr>
              <a:t>に基づくサイズ依存性。</a:t>
            </a:r>
            <a:r>
              <a:rPr kumimoji="1" lang="en-US" altLang="ja-JP">
                <a:latin typeface="Meiryo" panose="020B0604030504040204" pitchFamily="50" charset="-128"/>
              </a:rPr>
              <a:t>【</a:t>
            </a:r>
            <a:r>
              <a:rPr kumimoji="1" lang="ja-JP" altLang="en-US">
                <a:latin typeface="Meiryo" panose="020B0604030504040204" pitchFamily="50" charset="-128"/>
              </a:rPr>
              <a:t>説明用の数学的補足</a:t>
            </a:r>
            <a:r>
              <a:rPr kumimoji="1" lang="en-US" altLang="ja-JP">
                <a:latin typeface="Meiryo" panose="020B0604030504040204" pitchFamily="50" charset="-128"/>
              </a:rPr>
              <a:t>】S9</a:t>
            </a:r>
            <a:r>
              <a:rPr kumimoji="1" lang="ja-JP" altLang="en-US">
                <a:latin typeface="Meiryo" panose="020B0604030504040204" pitchFamily="50" charset="-128"/>
              </a:rPr>
              <a:t>を</a:t>
            </a:r>
            <a:r>
              <a:rPr kumimoji="1" lang="en-US" altLang="ja-JP">
                <a:latin typeface="Meiryo" panose="020B0604030504040204" pitchFamily="50" charset="-128"/>
              </a:rPr>
              <a:t>p_c(N)-p_c=-bN^{-1/ν̄}</a:t>
            </a:r>
            <a:r>
              <a:rPr kumimoji="1" lang="ja-JP" altLang="en-US">
                <a:latin typeface="Meiryo" panose="020B0604030504040204" pitchFamily="50" charset="-128"/>
              </a:rPr>
              <a:t>と変形。</a:t>
            </a:r>
            <a:r>
              <a:rPr kumimoji="1" lang="en-US" altLang="ja-JP">
                <a:latin typeface="Meiryo" panose="020B0604030504040204" pitchFamily="50" charset="-128"/>
              </a:rPr>
              <a:t>p=p_c(N)</a:t>
            </a:r>
            <a:r>
              <a:rPr kumimoji="1" lang="ja-JP" altLang="en-US">
                <a:latin typeface="Meiryo" panose="020B0604030504040204" pitchFamily="50" charset="-128"/>
              </a:rPr>
              <a:t>なら</a:t>
            </a:r>
            <a:r>
              <a:rPr kumimoji="1" lang="en-US" altLang="ja-JP">
                <a:latin typeface="Meiryo" panose="020B0604030504040204" pitchFamily="50" charset="-128"/>
              </a:rPr>
              <a:t>u=[p_c(N)-p_c]N^{1/ν̄}=(-bN^{-1/ν̄})N^{1/ν̄}=-b</a:t>
            </a:r>
            <a:r>
              <a:rPr kumimoji="1" lang="ja-JP" altLang="en-US">
                <a:latin typeface="Meiryo" panose="020B0604030504040204" pitchFamily="50" charset="-128"/>
              </a:rPr>
              <a:t>。</a:t>
            </a:r>
            <a:r>
              <a:rPr kumimoji="1" lang="en-US" altLang="ja-JP">
                <a:latin typeface="Meiryo" panose="020B0604030504040204" pitchFamily="50" charset="-128"/>
              </a:rPr>
              <a:t>N</a:t>
            </a:r>
            <a:r>
              <a:rPr kumimoji="1" lang="ja-JP" altLang="en-US">
                <a:latin typeface="Meiryo" panose="020B0604030504040204" pitchFamily="50" charset="-128"/>
              </a:rPr>
              <a:t>ごとに</a:t>
            </a:r>
            <a:r>
              <a:rPr kumimoji="1" lang="en-US" altLang="ja-JP">
                <a:latin typeface="Meiryo" panose="020B0604030504040204" pitchFamily="50" charset="-128"/>
              </a:rPr>
              <a:t>p_c(N)</a:t>
            </a:r>
            <a:r>
              <a:rPr kumimoji="1" lang="ja-JP" altLang="en-US">
                <a:latin typeface="Meiryo" panose="020B0604030504040204" pitchFamily="50" charset="-128"/>
              </a:rPr>
              <a:t>は異なるが引数</a:t>
            </a:r>
            <a:r>
              <a:rPr kumimoji="1" lang="en-US" altLang="ja-JP">
                <a:latin typeface="Meiryo" panose="020B0604030504040204" pitchFamily="50" charset="-128"/>
              </a:rPr>
              <a:t>u</a:t>
            </a:r>
            <a:r>
              <a:rPr kumimoji="1" lang="ja-JP" altLang="en-US">
                <a:latin typeface="Meiryo" panose="020B0604030504040204" pitchFamily="50" charset="-128"/>
              </a:rPr>
              <a:t>は一定。</a:t>
            </a:r>
            <a:r>
              <a:rPr kumimoji="1" lang="en-US" altLang="ja-JP">
                <a:latin typeface="Meiryo" panose="020B0604030504040204" pitchFamily="50" charset="-128"/>
              </a:rPr>
              <a:t>S6/S7</a:t>
            </a:r>
            <a:r>
              <a:rPr kumimoji="1" lang="ja-JP" altLang="en-US">
                <a:latin typeface="Meiryo" panose="020B0604030504040204" pitchFamily="50" charset="-128"/>
              </a:rPr>
              <a:t>へ代入すると</a:t>
            </a:r>
            <a:r>
              <a:rPr kumimoji="1" lang="en-US" altLang="ja-JP">
                <a:latin typeface="Meiryo" panose="020B0604030504040204" pitchFamily="50" charset="-128"/>
              </a:rPr>
              <a:t>P_c(N)=N^{-β/ν̄}F^{(1)}(-b)</a:t>
            </a:r>
            <a:r>
              <a:rPr kumimoji="1" lang="ja-JP" altLang="en-US">
                <a:latin typeface="Meiryo" panose="020B0604030504040204" pitchFamily="50" charset="-128"/>
              </a:rPr>
              <a:t>、</a:t>
            </a:r>
            <a:r>
              <a:rPr kumimoji="1" lang="en-US" altLang="ja-JP">
                <a:latin typeface="Meiryo" panose="020B0604030504040204" pitchFamily="50" charset="-128"/>
              </a:rPr>
              <a:t>S_c(N)=N^{γ/ν̄}F^{(2)}(-b)</a:t>
            </a:r>
            <a:r>
              <a:rPr kumimoji="1" lang="ja-JP" altLang="en-US">
                <a:latin typeface="Meiryo" panose="020B0604030504040204" pitchFamily="50" charset="-128"/>
              </a:rPr>
              <a:t>。両関数値が</a:t>
            </a:r>
            <a:r>
              <a:rPr kumimoji="1" lang="en-US" altLang="ja-JP">
                <a:latin typeface="Meiryo" panose="020B0604030504040204" pitchFamily="50" charset="-128"/>
              </a:rPr>
              <a:t>N</a:t>
            </a:r>
            <a:r>
              <a:rPr kumimoji="1" lang="ja-JP" altLang="en-US">
                <a:latin typeface="Meiryo" panose="020B0604030504040204" pitchFamily="50" charset="-128"/>
              </a:rPr>
              <a:t>によらない有限非零値で、主要なスケーリング関係として成立するなら、表示のべき乗則になる。サイズ依存から推定するのは</a:t>
            </a:r>
            <a:r>
              <a:rPr kumimoji="1" lang="en-US" altLang="ja-JP">
                <a:latin typeface="Meiryo" panose="020B0604030504040204" pitchFamily="50" charset="-128"/>
              </a:rPr>
              <a:t>β/ν̄</a:t>
            </a:r>
            <a:r>
              <a:rPr kumimoji="1" lang="ja-JP" altLang="en-US">
                <a:latin typeface="Meiryo" panose="020B0604030504040204" pitchFamily="50" charset="-128"/>
              </a:rPr>
              <a:t>、</a:t>
            </a:r>
            <a:r>
              <a:rPr kumimoji="1" lang="en-US" altLang="ja-JP">
                <a:latin typeface="Meiryo" panose="020B0604030504040204" pitchFamily="50" charset="-128"/>
              </a:rPr>
              <a:t>γ/ν̄</a:t>
            </a:r>
            <a:r>
              <a:rPr kumimoji="1" lang="ja-JP" altLang="en-US">
                <a:latin typeface="Meiryo" panose="020B0604030504040204" pitchFamily="50" charset="-128"/>
              </a:rPr>
              <a:t>という指数比であり、個々の指数がすべて直接決まるわけではない。前ページの固定</a:t>
            </a:r>
            <a:r>
              <a:rPr kumimoji="1" lang="en-US" altLang="ja-JP">
                <a:latin typeface="Meiryo" panose="020B0604030504040204" pitchFamily="50" charset="-128"/>
              </a:rPr>
              <a:t>p_c</a:t>
            </a:r>
            <a:r>
              <a:rPr kumimoji="1" lang="ja-JP" altLang="en-US">
                <a:latin typeface="Meiryo" panose="020B0604030504040204" pitchFamily="50" charset="-128"/>
              </a:rPr>
              <a:t>での評価との違いを説明する。</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17</a:t>
            </a:fld>
            <a:endParaRPr kumimoji="1" lang="ja-JP" altLang="en-US"/>
          </a:p>
        </p:txBody>
      </p:sp>
    </p:spTree>
    <p:extLst>
      <p:ext uri="{BB962C8B-B14F-4D97-AF65-F5344CB8AC3E}">
        <p14:creationId xmlns:p14="http://schemas.microsoft.com/office/powerpoint/2010/main" val="39835437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原論文の内容と原図</a:t>
            </a:r>
            <a:r>
              <a:rPr kumimoji="1" lang="en-US" altLang="ja-JP">
                <a:latin typeface="Meiryo" panose="020B0604030504040204" pitchFamily="50" charset="-128"/>
              </a:rPr>
              <a:t>】</a:t>
            </a:r>
            <a:r>
              <a:rPr kumimoji="1" lang="ja-JP" altLang="en-US">
                <a:latin typeface="Meiryo" panose="020B0604030504040204" pitchFamily="50" charset="-128"/>
              </a:rPr>
              <a:t>公式</a:t>
            </a:r>
            <a:r>
              <a:rPr kumimoji="1" lang="en-US" altLang="ja-JP">
                <a:latin typeface="Meiryo" panose="020B0604030504040204" pitchFamily="50" charset="-128"/>
              </a:rPr>
              <a:t>Supplemental Material PDF3 Fig.S1(a)(b)</a:t>
            </a:r>
            <a:r>
              <a:rPr kumimoji="1" lang="ja-JP" altLang="en-US">
                <a:latin typeface="Meiryo" panose="020B0604030504040204" pitchFamily="50" charset="-128"/>
              </a:rPr>
              <a:t>を直接引用。公式論文ページからリンクされる著者公開</a:t>
            </a:r>
            <a:r>
              <a:rPr kumimoji="1" lang="en-US" altLang="ja-JP">
                <a:latin typeface="Meiryo" panose="020B0604030504040204" pitchFamily="50" charset="-128"/>
              </a:rPr>
              <a:t>supplementary.pdf</a:t>
            </a:r>
            <a:r>
              <a:rPr kumimoji="1" lang="ja-JP" altLang="en-US">
                <a:latin typeface="Meiryo" panose="020B0604030504040204" pitchFamily="50" charset="-128"/>
              </a:rPr>
              <a:t>とローカル</a:t>
            </a:r>
            <a:r>
              <a:rPr kumimoji="1" lang="en-US" altLang="ja-JP">
                <a:latin typeface="Meiryo" panose="020B0604030504040204" pitchFamily="50" charset="-128"/>
              </a:rPr>
              <a:t>PDF</a:t>
            </a:r>
            <a:r>
              <a:rPr kumimoji="1" lang="ja-JP" altLang="en-US">
                <a:latin typeface="Meiryo" panose="020B0604030504040204" pitchFamily="50" charset="-128"/>
              </a:rPr>
              <a:t>の</a:t>
            </a:r>
            <a:r>
              <a:rPr kumimoji="1" lang="en-US" altLang="ja-JP">
                <a:latin typeface="Meiryo" panose="020B0604030504040204" pitchFamily="50" charset="-128"/>
              </a:rPr>
              <a:t>SHA</a:t>
            </a:r>
            <a:r>
              <a:rPr kumimoji="1" lang="ja-JP" altLang="en-US">
                <a:latin typeface="Meiryo" panose="020B0604030504040204" pitchFamily="50" charset="-128"/>
              </a:rPr>
              <a:t>一致を独立確認した記録は</a:t>
            </a:r>
            <a:r>
              <a:rPr kumimoji="1" lang="en-US" altLang="ja-JP">
                <a:latin typeface="Meiryo" panose="020B0604030504040204" pitchFamily="50" charset="-128"/>
              </a:rPr>
              <a:t>board/source_check_ver2.md</a:t>
            </a:r>
            <a:r>
              <a:rPr kumimoji="1" lang="ja-JP" altLang="en-US">
                <a:latin typeface="Meiryo" panose="020B0604030504040204" pitchFamily="50" charset="-128"/>
              </a:rPr>
              <a:t>に示す。グラフは再作図せず、</a:t>
            </a:r>
            <a:r>
              <a:rPr kumimoji="1" lang="en-US" altLang="ja-JP">
                <a:latin typeface="Meiryo" panose="020B0604030504040204" pitchFamily="50" charset="-128"/>
              </a:rPr>
              <a:t>340dpi</a:t>
            </a:r>
            <a:r>
              <a:rPr kumimoji="1" lang="ja-JP" altLang="en-US">
                <a:latin typeface="Meiryo" panose="020B0604030504040204" pitchFamily="50" charset="-128"/>
              </a:rPr>
              <a:t>の全頁を</a:t>
            </a:r>
            <a:r>
              <a:rPr kumimoji="1" lang="en-US" altLang="ja-JP">
                <a:latin typeface="Meiryo" panose="020B0604030504040204" pitchFamily="50" charset="-128"/>
              </a:rPr>
              <a:t>PDF</a:t>
            </a:r>
            <a:r>
              <a:rPr kumimoji="1" lang="ja-JP" altLang="en-US">
                <a:latin typeface="Meiryo" panose="020B0604030504040204" pitchFamily="50" charset="-128"/>
              </a:rPr>
              <a:t>点座標</a:t>
            </a:r>
            <a:r>
              <a:rPr kumimoji="1" lang="en-US" altLang="ja-JP">
                <a:latin typeface="Meiryo" panose="020B0604030504040204" pitchFamily="50" charset="-128"/>
              </a:rPr>
              <a:t>(102,48,519,203)</a:t>
            </a:r>
            <a:r>
              <a:rPr kumimoji="1" lang="ja-JP" altLang="en-US">
                <a:latin typeface="Meiryo" panose="020B0604030504040204" pitchFamily="50" charset="-128"/>
              </a:rPr>
              <a:t>で直接切り抜いた画像。</a:t>
            </a:r>
            <a:r>
              <a:rPr kumimoji="1" lang="en-US" altLang="ja-JP">
                <a:latin typeface="Meiryo" panose="020B0604030504040204" pitchFamily="50" charset="-128"/>
              </a:rPr>
              <a:t>Ver.1</a:t>
            </a:r>
            <a:r>
              <a:rPr kumimoji="1" lang="ja-JP" altLang="en-US">
                <a:latin typeface="Meiryo" panose="020B0604030504040204" pitchFamily="50" charset="-128"/>
              </a:rPr>
              <a:t>の</a:t>
            </a:r>
            <a:r>
              <a:rPr kumimoji="1" lang="en-US" altLang="ja-JP">
                <a:latin typeface="Meiryo" panose="020B0604030504040204" pitchFamily="50" charset="-128"/>
              </a:rPr>
              <a:t>slide18</a:t>
            </a:r>
            <a:r>
              <a:rPr kumimoji="1" lang="ja-JP" altLang="en-US">
                <a:latin typeface="Meiryo" panose="020B0604030504040204" pitchFamily="50" charset="-128"/>
              </a:rPr>
              <a:t>埋込</a:t>
            </a:r>
            <a:r>
              <a:rPr kumimoji="1" lang="en-US" altLang="ja-JP">
                <a:latin typeface="Meiryo" panose="020B0604030504040204" pitchFamily="50" charset="-128"/>
              </a:rPr>
              <a:t>PNG</a:t>
            </a:r>
            <a:r>
              <a:rPr kumimoji="1" lang="ja-JP" altLang="en-US">
                <a:latin typeface="Meiryo" panose="020B0604030504040204" pitchFamily="50" charset="-128"/>
              </a:rPr>
              <a:t>ともバイト・画素一致。元の軸、点、線、マーカー、色、凡例を保ち、等方的な拡大縮小のみ行う。</a:t>
            </a:r>
            <a:r>
              <a:rPr kumimoji="1" lang="en-US" altLang="ja-JP">
                <a:latin typeface="Meiryo" panose="020B0604030504040204" pitchFamily="50" charset="-128"/>
              </a:rPr>
              <a:t>C=1</a:t>
            </a:r>
            <a:r>
              <a:rPr kumimoji="1" lang="ja-JP" altLang="en-US">
                <a:latin typeface="Meiryo" panose="020B0604030504040204" pitchFamily="50" charset="-128"/>
              </a:rPr>
              <a:t>の</a:t>
            </a:r>
            <a:r>
              <a:rPr kumimoji="1" lang="en-US" altLang="ja-JP">
                <a:latin typeface="Meiryo" panose="020B0604030504040204" pitchFamily="50" charset="-128"/>
              </a:rPr>
              <a:t>ER</a:t>
            </a:r>
            <a:r>
              <a:rPr kumimoji="1" lang="ja-JP" altLang="en-US">
                <a:latin typeface="Meiryo" panose="020B0604030504040204" pitchFamily="50" charset="-128"/>
              </a:rPr>
              <a:t>ネットワークの結果で、</a:t>
            </a:r>
            <a:r>
              <a:rPr kumimoji="1" lang="en-US" altLang="ja-JP">
                <a:latin typeface="Meiryo" panose="020B0604030504040204" pitchFamily="50" charset="-128"/>
              </a:rPr>
              <a:t>2D</a:t>
            </a:r>
            <a:r>
              <a:rPr kumimoji="1" lang="ja-JP" altLang="en-US">
                <a:latin typeface="Meiryo" panose="020B0604030504040204" pitchFamily="50" charset="-128"/>
              </a:rPr>
              <a:t>格子の測定結果ではない。候補</a:t>
            </a:r>
            <a:r>
              <a:rPr kumimoji="1" lang="en-US" altLang="ja-JP">
                <a:latin typeface="Meiryo" panose="020B0604030504040204" pitchFamily="50" charset="-128"/>
              </a:rPr>
              <a:t>p</a:t>
            </a:r>
            <a:r>
              <a:rPr kumimoji="1" lang="ja-JP" altLang="en-US">
                <a:latin typeface="Meiryo" panose="020B0604030504040204" pitchFamily="50" charset="-128"/>
              </a:rPr>
              <a:t>ごとに</a:t>
            </a:r>
            <a:r>
              <a:rPr kumimoji="1" lang="en-US" altLang="ja-JP">
                <a:latin typeface="Meiryo" panose="020B0604030504040204" pitchFamily="50" charset="-128"/>
              </a:rPr>
              <a:t>X_i=log N_i</a:t>
            </a:r>
            <a:r>
              <a:rPr kumimoji="1" lang="ja-JP" altLang="en-US">
                <a:latin typeface="Meiryo" panose="020B0604030504040204" pitchFamily="50" charset="-128"/>
              </a:rPr>
              <a:t>、</a:t>
            </a:r>
            <a:r>
              <a:rPr kumimoji="1" lang="en-US" altLang="ja-JP">
                <a:latin typeface="Meiryo" panose="020B0604030504040204" pitchFamily="50" charset="-128"/>
              </a:rPr>
              <a:t>Y_i=log〈P(p,N_i)〉</a:t>
            </a:r>
            <a:r>
              <a:rPr kumimoji="1" lang="ja-JP" altLang="en-US">
                <a:latin typeface="Meiryo" panose="020B0604030504040204" pitchFamily="50" charset="-128"/>
              </a:rPr>
              <a:t>を用い、切片ありの単回帰</a:t>
            </a:r>
            <a:r>
              <a:rPr kumimoji="1" lang="en-US" altLang="ja-JP">
                <a:latin typeface="Meiryo" panose="020B0604030504040204" pitchFamily="50" charset="-128"/>
              </a:rPr>
              <a:t>Y_i≈a+ζX_i</a:t>
            </a:r>
            <a:r>
              <a:rPr kumimoji="1" lang="ja-JP" altLang="en-US">
                <a:latin typeface="Meiryo" panose="020B0604030504040204" pitchFamily="50" charset="-128"/>
              </a:rPr>
              <a:t>を行う。原文</a:t>
            </a:r>
            <a:r>
              <a:rPr kumimoji="1" lang="en-US" altLang="ja-JP">
                <a:latin typeface="Meiryo" panose="020B0604030504040204" pitchFamily="50" charset="-128"/>
              </a:rPr>
              <a:t>SecIII</a:t>
            </a:r>
            <a:r>
              <a:rPr kumimoji="1" lang="ja-JP" altLang="en-US">
                <a:latin typeface="Meiryo" panose="020B0604030504040204" pitchFamily="50" charset="-128"/>
              </a:rPr>
              <a:t>の</a:t>
            </a:r>
            <a:r>
              <a:rPr kumimoji="1" lang="en-US" altLang="ja-JP">
                <a:latin typeface="Meiryo" panose="020B0604030504040204" pitchFamily="50" charset="-128"/>
              </a:rPr>
              <a:t>r</a:t>
            </a:r>
            <a:r>
              <a:rPr kumimoji="1" lang="ja-JP" altLang="en-US">
                <a:latin typeface="Meiryo" panose="020B0604030504040204" pitchFamily="50" charset="-128"/>
              </a:rPr>
              <a:t>は、この対数変換後の</a:t>
            </a:r>
            <a:r>
              <a:rPr kumimoji="1" lang="en-US" altLang="ja-JP">
                <a:latin typeface="Meiryo" panose="020B0604030504040204" pitchFamily="50" charset="-128"/>
              </a:rPr>
              <a:t>X,Y</a:t>
            </a:r>
            <a:r>
              <a:rPr kumimoji="1" lang="ja-JP" altLang="en-US">
                <a:latin typeface="Meiryo" panose="020B0604030504040204" pitchFamily="50" charset="-128"/>
              </a:rPr>
              <a:t>の</a:t>
            </a:r>
            <a:r>
              <a:rPr kumimoji="1" lang="en-US" altLang="ja-JP">
                <a:latin typeface="Meiryo" panose="020B0604030504040204" pitchFamily="50" charset="-128"/>
              </a:rPr>
              <a:t>Pearson</a:t>
            </a:r>
            <a:r>
              <a:rPr kumimoji="1" lang="ja-JP" altLang="en-US">
                <a:latin typeface="Meiryo" panose="020B0604030504040204" pitchFamily="50" charset="-128"/>
              </a:rPr>
              <a:t>相関係数。</a:t>
            </a:r>
            <a:r>
              <a:rPr kumimoji="1" lang="en-US" altLang="ja-JP">
                <a:latin typeface="Meiryo" panose="020B0604030504040204" pitchFamily="50" charset="-128"/>
              </a:rPr>
              <a:t>p</a:t>
            </a:r>
            <a:r>
              <a:rPr kumimoji="1" lang="ja-JP" altLang="en-US">
                <a:latin typeface="Meiryo" panose="020B0604030504040204" pitchFamily="50" charset="-128"/>
              </a:rPr>
              <a:t>と</a:t>
            </a:r>
            <a:r>
              <a:rPr kumimoji="1" lang="en-US" altLang="ja-JP">
                <a:latin typeface="Meiryo" panose="020B0604030504040204" pitchFamily="50" charset="-128"/>
              </a:rPr>
              <a:t>r²</a:t>
            </a:r>
            <a:r>
              <a:rPr kumimoji="1" lang="ja-JP" altLang="en-US">
                <a:latin typeface="Meiryo" panose="020B0604030504040204" pitchFamily="50" charset="-128"/>
              </a:rPr>
              <a:t>との相関ではない。分散が非零のデータについて</a:t>
            </a:r>
            <a:r>
              <a:rPr kumimoji="1" lang="en-US" altLang="ja-JP">
                <a:latin typeface="Meiryo" panose="020B0604030504040204" pitchFamily="50" charset="-128"/>
              </a:rPr>
              <a:t>r=Σ_i[(X_i-X̄)(Y_i-Ȳ)]/sqrt(Σ_i(X_i-X̄)² Σ_i(Y_i-Ȳ)²)</a:t>
            </a:r>
            <a:r>
              <a:rPr kumimoji="1" lang="ja-JP" altLang="en-US">
                <a:latin typeface="Meiryo" panose="020B0604030504040204" pitchFamily="50" charset="-128"/>
              </a:rPr>
              <a:t>。一般的な数学補足として、切片ありの単回帰で</a:t>
            </a:r>
            <a:r>
              <a:rPr kumimoji="1" lang="en-US" altLang="ja-JP">
                <a:latin typeface="Meiryo" panose="020B0604030504040204" pitchFamily="50" charset="-128"/>
              </a:rPr>
              <a:t>r²</a:t>
            </a:r>
            <a:r>
              <a:rPr kumimoji="1" lang="ja-JP" altLang="en-US">
                <a:latin typeface="Meiryo" panose="020B0604030504040204" pitchFamily="50" charset="-128"/>
              </a:rPr>
              <a:t>は決定係数となり</a:t>
            </a:r>
            <a:r>
              <a:rPr kumimoji="1" lang="en-US" altLang="ja-JP">
                <a:latin typeface="Meiryo" panose="020B0604030504040204" pitchFamily="50" charset="-128"/>
              </a:rPr>
              <a:t>0</a:t>
            </a:r>
            <a:r>
              <a:rPr kumimoji="1" lang="ja-JP" altLang="en-US">
                <a:latin typeface="Meiryo" panose="020B0604030504040204" pitchFamily="50" charset="-128"/>
              </a:rPr>
              <a:t>以上</a:t>
            </a:r>
            <a:r>
              <a:rPr kumimoji="1" lang="en-US" altLang="ja-JP">
                <a:latin typeface="Meiryo" panose="020B0604030504040204" pitchFamily="50" charset="-128"/>
              </a:rPr>
              <a:t>1</a:t>
            </a:r>
            <a:r>
              <a:rPr kumimoji="1" lang="ja-JP" altLang="en-US">
                <a:latin typeface="Meiryo" panose="020B0604030504040204" pitchFamily="50" charset="-128"/>
              </a:rPr>
              <a:t>以下。傾きが負なら</a:t>
            </a:r>
            <a:r>
              <a:rPr kumimoji="1" lang="en-US" altLang="ja-JP">
                <a:latin typeface="Meiryo" panose="020B0604030504040204" pitchFamily="50" charset="-128"/>
              </a:rPr>
              <a:t>r</a:t>
            </a:r>
            <a:r>
              <a:rPr kumimoji="1" lang="ja-JP" altLang="en-US">
                <a:latin typeface="Meiryo" panose="020B0604030504040204" pitchFamily="50" charset="-128"/>
              </a:rPr>
              <a:t>は負にもなる。</a:t>
            </a:r>
            <a:r>
              <a:rPr kumimoji="1" lang="en-US" altLang="ja-JP">
                <a:latin typeface="Meiryo" panose="020B0604030504040204" pitchFamily="50" charset="-128"/>
              </a:rPr>
              <a:t>(a)</a:t>
            </a:r>
            <a:r>
              <a:rPr kumimoji="1" lang="ja-JP" altLang="en-US">
                <a:latin typeface="Meiryo" panose="020B0604030504040204" pitchFamily="50" charset="-128"/>
              </a:rPr>
              <a:t>は各候補</a:t>
            </a:r>
            <a:r>
              <a:rPr kumimoji="1" lang="en-US" altLang="ja-JP">
                <a:latin typeface="Meiryo" panose="020B0604030504040204" pitchFamily="50" charset="-128"/>
              </a:rPr>
              <a:t>p</a:t>
            </a:r>
            <a:r>
              <a:rPr kumimoji="1" lang="ja-JP" altLang="en-US">
                <a:latin typeface="Meiryo" panose="020B0604030504040204" pitchFamily="50" charset="-128"/>
              </a:rPr>
              <a:t>に対応する</a:t>
            </a:r>
            <a:r>
              <a:rPr kumimoji="1" lang="en-US" altLang="ja-JP">
                <a:latin typeface="Meiryo" panose="020B0604030504040204" pitchFamily="50" charset="-128"/>
              </a:rPr>
              <a:t>r²</a:t>
            </a:r>
            <a:r>
              <a:rPr kumimoji="1" lang="ja-JP" altLang="en-US">
                <a:latin typeface="Meiryo" panose="020B0604030504040204" pitchFamily="50" charset="-128"/>
              </a:rPr>
              <a:t>を示し、黄色のひし形の最大位置から</a:t>
            </a:r>
            <a:r>
              <a:rPr kumimoji="1" lang="en-US" altLang="ja-JP">
                <a:latin typeface="Meiryo" panose="020B0604030504040204" pitchFamily="50" charset="-128"/>
              </a:rPr>
              <a:t>p_c=0.750</a:t>
            </a:r>
            <a:r>
              <a:rPr kumimoji="1" lang="ja-JP" altLang="en-US">
                <a:latin typeface="Meiryo" panose="020B0604030504040204" pitchFamily="50" charset="-128"/>
              </a:rPr>
              <a:t>を推定する。</a:t>
            </a:r>
            <a:r>
              <a:rPr kumimoji="1" lang="en-US" altLang="ja-JP">
                <a:latin typeface="Meiryo" panose="020B0604030504040204" pitchFamily="50" charset="-128"/>
              </a:rPr>
              <a:t>(b)</a:t>
            </a:r>
            <a:r>
              <a:rPr kumimoji="1" lang="ja-JP" altLang="en-US">
                <a:latin typeface="Meiryo" panose="020B0604030504040204" pitchFamily="50" charset="-128"/>
              </a:rPr>
              <a:t>はその結果をサイズ依存で確認するもので、独立した別手法ではない。</a:t>
            </a:r>
            <a:r>
              <a:rPr kumimoji="1" lang="en-US" altLang="ja-JP">
                <a:latin typeface="Meiryo" panose="020B0604030504040204" pitchFamily="50" charset="-128"/>
              </a:rPr>
              <a:t>Δ=.005</a:t>
            </a:r>
            <a:r>
              <a:rPr kumimoji="1" lang="ja-JP" altLang="en-US">
                <a:latin typeface="Meiryo" panose="020B0604030504040204" pitchFamily="50" charset="-128"/>
              </a:rPr>
              <a:t>、黒四角は</a:t>
            </a:r>
            <a:r>
              <a:rPr kumimoji="1" lang="en-US" altLang="ja-JP">
                <a:latin typeface="Meiryo" panose="020B0604030504040204" pitchFamily="50" charset="-128"/>
              </a:rPr>
              <a:t>p=.750</a:t>
            </a:r>
            <a:r>
              <a:rPr kumimoji="1" lang="ja-JP" altLang="en-US">
                <a:latin typeface="Meiryo" panose="020B0604030504040204" pitchFamily="50" charset="-128"/>
              </a:rPr>
              <a:t>、紫丸は</a:t>
            </a:r>
            <a:r>
              <a:rPr kumimoji="1" lang="en-US" altLang="ja-JP">
                <a:latin typeface="Meiryo" panose="020B0604030504040204" pitchFamily="50" charset="-128"/>
              </a:rPr>
              <a:t>p=.745</a:t>
            </a:r>
            <a:r>
              <a:rPr kumimoji="1" lang="ja-JP" altLang="en-US">
                <a:latin typeface="Meiryo" panose="020B0604030504040204" pitchFamily="50" charset="-128"/>
              </a:rPr>
              <a:t>、赤三角は</a:t>
            </a:r>
            <a:r>
              <a:rPr kumimoji="1" lang="en-US" altLang="ja-JP">
                <a:latin typeface="Meiryo" panose="020B0604030504040204" pitchFamily="50" charset="-128"/>
              </a:rPr>
              <a:t>p=.755</a:t>
            </a:r>
            <a:r>
              <a:rPr kumimoji="1" lang="ja-JP" altLang="en-US">
                <a:latin typeface="Meiryo" panose="020B0604030504040204" pitchFamily="50" charset="-128"/>
              </a:rPr>
              <a:t>、黄色の破線は最良べき乗当てはめ。原図では黒がほぼ直線、紫は大きい</a:t>
            </a:r>
            <a:r>
              <a:rPr kumimoji="1" lang="en-US" altLang="ja-JP">
                <a:latin typeface="Meiryo" panose="020B0604030504040204" pitchFamily="50" charset="-128"/>
              </a:rPr>
              <a:t>N</a:t>
            </a:r>
            <a:r>
              <a:rPr kumimoji="1" lang="ja-JP" altLang="en-US">
                <a:latin typeface="Meiryo" panose="020B0604030504040204" pitchFamily="50" charset="-128"/>
              </a:rPr>
              <a:t>で緩やかになり、赤は下側へ曲がる。原文は</a:t>
            </a:r>
            <a:r>
              <a:rPr kumimoji="1" lang="en-US" altLang="ja-JP">
                <a:latin typeface="Meiryo" panose="020B0604030504040204" pitchFamily="50" charset="-128"/>
              </a:rPr>
              <a:t>p=p_c</a:t>
            </a:r>
            <a:r>
              <a:rPr kumimoji="1" lang="ja-JP" altLang="en-US">
                <a:latin typeface="Meiryo" panose="020B0604030504040204" pitchFamily="50" charset="-128"/>
              </a:rPr>
              <a:t>が最もよいべき乗当てはめを与えると説明する。</a:t>
            </a:r>
            <a:r>
              <a:rPr kumimoji="1" lang="en-US" altLang="ja-JP">
                <a:latin typeface="Meiryo" panose="020B0604030504040204" pitchFamily="50" charset="-128"/>
              </a:rPr>
              <a:t>r²</a:t>
            </a:r>
            <a:r>
              <a:rPr kumimoji="1" lang="ja-JP" altLang="en-US">
                <a:latin typeface="Meiryo" panose="020B0604030504040204" pitchFamily="50" charset="-128"/>
              </a:rPr>
              <a:t>が高いだけで真の臨界点・物理的べき乗則・転移次数を厳密に証明するわけではない。</a:t>
            </a:r>
            <a:r>
              <a:rPr kumimoji="1" lang="en-US" altLang="ja-JP">
                <a:latin typeface="Meiryo" panose="020B0604030504040204" pitchFamily="50" charset="-128"/>
              </a:rPr>
              <a:t>p_c</a:t>
            </a:r>
            <a:r>
              <a:rPr kumimoji="1" lang="ja-JP" altLang="en-US">
                <a:latin typeface="Meiryo" panose="020B0604030504040204" pitchFamily="50" charset="-128"/>
              </a:rPr>
              <a:t>は複数サイズの</a:t>
            </a:r>
            <a:r>
              <a:rPr kumimoji="1" lang="en-US" altLang="ja-JP">
                <a:latin typeface="Meiryo" panose="020B0604030504040204" pitchFamily="50" charset="-128"/>
              </a:rPr>
              <a:t>P</a:t>
            </a:r>
            <a:r>
              <a:rPr kumimoji="1" lang="ja-JP" altLang="en-US">
                <a:latin typeface="Meiryo" panose="020B0604030504040204" pitchFamily="50" charset="-128"/>
              </a:rPr>
              <a:t>から推定する無限系の臨界点で、</a:t>
            </a:r>
            <a:r>
              <a:rPr kumimoji="1" lang="en-US" altLang="ja-JP">
                <a:latin typeface="Meiryo" panose="020B0604030504040204" pitchFamily="50" charset="-128"/>
              </a:rPr>
              <a:t>S8</a:t>
            </a:r>
            <a:r>
              <a:rPr kumimoji="1" lang="ja-JP" altLang="en-US">
                <a:latin typeface="Meiryo" panose="020B0604030504040204" pitchFamily="50" charset="-128"/>
              </a:rPr>
              <a:t>の有限</a:t>
            </a:r>
            <a:r>
              <a:rPr kumimoji="1" lang="en-US" altLang="ja-JP">
                <a:latin typeface="Meiryo" panose="020B0604030504040204" pitchFamily="50" charset="-128"/>
              </a:rPr>
              <a:t>N</a:t>
            </a:r>
            <a:r>
              <a:rPr kumimoji="1" lang="ja-JP" altLang="en-US">
                <a:latin typeface="Meiryo" panose="020B0604030504040204" pitchFamily="50" charset="-128"/>
              </a:rPr>
              <a:t>ごとの</a:t>
            </a:r>
            <a:r>
              <a:rPr kumimoji="1" lang="en-US" altLang="ja-JP">
                <a:latin typeface="Meiryo" panose="020B0604030504040204" pitchFamily="50" charset="-128"/>
              </a:rPr>
              <a:t>p_c(N)</a:t>
            </a:r>
            <a:r>
              <a:rPr kumimoji="1" lang="ja-JP" altLang="en-US">
                <a:latin typeface="Meiryo" panose="020B0604030504040204" pitchFamily="50" charset="-128"/>
              </a:rPr>
              <a:t>とは区別する。</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18</a:t>
            </a:fld>
            <a:endParaRPr kumimoji="1" lang="ja-JP" altLang="en-US"/>
          </a:p>
        </p:txBody>
      </p:sp>
    </p:spTree>
    <p:extLst>
      <p:ext uri="{BB962C8B-B14F-4D97-AF65-F5344CB8AC3E}">
        <p14:creationId xmlns:p14="http://schemas.microsoft.com/office/powerpoint/2010/main" val="2877075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】C=1</a:t>
            </a:r>
            <a:r>
              <a:rPr kumimoji="1" lang="ja-JP" altLang="en-US">
                <a:latin typeface="Meiryo" panose="020B0604030504040204" pitchFamily="50" charset="-128"/>
              </a:rPr>
              <a:t>と同じ方法を制限なしに適用する。原図の表示</a:t>
            </a:r>
            <a:r>
              <a:rPr kumimoji="1" lang="en-US" altLang="ja-JP">
                <a:latin typeface="Meiryo" panose="020B0604030504040204" pitchFamily="50" charset="-128"/>
              </a:rPr>
              <a:t>C=∞</a:t>
            </a:r>
            <a:r>
              <a:rPr kumimoji="1" lang="ja-JP" altLang="en-US">
                <a:latin typeface="Meiryo" panose="020B0604030504040204" pitchFamily="50" charset="-128"/>
              </a:rPr>
              <a:t>、数値設定</a:t>
            </a:r>
            <a:r>
              <a:rPr kumimoji="1" lang="en-US" altLang="ja-JP">
                <a:latin typeface="Meiryo" panose="020B0604030504040204" pitchFamily="50" charset="-128"/>
              </a:rPr>
              <a:t>C=N</a:t>
            </a:r>
            <a:r>
              <a:rPr kumimoji="1" lang="ja-JP" altLang="en-US">
                <a:latin typeface="Meiryo" panose="020B0604030504040204" pitchFamily="50" charset="-128"/>
              </a:rPr>
              <a:t>。有限グラフの最短経路は単純な経路で長さ</a:t>
            </a:r>
            <a:r>
              <a:rPr kumimoji="1" lang="en-US" altLang="ja-JP">
                <a:latin typeface="Meiryo" panose="020B0604030504040204" pitchFamily="50" charset="-128"/>
              </a:rPr>
              <a:t>N−1</a:t>
            </a:r>
            <a:r>
              <a:rPr kumimoji="1" lang="ja-JP" altLang="en-US">
                <a:latin typeface="Meiryo" panose="020B0604030504040204" pitchFamily="50" charset="-128"/>
              </a:rPr>
              <a:t>以下なので</a:t>
            </a:r>
            <a:r>
              <a:rPr kumimoji="1" lang="en-US" altLang="ja-JP">
                <a:latin typeface="Meiryo" panose="020B0604030504040204" pitchFamily="50" charset="-128"/>
              </a:rPr>
              <a:t>C=N</a:t>
            </a:r>
            <a:r>
              <a:rPr kumimoji="1" lang="ja-JP" altLang="en-US">
                <a:latin typeface="Meiryo" panose="020B0604030504040204" pitchFamily="50" charset="-128"/>
              </a:rPr>
              <a:t>は長さの制限にならない。</a:t>
            </a:r>
            <a:r>
              <a:rPr kumimoji="1" lang="en-US" altLang="ja-JP">
                <a:latin typeface="Meiryo" panose="020B0604030504040204" pitchFamily="50" charset="-128"/>
              </a:rPr>
              <a:t>Fig.S1(c)</a:t>
            </a:r>
            <a:r>
              <a:rPr kumimoji="1" lang="ja-JP" altLang="en-US">
                <a:latin typeface="Meiryo" panose="020B0604030504040204" pitchFamily="50" charset="-128"/>
              </a:rPr>
              <a:t>は候補</a:t>
            </a:r>
            <a:r>
              <a:rPr kumimoji="1" lang="en-US" altLang="ja-JP">
                <a:latin typeface="Meiryo" panose="020B0604030504040204" pitchFamily="50" charset="-128"/>
              </a:rPr>
              <a:t>p</a:t>
            </a:r>
            <a:r>
              <a:rPr kumimoji="1" lang="ja-JP" altLang="en-US">
                <a:latin typeface="Meiryo" panose="020B0604030504040204" pitchFamily="50" charset="-128"/>
              </a:rPr>
              <a:t>ごとの</a:t>
            </a:r>
            <a:r>
              <a:rPr kumimoji="1" lang="en-US" altLang="ja-JP">
                <a:latin typeface="Meiryo" panose="020B0604030504040204" pitchFamily="50" charset="-128"/>
              </a:rPr>
              <a:t>log N</a:t>
            </a:r>
            <a:r>
              <a:rPr kumimoji="1" lang="ja-JP" altLang="en-US">
                <a:latin typeface="Meiryo" panose="020B0604030504040204" pitchFamily="50" charset="-128"/>
              </a:rPr>
              <a:t>と</a:t>
            </a:r>
            <a:r>
              <a:rPr kumimoji="1" lang="en-US" altLang="ja-JP">
                <a:latin typeface="Meiryo" panose="020B0604030504040204" pitchFamily="50" charset="-128"/>
              </a:rPr>
              <a:t>log</a:t>
            </a:r>
            <a:r>
              <a:rPr kumimoji="1" lang="ja-JP" altLang="en-US">
                <a:latin typeface="Meiryo" panose="020B0604030504040204" pitchFamily="50" charset="-128"/>
              </a:rPr>
              <a:t>平均</a:t>
            </a:r>
            <a:r>
              <a:rPr kumimoji="1" lang="en-US" altLang="ja-JP">
                <a:latin typeface="Meiryo" panose="020B0604030504040204" pitchFamily="50" charset="-128"/>
              </a:rPr>
              <a:t>P</a:t>
            </a:r>
            <a:r>
              <a:rPr kumimoji="1" lang="ja-JP" altLang="en-US">
                <a:latin typeface="Meiryo" panose="020B0604030504040204" pitchFamily="50" charset="-128"/>
              </a:rPr>
              <a:t>の回帰に基づく</a:t>
            </a:r>
            <a:r>
              <a:rPr kumimoji="1" lang="en-US" altLang="ja-JP">
                <a:latin typeface="Meiryo" panose="020B0604030504040204" pitchFamily="50" charset="-128"/>
              </a:rPr>
              <a:t>r²</a:t>
            </a:r>
            <a:r>
              <a:rPr kumimoji="1" lang="ja-JP" altLang="en-US">
                <a:latin typeface="Meiryo" panose="020B0604030504040204" pitchFamily="50" charset="-128"/>
              </a:rPr>
              <a:t>を示し、その最大位置で</a:t>
            </a:r>
            <a:r>
              <a:rPr kumimoji="1" lang="en-US" altLang="ja-JP">
                <a:latin typeface="Meiryo" panose="020B0604030504040204" pitchFamily="50" charset="-128"/>
              </a:rPr>
              <a:t>p_c=.646</a:t>
            </a:r>
            <a:r>
              <a:rPr kumimoji="1" lang="ja-JP" altLang="en-US">
                <a:latin typeface="Meiryo" panose="020B0604030504040204" pitchFamily="50" charset="-128"/>
              </a:rPr>
              <a:t>を推定する。</a:t>
            </a:r>
            <a:r>
              <a:rPr kumimoji="1" lang="en-US" altLang="ja-JP">
                <a:latin typeface="Meiryo" panose="020B0604030504040204" pitchFamily="50" charset="-128"/>
              </a:rPr>
              <a:t>r</a:t>
            </a:r>
            <a:r>
              <a:rPr kumimoji="1" lang="ja-JP" altLang="en-US">
                <a:latin typeface="Meiryo" panose="020B0604030504040204" pitchFamily="50" charset="-128"/>
              </a:rPr>
              <a:t>の定義は</a:t>
            </a:r>
            <a:r>
              <a:rPr kumimoji="1" lang="en-US" altLang="ja-JP">
                <a:latin typeface="Meiryo" panose="020B0604030504040204" pitchFamily="50" charset="-128"/>
              </a:rPr>
              <a:t>18</a:t>
            </a:r>
            <a:r>
              <a:rPr kumimoji="1" lang="ja-JP" altLang="en-US">
                <a:latin typeface="Meiryo" panose="020B0604030504040204" pitchFamily="50" charset="-128"/>
              </a:rPr>
              <a:t>で説明済みなので繰り返さない。</a:t>
            </a:r>
            <a:r>
              <a:rPr kumimoji="1" lang="en-US" altLang="ja-JP">
                <a:latin typeface="Meiryo" panose="020B0604030504040204" pitchFamily="50" charset="-128"/>
              </a:rPr>
              <a:t>r²</a:t>
            </a:r>
            <a:r>
              <a:rPr kumimoji="1" lang="ja-JP" altLang="en-US">
                <a:latin typeface="Meiryo" panose="020B0604030504040204" pitchFamily="50" charset="-128"/>
              </a:rPr>
              <a:t>の表示軸は約</a:t>
            </a:r>
            <a:r>
              <a:rPr kumimoji="1" lang="en-US" altLang="ja-JP">
                <a:latin typeface="Meiryo" panose="020B0604030504040204" pitchFamily="50" charset="-128"/>
              </a:rPr>
              <a:t>.7〜1.0</a:t>
            </a:r>
            <a:r>
              <a:rPr kumimoji="1" lang="ja-JP" altLang="en-US">
                <a:latin typeface="Meiryo" panose="020B0604030504040204" pitchFamily="50" charset="-128"/>
              </a:rPr>
              <a:t>で、</a:t>
            </a:r>
            <a:r>
              <a:rPr kumimoji="1" lang="en-US" altLang="ja-JP">
                <a:latin typeface="Meiryo" panose="020B0604030504040204" pitchFamily="50" charset="-128"/>
              </a:rPr>
              <a:t>C=1</a:t>
            </a:r>
            <a:r>
              <a:rPr kumimoji="1" lang="ja-JP" altLang="en-US">
                <a:latin typeface="Meiryo" panose="020B0604030504040204" pitchFamily="50" charset="-128"/>
              </a:rPr>
              <a:t>の</a:t>
            </a:r>
            <a:r>
              <a:rPr kumimoji="1" lang="en-US" altLang="ja-JP">
                <a:latin typeface="Meiryo" panose="020B0604030504040204" pitchFamily="50" charset="-128"/>
              </a:rPr>
              <a:t>(a)</a:t>
            </a:r>
            <a:r>
              <a:rPr kumimoji="1" lang="ja-JP" altLang="en-US">
                <a:latin typeface="Meiryo" panose="020B0604030504040204" pitchFamily="50" charset="-128"/>
              </a:rPr>
              <a:t>とは異なる。</a:t>
            </a:r>
            <a:r>
              <a:rPr kumimoji="1" lang="en-US" altLang="ja-JP">
                <a:latin typeface="Meiryo" panose="020B0604030504040204" pitchFamily="50" charset="-128"/>
              </a:rPr>
              <a:t>Fig.S1(d)</a:t>
            </a:r>
            <a:r>
              <a:rPr kumimoji="1" lang="ja-JP" altLang="en-US">
                <a:latin typeface="Meiryo" panose="020B0604030504040204" pitchFamily="50" charset="-128"/>
              </a:rPr>
              <a:t>は推定値と前後のサイズ依存を比較する一続きの確認図で、独立した別手法ではない。黒四角</a:t>
            </a:r>
            <a:r>
              <a:rPr kumimoji="1" lang="en-US" altLang="ja-JP">
                <a:latin typeface="Meiryo" panose="020B0604030504040204" pitchFamily="50" charset="-128"/>
              </a:rPr>
              <a:t>p=.646</a:t>
            </a:r>
            <a:r>
              <a:rPr kumimoji="1" lang="ja-JP" altLang="en-US">
                <a:latin typeface="Meiryo" panose="020B0604030504040204" pitchFamily="50" charset="-128"/>
              </a:rPr>
              <a:t>、紫丸</a:t>
            </a:r>
            <a:r>
              <a:rPr kumimoji="1" lang="en-US" altLang="ja-JP">
                <a:latin typeface="Meiryo" panose="020B0604030504040204" pitchFamily="50" charset="-128"/>
              </a:rPr>
              <a:t>p=.636</a:t>
            </a:r>
            <a:r>
              <a:rPr kumimoji="1" lang="ja-JP" altLang="en-US">
                <a:latin typeface="Meiryo" panose="020B0604030504040204" pitchFamily="50" charset="-128"/>
              </a:rPr>
              <a:t>、赤三角</a:t>
            </a:r>
            <a:r>
              <a:rPr kumimoji="1" lang="en-US" altLang="ja-JP">
                <a:latin typeface="Meiryo" panose="020B0604030504040204" pitchFamily="50" charset="-128"/>
              </a:rPr>
              <a:t>p=.656</a:t>
            </a:r>
            <a:r>
              <a:rPr kumimoji="1" lang="ja-JP" altLang="en-US">
                <a:latin typeface="Meiryo" panose="020B0604030504040204" pitchFamily="50" charset="-128"/>
              </a:rPr>
              <a:t>、</a:t>
            </a:r>
            <a:r>
              <a:rPr kumimoji="1" lang="en-US" altLang="ja-JP">
                <a:latin typeface="Meiryo" panose="020B0604030504040204" pitchFamily="50" charset="-128"/>
              </a:rPr>
              <a:t>Δ=.01</a:t>
            </a:r>
            <a:r>
              <a:rPr kumimoji="1" lang="ja-JP" altLang="en-US">
                <a:latin typeface="Meiryo" panose="020B0604030504040204" pitchFamily="50" charset="-128"/>
              </a:rPr>
              <a:t>。元の軸、点、線、色、マーカーを変更しない。</a:t>
            </a:r>
            <a:r>
              <a:rPr kumimoji="1" lang="en-US" altLang="ja-JP">
                <a:latin typeface="Meiryo" panose="020B0604030504040204" pitchFamily="50" charset="-128"/>
              </a:rPr>
              <a:t>IV.B</a:t>
            </a:r>
            <a:r>
              <a:rPr kumimoji="1" lang="ja-JP" altLang="en-US">
                <a:latin typeface="Meiryo" panose="020B0604030504040204" pitchFamily="50" charset="-128"/>
              </a:rPr>
              <a:t>では制限なしの固定</a:t>
            </a:r>
            <a:r>
              <a:rPr kumimoji="1" lang="en-US" altLang="ja-JP">
                <a:latin typeface="Meiryo" panose="020B0604030504040204" pitchFamily="50" charset="-128"/>
              </a:rPr>
              <a:t>p_c</a:t>
            </a:r>
            <a:r>
              <a:rPr kumimoji="1" lang="ja-JP" altLang="en-US">
                <a:latin typeface="Meiryo" panose="020B0604030504040204" pitchFamily="50" charset="-128"/>
              </a:rPr>
              <a:t>で得た臨界指数が強い有限サイズ効果を受ける一方、</a:t>
            </a:r>
            <a:r>
              <a:rPr kumimoji="1" lang="en-US" altLang="ja-JP">
                <a:latin typeface="Meiryo" panose="020B0604030504040204" pitchFamily="50" charset="-128"/>
              </a:rPr>
              <a:t>p_c</a:t>
            </a:r>
            <a:r>
              <a:rPr kumimoji="1" lang="ja-JP" altLang="en-US">
                <a:latin typeface="Meiryo" panose="020B0604030504040204" pitchFamily="50" charset="-128"/>
              </a:rPr>
              <a:t>の推定はその影響を受けないと著者が評価する。これは著者の数値解析上の評価であり、有限サイズ効果が一切ないとの数学的証明ではない。原則として板書はせず図を指す。</a:t>
            </a:r>
            <a:r>
              <a:rPr kumimoji="1" lang="en-US" altLang="ja-JP">
                <a:latin typeface="Meiryo" panose="020B0604030504040204" pitchFamily="50" charset="-128"/>
              </a:rPr>
              <a:t>ER</a:t>
            </a:r>
            <a:r>
              <a:rPr kumimoji="1" lang="ja-JP" altLang="en-US">
                <a:latin typeface="Meiryo" panose="020B0604030504040204" pitchFamily="50" charset="-128"/>
              </a:rPr>
              <a:t>の結果を本研究の</a:t>
            </a:r>
            <a:r>
              <a:rPr kumimoji="1" lang="en-US" altLang="ja-JP">
                <a:latin typeface="Meiryo" panose="020B0604030504040204" pitchFamily="50" charset="-128"/>
              </a:rPr>
              <a:t>2D</a:t>
            </a:r>
            <a:r>
              <a:rPr kumimoji="1" lang="ja-JP" altLang="en-US">
                <a:latin typeface="Meiryo" panose="020B0604030504040204" pitchFamily="50" charset="-128"/>
              </a:rPr>
              <a:t>格子の測定値として説明しない。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19</a:t>
            </a:fld>
            <a:endParaRPr kumimoji="1" lang="ja-JP" altLang="en-US"/>
          </a:p>
        </p:txBody>
      </p:sp>
    </p:spTree>
    <p:extLst>
      <p:ext uri="{BB962C8B-B14F-4D97-AF65-F5344CB8AC3E}">
        <p14:creationId xmlns:p14="http://schemas.microsoft.com/office/powerpoint/2010/main" val="6210184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a:t>
            </a:r>
            <a:r>
              <a:rPr kumimoji="1" lang="ja-JP" altLang="en-US">
                <a:latin typeface="Meiryo" panose="020B0604030504040204" pitchFamily="50" charset="-128"/>
              </a:rPr>
              <a:t>原図</a:t>
            </a:r>
            <a:r>
              <a:rPr kumimoji="1" lang="en-US" altLang="ja-JP">
                <a:latin typeface="Meiryo" panose="020B0604030504040204" pitchFamily="50" charset="-128"/>
              </a:rPr>
              <a:t>Fig.S2(a)</a:t>
            </a:r>
            <a:r>
              <a:rPr kumimoji="1" lang="ja-JP" altLang="en-US">
                <a:latin typeface="Meiryo" panose="020B0604030504040204" pitchFamily="50" charset="-128"/>
              </a:rPr>
              <a:t>は</a:t>
            </a:r>
            <a:r>
              <a:rPr kumimoji="1" lang="en-US" altLang="ja-JP">
                <a:latin typeface="Meiryo" panose="020B0604030504040204" pitchFamily="50" charset="-128"/>
              </a:rPr>
              <a:t>p_c</a:t>
            </a:r>
            <a:r>
              <a:rPr kumimoji="1" lang="ja-JP" altLang="en-US">
                <a:latin typeface="Meiryo" panose="020B0604030504040204" pitchFamily="50" charset="-128"/>
              </a:rPr>
              <a:t>と</a:t>
            </a:r>
            <a:r>
              <a:rPr kumimoji="1" lang="en-US" altLang="ja-JP">
                <a:latin typeface="Meiryo" panose="020B0604030504040204" pitchFamily="50" charset="-128"/>
              </a:rPr>
              <a:t>p_c(N)</a:t>
            </a:r>
            <a:r>
              <a:rPr kumimoji="1" lang="ja-JP" altLang="en-US">
                <a:latin typeface="Meiryo" panose="020B0604030504040204" pitchFamily="50" charset="-128"/>
              </a:rPr>
              <a:t>のずれの大きさを</a:t>
            </a:r>
            <a:r>
              <a:rPr kumimoji="1" lang="en-US" altLang="ja-JP">
                <a:latin typeface="Meiryo" panose="020B0604030504040204" pitchFamily="50" charset="-128"/>
              </a:rPr>
              <a:t>N</a:t>
            </a:r>
            <a:r>
              <a:rPr kumimoji="1" lang="ja-JP" altLang="en-US">
                <a:latin typeface="Meiryo" panose="020B0604030504040204" pitchFamily="50" charset="-128"/>
              </a:rPr>
              <a:t>に対して示す両対数図。</a:t>
            </a:r>
            <a:r>
              <a:rPr kumimoji="1" lang="en-US" altLang="ja-JP">
                <a:latin typeface="Meiryo" panose="020B0604030504040204" pitchFamily="50" charset="-128"/>
              </a:rPr>
              <a:t>S9</a:t>
            </a:r>
            <a:r>
              <a:rPr kumimoji="1" lang="ja-JP" altLang="en-US">
                <a:latin typeface="Meiryo" panose="020B0604030504040204" pitchFamily="50" charset="-128"/>
              </a:rPr>
              <a:t>の</a:t>
            </a:r>
            <a:r>
              <a:rPr kumimoji="1" lang="en-US" altLang="ja-JP">
                <a:latin typeface="Meiryo" panose="020B0604030504040204" pitchFamily="50" charset="-128"/>
              </a:rPr>
              <a:t>p_c=p_c(N)+bN^{-1/ν̄}</a:t>
            </a:r>
            <a:r>
              <a:rPr kumimoji="1" lang="ja-JP" altLang="en-US">
                <a:latin typeface="Meiryo" panose="020B0604030504040204" pitchFamily="50" charset="-128"/>
              </a:rPr>
              <a:t>を用いてシフト指数</a:t>
            </a:r>
            <a:r>
              <a:rPr kumimoji="1" lang="en-US" altLang="ja-JP">
                <a:latin typeface="Meiryo" panose="020B0604030504040204" pitchFamily="50" charset="-128"/>
              </a:rPr>
              <a:t>1/ν̄</a:t>
            </a:r>
            <a:r>
              <a:rPr kumimoji="1" lang="ja-JP" altLang="en-US">
                <a:latin typeface="Meiryo" panose="020B0604030504040204" pitchFamily="50" charset="-128"/>
              </a:rPr>
              <a:t>を推定する。点は平均</a:t>
            </a:r>
            <a:r>
              <a:rPr kumimoji="1" lang="en-US" altLang="ja-JP">
                <a:latin typeface="Meiryo" panose="020B0604030504040204" pitchFamily="50" charset="-128"/>
              </a:rPr>
              <a:t>S</a:t>
            </a:r>
            <a:r>
              <a:rPr kumimoji="1" lang="ja-JP" altLang="en-US">
                <a:latin typeface="Meiryo" panose="020B0604030504040204" pitchFamily="50" charset="-128"/>
              </a:rPr>
              <a:t>曲線から定めた</a:t>
            </a:r>
            <a:r>
              <a:rPr kumimoji="1" lang="en-US" altLang="ja-JP">
                <a:latin typeface="Meiryo" panose="020B0604030504040204" pitchFamily="50" charset="-128"/>
              </a:rPr>
              <a:t>p_c(N)</a:t>
            </a:r>
            <a:r>
              <a:rPr kumimoji="1" lang="ja-JP" altLang="en-US">
                <a:latin typeface="Meiryo" panose="020B0604030504040204" pitchFamily="50" charset="-128"/>
              </a:rPr>
              <a:t>に基づく結果、線は対数変換したデータへの回帰、誤差棒は混雑回避のため原図で省略されている。</a:t>
            </a:r>
            <a:r>
              <a:rPr kumimoji="1" lang="en-US" altLang="ja-JP">
                <a:latin typeface="Meiryo" panose="020B0604030504040204" pitchFamily="50" charset="-128"/>
              </a:rPr>
              <a:t>【</a:t>
            </a:r>
            <a:r>
              <a:rPr kumimoji="1" lang="ja-JP" altLang="en-US">
                <a:latin typeface="Meiryo" panose="020B0604030504040204" pitchFamily="50" charset="-128"/>
              </a:rPr>
              <a:t>説明用の数学的補足</a:t>
            </a:r>
            <a:r>
              <a:rPr kumimoji="1" lang="en-US" altLang="ja-JP">
                <a:latin typeface="Meiryo" panose="020B0604030504040204" pitchFamily="50" charset="-128"/>
              </a:rPr>
              <a:t>】p_c-p_c(N)=bN^{-1/ν̄}</a:t>
            </a:r>
            <a:r>
              <a:rPr kumimoji="1" lang="ja-JP" altLang="en-US">
                <a:latin typeface="Meiryo" panose="020B0604030504040204" pitchFamily="50" charset="-128"/>
              </a:rPr>
              <a:t>から</a:t>
            </a:r>
            <a:r>
              <a:rPr kumimoji="1" lang="en-US" altLang="ja-JP">
                <a:latin typeface="Meiryo" panose="020B0604030504040204" pitchFamily="50" charset="-128"/>
              </a:rPr>
              <a:t>|p_c-p_c(N)|=|b|N^{-1/ν̄}</a:t>
            </a:r>
            <a:r>
              <a:rPr kumimoji="1" lang="ja-JP" altLang="en-US">
                <a:latin typeface="Meiryo" panose="020B0604030504040204" pitchFamily="50" charset="-128"/>
              </a:rPr>
              <a:t>を得る。絶対値の式は</a:t>
            </a:r>
            <a:r>
              <a:rPr kumimoji="1" lang="en-US" altLang="ja-JP">
                <a:latin typeface="Meiryo" panose="020B0604030504040204" pitchFamily="50" charset="-128"/>
              </a:rPr>
              <a:t>S9</a:t>
            </a:r>
            <a:r>
              <a:rPr kumimoji="1" lang="ja-JP" altLang="en-US">
                <a:latin typeface="Meiryo" panose="020B0604030504040204" pitchFamily="50" charset="-128"/>
              </a:rPr>
              <a:t>からの変形であり、独立の原論文の式番号を付けない。</a:t>
            </a:r>
            <a:r>
              <a:rPr kumimoji="1" lang="en-US" altLang="ja-JP">
                <a:latin typeface="Meiryo" panose="020B0604030504040204" pitchFamily="50" charset="-128"/>
              </a:rPr>
              <a:t>b≠0</a:t>
            </a:r>
            <a:r>
              <a:rPr kumimoji="1" lang="ja-JP" altLang="en-US">
                <a:latin typeface="Meiryo" panose="020B0604030504040204" pitchFamily="50" charset="-128"/>
              </a:rPr>
              <a:t>かつ対数を取る縦軸値が正であることを前提とする。絶対値から</a:t>
            </a:r>
            <a:r>
              <a:rPr kumimoji="1" lang="en-US" altLang="ja-JP">
                <a:latin typeface="Meiryo" panose="020B0604030504040204" pitchFamily="50" charset="-128"/>
              </a:rPr>
              <a:t>b</a:t>
            </a:r>
            <a:r>
              <a:rPr kumimoji="1" lang="ja-JP" altLang="en-US">
                <a:latin typeface="Meiryo" panose="020B0604030504040204" pitchFamily="50" charset="-128"/>
              </a:rPr>
              <a:t>の符号は分からない。原図の表示倍率</a:t>
            </a:r>
            <a:r>
              <a:rPr kumimoji="1" lang="en-US" altLang="ja-JP">
                <a:latin typeface="Meiryo" panose="020B0604030504040204" pitchFamily="50" charset="-128"/>
              </a:rPr>
              <a:t>10^X</a:t>
            </a:r>
            <a:r>
              <a:rPr kumimoji="1" lang="ja-JP" altLang="en-US">
                <a:latin typeface="Meiryo" panose="020B0604030504040204" pitchFamily="50" charset="-128"/>
              </a:rPr>
              <a:t>の説明は板書へ移す。各</a:t>
            </a:r>
            <a:r>
              <a:rPr kumimoji="1" lang="en-US" altLang="ja-JP">
                <a:latin typeface="Meiryo" panose="020B0604030504040204" pitchFamily="50" charset="-128"/>
              </a:rPr>
              <a:t>C</a:t>
            </a:r>
            <a:r>
              <a:rPr kumimoji="1" lang="ja-JP" altLang="en-US">
                <a:latin typeface="Meiryo" panose="020B0604030504040204" pitchFamily="50" charset="-128"/>
              </a:rPr>
              <a:t>系列内で</a:t>
            </a:r>
            <a:r>
              <a:rPr kumimoji="1" lang="en-US" altLang="ja-JP">
                <a:latin typeface="Meiryo" panose="020B0604030504040204" pitchFamily="50" charset="-128"/>
              </a:rPr>
              <a:t>X</a:t>
            </a:r>
            <a:r>
              <a:rPr kumimoji="1" lang="ja-JP" altLang="en-US">
                <a:latin typeface="Meiryo" panose="020B0604030504040204" pitchFamily="50" charset="-128"/>
              </a:rPr>
              <a:t>は固定し、</a:t>
            </a:r>
            <a:r>
              <a:rPr kumimoji="1" lang="en-US" altLang="ja-JP">
                <a:latin typeface="Meiryo" panose="020B0604030504040204" pitchFamily="50" charset="-128"/>
              </a:rPr>
              <a:t>C=1,2,3,N</a:t>
            </a:r>
            <a:r>
              <a:rPr kumimoji="1" lang="ja-JP" altLang="en-US">
                <a:latin typeface="Meiryo" panose="020B0604030504040204" pitchFamily="50" charset="-128"/>
              </a:rPr>
              <a:t>（原図表示∞）に</a:t>
            </a:r>
            <a:r>
              <a:rPr kumimoji="1" lang="en-US" altLang="ja-JP">
                <a:latin typeface="Meiryo" panose="020B0604030504040204" pitchFamily="50" charset="-128"/>
              </a:rPr>
              <a:t>X=0,1,2,3</a:t>
            </a:r>
            <a:r>
              <a:rPr kumimoji="1" lang="ja-JP" altLang="en-US">
                <a:latin typeface="Meiryo" panose="020B0604030504040204" pitchFamily="50" charset="-128"/>
              </a:rPr>
              <a:t>を用い、それぞれ</a:t>
            </a:r>
            <a:r>
              <a:rPr kumimoji="1" lang="en-US" altLang="ja-JP">
                <a:latin typeface="Meiryo" panose="020B0604030504040204" pitchFamily="50" charset="-128"/>
              </a:rPr>
              <a:t>1,10,100,1000</a:t>
            </a:r>
            <a:r>
              <a:rPr kumimoji="1" lang="ja-JP" altLang="en-US">
                <a:latin typeface="Meiryo" panose="020B0604030504040204" pitchFamily="50" charset="-128"/>
              </a:rPr>
              <a:t>で割る。ここでの</a:t>
            </a:r>
            <a:r>
              <a:rPr kumimoji="1" lang="en-US" altLang="ja-JP">
                <a:latin typeface="Meiryo" panose="020B0604030504040204" pitchFamily="50" charset="-128"/>
              </a:rPr>
              <a:t>X</a:t>
            </a:r>
            <a:r>
              <a:rPr kumimoji="1" lang="ja-JP" altLang="en-US">
                <a:latin typeface="Meiryo" panose="020B0604030504040204" pitchFamily="50" charset="-128"/>
              </a:rPr>
              <a:t>はスライド</a:t>
            </a:r>
            <a:r>
              <a:rPr kumimoji="1" lang="en-US" altLang="ja-JP">
                <a:latin typeface="Meiryo" panose="020B0604030504040204" pitchFamily="50" charset="-128"/>
              </a:rPr>
              <a:t>10</a:t>
            </a:r>
            <a:r>
              <a:rPr kumimoji="1" lang="ja-JP" altLang="en-US">
                <a:latin typeface="Meiryo" panose="020B0604030504040204" pitchFamily="50" charset="-128"/>
              </a:rPr>
              <a:t>の対数変数</a:t>
            </a:r>
            <a:r>
              <a:rPr kumimoji="1" lang="en-US" altLang="ja-JP">
                <a:latin typeface="Meiryo" panose="020B0604030504040204" pitchFamily="50" charset="-128"/>
              </a:rPr>
              <a:t>X</a:t>
            </a:r>
            <a:r>
              <a:rPr kumimoji="1" lang="ja-JP" altLang="en-US">
                <a:latin typeface="Meiryo" panose="020B0604030504040204" pitchFamily="50" charset="-128"/>
              </a:rPr>
              <a:t>とは別記号。</a:t>
            </a:r>
            <a:r>
              <a:rPr kumimoji="1" lang="en-US" altLang="ja-JP">
                <a:latin typeface="Meiryo" panose="020B0604030504040204" pitchFamily="50" charset="-128"/>
              </a:rPr>
              <a:t>Y(N)=AN^α</a:t>
            </a:r>
            <a:r>
              <a:rPr kumimoji="1" lang="ja-JP" altLang="en-US">
                <a:latin typeface="Meiryo" panose="020B0604030504040204" pitchFamily="50" charset="-128"/>
              </a:rPr>
              <a:t>なら</a:t>
            </a:r>
            <a:r>
              <a:rPr kumimoji="1" lang="en-US" altLang="ja-JP">
                <a:latin typeface="Meiryo" panose="020B0604030504040204" pitchFamily="50" charset="-128"/>
              </a:rPr>
              <a:t>log[Y(N)/10^X]=log[AN^α/10^X]=αlogN+logA−Xlog10</a:t>
            </a:r>
            <a:r>
              <a:rPr kumimoji="1" lang="ja-JP" altLang="en-US">
                <a:latin typeface="Meiryo" panose="020B0604030504040204" pitchFamily="50" charset="-128"/>
              </a:rPr>
              <a:t>。固定</a:t>
            </a:r>
            <a:r>
              <a:rPr kumimoji="1" lang="en-US" altLang="ja-JP">
                <a:latin typeface="Meiryo" panose="020B0604030504040204" pitchFamily="50" charset="-128"/>
              </a:rPr>
              <a:t>X</a:t>
            </a:r>
            <a:r>
              <a:rPr kumimoji="1" lang="ja-JP" altLang="en-US">
                <a:latin typeface="Meiryo" panose="020B0604030504040204" pitchFamily="50" charset="-128"/>
              </a:rPr>
              <a:t>による表示倍率は切片だけを変え、</a:t>
            </a:r>
            <a:r>
              <a:rPr kumimoji="1" lang="en-US" altLang="ja-JP">
                <a:latin typeface="Meiryo" panose="020B0604030504040204" pitchFamily="50" charset="-128"/>
              </a:rPr>
              <a:t>N</a:t>
            </a:r>
            <a:r>
              <a:rPr kumimoji="1" lang="ja-JP" altLang="en-US">
                <a:latin typeface="Meiryo" panose="020B0604030504040204" pitchFamily="50" charset="-128"/>
              </a:rPr>
              <a:t>に対する傾き</a:t>
            </a:r>
            <a:r>
              <a:rPr kumimoji="1" lang="en-US" altLang="ja-JP">
                <a:latin typeface="Meiryo" panose="020B0604030504040204" pitchFamily="50" charset="-128"/>
              </a:rPr>
              <a:t>α</a:t>
            </a:r>
            <a:r>
              <a:rPr kumimoji="1" lang="ja-JP" altLang="en-US">
                <a:latin typeface="Meiryo" panose="020B0604030504040204" pitchFamily="50" charset="-128"/>
              </a:rPr>
              <a:t>を変えない。この図では</a:t>
            </a:r>
            <a:r>
              <a:rPr kumimoji="1" lang="en-US" altLang="ja-JP">
                <a:latin typeface="Meiryo" panose="020B0604030504040204" pitchFamily="50" charset="-128"/>
              </a:rPr>
              <a:t>α=−1/ν̄</a:t>
            </a:r>
            <a:r>
              <a:rPr kumimoji="1" lang="ja-JP" altLang="en-US">
                <a:latin typeface="Meiryo" panose="020B0604030504040204" pitchFamily="50" charset="-128"/>
              </a:rPr>
              <a:t>。</a:t>
            </a:r>
            <a:r>
              <a:rPr kumimoji="1" lang="en-US" altLang="ja-JP">
                <a:latin typeface="Meiryo" panose="020B0604030504040204" pitchFamily="50" charset="-128"/>
              </a:rPr>
              <a:t>SPP</a:t>
            </a:r>
            <a:r>
              <a:rPr kumimoji="1" lang="ja-JP" altLang="en-US">
                <a:latin typeface="Meiryo" panose="020B0604030504040204" pitchFamily="50" charset="-128"/>
              </a:rPr>
              <a:t>の操作からの厳密な証明ではなく、</a:t>
            </a:r>
            <a:r>
              <a:rPr kumimoji="1" lang="en-US" altLang="ja-JP">
                <a:latin typeface="Meiryo" panose="020B0604030504040204" pitchFamily="50" charset="-128"/>
              </a:rPr>
              <a:t>FSS</a:t>
            </a:r>
            <a:r>
              <a:rPr kumimoji="1" lang="ja-JP" altLang="en-US">
                <a:latin typeface="Meiryo" panose="020B0604030504040204" pitchFamily="50" charset="-128"/>
              </a:rPr>
              <a:t>と一般的な代数に基づく説明である。</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20</a:t>
            </a:fld>
            <a:endParaRPr kumimoji="1" lang="ja-JP" altLang="en-US"/>
          </a:p>
        </p:txBody>
      </p:sp>
    </p:spTree>
    <p:extLst>
      <p:ext uri="{BB962C8B-B14F-4D97-AF65-F5344CB8AC3E}">
        <p14:creationId xmlns:p14="http://schemas.microsoft.com/office/powerpoint/2010/main" val="2031390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b</a:t>
            </a:r>
            <a:r>
              <a:rPr kumimoji="1" lang="ja-JP" altLang="en-US">
                <a:latin typeface="Meiryo" panose="020B0604030504040204" pitchFamily="50" charset="-128"/>
              </a:rPr>
              <a:t>固定</a:t>
            </a:r>
            <a:r>
              <a:rPr kumimoji="1" lang="en-US" altLang="ja-JP">
                <a:latin typeface="Meiryo" panose="020B0604030504040204" pitchFamily="50" charset="-128"/>
              </a:rPr>
              <a:t>p_c</a:t>
            </a:r>
            <a:r>
              <a:rPr kumimoji="1" lang="ja-JP" altLang="en-US">
                <a:latin typeface="Meiryo" panose="020B0604030504040204" pitchFamily="50" charset="-128"/>
              </a:rPr>
              <a:t>の平均</a:t>
            </a:r>
            <a:r>
              <a:rPr kumimoji="1" lang="en-US" altLang="ja-JP">
                <a:latin typeface="Meiryo" panose="020B0604030504040204" pitchFamily="50" charset="-128"/>
              </a:rPr>
              <a:t>P</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固定</a:t>
            </a:r>
            <a:r>
              <a:rPr kumimoji="1" lang="en-US" altLang="ja-JP">
                <a:latin typeface="Meiryo" panose="020B0604030504040204" pitchFamily="50" charset="-128"/>
              </a:rPr>
              <a:t>p_c</a:t>
            </a:r>
            <a:r>
              <a:rPr kumimoji="1" lang="ja-JP" altLang="en-US">
                <a:latin typeface="Meiryo" panose="020B0604030504040204" pitchFamily="50" charset="-128"/>
              </a:rPr>
              <a:t>の平均</a:t>
            </a:r>
            <a:r>
              <a:rPr kumimoji="1" lang="en-US" altLang="ja-JP">
                <a:latin typeface="Meiryo" panose="020B0604030504040204" pitchFamily="50" charset="-128"/>
              </a:rPr>
              <a:t>S</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のべき則は</a:t>
            </a:r>
            <a:r>
              <a:rPr kumimoji="1" lang="en-US" altLang="ja-JP">
                <a:latin typeface="Meiryo" panose="020B0604030504040204" pitchFamily="50" charset="-128"/>
              </a:rPr>
              <a:t>S7</a:t>
            </a:r>
            <a:r>
              <a:rPr kumimoji="1" lang="ja-JP" altLang="en-US">
                <a:latin typeface="Meiryo" panose="020B0604030504040204" pitchFamily="50" charset="-128"/>
              </a:rPr>
              <a:t>に</a:t>
            </a:r>
            <a:r>
              <a:rPr kumimoji="1" lang="en-US" altLang="ja-JP">
                <a:latin typeface="Meiryo" panose="020B0604030504040204" pitchFamily="50" charset="-128"/>
              </a:rPr>
              <a:t>p_c</a:t>
            </a:r>
            <a:r>
              <a:rPr kumimoji="1" lang="ja-JP" altLang="en-US">
                <a:latin typeface="Meiryo" panose="020B0604030504040204" pitchFamily="50" charset="-128"/>
              </a:rPr>
              <a:t>を代入した対応で、</a:t>
            </a:r>
            <a:r>
              <a:rPr kumimoji="1" lang="en-US" altLang="ja-JP">
                <a:latin typeface="Meiryo" panose="020B0604030504040204" pitchFamily="50" charset="-128"/>
              </a:rPr>
              <a:t>S12</a:t>
            </a:r>
            <a:r>
              <a:rPr kumimoji="1" lang="ja-JP" altLang="en-US">
                <a:latin typeface="Meiryo" panose="020B0604030504040204" pitchFamily="50" charset="-128"/>
              </a:rPr>
              <a:t>ではない。</a:t>
            </a:r>
            <a:r>
              <a:rPr kumimoji="1" lang="en-US" altLang="ja-JP">
                <a:latin typeface="Meiryo" panose="020B0604030504040204" pitchFamily="50" charset="-128"/>
              </a:rPr>
              <a:t>S12</a:t>
            </a:r>
            <a:r>
              <a:rPr kumimoji="1" lang="ja-JP" altLang="en-US">
                <a:latin typeface="Meiryo" panose="020B0604030504040204" pitchFamily="50" charset="-128"/>
              </a:rPr>
              <a:t>はピーク位置の</a:t>
            </a:r>
            <a:r>
              <a:rPr kumimoji="1" lang="en-US" altLang="ja-JP">
                <a:latin typeface="Meiryo" panose="020B0604030504040204" pitchFamily="50" charset="-128"/>
              </a:rPr>
              <a:t>S</a:t>
            </a:r>
            <a:r>
              <a:rPr kumimoji="1" lang="ja-JP" altLang="en-US">
                <a:latin typeface="Meiryo" panose="020B0604030504040204" pitchFamily="50" charset="-128"/>
              </a:rPr>
              <a:t>なので区別。両対数</a:t>
            </a:r>
            <a:r>
              <a:rPr kumimoji="1" lang="en-US" altLang="ja-JP">
                <a:latin typeface="Meiryo" panose="020B0604030504040204" pitchFamily="50" charset="-128"/>
              </a:rPr>
              <a:t>N</a:t>
            </a:r>
            <a:r>
              <a:rPr kumimoji="1" lang="ja-JP" altLang="en-US">
                <a:latin typeface="Meiryo" panose="020B0604030504040204" pitchFamily="50" charset="-128"/>
              </a:rPr>
              <a:t>対平均観測量</a:t>
            </a:r>
            <a:r>
              <a:rPr kumimoji="1" lang="en-US" altLang="ja-JP">
                <a:latin typeface="Meiryo" panose="020B0604030504040204" pitchFamily="50" charset="-128"/>
              </a:rPr>
              <a:t>/10^X</a:t>
            </a:r>
            <a:r>
              <a:rPr kumimoji="1" lang="ja-JP" altLang="en-US">
                <a:latin typeface="Meiryo" panose="020B0604030504040204" pitchFamily="50" charset="-128"/>
              </a:rPr>
              <a:t>。制限なしの固定</a:t>
            </a:r>
            <a:r>
              <a:rPr kumimoji="1" lang="en-US" altLang="ja-JP">
                <a:latin typeface="Meiryo" panose="020B0604030504040204" pitchFamily="50" charset="-128"/>
              </a:rPr>
              <a:t>p_c</a:t>
            </a:r>
            <a:r>
              <a:rPr kumimoji="1" lang="ja-JP" altLang="en-US">
                <a:latin typeface="Meiryo" panose="020B0604030504040204" pitchFamily="50" charset="-128"/>
              </a:rPr>
              <a:t>指数には強い有限サイズ効果があると著者が説明。図を実測</a:t>
            </a:r>
            <a:r>
              <a:rPr kumimoji="1" lang="en-US" altLang="ja-JP">
                <a:latin typeface="Meiryo" panose="020B0604030504040204" pitchFamily="50" charset="-128"/>
              </a:rPr>
              <a:t>2D</a:t>
            </a:r>
            <a:r>
              <a:rPr kumimoji="1" lang="ja-JP" altLang="en-US">
                <a:latin typeface="Meiryo" panose="020B0604030504040204" pitchFamily="50" charset="-128"/>
              </a:rPr>
              <a:t>格子と呼ばない。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21</a:t>
            </a:fld>
            <a:endParaRPr kumimoji="1" lang="ja-JP" altLang="en-US"/>
          </a:p>
        </p:txBody>
      </p:sp>
    </p:spTree>
    <p:extLst>
      <p:ext uri="{BB962C8B-B14F-4D97-AF65-F5344CB8AC3E}">
        <p14:creationId xmlns:p14="http://schemas.microsoft.com/office/powerpoint/2010/main" val="6087177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d/e</a:t>
            </a:r>
            <a:r>
              <a:rPr kumimoji="1" lang="ja-JP" altLang="en-US">
                <a:latin typeface="Meiryo" panose="020B0604030504040204" pitchFamily="50" charset="-128"/>
              </a:rPr>
              <a:t>の</a:t>
            </a:r>
            <a:r>
              <a:rPr kumimoji="1" lang="en-US" altLang="ja-JP">
                <a:latin typeface="Meiryo" panose="020B0604030504040204" pitchFamily="50" charset="-128"/>
              </a:rPr>
              <a:t>Pc/Sc</a:t>
            </a:r>
            <a:r>
              <a:rPr kumimoji="1" lang="ja-JP" altLang="en-US">
                <a:latin typeface="Meiryo" panose="020B0604030504040204" pitchFamily="50" charset="-128"/>
              </a:rPr>
              <a:t>は平均</a:t>
            </a:r>
            <a:r>
              <a:rPr kumimoji="1" lang="en-US" altLang="ja-JP">
                <a:latin typeface="Meiryo" panose="020B0604030504040204" pitchFamily="50" charset="-128"/>
              </a:rPr>
              <a:t>S</a:t>
            </a:r>
            <a:r>
              <a:rPr kumimoji="1" lang="ja-JP" altLang="en-US">
                <a:latin typeface="Meiryo" panose="020B0604030504040204" pitchFamily="50" charset="-128"/>
              </a:rPr>
              <a:t>のピーク位置</a:t>
            </a:r>
            <a:r>
              <a:rPr kumimoji="1" lang="en-US" altLang="ja-JP">
                <a:latin typeface="Meiryo" panose="020B0604030504040204" pitchFamily="50" charset="-128"/>
              </a:rPr>
              <a:t>p_c(N)</a:t>
            </a:r>
            <a:r>
              <a:rPr kumimoji="1" lang="ja-JP" altLang="en-US">
                <a:latin typeface="Meiryo" panose="020B0604030504040204" pitchFamily="50" charset="-128"/>
              </a:rPr>
              <a:t>での平均。著者はこの方法が任意</a:t>
            </a:r>
            <a:r>
              <a:rPr kumimoji="1" lang="en-US" altLang="ja-JP">
                <a:latin typeface="Meiryo" panose="020B0604030504040204" pitchFamily="50" charset="-128"/>
              </a:rPr>
              <a:t>C</a:t>
            </a:r>
            <a:r>
              <a:rPr kumimoji="1" lang="ja-JP" altLang="en-US">
                <a:latin typeface="Meiryo" panose="020B0604030504040204" pitchFamily="50" charset="-128"/>
              </a:rPr>
              <a:t>で適切な指数推定を与えると述べるが、数学的保証とは説明しない。固定</a:t>
            </a:r>
            <a:r>
              <a:rPr kumimoji="1" lang="en-US" altLang="ja-JP">
                <a:latin typeface="Meiryo" panose="020B0604030504040204" pitchFamily="50" charset="-128"/>
              </a:rPr>
              <a:t>p_c</a:t>
            </a:r>
            <a:r>
              <a:rPr kumimoji="1" lang="ja-JP" altLang="en-US">
                <a:latin typeface="Meiryo" panose="020B0604030504040204" pitchFamily="50" charset="-128"/>
              </a:rPr>
              <a:t>とピーク位置の結果を比較し、評価位置の違いを保持。軸は両対数、表示倍率</a:t>
            </a:r>
            <a:r>
              <a:rPr kumimoji="1" lang="en-US" altLang="ja-JP">
                <a:latin typeface="Meiryo" panose="020B0604030504040204" pitchFamily="50" charset="-128"/>
              </a:rPr>
              <a:t>/10^X</a:t>
            </a:r>
            <a:r>
              <a:rPr kumimoji="1" lang="ja-JP" altLang="en-US">
                <a:latin typeface="Meiryo" panose="020B0604030504040204" pitchFamily="50" charset="-128"/>
              </a:rPr>
              <a:t>は原図どおり。</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22</a:t>
            </a:fld>
            <a:endParaRPr kumimoji="1" lang="ja-JP" altLang="en-US"/>
          </a:p>
        </p:txBody>
      </p:sp>
    </p:spTree>
    <p:extLst>
      <p:ext uri="{BB962C8B-B14F-4D97-AF65-F5344CB8AC3E}">
        <p14:creationId xmlns:p14="http://schemas.microsoft.com/office/powerpoint/2010/main" val="14331640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原表と読み方</a:t>
            </a:r>
            <a:r>
              <a:rPr kumimoji="1" lang="en-US" altLang="ja-JP">
                <a:latin typeface="Meiryo" panose="020B0604030504040204" pitchFamily="50" charset="-128"/>
              </a:rPr>
              <a:t>】Table S2</a:t>
            </a:r>
            <a:r>
              <a:rPr kumimoji="1" lang="ja-JP" altLang="en-US">
                <a:latin typeface="Meiryo" panose="020B0604030504040204" pitchFamily="50" charset="-128"/>
              </a:rPr>
              <a:t>は補足資料の第</a:t>
            </a:r>
            <a:r>
              <a:rPr kumimoji="1" lang="en-US" altLang="ja-JP">
                <a:latin typeface="Meiryo" panose="020B0604030504040204" pitchFamily="50" charset="-128"/>
              </a:rPr>
              <a:t>2</a:t>
            </a:r>
            <a:r>
              <a:rPr kumimoji="1" lang="ja-JP" altLang="en-US">
                <a:latin typeface="Meiryo" panose="020B0604030504040204" pitchFamily="50" charset="-128"/>
              </a:rPr>
              <a:t>表という番号であり、物理量や解析方法の名前ではない。全行・全列・見出し・数値・誤差を保った原</a:t>
            </a:r>
            <a:r>
              <a:rPr kumimoji="1" lang="en-US" altLang="ja-JP">
                <a:latin typeface="Meiryo" panose="020B0604030504040204" pitchFamily="50" charset="-128"/>
              </a:rPr>
              <a:t>PDF</a:t>
            </a:r>
            <a:r>
              <a:rPr kumimoji="1" lang="ja-JP" altLang="en-US">
                <a:latin typeface="Meiryo" panose="020B0604030504040204" pitchFamily="50" charset="-128"/>
              </a:rPr>
              <a:t>の直接</a:t>
            </a:r>
            <a:r>
              <a:rPr kumimoji="1" lang="en-US" altLang="ja-JP">
                <a:latin typeface="Meiryo" panose="020B0604030504040204" pitchFamily="50" charset="-128"/>
              </a:rPr>
              <a:t>crop</a:t>
            </a:r>
            <a:r>
              <a:rPr kumimoji="1" lang="ja-JP" altLang="en-US">
                <a:latin typeface="Meiryo" panose="020B0604030504040204" pitchFamily="50" charset="-128"/>
              </a:rPr>
              <a:t>を掲載し、表を手作業で作り直さない。</a:t>
            </a:r>
            <a:r>
              <a:rPr kumimoji="1" lang="en-US" altLang="ja-JP">
                <a:latin typeface="Meiryo" panose="020B0604030504040204" pitchFamily="50" charset="-128"/>
              </a:rPr>
              <a:t>ER</a:t>
            </a:r>
            <a:r>
              <a:rPr kumimoji="1" lang="ja-JP" altLang="en-US">
                <a:latin typeface="Meiryo" panose="020B0604030504040204" pitchFamily="50" charset="-128"/>
              </a:rPr>
              <a:t>ネットワークの</a:t>
            </a:r>
            <a:r>
              <a:rPr kumimoji="1" lang="en-US" altLang="ja-JP">
                <a:latin typeface="Meiryo" panose="020B0604030504040204" pitchFamily="50" charset="-128"/>
              </a:rPr>
              <a:t>conventional ensemble</a:t>
            </a:r>
            <a:r>
              <a:rPr kumimoji="1" lang="ja-JP" altLang="en-US">
                <a:latin typeface="Meiryo" panose="020B0604030504040204" pitchFamily="50" charset="-128"/>
              </a:rPr>
              <a:t>での</a:t>
            </a:r>
            <a:r>
              <a:rPr kumimoji="1" lang="en-US" altLang="ja-JP">
                <a:latin typeface="Meiryo" panose="020B0604030504040204" pitchFamily="50" charset="-128"/>
              </a:rPr>
              <a:t>FSS</a:t>
            </a:r>
            <a:r>
              <a:rPr kumimoji="1" lang="ja-JP" altLang="en-US">
                <a:latin typeface="Meiryo" panose="020B0604030504040204" pitchFamily="50" charset="-128"/>
              </a:rPr>
              <a:t>推定値。</a:t>
            </a:r>
            <a:r>
              <a:rPr kumimoji="1" lang="en-US" altLang="ja-JP">
                <a:latin typeface="Meiryo" panose="020B0604030504040204" pitchFamily="50" charset="-128"/>
              </a:rPr>
              <a:t>C</a:t>
            </a:r>
            <a:r>
              <a:rPr kumimoji="1" lang="ja-JP" altLang="en-US">
                <a:latin typeface="Meiryo" panose="020B0604030504040204" pitchFamily="50" charset="-128"/>
              </a:rPr>
              <a:t>は経路長上限、</a:t>
            </a:r>
            <a:r>
              <a:rPr kumimoji="1" lang="en-US" altLang="ja-JP">
                <a:latin typeface="Meiryo" panose="020B0604030504040204" pitchFamily="50" charset="-128"/>
              </a:rPr>
              <a:t>p_c</a:t>
            </a:r>
            <a:r>
              <a:rPr kumimoji="1" lang="ja-JP" altLang="en-US">
                <a:latin typeface="Meiryo" panose="020B0604030504040204" pitchFamily="50" charset="-128"/>
              </a:rPr>
              <a:t>は無限サイズ臨界点の推定、</a:t>
            </a:r>
            <a:r>
              <a:rPr kumimoji="1" lang="en-US" altLang="ja-JP">
                <a:latin typeface="Meiryo" panose="020B0604030504040204" pitchFamily="50" charset="-128"/>
              </a:rPr>
              <a:t>1/ν̄</a:t>
            </a:r>
            <a:r>
              <a:rPr kumimoji="1" lang="ja-JP" altLang="en-US">
                <a:latin typeface="Meiryo" panose="020B0604030504040204" pitchFamily="50" charset="-128"/>
              </a:rPr>
              <a:t>は疑似臨界点の有限サイズシフトの指数。</a:t>
            </a:r>
            <a:r>
              <a:rPr kumimoji="1" lang="en-US" altLang="ja-JP">
                <a:latin typeface="Meiryo" panose="020B0604030504040204" pitchFamily="50" charset="-128"/>
              </a:rPr>
              <a:t>critical</a:t>
            </a:r>
            <a:r>
              <a:rPr kumimoji="1" lang="ja-JP" altLang="en-US">
                <a:latin typeface="Meiryo" panose="020B0604030504040204" pitchFamily="50" charset="-128"/>
              </a:rPr>
              <a:t>は全サイズで共通の</a:t>
            </a:r>
            <a:r>
              <a:rPr kumimoji="1" lang="en-US" altLang="ja-JP">
                <a:latin typeface="Meiryo" panose="020B0604030504040204" pitchFamily="50" charset="-128"/>
              </a:rPr>
              <a:t>p_c</a:t>
            </a:r>
            <a:r>
              <a:rPr kumimoji="1" lang="ja-JP" altLang="en-US">
                <a:latin typeface="Meiryo" panose="020B0604030504040204" pitchFamily="50" charset="-128"/>
              </a:rPr>
              <a:t>を使用（</a:t>
            </a:r>
            <a:r>
              <a:rPr kumimoji="1" lang="en-US" altLang="ja-JP">
                <a:latin typeface="Meiryo" panose="020B0604030504040204" pitchFamily="50" charset="-128"/>
              </a:rPr>
              <a:t>21</a:t>
            </a:r>
            <a:r>
              <a:rPr kumimoji="1" lang="ja-JP" altLang="en-US">
                <a:latin typeface="Meiryo" panose="020B0604030504040204" pitchFamily="50" charset="-128"/>
              </a:rPr>
              <a:t>に対応）、</a:t>
            </a:r>
            <a:r>
              <a:rPr kumimoji="1" lang="en-US" altLang="ja-JP">
                <a:latin typeface="Meiryo" panose="020B0604030504040204" pitchFamily="50" charset="-128"/>
              </a:rPr>
              <a:t>pseudo-critical</a:t>
            </a:r>
            <a:r>
              <a:rPr kumimoji="1" lang="ja-JP" altLang="en-US">
                <a:latin typeface="Meiryo" panose="020B0604030504040204" pitchFamily="50" charset="-128"/>
              </a:rPr>
              <a:t>は平均</a:t>
            </a:r>
            <a:r>
              <a:rPr kumimoji="1" lang="en-US" altLang="ja-JP">
                <a:latin typeface="Meiryo" panose="020B0604030504040204" pitchFamily="50" charset="-128"/>
              </a:rPr>
              <a:t>S</a:t>
            </a:r>
            <a:r>
              <a:rPr kumimoji="1" lang="ja-JP" altLang="en-US">
                <a:latin typeface="Meiryo" panose="020B0604030504040204" pitchFamily="50" charset="-128"/>
              </a:rPr>
              <a:t>が最大となる</a:t>
            </a:r>
            <a:r>
              <a:rPr kumimoji="1" lang="en-US" altLang="ja-JP">
                <a:latin typeface="Meiryo" panose="020B0604030504040204" pitchFamily="50" charset="-128"/>
              </a:rPr>
              <a:t>N</a:t>
            </a:r>
            <a:r>
              <a:rPr kumimoji="1" lang="ja-JP" altLang="en-US">
                <a:latin typeface="Meiryo" panose="020B0604030504040204" pitchFamily="50" charset="-128"/>
              </a:rPr>
              <a:t>ごとの</a:t>
            </a:r>
            <a:r>
              <a:rPr kumimoji="1" lang="en-US" altLang="ja-JP">
                <a:latin typeface="Meiryo" panose="020B0604030504040204" pitchFamily="50" charset="-128"/>
              </a:rPr>
              <a:t>p_c(N)</a:t>
            </a:r>
            <a:r>
              <a:rPr kumimoji="1" lang="ja-JP" altLang="en-US">
                <a:latin typeface="Meiryo" panose="020B0604030504040204" pitchFamily="50" charset="-128"/>
              </a:rPr>
              <a:t>で評価（</a:t>
            </a:r>
            <a:r>
              <a:rPr kumimoji="1" lang="en-US" altLang="ja-JP">
                <a:latin typeface="Meiryo" panose="020B0604030504040204" pitchFamily="50" charset="-128"/>
              </a:rPr>
              <a:t>22</a:t>
            </a:r>
            <a:r>
              <a:rPr kumimoji="1" lang="ja-JP" altLang="en-US">
                <a:latin typeface="Meiryo" panose="020B0604030504040204" pitchFamily="50" charset="-128"/>
              </a:rPr>
              <a:t>に対応）。これらは連続転移・不連続転移の分類ではない。</a:t>
            </a:r>
            <a:r>
              <a:rPr kumimoji="1" lang="en-US" altLang="ja-JP">
                <a:latin typeface="Meiryo" panose="020B0604030504040204" pitchFamily="50" charset="-128"/>
              </a:rPr>
              <a:t>C=∞</a:t>
            </a:r>
            <a:r>
              <a:rPr kumimoji="1" lang="ja-JP" altLang="en-US">
                <a:latin typeface="Meiryo" panose="020B0604030504040204" pitchFamily="50" charset="-128"/>
              </a:rPr>
              <a:t>では</a:t>
            </a:r>
            <a:r>
              <a:rPr kumimoji="1" lang="en-US" altLang="ja-JP">
                <a:latin typeface="Meiryo" panose="020B0604030504040204" pitchFamily="50" charset="-128"/>
              </a:rPr>
              <a:t>critical</a:t>
            </a:r>
            <a:r>
              <a:rPr kumimoji="1" lang="ja-JP" altLang="en-US">
                <a:latin typeface="Meiryo" panose="020B0604030504040204" pitchFamily="50" charset="-128"/>
              </a:rPr>
              <a:t>の</a:t>
            </a:r>
            <a:r>
              <a:rPr kumimoji="1" lang="en-US" altLang="ja-JP">
                <a:latin typeface="Meiryo" panose="020B0604030504040204" pitchFamily="50" charset="-128"/>
              </a:rPr>
              <a:t>β/ν̄=.04±.01</a:t>
            </a:r>
            <a:r>
              <a:rPr kumimoji="1" lang="ja-JP" altLang="en-US">
                <a:latin typeface="Meiryo" panose="020B0604030504040204" pitchFamily="50" charset="-128"/>
              </a:rPr>
              <a:t>、</a:t>
            </a:r>
            <a:r>
              <a:rPr kumimoji="1" lang="en-US" altLang="ja-JP">
                <a:latin typeface="Meiryo" panose="020B0604030504040204" pitchFamily="50" charset="-128"/>
              </a:rPr>
              <a:t>γ/ν̄=.15±.01</a:t>
            </a:r>
            <a:r>
              <a:rPr kumimoji="1" lang="ja-JP" altLang="en-US">
                <a:latin typeface="Meiryo" panose="020B0604030504040204" pitchFamily="50" charset="-128"/>
              </a:rPr>
              <a:t>に対し、</a:t>
            </a:r>
            <a:r>
              <a:rPr kumimoji="1" lang="en-US" altLang="ja-JP">
                <a:latin typeface="Meiryo" panose="020B0604030504040204" pitchFamily="50" charset="-128"/>
              </a:rPr>
              <a:t>pseudo-critical</a:t>
            </a:r>
            <a:r>
              <a:rPr kumimoji="1" lang="ja-JP" altLang="en-US">
                <a:latin typeface="Meiryo" panose="020B0604030504040204" pitchFamily="50" charset="-128"/>
              </a:rPr>
              <a:t>は</a:t>
            </a:r>
            <a:r>
              <a:rPr kumimoji="1" lang="en-US" altLang="ja-JP">
                <a:latin typeface="Meiryo" panose="020B0604030504040204" pitchFamily="50" charset="-128"/>
              </a:rPr>
              <a:t>.24±.01</a:t>
            </a:r>
            <a:r>
              <a:rPr kumimoji="1" lang="ja-JP" altLang="en-US">
                <a:latin typeface="Meiryo" panose="020B0604030504040204" pitchFamily="50" charset="-128"/>
              </a:rPr>
              <a:t>、</a:t>
            </a:r>
            <a:r>
              <a:rPr kumimoji="1" lang="en-US" altLang="ja-JP">
                <a:latin typeface="Meiryo" panose="020B0604030504040204" pitchFamily="50" charset="-128"/>
              </a:rPr>
              <a:t>.53±.01</a:t>
            </a:r>
            <a:r>
              <a:rPr kumimoji="1" lang="ja-JP" altLang="en-US">
                <a:latin typeface="Meiryo" panose="020B0604030504040204" pitchFamily="50" charset="-128"/>
              </a:rPr>
              <a:t>。</a:t>
            </a:r>
            <a:r>
              <a:rPr kumimoji="1" lang="en-US" altLang="ja-JP">
                <a:latin typeface="Meiryo" panose="020B0604030504040204" pitchFamily="50" charset="-128"/>
              </a:rPr>
              <a:t>C=1,2,3</a:t>
            </a:r>
            <a:r>
              <a:rPr kumimoji="1" lang="ja-JP" altLang="en-US">
                <a:latin typeface="Meiryo" panose="020B0604030504040204" pitchFamily="50" charset="-128"/>
              </a:rPr>
              <a:t>では両方法の推定値が比較的近い。数値の差そのものを有限サイズ効果の数学的証明とはしない。</a:t>
            </a:r>
            <a:r>
              <a:rPr kumimoji="1" lang="en-US" altLang="ja-JP">
                <a:latin typeface="Meiryo" panose="020B0604030504040204" pitchFamily="50" charset="-128"/>
              </a:rPr>
              <a:t>SM IV.B</a:t>
            </a:r>
            <a:r>
              <a:rPr kumimoji="1" lang="ja-JP" altLang="en-US">
                <a:latin typeface="Meiryo" panose="020B0604030504040204" pitchFamily="50" charset="-128"/>
              </a:rPr>
              <a:t>は固定</a:t>
            </a:r>
            <a:r>
              <a:rPr kumimoji="1" lang="en-US" altLang="ja-JP">
                <a:latin typeface="Meiryo" panose="020B0604030504040204" pitchFamily="50" charset="-128"/>
              </a:rPr>
              <a:t>p_c</a:t>
            </a:r>
            <a:r>
              <a:rPr kumimoji="1" lang="ja-JP" altLang="en-US">
                <a:latin typeface="Meiryo" panose="020B0604030504040204" pitchFamily="50" charset="-128"/>
              </a:rPr>
              <a:t>での制限なしの指数推定に強い有限サイズ効果があると著者が評価しており、数値上の差と著者の解釈を区別する。</a:t>
            </a:r>
            <a:r>
              <a:rPr kumimoji="1" lang="en-US" altLang="ja-JP">
                <a:latin typeface="Meiryo" panose="020B0604030504040204" pitchFamily="50" charset="-128"/>
              </a:rPr>
              <a:t>【</a:t>
            </a:r>
            <a:r>
              <a:rPr kumimoji="1" lang="ja-JP" altLang="en-US">
                <a:latin typeface="Meiryo" panose="020B0604030504040204" pitchFamily="50" charset="-128"/>
              </a:rPr>
              <a:t>主論文</a:t>
            </a:r>
            <a:r>
              <a:rPr kumimoji="1" lang="en-US" altLang="ja-JP">
                <a:latin typeface="Meiryo" panose="020B0604030504040204" pitchFamily="50" charset="-128"/>
              </a:rPr>
              <a:t>Table I</a:t>
            </a:r>
            <a:r>
              <a:rPr kumimoji="1" lang="ja-JP" altLang="en-US">
                <a:latin typeface="Meiryo" panose="020B0604030504040204" pitchFamily="50" charset="-128"/>
              </a:rPr>
              <a:t>との違い</a:t>
            </a:r>
            <a:r>
              <a:rPr kumimoji="1" lang="en-US" altLang="ja-JP">
                <a:latin typeface="Meiryo" panose="020B0604030504040204" pitchFamily="50" charset="-128"/>
              </a:rPr>
              <a:t>】</a:t>
            </a:r>
            <a:r>
              <a:rPr kumimoji="1" lang="ja-JP" altLang="en-US">
                <a:latin typeface="Meiryo" panose="020B0604030504040204" pitchFamily="50" charset="-128"/>
              </a:rPr>
              <a:t>主論文</a:t>
            </a:r>
            <a:r>
              <a:rPr kumimoji="1" lang="en-US" altLang="ja-JP">
                <a:latin typeface="Meiryo" panose="020B0604030504040204" pitchFamily="50" charset="-128"/>
              </a:rPr>
              <a:t>PDF2</a:t>
            </a:r>
            <a:r>
              <a:rPr kumimoji="1" lang="ja-JP" altLang="en-US">
                <a:latin typeface="Meiryo" panose="020B0604030504040204" pitchFamily="50" charset="-128"/>
              </a:rPr>
              <a:t>右段は、各試行で単一辺の削除によって最大成分に生じる最大の変化に対応する構成を抽出する</a:t>
            </a:r>
            <a:r>
              <a:rPr kumimoji="1" lang="en-US" altLang="ja-JP">
                <a:latin typeface="Meiryo" panose="020B0604030504040204" pitchFamily="50" charset="-128"/>
              </a:rPr>
              <a:t>event-based ensemble</a:t>
            </a:r>
            <a:r>
              <a:rPr kumimoji="1" lang="ja-JP" altLang="en-US">
                <a:latin typeface="Meiryo" panose="020B0604030504040204" pitchFamily="50" charset="-128"/>
              </a:rPr>
              <a:t>と定義する。経路全体を削除する要求</a:t>
            </a:r>
            <a:r>
              <a:rPr kumimoji="1" lang="en-US" altLang="ja-JP">
                <a:latin typeface="Meiryo" panose="020B0604030504040204" pitchFamily="50" charset="-128"/>
              </a:rPr>
              <a:t>1</a:t>
            </a:r>
            <a:r>
              <a:rPr kumimoji="1" lang="ja-JP" altLang="en-US">
                <a:latin typeface="Meiryo" panose="020B0604030504040204" pitchFamily="50" charset="-128"/>
              </a:rPr>
              <a:t>回の最大</a:t>
            </a:r>
            <a:r>
              <a:rPr kumimoji="1" lang="en-US" altLang="ja-JP">
                <a:latin typeface="Meiryo" panose="020B0604030504040204" pitchFamily="50" charset="-128"/>
              </a:rPr>
              <a:t>request</a:t>
            </a:r>
            <a:r>
              <a:rPr kumimoji="1" lang="ja-JP" altLang="en-US">
                <a:latin typeface="Meiryo" panose="020B0604030504040204" pitchFamily="50" charset="-128"/>
              </a:rPr>
              <a:t>落下とは同じ定義ではない。</a:t>
            </a:r>
            <a:r>
              <a:rPr kumimoji="1" lang="en-US" altLang="ja-JP">
                <a:latin typeface="Meiryo" panose="020B0604030504040204" pitchFamily="50" charset="-128"/>
              </a:rPr>
              <a:t>SM IV.C</a:t>
            </a:r>
            <a:r>
              <a:rPr kumimoji="1" lang="ja-JP" altLang="en-US">
                <a:latin typeface="Meiryo" panose="020B0604030504040204" pitchFamily="50" charset="-128"/>
              </a:rPr>
              <a:t>の</a:t>
            </a:r>
            <a:r>
              <a:rPr kumimoji="1" lang="en-US" altLang="ja-JP">
                <a:latin typeface="Meiryo" panose="020B0604030504040204" pitchFamily="50" charset="-128"/>
              </a:rPr>
              <a:t>S13/S14</a:t>
            </a:r>
            <a:r>
              <a:rPr kumimoji="1" lang="ja-JP" altLang="en-US">
                <a:latin typeface="Meiryo" panose="020B0604030504040204" pitchFamily="50" charset="-128"/>
              </a:rPr>
              <a:t>は単一辺刻みでの落下直後</a:t>
            </a:r>
            <a:r>
              <a:rPr kumimoji="1" lang="en-US" altLang="ja-JP">
                <a:latin typeface="Meiryo" panose="020B0604030504040204" pitchFamily="50" charset="-128"/>
              </a:rPr>
              <a:t>p^+</a:t>
            </a:r>
            <a:r>
              <a:rPr kumimoji="1" lang="ja-JP" altLang="en-US">
                <a:latin typeface="Meiryo" panose="020B0604030504040204" pitchFamily="50" charset="-128"/>
              </a:rPr>
              <a:t>と直前</a:t>
            </a:r>
            <a:r>
              <a:rPr kumimoji="1" lang="en-US" altLang="ja-JP">
                <a:latin typeface="Meiryo" panose="020B0604030504040204" pitchFamily="50" charset="-128"/>
              </a:rPr>
              <a:t>p^-</a:t>
            </a:r>
            <a:r>
              <a:rPr kumimoji="1" lang="ja-JP" altLang="en-US">
                <a:latin typeface="Meiryo" panose="020B0604030504040204" pitchFamily="50" charset="-128"/>
              </a:rPr>
              <a:t>を区別する。各試行の最大単一辺落下位置とそこでの観測量を用いてから試行間で集計し、先に平均</a:t>
            </a:r>
            <a:r>
              <a:rPr kumimoji="1" lang="en-US" altLang="ja-JP">
                <a:latin typeface="Meiryo" panose="020B0604030504040204" pitchFamily="50" charset="-128"/>
              </a:rPr>
              <a:t>S</a:t>
            </a:r>
            <a:r>
              <a:rPr kumimoji="1" lang="ja-JP" altLang="en-US">
                <a:latin typeface="Meiryo" panose="020B0604030504040204" pitchFamily="50" charset="-128"/>
              </a:rPr>
              <a:t>曲線を作ってその最大位置を求める</a:t>
            </a:r>
            <a:r>
              <a:rPr kumimoji="1" lang="en-US" altLang="ja-JP">
                <a:latin typeface="Meiryo" panose="020B0604030504040204" pitchFamily="50" charset="-128"/>
              </a:rPr>
              <a:t>Table S2</a:t>
            </a:r>
            <a:r>
              <a:rPr kumimoji="1" lang="ja-JP" altLang="en-US">
                <a:latin typeface="Meiryo" panose="020B0604030504040204" pitchFamily="50" charset="-128"/>
              </a:rPr>
              <a:t>の</a:t>
            </a:r>
            <a:r>
              <a:rPr kumimoji="1" lang="en-US" altLang="ja-JP">
                <a:latin typeface="Meiryo" panose="020B0604030504040204" pitchFamily="50" charset="-128"/>
              </a:rPr>
              <a:t>pseudo-critical</a:t>
            </a:r>
            <a:r>
              <a:rPr kumimoji="1" lang="ja-JP" altLang="en-US">
                <a:latin typeface="Meiryo" panose="020B0604030504040204" pitchFamily="50" charset="-128"/>
              </a:rPr>
              <a:t>とは異なる。</a:t>
            </a:r>
            <a:r>
              <a:rPr kumimoji="1" lang="en-US" altLang="ja-JP">
                <a:latin typeface="Meiryo" panose="020B0604030504040204" pitchFamily="50" charset="-128"/>
              </a:rPr>
              <a:t>Table I</a:t>
            </a:r>
            <a:r>
              <a:rPr kumimoji="1" lang="ja-JP" altLang="en-US">
                <a:latin typeface="Meiryo" panose="020B0604030504040204" pitchFamily="50" charset="-128"/>
              </a:rPr>
              <a:t>を直前または直後の一方だけの定義と、この表の記載のみから断定しない。主論文</a:t>
            </a:r>
            <a:r>
              <a:rPr kumimoji="1" lang="en-US" altLang="ja-JP">
                <a:latin typeface="Meiryo" panose="020B0604030504040204" pitchFamily="50" charset="-128"/>
              </a:rPr>
              <a:t>Table I</a:t>
            </a:r>
            <a:r>
              <a:rPr kumimoji="1" lang="ja-JP" altLang="en-US">
                <a:latin typeface="Meiryo" panose="020B0604030504040204" pitchFamily="50" charset="-128"/>
              </a:rPr>
              <a:t>の</a:t>
            </a:r>
            <a:r>
              <a:rPr kumimoji="1" lang="en-US" altLang="ja-JP">
                <a:latin typeface="Meiryo" panose="020B0604030504040204" pitchFamily="50" charset="-128"/>
              </a:rPr>
              <a:t>C=∞</a:t>
            </a:r>
            <a:r>
              <a:rPr kumimoji="1" lang="ja-JP" altLang="en-US">
                <a:latin typeface="Meiryo" panose="020B0604030504040204" pitchFamily="50" charset="-128"/>
              </a:rPr>
              <a:t>は</a:t>
            </a:r>
            <a:r>
              <a:rPr kumimoji="1" lang="en-US" altLang="ja-JP">
                <a:latin typeface="Meiryo" panose="020B0604030504040204" pitchFamily="50" charset="-128"/>
              </a:rPr>
              <a:t>p_c=.646±.001</a:t>
            </a:r>
            <a:r>
              <a:rPr kumimoji="1" lang="ja-JP" altLang="en-US">
                <a:latin typeface="Meiryo" panose="020B0604030504040204" pitchFamily="50" charset="-128"/>
              </a:rPr>
              <a:t>、</a:t>
            </a:r>
            <a:r>
              <a:rPr kumimoji="1" lang="en-US" altLang="ja-JP">
                <a:latin typeface="Meiryo" panose="020B0604030504040204" pitchFamily="50" charset="-128"/>
              </a:rPr>
              <a:t>β/ν̄=.21±.01</a:t>
            </a:r>
            <a:r>
              <a:rPr kumimoji="1" lang="ja-JP" altLang="en-US">
                <a:latin typeface="Meiryo" panose="020B0604030504040204" pitchFamily="50" charset="-128"/>
              </a:rPr>
              <a:t>、</a:t>
            </a:r>
            <a:r>
              <a:rPr kumimoji="1" lang="en-US" altLang="ja-JP">
                <a:latin typeface="Meiryo" panose="020B0604030504040204" pitchFamily="50" charset="-128"/>
              </a:rPr>
              <a:t>γ/ν̄=.55±.01</a:t>
            </a:r>
            <a:r>
              <a:rPr kumimoji="1" lang="ja-JP" altLang="en-US">
                <a:latin typeface="Meiryo" panose="020B0604030504040204" pitchFamily="50" charset="-128"/>
              </a:rPr>
              <a:t>。近い数値でも解析手順は同一ではない。</a:t>
            </a:r>
            <a:r>
              <a:rPr kumimoji="1" lang="en-US" altLang="ja-JP">
                <a:latin typeface="Meiryo" panose="020B0604030504040204" pitchFamily="50" charset="-128"/>
              </a:rPr>
              <a:t>【</a:t>
            </a:r>
            <a:r>
              <a:rPr kumimoji="1" lang="ja-JP" altLang="en-US">
                <a:latin typeface="Meiryo" panose="020B0604030504040204" pitchFamily="50" charset="-128"/>
              </a:rPr>
              <a:t>質問時補足</a:t>
            </a:r>
            <a:r>
              <a:rPr kumimoji="1" lang="en-US" altLang="ja-JP">
                <a:latin typeface="Meiryo" panose="020B0604030504040204" pitchFamily="50" charset="-128"/>
              </a:rPr>
              <a:t>】Table S2</a:t>
            </a:r>
            <a:r>
              <a:rPr kumimoji="1" lang="ja-JP" altLang="en-US">
                <a:latin typeface="Meiryo" panose="020B0604030504040204" pitchFamily="50" charset="-128"/>
              </a:rPr>
              <a:t>の</a:t>
            </a:r>
            <a:r>
              <a:rPr kumimoji="1" lang="en-US" altLang="ja-JP">
                <a:latin typeface="Meiryo" panose="020B0604030504040204" pitchFamily="50" charset="-128"/>
              </a:rPr>
              <a:t>C=1 pseudo-critical γ/ν̄</a:t>
            </a:r>
            <a:r>
              <a:rPr kumimoji="1" lang="ja-JP" altLang="en-US">
                <a:latin typeface="Meiryo" panose="020B0604030504040204" pitchFamily="50" charset="-128"/>
              </a:rPr>
              <a:t>は</a:t>
            </a:r>
            <a:r>
              <a:rPr kumimoji="1" lang="en-US" altLang="ja-JP">
                <a:latin typeface="Meiryo" panose="020B0604030504040204" pitchFamily="50" charset="-128"/>
              </a:rPr>
              <a:t>.35±.001</a:t>
            </a:r>
            <a:r>
              <a:rPr kumimoji="1" lang="ja-JP" altLang="en-US">
                <a:latin typeface="Meiryo" panose="020B0604030504040204" pitchFamily="50" charset="-128"/>
              </a:rPr>
              <a:t>、主論文</a:t>
            </a:r>
            <a:r>
              <a:rPr kumimoji="1" lang="en-US" altLang="ja-JP">
                <a:latin typeface="Meiryo" panose="020B0604030504040204" pitchFamily="50" charset="-128"/>
              </a:rPr>
              <a:t>PDF3</a:t>
            </a:r>
            <a:r>
              <a:rPr kumimoji="1" lang="ja-JP" altLang="en-US">
                <a:latin typeface="Meiryo" panose="020B0604030504040204" pitchFamily="50" charset="-128"/>
              </a:rPr>
              <a:t>左段は</a:t>
            </a:r>
            <a:r>
              <a:rPr kumimoji="1" lang="en-US" altLang="ja-JP">
                <a:latin typeface="Meiryo" panose="020B0604030504040204" pitchFamily="50" charset="-128"/>
              </a:rPr>
              <a:t>.35±.01</a:t>
            </a:r>
            <a:r>
              <a:rPr kumimoji="1" lang="ja-JP" altLang="en-US">
                <a:latin typeface="Meiryo" panose="020B0604030504040204" pitchFamily="50" charset="-128"/>
              </a:rPr>
              <a:t>であり、どちらが正しいかを推測して訂正しない。指数の</a:t>
            </a:r>
            <a:r>
              <a:rPr kumimoji="1" lang="en-US" altLang="ja-JP">
                <a:latin typeface="Meiryo" panose="020B0604030504040204" pitchFamily="50" charset="-128"/>
              </a:rPr>
              <a:t>±</a:t>
            </a:r>
            <a:r>
              <a:rPr kumimoji="1" lang="ja-JP" altLang="en-US">
                <a:latin typeface="Meiryo" panose="020B0604030504040204" pitchFamily="50" charset="-128"/>
              </a:rPr>
              <a:t>は</a:t>
            </a:r>
            <a:r>
              <a:rPr kumimoji="1" lang="en-US" altLang="ja-JP">
                <a:latin typeface="Meiryo" panose="020B0604030504040204" pitchFamily="50" charset="-128"/>
              </a:rPr>
              <a:t>SM III</a:t>
            </a:r>
            <a:r>
              <a:rPr kumimoji="1" lang="ja-JP" altLang="en-US">
                <a:latin typeface="Meiryo" panose="020B0604030504040204" pitchFamily="50" charset="-128"/>
              </a:rPr>
              <a:t>で残差正規性の下の回帰係数標準誤差と説明されるが、</a:t>
            </a:r>
            <a:r>
              <a:rPr kumimoji="1" lang="en-US" altLang="ja-JP">
                <a:latin typeface="Meiryo" panose="020B0604030504040204" pitchFamily="50" charset="-128"/>
              </a:rPr>
              <a:t>p_c</a:t>
            </a:r>
            <a:r>
              <a:rPr kumimoji="1" lang="ja-JP" altLang="en-US">
                <a:latin typeface="Meiryo" panose="020B0604030504040204" pitchFamily="50" charset="-128"/>
              </a:rPr>
              <a:t>の</a:t>
            </a:r>
            <a:r>
              <a:rPr kumimoji="1" lang="en-US" altLang="ja-JP">
                <a:latin typeface="Meiryo" panose="020B0604030504040204" pitchFamily="50" charset="-128"/>
              </a:rPr>
              <a:t>±</a:t>
            </a:r>
            <a:r>
              <a:rPr kumimoji="1" lang="ja-JP" altLang="en-US">
                <a:latin typeface="Meiryo" panose="020B0604030504040204" pitchFamily="50" charset="-128"/>
              </a:rPr>
              <a:t>まで同一方法と断定しない。これらは</a:t>
            </a:r>
            <a:r>
              <a:rPr kumimoji="1" lang="en-US" altLang="ja-JP">
                <a:latin typeface="Meiryo" panose="020B0604030504040204" pitchFamily="50" charset="-128"/>
              </a:rPr>
              <a:t>ER</a:t>
            </a:r>
            <a:r>
              <a:rPr kumimoji="1" lang="ja-JP" altLang="en-US">
                <a:latin typeface="Meiryo" panose="020B0604030504040204" pitchFamily="50" charset="-128"/>
              </a:rPr>
              <a:t>の結果で、本研究の</a:t>
            </a:r>
            <a:r>
              <a:rPr kumimoji="1" lang="en-US" altLang="ja-JP">
                <a:latin typeface="Meiryo" panose="020B0604030504040204" pitchFamily="50" charset="-128"/>
              </a:rPr>
              <a:t>2D</a:t>
            </a:r>
            <a:r>
              <a:rPr kumimoji="1" lang="ja-JP" altLang="en-US">
                <a:latin typeface="Meiryo" panose="020B0604030504040204" pitchFamily="50" charset="-128"/>
              </a:rPr>
              <a:t>格子の不連続転移や無限系の有限ジャンプをこの表から証明しない。原則として板書せず該当列を指す。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23</a:t>
            </a:fld>
            <a:endParaRPr kumimoji="1" lang="ja-JP" altLang="en-US"/>
          </a:p>
        </p:txBody>
      </p:sp>
    </p:spTree>
    <p:extLst>
      <p:ext uri="{BB962C8B-B14F-4D97-AF65-F5344CB8AC3E}">
        <p14:creationId xmlns:p14="http://schemas.microsoft.com/office/powerpoint/2010/main" val="128896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98E9FC-B085-D8CD-6446-E4DD9B32C1E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F53963E-4EFC-4DFE-6F30-06020D3771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65F3D9E-120A-7DF4-67D5-9668371A5E22}"/>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571429CB-709F-5951-D634-2B1925BAB07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5B63213-B913-DB3E-5D50-7ACD33603BCE}"/>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863550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458C66-FD90-86F4-FF34-8AC808F2494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D0EBE70-9E80-30E5-62F3-CA75643E732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F95F68A-BDD3-786B-0778-CC720F7C8B44}"/>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4215C05D-B8EA-B8CC-320C-12863B2FF7F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E287652-B4E2-E405-6C77-1529A4E1D4C0}"/>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80304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999F9E-8DF7-EC18-8D5E-AAE514303E8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28E6219-7E07-BEF2-26F8-E8AA8D3E7C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6795292-53B0-AB38-A47A-417768E87D4F}"/>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EEC71914-7811-40F9-D6C5-3D61A427BD0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DF7B96-CA29-79A2-D766-F36D8E553F96}"/>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4107641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F6FE63-3B8A-0C0F-8B5F-B8A756CAB41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52CFDA8-5F40-00A2-2439-F447C642521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4FEAF64-D508-7EA9-B437-805C1F0A3E0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BFB492C-A305-C06E-52DE-CCFBEBDB35BF}"/>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8BE6F4B0-24E4-8EC8-C59B-C73C8840D3E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0021177-8D61-829F-903F-EA5498941D7E}"/>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700181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77613B-98A3-0164-B4C8-782E922E3FC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45FAE1D-8DA8-FEE2-571B-1E8D455115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7786879-682A-4A8C-DD6E-B85B21319D0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50A334C-6F1D-BF38-B669-E6E2B31B79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8F41655-FC1B-4758-88A9-C8F14C56D9E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3394288-650C-1D1B-1B77-BE3CA3EC77BA}"/>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8" name="フッター プレースホルダー 7">
            <a:extLst>
              <a:ext uri="{FF2B5EF4-FFF2-40B4-BE49-F238E27FC236}">
                <a16:creationId xmlns:a16="http://schemas.microsoft.com/office/drawing/2014/main" id="{9C019648-1039-B13C-6FF4-D397F860B24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F2C2E2F-0EF2-5675-5D71-232E8A370542}"/>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887217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46934B-C339-5412-D378-AE4B7D6CCA3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E7365F5-D049-E3DD-73F7-E124278EC238}"/>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4" name="フッター プレースホルダー 3">
            <a:extLst>
              <a:ext uri="{FF2B5EF4-FFF2-40B4-BE49-F238E27FC236}">
                <a16:creationId xmlns:a16="http://schemas.microsoft.com/office/drawing/2014/main" id="{7BEE3F9B-4AC1-FBA9-413F-DD716E9759C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1D8914D-E31E-B5CF-905C-18BC115EF74A}"/>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627253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A56A09E-587B-96B4-91C0-3C9D5349D85C}"/>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3" name="フッター プレースホルダー 2">
            <a:extLst>
              <a:ext uri="{FF2B5EF4-FFF2-40B4-BE49-F238E27FC236}">
                <a16:creationId xmlns:a16="http://schemas.microsoft.com/office/drawing/2014/main" id="{DD1EABCF-526C-C552-00F0-BC8842629E6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34F13E8-0599-8BB0-FC33-E677FC73BBF1}"/>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0390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BA874A-425A-CDCB-AFC6-F2F69ECA084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EEA7194-2108-7194-863B-A31C89553B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84B3AA3-7740-409A-A7F1-07BE49061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8101905-CF53-FA3C-EB8F-227A09EA5FBD}"/>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A1995DAF-E61B-64D6-0316-F55E2FF2B92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F1D33CD-E154-C8A9-9413-207BE75A9D44}"/>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061704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363BBB-38F3-EA6D-9E4D-B28E0FF54B8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9B62739-2ABF-18C2-6C68-578397893AF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C7D5770-BDFA-06FB-1A68-59B112775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3FC7DF9-B9DC-B922-1145-451005B3BAAC}"/>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5438F51E-E52E-6D6D-D787-4B9893AFCEA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E095B2D-4039-4301-4570-EF54F5BDDFB8}"/>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512502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90A3DC-74C5-AE6C-5B98-BCF69C01D4C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1674B1F-3A36-6B87-4506-0023430ECBD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7E5A6E9-ED97-380D-A51B-34F88BF82B15}"/>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1D2D3A3C-8411-9F73-42D8-868A56BD7A8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231C716-EA90-5610-8DB4-FB9F62C528EA}"/>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8349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C79238F-D9AE-A570-E2F8-1003A5125FB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B90DEB3-8423-AC81-C034-912D3335074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FF83D8A-B40B-CA80-22EA-0C3982D7582A}"/>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1E18B709-4BDB-128B-0343-E31E9D82682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1B3B321-9154-E4C8-3E9B-3F15F6A580C7}"/>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127487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A556792-6774-8E89-FC04-721776BE89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40FE7D2-8A4F-0923-C232-395F3B37DC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CBDECCF-8D6C-A2CE-853F-F0C12088A5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FA51DB05-1029-8816-470B-7738E3767B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D4A7185-1414-FB76-9A70-8E54D9099B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309291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Relationships xmlns="http://schemas.openxmlformats.org/package/2006/relationships"><Relationship Id="rId3" Type="http://schemas.openxmlformats.org/officeDocument/2006/relationships/image" Target="../media/ver1_slide11_image0.png" /><Relationship Id="rId2" Type="http://schemas.openxmlformats.org/officeDocument/2006/relationships/notesSlide" Target="../notesSlides/notesSlide11.xml" /><Relationship Id="rId1" Type="http://schemas.openxmlformats.org/officeDocument/2006/relationships/slideLayout" Target="../slideLayouts/slideLayout7.xml" /><Relationship Id="rId4" Type="http://schemas.openxmlformats.org/officeDocument/2006/relationships/image" Target="../media/ver1_slide11_image3.png" /></Relationships>
</file>

<file path=ppt/slides/_rels/slide12.xml.rels><?xml version='1.0' encoding='utf-8'?>
<Relationships xmlns="http://schemas.openxmlformats.org/package/2006/relationships"><Relationship Id="rId3" Type="http://schemas.openxmlformats.org/officeDocument/2006/relationships/image" Target="../media/ver1_slide12_image0.png" /><Relationship Id="rId2" Type="http://schemas.openxmlformats.org/officeDocument/2006/relationships/notesSlide" Target="../notesSlides/notesSlide12.xml" /><Relationship Id="rId1" Type="http://schemas.openxmlformats.org/officeDocument/2006/relationships/slideLayout" Target="../slideLayouts/slideLayout7.xml" /><Relationship Id="rId5" Type="http://schemas.openxmlformats.org/officeDocument/2006/relationships/image" Target="../media/ver1_slide12_image3.png" /><Relationship Id="rId4" Type="http://schemas.openxmlformats.org/officeDocument/2006/relationships/image" Target="../media/ver1_slide12_image4.png" /></Relationships>
</file>

<file path=ppt/slides/_rels/slide13.xml.rels><?xml version='1.0' encoding='utf-8'?>
<Relationships xmlns="http://schemas.openxmlformats.org/package/2006/relationships"><Relationship Id="rId3" Type="http://schemas.openxmlformats.org/officeDocument/2006/relationships/image" Target="../media/ver1_slide13_image0.png" /><Relationship Id="rId2" Type="http://schemas.openxmlformats.org/officeDocument/2006/relationships/notesSlide" Target="../notesSlides/notesSlide13.xml" /><Relationship Id="rId1" Type="http://schemas.openxmlformats.org/officeDocument/2006/relationships/slideLayout" Target="../slideLayouts/slideLayout7.xml" /><Relationship Id="rId4" Type="http://schemas.openxmlformats.org/officeDocument/2006/relationships/image" Target="../media/ver1_slide13_image3.png" /></Relationships>
</file>

<file path=ppt/slides/_rels/slide14.xml.rels><?xml version='1.0' encoding='utf-8'?>
<Relationships xmlns="http://schemas.openxmlformats.org/package/2006/relationships"><Relationship Id="rId3" Type="http://schemas.openxmlformats.org/officeDocument/2006/relationships/image" Target="../media/ver1_slide14_image0.png" /><Relationship Id="rId2" Type="http://schemas.openxmlformats.org/officeDocument/2006/relationships/notesSlide" Target="../notesSlides/notesSlide14.xml" /><Relationship Id="rId1" Type="http://schemas.openxmlformats.org/officeDocument/2006/relationships/slideLayout" Target="../slideLayouts/slideLayout7.xml" /><Relationship Id="rId5" Type="http://schemas.openxmlformats.org/officeDocument/2006/relationships/image" Target="../media/ver1_slide14_image3.png" /><Relationship Id="rId4" Type="http://schemas.openxmlformats.org/officeDocument/2006/relationships/image" Target="../media/ver1_slide14_image4.png" /></Relationships>
</file>

<file path=ppt/slides/_rels/slide15.xml.rels><?xml version='1.0' encoding='utf-8'?>
<Relationships xmlns="http://schemas.openxmlformats.org/package/2006/relationships"><Relationship Id="rId3" Type="http://schemas.openxmlformats.org/officeDocument/2006/relationships/image" Target="../media/ver2_slide15_image0.png" /><Relationship Id="rId2" Type="http://schemas.openxmlformats.org/officeDocument/2006/relationships/notesSlide" Target="../notesSlides/notesSlide15.xml" /><Relationship Id="rId1" Type="http://schemas.openxmlformats.org/officeDocument/2006/relationships/slideLayout" Target="../slideLayouts/slideLayout7.xml" /></Relationships>
</file>

<file path=ppt/slides/_rels/slide16.xml.rels><?xml version='1.0' encoding='utf-8'?>
<Relationships xmlns="http://schemas.openxmlformats.org/package/2006/relationships"><Relationship Id="rId3" Type="http://schemas.openxmlformats.org/officeDocument/2006/relationships/image" Target="../media/ver2_slide16_image0.png" /><Relationship Id="rId2" Type="http://schemas.openxmlformats.org/officeDocument/2006/relationships/notesSlide" Target="../notesSlides/notesSlide16.xml" /><Relationship Id="rId1" Type="http://schemas.openxmlformats.org/officeDocument/2006/relationships/slideLayout" Target="../slideLayouts/slideLayout7.xml" /><Relationship Id="rId5" Type="http://schemas.openxmlformats.org/officeDocument/2006/relationships/image" Target="../media/ver2_slide16_image3.png" /><Relationship Id="rId4" Type="http://schemas.openxmlformats.org/officeDocument/2006/relationships/image" Target="../media/ver2_slide16_image4.png" /></Relationships>
</file>

<file path=ppt/slides/_rels/slide17.xml.rels><?xml version='1.0' encoding='utf-8'?>
<Relationships xmlns="http://schemas.openxmlformats.org/package/2006/relationships"><Relationship Id="rId3" Type="http://schemas.openxmlformats.org/officeDocument/2006/relationships/image" Target="../media/ver2_slide17_image0.png" /><Relationship Id="rId2" Type="http://schemas.openxmlformats.org/officeDocument/2006/relationships/notesSlide" Target="../notesSlides/notesSlide17.xml" /><Relationship Id="rId1" Type="http://schemas.openxmlformats.org/officeDocument/2006/relationships/slideLayout" Target="../slideLayouts/slideLayout7.xml" /><Relationship Id="rId5" Type="http://schemas.openxmlformats.org/officeDocument/2006/relationships/image" Target="../media/ver2_slide17_image3.png" /><Relationship Id="rId4" Type="http://schemas.openxmlformats.org/officeDocument/2006/relationships/image" Target="../media/ver2_slide17_image4.png" /></Relationships>
</file>

<file path=ppt/slides/_rels/slide18.xml.rels><?xml version='1.0' encoding='utf-8'?>
<Relationships xmlns="http://schemas.openxmlformats.org/package/2006/relationships"><Relationship Id="rId3" Type="http://schemas.openxmlformats.org/officeDocument/2006/relationships/image" Target="../media/ver2_slide18_image0.png" /><Relationship Id="rId2" Type="http://schemas.openxmlformats.org/officeDocument/2006/relationships/notesSlide" Target="../notesSlides/notesSlide18.xml" /><Relationship Id="rId1" Type="http://schemas.openxmlformats.org/officeDocument/2006/relationships/slideLayout" Target="../slideLayouts/slideLayout7.xml" /></Relationships>
</file>

<file path=ppt/slides/_rels/slide19.xml.rels><?xml version='1.0' encoding='utf-8'?>
<Relationships xmlns="http://schemas.openxmlformats.org/package/2006/relationships"><Relationship Id="rId3" Type="http://schemas.openxmlformats.org/officeDocument/2006/relationships/image" Target="../media/ver3_slide19_image0.png" /><Relationship Id="rId2" Type="http://schemas.openxmlformats.org/officeDocument/2006/relationships/notesSlide" Target="../notesSlides/notesSlide19.xml" /><Relationship Id="rId1" Type="http://schemas.openxmlformats.org/officeDocument/2006/relationships/slideLayout" Target="../slideLayouts/slideLayout7.xml" /></Relationships>
</file>

<file path=ppt/slides/_rels/slide20.xml.rels><?xml version='1.0' encoding='utf-8'?>
<Relationships xmlns="http://schemas.openxmlformats.org/package/2006/relationships"><Relationship Id="rId3" Type="http://schemas.openxmlformats.org/officeDocument/2006/relationships/image" Target="../media/ver3_slide20_image0.png" /><Relationship Id="rId2" Type="http://schemas.openxmlformats.org/officeDocument/2006/relationships/notesSlide" Target="../notesSlides/notesSlide20.xml" /><Relationship Id="rId1" Type="http://schemas.openxmlformats.org/officeDocument/2006/relationships/slideLayout" Target="../slideLayouts/slideLayout7.xml" /><Relationship Id="rId6" Type="http://schemas.openxmlformats.org/officeDocument/2006/relationships/image" Target="../media/ver3_slide20_image3.png" /><Relationship Id="rId5" Type="http://schemas.openxmlformats.org/officeDocument/2006/relationships/image" Target="../media/ver3_slide20_image4.png" /><Relationship Id="rId4" Type="http://schemas.openxmlformats.org/officeDocument/2006/relationships/image" Target="../media/ver3_slide20_image5.png" /></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3.xml.rels><?xml version='1.0' encoding='utf-8'?>
<Relationships xmlns="http://schemas.openxmlformats.org/package/2006/relationships"><Relationship Id="rId3" Type="http://schemas.openxmlformats.org/officeDocument/2006/relationships/image" Target="../media/ver3_slide23_image0.png" /><Relationship Id="rId2" Type="http://schemas.openxmlformats.org/officeDocument/2006/relationships/notesSlide" Target="../notesSlides/notesSlide23.xml"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DAB323B-61C8-75C2-33A9-C3D126ECB1A1}"/>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3" name="source-2">
            <a:extLst>
              <a:ext uri="{FF2B5EF4-FFF2-40B4-BE49-F238E27FC236}">
                <a16:creationId xmlns:a16="http://schemas.microsoft.com/office/drawing/2014/main" id="{61D844DC-F08A-0C5E-01D1-A981D29F1C64}"/>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4" name="page-3">
            <a:extLst>
              <a:ext uri="{FF2B5EF4-FFF2-40B4-BE49-F238E27FC236}">
                <a16:creationId xmlns:a16="http://schemas.microsoft.com/office/drawing/2014/main" id="{70E1DAA6-76EF-905D-3E07-2256CF994EA7}"/>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01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5" name="text-4">
            <a:extLst>
              <a:ext uri="{FF2B5EF4-FFF2-40B4-BE49-F238E27FC236}">
                <a16:creationId xmlns:a16="http://schemas.microsoft.com/office/drawing/2014/main" id="{B7E3955A-5A30-54C8-7597-3DC589B42FBA}"/>
              </a:ext>
            </a:extLst>
          </p:cNvPr>
          <p:cNvSpPr txBox="1"/>
          <p:nvPr/>
        </p:nvSpPr>
        <p:spPr>
          <a:xfrm>
            <a:off x="698500" y="889000"/>
            <a:ext cx="10795000" cy="276999"/>
          </a:xfrm>
          <a:prstGeom prst="rect">
            <a:avLst/>
          </a:prstGeom>
          <a:noFill/>
        </p:spPr>
        <p:txBody>
          <a:bodyPr vert="horz" wrap="square" lIns="0" tIns="0" rIns="0" bIns="0" rtlCol="0">
            <a:noAutofit/>
          </a:bodyPr>
          <a:lstStyle/>
          <a:p>
            <a:pPr>
              <a:lnSpc>
                <a:spcPct val="112000"/>
              </a:lnSpc>
            </a:pPr>
            <a:r>
              <a:rPr kumimoji="1" lang="ja-JP" altLang="en-US" sz="2500" b="1">
                <a:solidFill>
                  <a:srgbClr val="17365D"/>
                </a:solidFill>
                <a:latin typeface="Meiryo" panose="020B0604030504040204" pitchFamily="50" charset="-128"/>
                <a:ea typeface="Meiryo" panose="020B0604030504040204" pitchFamily="50" charset="-128"/>
              </a:rPr>
              <a:t>卒業研究 ゼミ発表</a:t>
            </a:r>
          </a:p>
        </p:txBody>
      </p:sp>
      <p:sp>
        <p:nvSpPr>
          <p:cNvPr id="6" name="text-5">
            <a:extLst>
              <a:ext uri="{FF2B5EF4-FFF2-40B4-BE49-F238E27FC236}">
                <a16:creationId xmlns:a16="http://schemas.microsoft.com/office/drawing/2014/main" id="{B5E88994-79EE-C1A5-0935-2435E7A7D298}"/>
              </a:ext>
            </a:extLst>
          </p:cNvPr>
          <p:cNvSpPr txBox="1"/>
          <p:nvPr/>
        </p:nvSpPr>
        <p:spPr>
          <a:xfrm>
            <a:off x="698500" y="2286000"/>
            <a:ext cx="10795000" cy="276999"/>
          </a:xfrm>
          <a:prstGeom prst="rect">
            <a:avLst/>
          </a:prstGeom>
          <a:noFill/>
        </p:spPr>
        <p:txBody>
          <a:bodyPr vert="horz" wrap="square" lIns="0" tIns="0" rIns="0" bIns="0" rtlCol="0">
            <a:noAutofit/>
          </a:bodyPr>
          <a:lstStyle/>
          <a:p>
            <a:pPr>
              <a:lnSpc>
                <a:spcPct val="112000"/>
              </a:lnSpc>
            </a:pPr>
            <a:r>
              <a:rPr kumimoji="1" lang="en-US" altLang="ja-JP" sz="4200" b="1">
                <a:solidFill>
                  <a:srgbClr val="17365D"/>
                </a:solidFill>
                <a:latin typeface="Meiryo" panose="020B0604030504040204" pitchFamily="50" charset="-128"/>
                <a:ea typeface="Meiryo" panose="020B0604030504040204" pitchFamily="50" charset="-128"/>
              </a:rPr>
              <a:t>2</a:t>
            </a:r>
            <a:r>
              <a:rPr kumimoji="1" lang="ja-JP" altLang="en-US" sz="4200" b="1">
                <a:solidFill>
                  <a:srgbClr val="17365D"/>
                </a:solidFill>
                <a:latin typeface="Meiryo" panose="020B0604030504040204" pitchFamily="50" charset="-128"/>
                <a:ea typeface="Meiryo" panose="020B0604030504040204" pitchFamily="50" charset="-128"/>
              </a:rPr>
              <a:t>次元正方格子上の
</a:t>
            </a:r>
            <a:r>
              <a:rPr kumimoji="1" lang="en-US" altLang="ja-JP" sz="4200" b="1">
                <a:solidFill>
                  <a:srgbClr val="17365D"/>
                </a:solidFill>
                <a:latin typeface="Meiryo" panose="020B0604030504040204" pitchFamily="50" charset="-128"/>
                <a:ea typeface="Meiryo" panose="020B0604030504040204" pitchFamily="50" charset="-128"/>
              </a:rPr>
              <a:t>Shortest-Path Percolation</a:t>
            </a:r>
            <a:endParaRPr kumimoji="1" lang="ja-JP" altLang="en-US" sz="4200" b="1">
              <a:solidFill>
                <a:srgbClr val="17365D"/>
              </a:solidFill>
              <a:latin typeface="Meiryo" panose="020B0604030504040204" pitchFamily="50" charset="-128"/>
              <a:ea typeface="Meiryo" panose="020B0604030504040204" pitchFamily="50" charset="-128"/>
            </a:endParaRPr>
          </a:p>
        </p:txBody>
      </p:sp>
      <p:sp>
        <p:nvSpPr>
          <p:cNvPr id="7" name="text-6">
            <a:extLst>
              <a:ext uri="{FF2B5EF4-FFF2-40B4-BE49-F238E27FC236}">
                <a16:creationId xmlns:a16="http://schemas.microsoft.com/office/drawing/2014/main" id="{D1078EED-ABD9-D662-26F0-EF36AF6E75DE}"/>
              </a:ext>
            </a:extLst>
          </p:cNvPr>
          <p:cNvSpPr txBox="1"/>
          <p:nvPr/>
        </p:nvSpPr>
        <p:spPr>
          <a:xfrm>
            <a:off x="698500" y="4635500"/>
            <a:ext cx="107950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53746"/>
                </a:solidFill>
                <a:latin typeface="Meiryo" panose="020B0604030504040204" pitchFamily="50" charset="-128"/>
                <a:ea typeface="Meiryo" panose="020B0604030504040204" pitchFamily="50" charset="-128"/>
              </a:rPr>
              <a:t>2026</a:t>
            </a:r>
            <a:r>
              <a:rPr kumimoji="1" lang="ja-JP" altLang="en-US" sz="2500">
                <a:solidFill>
                  <a:srgbClr val="253746"/>
                </a:solidFill>
                <a:latin typeface="Meiryo" panose="020B0604030504040204" pitchFamily="50" charset="-128"/>
                <a:ea typeface="Meiryo" panose="020B0604030504040204" pitchFamily="50" charset="-128"/>
              </a:rPr>
              <a:t>年</a:t>
            </a:r>
            <a:r>
              <a:rPr kumimoji="1" lang="en-US" altLang="ja-JP" sz="2500">
                <a:solidFill>
                  <a:srgbClr val="253746"/>
                </a:solidFill>
                <a:latin typeface="Meiryo" panose="020B0604030504040204" pitchFamily="50" charset="-128"/>
                <a:ea typeface="Meiryo" panose="020B0604030504040204" pitchFamily="50" charset="-128"/>
              </a:rPr>
              <a:t>10</a:t>
            </a:r>
            <a:r>
              <a:rPr kumimoji="1" lang="ja-JP" altLang="en-US" sz="2500">
                <a:solidFill>
                  <a:srgbClr val="253746"/>
                </a:solidFill>
                <a:latin typeface="Meiryo" panose="020B0604030504040204" pitchFamily="50" charset="-128"/>
                <a:ea typeface="Meiryo" panose="020B0604030504040204" pitchFamily="50" charset="-128"/>
              </a:rPr>
              <a:t>月</a:t>
            </a:r>
            <a:r>
              <a:rPr kumimoji="1" lang="en-US" altLang="ja-JP" sz="2500">
                <a:solidFill>
                  <a:srgbClr val="253746"/>
                </a:solidFill>
                <a:latin typeface="Meiryo" panose="020B0604030504040204" pitchFamily="50" charset="-128"/>
                <a:ea typeface="Meiryo" panose="020B0604030504040204" pitchFamily="50" charset="-128"/>
              </a:rPr>
              <a:t>15</a:t>
            </a:r>
            <a:r>
              <a:rPr kumimoji="1" lang="ja-JP" altLang="en-US" sz="2500">
                <a:solidFill>
                  <a:srgbClr val="253746"/>
                </a:solidFill>
                <a:latin typeface="Meiryo" panose="020B0604030504040204" pitchFamily="50" charset="-128"/>
                <a:ea typeface="Meiryo" panose="020B0604030504040204" pitchFamily="50" charset="-128"/>
              </a:rPr>
              <a:t>日</a:t>
            </a:r>
          </a:p>
        </p:txBody>
      </p:sp>
    </p:spTree>
    <p:extLst>
      <p:ext uri="{BB962C8B-B14F-4D97-AF65-F5344CB8AC3E}">
        <p14:creationId xmlns:p14="http://schemas.microsoft.com/office/powerpoint/2010/main" val="3945267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4B2F5817-EABD-371A-E7AC-C8150AF5597D}"/>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研究背景 </a:t>
            </a:r>
            <a:r>
              <a:rPr kumimoji="1" lang="en-US" altLang="ja-JP" sz="3200" b="1">
                <a:solidFill>
                  <a:srgbClr val="17365D"/>
                </a:solidFill>
                <a:latin typeface="Meiryo" panose="020B0604030504040204" pitchFamily="50" charset="-128"/>
                <a:ea typeface="Meiryo" panose="020B0604030504040204" pitchFamily="50" charset="-128"/>
              </a:rPr>
              <a:t>― </a:t>
            </a:r>
            <a:r>
              <a:rPr kumimoji="1" lang="ja-JP" altLang="en-US" sz="3200" b="1">
                <a:solidFill>
                  <a:srgbClr val="17365D"/>
                </a:solidFill>
                <a:latin typeface="Meiryo" panose="020B0604030504040204" pitchFamily="50" charset="-128"/>
                <a:ea typeface="Meiryo" panose="020B0604030504040204" pitchFamily="50" charset="-128"/>
              </a:rPr>
              <a:t>パーコレーションと相転移</a:t>
            </a:r>
          </a:p>
        </p:txBody>
      </p:sp>
      <p:cxnSp>
        <p:nvCxnSpPr>
          <p:cNvPr id="3" name="直線コネクタ 2">
            <a:extLst>
              <a:ext uri="{FF2B5EF4-FFF2-40B4-BE49-F238E27FC236}">
                <a16:creationId xmlns:a16="http://schemas.microsoft.com/office/drawing/2014/main" id="{51D3F132-46AC-F673-9946-A46138C72C3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16C4D70B-5ECF-7E9D-F7AB-7115178231A4}"/>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047402-1</a:t>
            </a: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5" name="page-4">
            <a:extLst>
              <a:ext uri="{FF2B5EF4-FFF2-40B4-BE49-F238E27FC236}">
                <a16:creationId xmlns:a16="http://schemas.microsoft.com/office/drawing/2014/main" id="{9709252C-2B5B-D050-E26C-CF8C006693B0}"/>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02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5AA93C4E-FFD1-E66E-C970-C4959EF325BB}"/>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パーコレーションでは、辺の占有率などの変化に伴い、
ネットワーク全体の連結性がどのように変化するかを調べる。</a:t>
            </a:r>
          </a:p>
        </p:txBody>
      </p:sp>
      <p:sp>
        <p:nvSpPr>
          <p:cNvPr id="7" name="text-6">
            <a:extLst>
              <a:ext uri="{FF2B5EF4-FFF2-40B4-BE49-F238E27FC236}">
                <a16:creationId xmlns:a16="http://schemas.microsoft.com/office/drawing/2014/main" id="{6C219479-F89C-6A73-8F83-77745C4BF3DA}"/>
              </a:ext>
            </a:extLst>
          </p:cNvPr>
          <p:cNvSpPr txBox="1"/>
          <p:nvPr/>
        </p:nvSpPr>
        <p:spPr>
          <a:xfrm>
            <a:off x="635000" y="2857500"/>
            <a:ext cx="4508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最大連結成分の大きさ</a:t>
            </a:r>
          </a:p>
        </p:txBody>
      </p:sp>
      <p:sp>
        <p:nvSpPr>
          <p:cNvPr id="8" name="text-7">
            <a:extLst>
              <a:ext uri="{FF2B5EF4-FFF2-40B4-BE49-F238E27FC236}">
                <a16:creationId xmlns:a16="http://schemas.microsoft.com/office/drawing/2014/main" id="{065AF99B-D8F2-995B-5395-A1D0813F3F66}"/>
              </a:ext>
            </a:extLst>
          </p:cNvPr>
          <p:cNvSpPr txBox="1"/>
          <p:nvPr/>
        </p:nvSpPr>
        <p:spPr>
          <a:xfrm>
            <a:off x="635000" y="33020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全体の頂点のうち、どの程度が一つにつながっているか。</a:t>
            </a:r>
          </a:p>
        </p:txBody>
      </p:sp>
      <p:sp>
        <p:nvSpPr>
          <p:cNvPr id="9" name="text-8">
            <a:extLst>
              <a:ext uri="{FF2B5EF4-FFF2-40B4-BE49-F238E27FC236}">
                <a16:creationId xmlns:a16="http://schemas.microsoft.com/office/drawing/2014/main" id="{B945A4C7-05C2-9B63-1790-646AFC6E8D7D}"/>
              </a:ext>
            </a:extLst>
          </p:cNvPr>
          <p:cNvSpPr txBox="1"/>
          <p:nvPr/>
        </p:nvSpPr>
        <p:spPr>
          <a:xfrm>
            <a:off x="635000" y="4064000"/>
            <a:ext cx="4508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臨界点と転移の性質</a:t>
            </a:r>
          </a:p>
        </p:txBody>
      </p:sp>
      <p:sp>
        <p:nvSpPr>
          <p:cNvPr id="10" name="text-9">
            <a:extLst>
              <a:ext uri="{FF2B5EF4-FFF2-40B4-BE49-F238E27FC236}">
                <a16:creationId xmlns:a16="http://schemas.microsoft.com/office/drawing/2014/main" id="{3AEDE76A-54BE-B869-5C62-5DC6D77DB983}"/>
              </a:ext>
            </a:extLst>
          </p:cNvPr>
          <p:cNvSpPr txBox="1"/>
          <p:nvPr/>
        </p:nvSpPr>
        <p:spPr>
          <a:xfrm>
            <a:off x="635000" y="45085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転移が起こる位置と、連結成分の大きさが
連続的に変化するのか、不連続に変化するのかに注目する。</a:t>
            </a:r>
          </a:p>
        </p:txBody>
      </p:sp>
      <p:sp>
        <p:nvSpPr>
          <p:cNvPr id="11" name="text-10">
            <a:extLst>
              <a:ext uri="{FF2B5EF4-FFF2-40B4-BE49-F238E27FC236}">
                <a16:creationId xmlns:a16="http://schemas.microsoft.com/office/drawing/2014/main" id="{F119B1D7-2723-6B53-87C1-B6114DA1AC67}"/>
              </a:ext>
            </a:extLst>
          </p:cNvPr>
          <p:cNvSpPr txBox="1"/>
          <p:nvPr/>
        </p:nvSpPr>
        <p:spPr>
          <a:xfrm>
            <a:off x="635000" y="5715000"/>
            <a:ext cx="10922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これらの性質は、ネットワークの構造や辺の削除方法によって異なる場合がある。</a:t>
            </a:r>
          </a:p>
        </p:txBody>
      </p:sp>
    </p:spTree>
    <p:extLst>
      <p:ext uri="{BB962C8B-B14F-4D97-AF65-F5344CB8AC3E}">
        <p14:creationId xmlns:p14="http://schemas.microsoft.com/office/powerpoint/2010/main" val="3076508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C49983DC-8162-8F30-02BC-DAD85EBBAFAC}"/>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の基本操作</a:t>
            </a:r>
          </a:p>
        </p:txBody>
      </p:sp>
      <p:cxnSp>
        <p:nvCxnSpPr>
          <p:cNvPr id="3" name="直線コネクタ 2">
            <a:extLst>
              <a:ext uri="{FF2B5EF4-FFF2-40B4-BE49-F238E27FC236}">
                <a16:creationId xmlns:a16="http://schemas.microsoft.com/office/drawing/2014/main" id="{578116FD-0DB8-C9DB-AD7F-CFFF4105AF51}"/>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03C17C4A-8E7B-3B7D-D4BC-CA400E32E0B5}"/>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047402-1–2</a:t>
            </a:r>
            <a:r>
              <a:rPr kumimoji="1" lang="ja-JP" altLang="en-US" sz="950">
                <a:solidFill>
                  <a:srgbClr val="566573"/>
                </a:solidFill>
                <a:latin typeface="Meiryo" panose="020B0604030504040204" pitchFamily="50" charset="-128"/>
                <a:ea typeface="Meiryo" panose="020B0604030504040204" pitchFamily="50" charset="-128"/>
              </a:rPr>
              <a:t>、図</a:t>
            </a:r>
            <a:r>
              <a:rPr kumimoji="1" lang="en-US" altLang="ja-JP" sz="950">
                <a:solidFill>
                  <a:srgbClr val="566573"/>
                </a:solidFill>
                <a:latin typeface="Meiryo" panose="020B0604030504040204" pitchFamily="50" charset="-128"/>
                <a:ea typeface="Meiryo" panose="020B0604030504040204" pitchFamily="50" charset="-128"/>
              </a:rPr>
              <a:t>1</a:t>
            </a: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5" name="page-4">
            <a:extLst>
              <a:ext uri="{FF2B5EF4-FFF2-40B4-BE49-F238E27FC236}">
                <a16:creationId xmlns:a16="http://schemas.microsoft.com/office/drawing/2014/main" id="{0FFEAA27-B66A-2492-43CE-538C02249698}"/>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03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paper_fig1_ab.png">
            <a:extLst>
              <a:ext uri="{FF2B5EF4-FFF2-40B4-BE49-F238E27FC236}">
                <a16:creationId xmlns:a16="http://schemas.microsoft.com/office/drawing/2014/main" id="{3567BA87-20E0-B562-CEB4-0E6D983C48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86824" y="1587500"/>
            <a:ext cx="4903351" cy="2095500"/>
          </a:xfrm>
          <a:prstGeom prst="rect">
            <a:avLst/>
          </a:prstGeom>
        </p:spPr>
      </p:pic>
      <p:sp>
        <p:nvSpPr>
          <p:cNvPr id="8" name="text-6">
            <a:extLst>
              <a:ext uri="{FF2B5EF4-FFF2-40B4-BE49-F238E27FC236}">
                <a16:creationId xmlns:a16="http://schemas.microsoft.com/office/drawing/2014/main" id="{A075AF85-BA9D-45A7-4207-00A49AFF7684}"/>
              </a:ext>
            </a:extLst>
          </p:cNvPr>
          <p:cNvSpPr txBox="1"/>
          <p:nvPr/>
        </p:nvSpPr>
        <p:spPr>
          <a:xfrm>
            <a:off x="698500" y="3810000"/>
            <a:ext cx="5207000" cy="276999"/>
          </a:xfrm>
          <a:prstGeom prst="rect">
            <a:avLst/>
          </a:prstGeom>
          <a:noFill/>
        </p:spPr>
        <p:txBody>
          <a:bodyPr vert="horz" wrap="square" lIns="0" tIns="0" rIns="0" bIns="0" rtlCol="0">
            <a:noAutofit/>
          </a:bodyPr>
          <a:lstStyle/>
          <a:p>
            <a:pPr>
              <a:lnSpc>
                <a:spcPct val="112000"/>
              </a:lnSpc>
            </a:pPr>
            <a:r>
              <a:rPr kumimoji="1" lang="ja-JP" altLang="en-US">
                <a:solidFill>
                  <a:srgbClr val="17365D"/>
                </a:solidFill>
                <a:latin typeface="Meiryo" panose="020B0604030504040204" pitchFamily="50" charset="-128"/>
                <a:ea typeface="Meiryo" panose="020B0604030504040204" pitchFamily="50" charset="-128"/>
              </a:rPr>
              <a:t>原論文 図</a:t>
            </a:r>
            <a:r>
              <a:rPr kumimoji="1" lang="en-US" altLang="ja-JP">
                <a:solidFill>
                  <a:srgbClr val="17365D"/>
                </a:solidFill>
                <a:latin typeface="Meiryo" panose="020B0604030504040204" pitchFamily="50" charset="-128"/>
                <a:ea typeface="Meiryo" panose="020B0604030504040204" pitchFamily="50" charset="-128"/>
              </a:rPr>
              <a:t>1(a)(b)</a:t>
            </a:r>
          </a:p>
          <a:p>
            <a:pPr>
              <a:lnSpc>
                <a:spcPct val="112000"/>
              </a:lnSpc>
            </a:pPr>
            <a:r>
              <a:rPr kumimoji="1" lang="ja-JP" altLang="en-US">
                <a:solidFill>
                  <a:srgbClr val="17365D"/>
                </a:solidFill>
                <a:latin typeface="Meiryo" panose="020B0604030504040204" pitchFamily="50" charset="-128"/>
                <a:ea typeface="Meiryo" panose="020B0604030504040204" pitchFamily="50" charset="-128"/>
              </a:rPr>
              <a:t>例：</a:t>
            </a:r>
            <a:r>
              <a:rPr kumimoji="1" lang="en-US" altLang="ja-JP">
                <a:solidFill>
                  <a:srgbClr val="17365D"/>
                </a:solidFill>
                <a:latin typeface="Meiryo" panose="020B0604030504040204" pitchFamily="50" charset="-128"/>
                <a:ea typeface="Meiryo" panose="020B0604030504040204" pitchFamily="50" charset="-128"/>
              </a:rPr>
              <a:t>Q</a:t>
            </a:r>
            <a:r>
              <a:rPr kumimoji="1" lang="en-US" altLang="ja-JP" sz="1332" baseline="-16000">
                <a:solidFill>
                  <a:srgbClr val="17365D"/>
                </a:solidFill>
                <a:latin typeface="Meiryo" panose="020B0604030504040204" pitchFamily="50" charset="-128"/>
                <a:ea typeface="Meiryo" panose="020B0604030504040204" pitchFamily="50" charset="-128"/>
              </a:rPr>
              <a:t>t</a:t>
            </a:r>
            <a:r>
              <a:rPr kumimoji="1" lang="en-US" altLang="ja-JP">
                <a:solidFill>
                  <a:srgbClr val="17365D"/>
                </a:solidFill>
                <a:latin typeface="Meiryo" panose="020B0604030504040204" pitchFamily="50" charset="-128"/>
                <a:ea typeface="Meiryo" panose="020B0604030504040204" pitchFamily="50" charset="-128"/>
              </a:rPr>
              <a:t>=4</a:t>
            </a:r>
            <a:r>
              <a:rPr kumimoji="1" lang="ja-JP" altLang="en-US">
                <a:solidFill>
                  <a:srgbClr val="17365D"/>
                </a:solidFill>
                <a:latin typeface="Meiryo" panose="020B0604030504040204" pitchFamily="50" charset="-128"/>
                <a:ea typeface="Meiryo" panose="020B0604030504040204" pitchFamily="50" charset="-128"/>
              </a:rPr>
              <a:t>。</a:t>
            </a:r>
            <a:r>
              <a:rPr kumimoji="1" lang="en-US" altLang="ja-JP">
                <a:solidFill>
                  <a:srgbClr val="17365D"/>
                </a:solidFill>
                <a:latin typeface="Meiryo" panose="020B0604030504040204" pitchFamily="50" charset="-128"/>
                <a:ea typeface="Meiryo" panose="020B0604030504040204" pitchFamily="50" charset="-128"/>
              </a:rPr>
              <a:t>C≥4</a:t>
            </a:r>
            <a:r>
              <a:rPr kumimoji="1" lang="ja-JP" altLang="en-US">
                <a:solidFill>
                  <a:srgbClr val="17365D"/>
                </a:solidFill>
                <a:latin typeface="Meiryo" panose="020B0604030504040204" pitchFamily="50" charset="-128"/>
                <a:ea typeface="Meiryo" panose="020B0604030504040204" pitchFamily="50" charset="-128"/>
              </a:rPr>
              <a:t>なら削除可能。</a:t>
            </a:r>
          </a:p>
        </p:txBody>
      </p:sp>
      <p:sp>
        <p:nvSpPr>
          <p:cNvPr id="9" name="text-7">
            <a:extLst>
              <a:ext uri="{FF2B5EF4-FFF2-40B4-BE49-F238E27FC236}">
                <a16:creationId xmlns:a16="http://schemas.microsoft.com/office/drawing/2014/main" id="{BD6C7D85-DD01-EAEE-9E0A-C74CC4D77E68}"/>
              </a:ext>
            </a:extLst>
          </p:cNvPr>
          <p:cNvSpPr txBox="1"/>
          <p:nvPr/>
        </p:nvSpPr>
        <p:spPr>
          <a:xfrm>
            <a:off x="6223000" y="1587500"/>
            <a:ext cx="5334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1. </a:t>
            </a:r>
            <a:r>
              <a:rPr kumimoji="1" lang="ja-JP" altLang="en-US" sz="2100">
                <a:solidFill>
                  <a:srgbClr val="253746"/>
                </a:solidFill>
                <a:latin typeface="Meiryo" panose="020B0604030504040204" pitchFamily="50" charset="-128"/>
                <a:ea typeface="Meiryo" panose="020B0604030504040204" pitchFamily="50" charset="-128"/>
              </a:rPr>
              <a:t>異なる</a:t>
            </a:r>
            <a:r>
              <a:rPr kumimoji="1" lang="en-US" altLang="ja-JP" sz="2100">
                <a:solidFill>
                  <a:srgbClr val="253746"/>
                </a:solidFill>
                <a:latin typeface="Meiryo" panose="020B0604030504040204" pitchFamily="50" charset="-128"/>
                <a:ea typeface="Meiryo" panose="020B0604030504040204" pitchFamily="50" charset="-128"/>
              </a:rPr>
              <a:t>2</a:t>
            </a:r>
            <a:r>
              <a:rPr kumimoji="1" lang="ja-JP" altLang="en-US" sz="2100">
                <a:solidFill>
                  <a:srgbClr val="253746"/>
                </a:solidFill>
                <a:latin typeface="Meiryo" panose="020B0604030504040204" pitchFamily="50" charset="-128"/>
                <a:ea typeface="Meiryo" panose="020B0604030504040204" pitchFamily="50" charset="-128"/>
              </a:rPr>
              <a:t>頂点を同じ確率で選ぶ。
</a:t>
            </a:r>
            <a:r>
              <a:rPr kumimoji="1" lang="en-US" altLang="ja-JP" sz="2100">
                <a:solidFill>
                  <a:srgbClr val="253746"/>
                </a:solidFill>
                <a:latin typeface="Meiryo" panose="020B0604030504040204" pitchFamily="50" charset="-128"/>
                <a:ea typeface="Meiryo" panose="020B0604030504040204" pitchFamily="50" charset="-128"/>
              </a:rPr>
              <a:t>2. </a:t>
            </a:r>
            <a:r>
              <a:rPr kumimoji="1" lang="ja-JP" altLang="en-US" sz="2100">
                <a:solidFill>
                  <a:srgbClr val="253746"/>
                </a:solidFill>
                <a:latin typeface="Meiryo" panose="020B0604030504040204" pitchFamily="50" charset="-128"/>
                <a:ea typeface="Meiryo" panose="020B0604030504040204" pitchFamily="50" charset="-128"/>
              </a:rPr>
              <a:t>最短経路があり、
　 長さが</a:t>
            </a:r>
            <a:r>
              <a:rPr kumimoji="1" lang="en-US" altLang="ja-JP" sz="2100">
                <a:solidFill>
                  <a:srgbClr val="253746"/>
                </a:solidFill>
                <a:latin typeface="Meiryo" panose="020B0604030504040204" pitchFamily="50" charset="-128"/>
                <a:ea typeface="Meiryo" panose="020B0604030504040204" pitchFamily="50" charset="-128"/>
              </a:rPr>
              <a:t>C</a:t>
            </a:r>
            <a:r>
              <a:rPr kumimoji="1" lang="ja-JP" altLang="en-US" sz="2100">
                <a:solidFill>
                  <a:srgbClr val="253746"/>
                </a:solidFill>
                <a:latin typeface="Meiryo" panose="020B0604030504040204" pitchFamily="50" charset="-128"/>
                <a:ea typeface="Meiryo" panose="020B0604030504040204" pitchFamily="50" charset="-128"/>
              </a:rPr>
              <a:t>以内か確認する。
</a:t>
            </a:r>
            <a:r>
              <a:rPr kumimoji="1" lang="en-US" altLang="ja-JP" sz="2100">
                <a:solidFill>
                  <a:srgbClr val="253746"/>
                </a:solidFill>
                <a:latin typeface="Meiryo" panose="020B0604030504040204" pitchFamily="50" charset="-128"/>
                <a:ea typeface="Meiryo" panose="020B0604030504040204" pitchFamily="50" charset="-128"/>
              </a:rPr>
              <a:t>3. </a:t>
            </a:r>
            <a:r>
              <a:rPr kumimoji="1" lang="ja-JP" altLang="en-US" sz="2100">
                <a:solidFill>
                  <a:srgbClr val="253746"/>
                </a:solidFill>
                <a:latin typeface="Meiryo" panose="020B0604030504040204" pitchFamily="50" charset="-128"/>
                <a:ea typeface="Meiryo" panose="020B0604030504040204" pitchFamily="50" charset="-128"/>
              </a:rPr>
              <a:t>最短経路を</a:t>
            </a:r>
            <a:r>
              <a:rPr kumimoji="1" lang="en-US" altLang="ja-JP" sz="2100">
                <a:solidFill>
                  <a:srgbClr val="253746"/>
                </a:solidFill>
                <a:latin typeface="Meiryo" panose="020B0604030504040204" pitchFamily="50" charset="-128"/>
                <a:ea typeface="Meiryo" panose="020B0604030504040204" pitchFamily="50" charset="-128"/>
              </a:rPr>
              <a:t>1</a:t>
            </a:r>
            <a:r>
              <a:rPr kumimoji="1" lang="ja-JP" altLang="en-US" sz="2100">
                <a:solidFill>
                  <a:srgbClr val="253746"/>
                </a:solidFill>
                <a:latin typeface="Meiryo" panose="020B0604030504040204" pitchFamily="50" charset="-128"/>
                <a:ea typeface="Meiryo" panose="020B0604030504040204" pitchFamily="50" charset="-128"/>
              </a:rPr>
              <a:t>本選ぶ。
</a:t>
            </a:r>
            <a:r>
              <a:rPr kumimoji="1" lang="en-US" altLang="ja-JP" sz="2100">
                <a:solidFill>
                  <a:srgbClr val="253746"/>
                </a:solidFill>
                <a:latin typeface="Meiryo" panose="020B0604030504040204" pitchFamily="50" charset="-128"/>
                <a:ea typeface="Meiryo" panose="020B0604030504040204" pitchFamily="50" charset="-128"/>
              </a:rPr>
              <a:t>4. </a:t>
            </a:r>
            <a:r>
              <a:rPr kumimoji="1" lang="ja-JP" altLang="en-US" sz="2100">
                <a:solidFill>
                  <a:srgbClr val="253746"/>
                </a:solidFill>
                <a:latin typeface="Meiryo" panose="020B0604030504040204" pitchFamily="50" charset="-128"/>
                <a:ea typeface="Meiryo" panose="020B0604030504040204" pitchFamily="50" charset="-128"/>
              </a:rPr>
              <a:t>経路上の全辺をまとめて削除する。</a:t>
            </a:r>
          </a:p>
        </p:txBody>
      </p:sp>
      <p:sp>
        <p:nvSpPr>
          <p:cNvPr id="10" name="text-8">
            <a:extLst>
              <a:ext uri="{FF2B5EF4-FFF2-40B4-BE49-F238E27FC236}">
                <a16:creationId xmlns:a16="http://schemas.microsoft.com/office/drawing/2014/main" id="{3A5F401F-5287-32F6-967E-D0CAFEBA888B}"/>
              </a:ext>
            </a:extLst>
          </p:cNvPr>
          <p:cNvSpPr txBox="1"/>
          <p:nvPr/>
        </p:nvSpPr>
        <p:spPr>
          <a:xfrm>
            <a:off x="6223000" y="4127500"/>
            <a:ext cx="5334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複数の最短経路がある場合は、
その中から</a:t>
            </a:r>
            <a:r>
              <a:rPr kumimoji="1" lang="en-US" altLang="ja-JP">
                <a:solidFill>
                  <a:srgbClr val="253746"/>
                </a:solidFill>
                <a:latin typeface="Meiryo" panose="020B0604030504040204" pitchFamily="50" charset="-128"/>
                <a:ea typeface="Meiryo" panose="020B0604030504040204" pitchFamily="50" charset="-128"/>
              </a:rPr>
              <a:t>1</a:t>
            </a:r>
            <a:r>
              <a:rPr kumimoji="1" lang="ja-JP" altLang="en-US">
                <a:solidFill>
                  <a:srgbClr val="253746"/>
                </a:solidFill>
                <a:latin typeface="Meiryo" panose="020B0604030504040204" pitchFamily="50" charset="-128"/>
                <a:ea typeface="Meiryo" panose="020B0604030504040204" pitchFamily="50" charset="-128"/>
              </a:rPr>
              <a:t>本を等確率で選ぶ。</a:t>
            </a:r>
          </a:p>
        </p:txBody>
      </p:sp>
      <p:sp>
        <p:nvSpPr>
          <p:cNvPr id="11" name="text-9">
            <a:extLst>
              <a:ext uri="{FF2B5EF4-FFF2-40B4-BE49-F238E27FC236}">
                <a16:creationId xmlns:a16="http://schemas.microsoft.com/office/drawing/2014/main" id="{337C43B7-764B-BFA6-127A-70793302718E}"/>
              </a:ext>
            </a:extLst>
          </p:cNvPr>
          <p:cNvSpPr txBox="1"/>
          <p:nvPr/>
        </p:nvSpPr>
        <p:spPr>
          <a:xfrm>
            <a:off x="698500" y="4762500"/>
            <a:ext cx="10795000" cy="276999"/>
          </a:xfrm>
          <a:prstGeom prst="rect">
            <a:avLst/>
          </a:prstGeom>
          <a:noFill/>
        </p:spPr>
        <p:txBody>
          <a:bodyPr vert="horz" wrap="square" lIns="0" tIns="0" rIns="0" bIns="0" rtlCol="0">
            <a:noAutofit/>
          </a:bodyPr>
          <a:lstStyle/>
          <a:p>
            <a:pPr>
              <a:lnSpc>
                <a:spcPct val="112000"/>
              </a:lnSpc>
            </a:pPr>
            <a:r>
              <a:rPr kumimoji="1" lang="en-US" altLang="ja-JP">
                <a:solidFill>
                  <a:srgbClr val="253746"/>
                </a:solidFill>
                <a:latin typeface="Meiryo" panose="020B0604030504040204" pitchFamily="50" charset="-128"/>
                <a:ea typeface="Meiryo" panose="020B0604030504040204" pitchFamily="50" charset="-128"/>
              </a:rPr>
              <a:t>Q</a:t>
            </a:r>
            <a:r>
              <a:rPr kumimoji="1" lang="en-US" altLang="ja-JP" sz="1332" baseline="-16000">
                <a:solidFill>
                  <a:srgbClr val="253746"/>
                </a:solidFill>
                <a:latin typeface="Meiryo" panose="020B0604030504040204" pitchFamily="50" charset="-128"/>
                <a:ea typeface="Meiryo" panose="020B0604030504040204" pitchFamily="50" charset="-128"/>
              </a:rPr>
              <a:t>t</a:t>
            </a:r>
            <a:r>
              <a:rPr kumimoji="1" lang="ja-JP" altLang="en-US">
                <a:solidFill>
                  <a:srgbClr val="253746"/>
                </a:solidFill>
                <a:latin typeface="Meiryo" panose="020B0604030504040204" pitchFamily="50" charset="-128"/>
                <a:ea typeface="Meiryo" panose="020B0604030504040204" pitchFamily="50" charset="-128"/>
              </a:rPr>
              <a:t>：最短経路の長さ（辺の本数）　 </a:t>
            </a:r>
            <a:r>
              <a:rPr kumimoji="1" lang="en-US" altLang="ja-JP">
                <a:solidFill>
                  <a:srgbClr val="253746"/>
                </a:solidFill>
                <a:latin typeface="Meiryo" panose="020B0604030504040204" pitchFamily="50" charset="-128"/>
                <a:ea typeface="Meiryo" panose="020B0604030504040204" pitchFamily="50" charset="-128"/>
              </a:rPr>
              <a:t>C</a:t>
            </a:r>
            <a:r>
              <a:rPr kumimoji="1" lang="ja-JP" altLang="en-US">
                <a:solidFill>
                  <a:srgbClr val="253746"/>
                </a:solidFill>
                <a:latin typeface="Meiryo" panose="020B0604030504040204" pitchFamily="50" charset="-128"/>
                <a:ea typeface="Meiryo" panose="020B0604030504040204" pitchFamily="50" charset="-128"/>
              </a:rPr>
              <a:t>：経路長の上限</a:t>
            </a:r>
          </a:p>
          <a:p>
            <a:pPr>
              <a:lnSpc>
                <a:spcPct val="112000"/>
              </a:lnSpc>
            </a:pPr>
            <a:r>
              <a:rPr kumimoji="1" lang="en-US" altLang="ja-JP">
                <a:solidFill>
                  <a:srgbClr val="253746"/>
                </a:solidFill>
                <a:latin typeface="Meiryo" panose="020B0604030504040204" pitchFamily="50" charset="-128"/>
                <a:ea typeface="Meiryo" panose="020B0604030504040204" pitchFamily="50" charset="-128"/>
              </a:rPr>
              <a:t>t</a:t>
            </a:r>
            <a:r>
              <a:rPr kumimoji="1" lang="ja-JP" altLang="en-US">
                <a:solidFill>
                  <a:srgbClr val="253746"/>
                </a:solidFill>
                <a:latin typeface="Meiryo" panose="020B0604030504040204" pitchFamily="50" charset="-128"/>
                <a:ea typeface="Meiryo" panose="020B0604030504040204" pitchFamily="50" charset="-128"/>
              </a:rPr>
              <a:t>：始点・終点の組が要求された回数</a:t>
            </a:r>
          </a:p>
        </p:txBody>
      </p:sp>
      <p:sp>
        <p:nvSpPr>
          <p:cNvPr id="12" name="text-10">
            <a:extLst>
              <a:ext uri="{FF2B5EF4-FFF2-40B4-BE49-F238E27FC236}">
                <a16:creationId xmlns:a16="http://schemas.microsoft.com/office/drawing/2014/main" id="{AE9DD40B-7D26-EF4E-FE47-E16561B7F1C9}"/>
              </a:ext>
            </a:extLst>
          </p:cNvPr>
          <p:cNvSpPr txBox="1"/>
          <p:nvPr/>
        </p:nvSpPr>
        <p:spPr>
          <a:xfrm>
            <a:off x="698500" y="5461000"/>
            <a:ext cx="10795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17365D"/>
                </a:solidFill>
                <a:latin typeface="Meiryo" panose="020B0604030504040204" pitchFamily="50" charset="-128"/>
                <a:ea typeface="Meiryo" panose="020B0604030504040204" pitchFamily="50" charset="-128"/>
              </a:rPr>
              <a:t>経路がない、または</a:t>
            </a:r>
            <a:r>
              <a:rPr kumimoji="1" lang="en-US" altLang="ja-JP" sz="1900">
                <a:solidFill>
                  <a:srgbClr val="17365D"/>
                </a:solidFill>
                <a:latin typeface="Meiryo" panose="020B0604030504040204" pitchFamily="50" charset="-128"/>
                <a:ea typeface="Meiryo" panose="020B0604030504040204" pitchFamily="50" charset="-128"/>
              </a:rPr>
              <a:t>Q</a:t>
            </a:r>
            <a:r>
              <a:rPr kumimoji="1" lang="en-US" altLang="ja-JP" sz="1406" baseline="-16000">
                <a:solidFill>
                  <a:srgbClr val="17365D"/>
                </a:solidFill>
                <a:latin typeface="Meiryo" panose="020B0604030504040204" pitchFamily="50" charset="-128"/>
                <a:ea typeface="Meiryo" panose="020B0604030504040204" pitchFamily="50" charset="-128"/>
              </a:rPr>
              <a:t>t</a:t>
            </a:r>
            <a:r>
              <a:rPr kumimoji="1" lang="en-US" altLang="ja-JP" sz="1900">
                <a:solidFill>
                  <a:srgbClr val="17365D"/>
                </a:solidFill>
                <a:latin typeface="Meiryo" panose="020B0604030504040204" pitchFamily="50" charset="-128"/>
                <a:ea typeface="Meiryo" panose="020B0604030504040204" pitchFamily="50" charset="-128"/>
              </a:rPr>
              <a:t>&gt;C</a:t>
            </a:r>
            <a:r>
              <a:rPr kumimoji="1" lang="ja-JP" altLang="en-US" sz="1900">
                <a:solidFill>
                  <a:srgbClr val="17365D"/>
                </a:solidFill>
                <a:latin typeface="Meiryo" panose="020B0604030504040204" pitchFamily="50" charset="-128"/>
                <a:ea typeface="Meiryo" panose="020B0604030504040204" pitchFamily="50" charset="-128"/>
              </a:rPr>
              <a:t>なら削除しない。</a:t>
            </a:r>
          </a:p>
          <a:p>
            <a:pPr>
              <a:lnSpc>
                <a:spcPct val="112000"/>
              </a:lnSpc>
            </a:pPr>
            <a:r>
              <a:rPr kumimoji="1" lang="ja-JP" altLang="en-US" sz="1900">
                <a:solidFill>
                  <a:srgbClr val="17365D"/>
                </a:solidFill>
                <a:latin typeface="Meiryo" panose="020B0604030504040204" pitchFamily="50" charset="-128"/>
                <a:ea typeface="Meiryo" panose="020B0604030504040204" pitchFamily="50" charset="-128"/>
              </a:rPr>
              <a:t>削除できなくても</a:t>
            </a:r>
            <a:r>
              <a:rPr kumimoji="1" lang="en-US" altLang="ja-JP" sz="1900">
                <a:solidFill>
                  <a:srgbClr val="17365D"/>
                </a:solidFill>
                <a:latin typeface="Meiryo" panose="020B0604030504040204" pitchFamily="50" charset="-128"/>
                <a:ea typeface="Meiryo" panose="020B0604030504040204" pitchFamily="50" charset="-128"/>
              </a:rPr>
              <a:t>t</a:t>
            </a:r>
            <a:r>
              <a:rPr kumimoji="1" lang="ja-JP" altLang="en-US" sz="1900">
                <a:solidFill>
                  <a:srgbClr val="17365D"/>
                </a:solidFill>
                <a:latin typeface="Meiryo" panose="020B0604030504040204" pitchFamily="50" charset="-128"/>
                <a:ea typeface="Meiryo" panose="020B0604030504040204" pitchFamily="50" charset="-128"/>
              </a:rPr>
              <a:t>は</a:t>
            </a:r>
            <a:r>
              <a:rPr kumimoji="1" lang="en-US" altLang="ja-JP" sz="1900">
                <a:solidFill>
                  <a:srgbClr val="17365D"/>
                </a:solidFill>
                <a:latin typeface="Meiryo" panose="020B0604030504040204" pitchFamily="50" charset="-128"/>
                <a:ea typeface="Meiryo" panose="020B0604030504040204" pitchFamily="50" charset="-128"/>
              </a:rPr>
              <a:t>1</a:t>
            </a:r>
            <a:r>
              <a:rPr kumimoji="1" lang="ja-JP" altLang="en-US" sz="1900">
                <a:solidFill>
                  <a:srgbClr val="17365D"/>
                </a:solidFill>
                <a:latin typeface="Meiryo" panose="020B0604030504040204" pitchFamily="50" charset="-128"/>
                <a:ea typeface="Meiryo" panose="020B0604030504040204" pitchFamily="50" charset="-128"/>
              </a:rPr>
              <a:t>増え、辺集合は変わらない。</a:t>
            </a:r>
          </a:p>
        </p:txBody>
      </p:sp>
    </p:spTree>
    <p:extLst>
      <p:ext uri="{BB962C8B-B14F-4D97-AF65-F5344CB8AC3E}">
        <p14:creationId xmlns:p14="http://schemas.microsoft.com/office/powerpoint/2010/main" val="276696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90D0B470-09BA-C57A-E5B1-E04BFD08D033}"/>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2</a:t>
            </a:r>
            <a:r>
              <a:rPr kumimoji="1" lang="ja-JP" altLang="en-US" sz="3200" b="1">
                <a:solidFill>
                  <a:srgbClr val="17365D"/>
                </a:solidFill>
                <a:latin typeface="Meiryo" panose="020B0604030504040204" pitchFamily="50" charset="-128"/>
                <a:ea typeface="Meiryo" panose="020B0604030504040204" pitchFamily="50" charset="-128"/>
              </a:rPr>
              <a:t>次元正方格子上での</a:t>
            </a: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の操作</a:t>
            </a:r>
          </a:p>
        </p:txBody>
      </p:sp>
      <p:cxnSp>
        <p:nvCxnSpPr>
          <p:cNvPr id="3" name="直線コネクタ 2">
            <a:extLst>
              <a:ext uri="{FF2B5EF4-FFF2-40B4-BE49-F238E27FC236}">
                <a16:creationId xmlns:a16="http://schemas.microsoft.com/office/drawing/2014/main" id="{C7A0557D-54F0-9327-1DB6-437A329B20DA}"/>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15C1EFE1-D843-2FEF-6446-827A9F56B72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説明用</a:t>
            </a:r>
            <a:r>
              <a:rPr kumimoji="1" lang="en-US" altLang="ja-JP" sz="950">
                <a:solidFill>
                  <a:srgbClr val="566573"/>
                </a:solidFill>
                <a:latin typeface="Meiryo" panose="020B0604030504040204" pitchFamily="50" charset="-128"/>
                <a:ea typeface="Meiryo" panose="020B0604030504040204" pitchFamily="50" charset="-128"/>
              </a:rPr>
              <a:t>3×3</a:t>
            </a:r>
            <a:r>
              <a:rPr kumimoji="1" lang="ja-JP" altLang="en-US" sz="950">
                <a:solidFill>
                  <a:srgbClr val="566573"/>
                </a:solidFill>
                <a:latin typeface="Meiryo" panose="020B0604030504040204" pitchFamily="50" charset="-128"/>
                <a:ea typeface="Meiryo" panose="020B0604030504040204" pitchFamily="50" charset="-128"/>
              </a:rPr>
              <a:t>格子（実験サイズではない）。原論文の</a:t>
            </a:r>
            <a:r>
              <a:rPr kumimoji="1" lang="en-US" altLang="ja-JP" sz="950">
                <a:solidFill>
                  <a:srgbClr val="566573"/>
                </a:solidFill>
                <a:latin typeface="Meiryo" panose="020B0604030504040204" pitchFamily="50" charset="-128"/>
                <a:ea typeface="Meiryo" panose="020B0604030504040204" pitchFamily="50" charset="-128"/>
              </a:rPr>
              <a:t>SPP</a:t>
            </a:r>
            <a:r>
              <a:rPr kumimoji="1" lang="ja-JP" altLang="en-US" sz="950">
                <a:solidFill>
                  <a:srgbClr val="566573"/>
                </a:solidFill>
                <a:latin typeface="Meiryo" panose="020B0604030504040204" pitchFamily="50" charset="-128"/>
                <a:ea typeface="Meiryo" panose="020B0604030504040204" pitchFamily="50" charset="-128"/>
              </a:rPr>
              <a:t>規則を適用した作図。</a:t>
            </a:r>
          </a:p>
        </p:txBody>
      </p:sp>
      <p:sp>
        <p:nvSpPr>
          <p:cNvPr id="5" name="page-4">
            <a:extLst>
              <a:ext uri="{FF2B5EF4-FFF2-40B4-BE49-F238E27FC236}">
                <a16:creationId xmlns:a16="http://schemas.microsoft.com/office/drawing/2014/main" id="{925E31FA-A4E9-8858-00E3-91C2B6536EB1}"/>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04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E65D2E1C-2B18-FA29-5330-AB2302CEE957}"/>
              </a:ext>
            </a:extLst>
          </p:cNvPr>
          <p:cNvSpPr txBox="1"/>
          <p:nvPr/>
        </p:nvSpPr>
        <p:spPr>
          <a:xfrm>
            <a:off x="5080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① </a:t>
            </a:r>
            <a:r>
              <a:rPr kumimoji="1" lang="en-US" altLang="ja-JP" sz="1700" b="1">
                <a:solidFill>
                  <a:srgbClr val="17365D"/>
                </a:solidFill>
                <a:latin typeface="Meiryo" panose="020B0604030504040204" pitchFamily="50" charset="-128"/>
                <a:ea typeface="Meiryo" panose="020B0604030504040204" pitchFamily="50" charset="-128"/>
              </a:rPr>
              <a:t>2</a:t>
            </a:r>
            <a:r>
              <a:rPr kumimoji="1" lang="ja-JP" altLang="en-US" sz="1700" b="1">
                <a:solidFill>
                  <a:srgbClr val="17365D"/>
                </a:solidFill>
                <a:latin typeface="Meiryo" panose="020B0604030504040204" pitchFamily="50" charset="-128"/>
                <a:ea typeface="Meiryo" panose="020B0604030504040204" pitchFamily="50" charset="-128"/>
              </a:rPr>
              <a:t>頂点を選ぶ</a:t>
            </a:r>
          </a:p>
        </p:txBody>
      </p:sp>
      <p:cxnSp>
        <p:nvCxnSpPr>
          <p:cNvPr id="7" name="lattice-1-edge-0-1">
            <a:extLst>
              <a:ext uri="{FF2B5EF4-FFF2-40B4-BE49-F238E27FC236}">
                <a16:creationId xmlns:a16="http://schemas.microsoft.com/office/drawing/2014/main" id="{05611DB3-CDFA-34EE-8E8A-640D43EDAB76}"/>
              </a:ext>
            </a:extLst>
          </p:cNvPr>
          <p:cNvCxnSpPr/>
          <p:nvPr/>
        </p:nvCxnSpPr>
        <p:spPr>
          <a:xfrm>
            <a:off x="8509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 name="lattice-1-edge-0-3">
            <a:extLst>
              <a:ext uri="{FF2B5EF4-FFF2-40B4-BE49-F238E27FC236}">
                <a16:creationId xmlns:a16="http://schemas.microsoft.com/office/drawing/2014/main" id="{548CD170-7999-6481-A11E-9E7C3F05A7FB}"/>
              </a:ext>
            </a:extLst>
          </p:cNvPr>
          <p:cNvCxnSpPr/>
          <p:nvPr/>
        </p:nvCxnSpPr>
        <p:spPr>
          <a:xfrm>
            <a:off x="8509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9" name="lattice-1-edge-1-2">
            <a:extLst>
              <a:ext uri="{FF2B5EF4-FFF2-40B4-BE49-F238E27FC236}">
                <a16:creationId xmlns:a16="http://schemas.microsoft.com/office/drawing/2014/main" id="{D092B534-15D9-03A4-B12F-EC7A5BA99DF0}"/>
              </a:ext>
            </a:extLst>
          </p:cNvPr>
          <p:cNvCxnSpPr/>
          <p:nvPr/>
        </p:nvCxnSpPr>
        <p:spPr>
          <a:xfrm>
            <a:off x="16764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0" name="lattice-1-edge-1-4">
            <a:extLst>
              <a:ext uri="{FF2B5EF4-FFF2-40B4-BE49-F238E27FC236}">
                <a16:creationId xmlns:a16="http://schemas.microsoft.com/office/drawing/2014/main" id="{6F5B0651-181A-1341-100D-35FC4B1FF473}"/>
              </a:ext>
            </a:extLst>
          </p:cNvPr>
          <p:cNvCxnSpPr/>
          <p:nvPr/>
        </p:nvCxnSpPr>
        <p:spPr>
          <a:xfrm>
            <a:off x="16764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1" name="lattice-1-edge-2-5">
            <a:extLst>
              <a:ext uri="{FF2B5EF4-FFF2-40B4-BE49-F238E27FC236}">
                <a16:creationId xmlns:a16="http://schemas.microsoft.com/office/drawing/2014/main" id="{CDE0E7B4-82D7-C049-BBD4-96F533519B51}"/>
              </a:ext>
            </a:extLst>
          </p:cNvPr>
          <p:cNvCxnSpPr/>
          <p:nvPr/>
        </p:nvCxnSpPr>
        <p:spPr>
          <a:xfrm>
            <a:off x="25019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2" name="lattice-1-edge-3-4">
            <a:extLst>
              <a:ext uri="{FF2B5EF4-FFF2-40B4-BE49-F238E27FC236}">
                <a16:creationId xmlns:a16="http://schemas.microsoft.com/office/drawing/2014/main" id="{04125811-372A-97E4-1EFC-B5FB304D9763}"/>
              </a:ext>
            </a:extLst>
          </p:cNvPr>
          <p:cNvCxnSpPr/>
          <p:nvPr/>
        </p:nvCxnSpPr>
        <p:spPr>
          <a:xfrm>
            <a:off x="8509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3" name="lattice-1-edge-3-6">
            <a:extLst>
              <a:ext uri="{FF2B5EF4-FFF2-40B4-BE49-F238E27FC236}">
                <a16:creationId xmlns:a16="http://schemas.microsoft.com/office/drawing/2014/main" id="{B442E985-B1A3-D46C-6D78-F0302A526AED}"/>
              </a:ext>
            </a:extLst>
          </p:cNvPr>
          <p:cNvCxnSpPr/>
          <p:nvPr/>
        </p:nvCxnSpPr>
        <p:spPr>
          <a:xfrm>
            <a:off x="8509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4" name="lattice-1-edge-4-5">
            <a:extLst>
              <a:ext uri="{FF2B5EF4-FFF2-40B4-BE49-F238E27FC236}">
                <a16:creationId xmlns:a16="http://schemas.microsoft.com/office/drawing/2014/main" id="{9077B9D7-A941-D965-62AC-F6F017054EA3}"/>
              </a:ext>
            </a:extLst>
          </p:cNvPr>
          <p:cNvCxnSpPr/>
          <p:nvPr/>
        </p:nvCxnSpPr>
        <p:spPr>
          <a:xfrm>
            <a:off x="16764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5" name="lattice-1-edge-4-7">
            <a:extLst>
              <a:ext uri="{FF2B5EF4-FFF2-40B4-BE49-F238E27FC236}">
                <a16:creationId xmlns:a16="http://schemas.microsoft.com/office/drawing/2014/main" id="{19326F38-9D76-1765-7CE8-A7017D95A194}"/>
              </a:ext>
            </a:extLst>
          </p:cNvPr>
          <p:cNvCxnSpPr/>
          <p:nvPr/>
        </p:nvCxnSpPr>
        <p:spPr>
          <a:xfrm>
            <a:off x="16764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6" name="lattice-1-edge-5-8">
            <a:extLst>
              <a:ext uri="{FF2B5EF4-FFF2-40B4-BE49-F238E27FC236}">
                <a16:creationId xmlns:a16="http://schemas.microsoft.com/office/drawing/2014/main" id="{1F01C45D-2A8A-9309-522C-864F4E021F86}"/>
              </a:ext>
            </a:extLst>
          </p:cNvPr>
          <p:cNvCxnSpPr/>
          <p:nvPr/>
        </p:nvCxnSpPr>
        <p:spPr>
          <a:xfrm>
            <a:off x="25019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7" name="lattice-1-edge-6-7">
            <a:extLst>
              <a:ext uri="{FF2B5EF4-FFF2-40B4-BE49-F238E27FC236}">
                <a16:creationId xmlns:a16="http://schemas.microsoft.com/office/drawing/2014/main" id="{8AEC696B-F2A1-C2D4-7E94-90B4DF0F713F}"/>
              </a:ext>
            </a:extLst>
          </p:cNvPr>
          <p:cNvCxnSpPr/>
          <p:nvPr/>
        </p:nvCxnSpPr>
        <p:spPr>
          <a:xfrm>
            <a:off x="8509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8" name="lattice-1-edge-7-8">
            <a:extLst>
              <a:ext uri="{FF2B5EF4-FFF2-40B4-BE49-F238E27FC236}">
                <a16:creationId xmlns:a16="http://schemas.microsoft.com/office/drawing/2014/main" id="{A726826E-6BC7-727E-4F46-8B5CB5A6C077}"/>
              </a:ext>
            </a:extLst>
          </p:cNvPr>
          <p:cNvCxnSpPr/>
          <p:nvPr/>
        </p:nvCxnSpPr>
        <p:spPr>
          <a:xfrm>
            <a:off x="16764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19" name="lattice-1-vertex-0">
            <a:extLst>
              <a:ext uri="{FF2B5EF4-FFF2-40B4-BE49-F238E27FC236}">
                <a16:creationId xmlns:a16="http://schemas.microsoft.com/office/drawing/2014/main" id="{01466B56-3671-1B4A-B9BB-609FC9427D71}"/>
              </a:ext>
            </a:extLst>
          </p:cNvPr>
          <p:cNvSpPr/>
          <p:nvPr/>
        </p:nvSpPr>
        <p:spPr>
          <a:xfrm>
            <a:off x="7874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lattice-1-vertex-1">
            <a:extLst>
              <a:ext uri="{FF2B5EF4-FFF2-40B4-BE49-F238E27FC236}">
                <a16:creationId xmlns:a16="http://schemas.microsoft.com/office/drawing/2014/main" id="{27A22720-2490-AF3E-423B-DA9CAD9BCA98}"/>
              </a:ext>
            </a:extLst>
          </p:cNvPr>
          <p:cNvSpPr/>
          <p:nvPr/>
        </p:nvSpPr>
        <p:spPr>
          <a:xfrm>
            <a:off x="16129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lattice-1-vertex-2">
            <a:extLst>
              <a:ext uri="{FF2B5EF4-FFF2-40B4-BE49-F238E27FC236}">
                <a16:creationId xmlns:a16="http://schemas.microsoft.com/office/drawing/2014/main" id="{03B41C1A-982A-AAAC-80F3-06BFAE65317F}"/>
              </a:ext>
            </a:extLst>
          </p:cNvPr>
          <p:cNvSpPr/>
          <p:nvPr/>
        </p:nvSpPr>
        <p:spPr>
          <a:xfrm>
            <a:off x="24384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lattice-1-vertex-3">
            <a:extLst>
              <a:ext uri="{FF2B5EF4-FFF2-40B4-BE49-F238E27FC236}">
                <a16:creationId xmlns:a16="http://schemas.microsoft.com/office/drawing/2014/main" id="{B110D8C6-604C-FBB9-7E37-1178733EEACF}"/>
              </a:ext>
            </a:extLst>
          </p:cNvPr>
          <p:cNvSpPr/>
          <p:nvPr/>
        </p:nvSpPr>
        <p:spPr>
          <a:xfrm>
            <a:off x="7874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lattice-1-vertex-4">
            <a:extLst>
              <a:ext uri="{FF2B5EF4-FFF2-40B4-BE49-F238E27FC236}">
                <a16:creationId xmlns:a16="http://schemas.microsoft.com/office/drawing/2014/main" id="{EC7E1FC9-EF65-1722-37DC-48673649EE68}"/>
              </a:ext>
            </a:extLst>
          </p:cNvPr>
          <p:cNvSpPr/>
          <p:nvPr/>
        </p:nvSpPr>
        <p:spPr>
          <a:xfrm>
            <a:off x="16129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lattice-1-vertex-5">
            <a:extLst>
              <a:ext uri="{FF2B5EF4-FFF2-40B4-BE49-F238E27FC236}">
                <a16:creationId xmlns:a16="http://schemas.microsoft.com/office/drawing/2014/main" id="{C54E1AFE-EDAF-F9C7-32D6-A95105E3E8B2}"/>
              </a:ext>
            </a:extLst>
          </p:cNvPr>
          <p:cNvSpPr/>
          <p:nvPr/>
        </p:nvSpPr>
        <p:spPr>
          <a:xfrm>
            <a:off x="24384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lattice-1-vertex-6">
            <a:extLst>
              <a:ext uri="{FF2B5EF4-FFF2-40B4-BE49-F238E27FC236}">
                <a16:creationId xmlns:a16="http://schemas.microsoft.com/office/drawing/2014/main" id="{34E14087-1FAB-3AAE-1198-71F9AFBF0575}"/>
              </a:ext>
            </a:extLst>
          </p:cNvPr>
          <p:cNvSpPr/>
          <p:nvPr/>
        </p:nvSpPr>
        <p:spPr>
          <a:xfrm>
            <a:off x="7874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lattice-1-vertex-7">
            <a:extLst>
              <a:ext uri="{FF2B5EF4-FFF2-40B4-BE49-F238E27FC236}">
                <a16:creationId xmlns:a16="http://schemas.microsoft.com/office/drawing/2014/main" id="{63DB32A9-5925-D6F5-7651-D75E62A3E698}"/>
              </a:ext>
            </a:extLst>
          </p:cNvPr>
          <p:cNvSpPr/>
          <p:nvPr/>
        </p:nvSpPr>
        <p:spPr>
          <a:xfrm>
            <a:off x="16129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lattice-1-vertex-8">
            <a:extLst>
              <a:ext uri="{FF2B5EF4-FFF2-40B4-BE49-F238E27FC236}">
                <a16:creationId xmlns:a16="http://schemas.microsoft.com/office/drawing/2014/main" id="{05335B3D-E472-B8C2-1956-FB81EA6F939D}"/>
              </a:ext>
            </a:extLst>
          </p:cNvPr>
          <p:cNvSpPr/>
          <p:nvPr/>
        </p:nvSpPr>
        <p:spPr>
          <a:xfrm>
            <a:off x="24384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text-27">
            <a:extLst>
              <a:ext uri="{FF2B5EF4-FFF2-40B4-BE49-F238E27FC236}">
                <a16:creationId xmlns:a16="http://schemas.microsoft.com/office/drawing/2014/main" id="{0F563E9C-05FC-4719-3E34-9D21979F7F7E}"/>
              </a:ext>
            </a:extLst>
          </p:cNvPr>
          <p:cNvSpPr txBox="1"/>
          <p:nvPr/>
        </p:nvSpPr>
        <p:spPr>
          <a:xfrm>
            <a:off x="508000" y="4826000"/>
            <a:ext cx="2413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左上と右下を指定</a:t>
            </a:r>
          </a:p>
        </p:txBody>
      </p:sp>
      <p:sp>
        <p:nvSpPr>
          <p:cNvPr id="29" name="text-28">
            <a:extLst>
              <a:ext uri="{FF2B5EF4-FFF2-40B4-BE49-F238E27FC236}">
                <a16:creationId xmlns:a16="http://schemas.microsoft.com/office/drawing/2014/main" id="{B66EDAA7-2816-709B-B54E-E9C937EAC650}"/>
              </a:ext>
            </a:extLst>
          </p:cNvPr>
          <p:cNvSpPr txBox="1"/>
          <p:nvPr/>
        </p:nvSpPr>
        <p:spPr>
          <a:xfrm>
            <a:off x="34544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② 最短経路を調べる</a:t>
            </a:r>
          </a:p>
        </p:txBody>
      </p:sp>
      <p:cxnSp>
        <p:nvCxnSpPr>
          <p:cNvPr id="30" name="lattice-2-edge-0-1">
            <a:extLst>
              <a:ext uri="{FF2B5EF4-FFF2-40B4-BE49-F238E27FC236}">
                <a16:creationId xmlns:a16="http://schemas.microsoft.com/office/drawing/2014/main" id="{750D4B37-59A4-6182-E345-EC9186B9EFA6}"/>
              </a:ext>
            </a:extLst>
          </p:cNvPr>
          <p:cNvCxnSpPr/>
          <p:nvPr/>
        </p:nvCxnSpPr>
        <p:spPr>
          <a:xfrm>
            <a:off x="37973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1" name="lattice-2-edge-0-3">
            <a:extLst>
              <a:ext uri="{FF2B5EF4-FFF2-40B4-BE49-F238E27FC236}">
                <a16:creationId xmlns:a16="http://schemas.microsoft.com/office/drawing/2014/main" id="{BF50C9E6-8709-D02E-A925-58541BB808D9}"/>
              </a:ext>
            </a:extLst>
          </p:cNvPr>
          <p:cNvCxnSpPr/>
          <p:nvPr/>
        </p:nvCxnSpPr>
        <p:spPr>
          <a:xfrm>
            <a:off x="37973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2" name="lattice-2-edge-1-2">
            <a:extLst>
              <a:ext uri="{FF2B5EF4-FFF2-40B4-BE49-F238E27FC236}">
                <a16:creationId xmlns:a16="http://schemas.microsoft.com/office/drawing/2014/main" id="{917C8AD9-6343-70D5-17F6-06FBC1C5FAB6}"/>
              </a:ext>
            </a:extLst>
          </p:cNvPr>
          <p:cNvCxnSpPr/>
          <p:nvPr/>
        </p:nvCxnSpPr>
        <p:spPr>
          <a:xfrm>
            <a:off x="46228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3" name="lattice-2-edge-1-4">
            <a:extLst>
              <a:ext uri="{FF2B5EF4-FFF2-40B4-BE49-F238E27FC236}">
                <a16:creationId xmlns:a16="http://schemas.microsoft.com/office/drawing/2014/main" id="{FB031B30-486B-4C2F-DFE5-BD0191BFE3EE}"/>
              </a:ext>
            </a:extLst>
          </p:cNvPr>
          <p:cNvCxnSpPr/>
          <p:nvPr/>
        </p:nvCxnSpPr>
        <p:spPr>
          <a:xfrm>
            <a:off x="46228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4" name="lattice-2-edge-2-5">
            <a:extLst>
              <a:ext uri="{FF2B5EF4-FFF2-40B4-BE49-F238E27FC236}">
                <a16:creationId xmlns:a16="http://schemas.microsoft.com/office/drawing/2014/main" id="{FBF80DBD-FE07-649A-6977-967A437F7AD9}"/>
              </a:ext>
            </a:extLst>
          </p:cNvPr>
          <p:cNvCxnSpPr/>
          <p:nvPr/>
        </p:nvCxnSpPr>
        <p:spPr>
          <a:xfrm>
            <a:off x="54483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5" name="lattice-2-edge-3-4">
            <a:extLst>
              <a:ext uri="{FF2B5EF4-FFF2-40B4-BE49-F238E27FC236}">
                <a16:creationId xmlns:a16="http://schemas.microsoft.com/office/drawing/2014/main" id="{DBF27E84-4390-87BD-7257-F50535716C5B}"/>
              </a:ext>
            </a:extLst>
          </p:cNvPr>
          <p:cNvCxnSpPr/>
          <p:nvPr/>
        </p:nvCxnSpPr>
        <p:spPr>
          <a:xfrm>
            <a:off x="37973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6" name="lattice-2-edge-3-6">
            <a:extLst>
              <a:ext uri="{FF2B5EF4-FFF2-40B4-BE49-F238E27FC236}">
                <a16:creationId xmlns:a16="http://schemas.microsoft.com/office/drawing/2014/main" id="{923A5FB0-559F-9689-205A-7E0444299BF9}"/>
              </a:ext>
            </a:extLst>
          </p:cNvPr>
          <p:cNvCxnSpPr/>
          <p:nvPr/>
        </p:nvCxnSpPr>
        <p:spPr>
          <a:xfrm>
            <a:off x="37973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7" name="lattice-2-edge-4-5">
            <a:extLst>
              <a:ext uri="{FF2B5EF4-FFF2-40B4-BE49-F238E27FC236}">
                <a16:creationId xmlns:a16="http://schemas.microsoft.com/office/drawing/2014/main" id="{B99E4182-FAE7-2C95-A486-09BC167435A2}"/>
              </a:ext>
            </a:extLst>
          </p:cNvPr>
          <p:cNvCxnSpPr/>
          <p:nvPr/>
        </p:nvCxnSpPr>
        <p:spPr>
          <a:xfrm>
            <a:off x="46228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8" name="lattice-2-edge-4-7">
            <a:extLst>
              <a:ext uri="{FF2B5EF4-FFF2-40B4-BE49-F238E27FC236}">
                <a16:creationId xmlns:a16="http://schemas.microsoft.com/office/drawing/2014/main" id="{312DB6A7-52EC-C09F-9E1F-AA5B113EE289}"/>
              </a:ext>
            </a:extLst>
          </p:cNvPr>
          <p:cNvCxnSpPr/>
          <p:nvPr/>
        </p:nvCxnSpPr>
        <p:spPr>
          <a:xfrm>
            <a:off x="46228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9" name="lattice-2-edge-5-8">
            <a:extLst>
              <a:ext uri="{FF2B5EF4-FFF2-40B4-BE49-F238E27FC236}">
                <a16:creationId xmlns:a16="http://schemas.microsoft.com/office/drawing/2014/main" id="{70C24E50-7ABD-24A6-D73F-55F317BC4C41}"/>
              </a:ext>
            </a:extLst>
          </p:cNvPr>
          <p:cNvCxnSpPr/>
          <p:nvPr/>
        </p:nvCxnSpPr>
        <p:spPr>
          <a:xfrm>
            <a:off x="54483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40" name="lattice-2-edge-6-7">
            <a:extLst>
              <a:ext uri="{FF2B5EF4-FFF2-40B4-BE49-F238E27FC236}">
                <a16:creationId xmlns:a16="http://schemas.microsoft.com/office/drawing/2014/main" id="{D1E84728-738E-CD0F-789A-4512F9281444}"/>
              </a:ext>
            </a:extLst>
          </p:cNvPr>
          <p:cNvCxnSpPr/>
          <p:nvPr/>
        </p:nvCxnSpPr>
        <p:spPr>
          <a:xfrm>
            <a:off x="37973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41" name="lattice-2-edge-7-8">
            <a:extLst>
              <a:ext uri="{FF2B5EF4-FFF2-40B4-BE49-F238E27FC236}">
                <a16:creationId xmlns:a16="http://schemas.microsoft.com/office/drawing/2014/main" id="{9E181F4E-7064-A264-55B4-2A9168A66579}"/>
              </a:ext>
            </a:extLst>
          </p:cNvPr>
          <p:cNvCxnSpPr/>
          <p:nvPr/>
        </p:nvCxnSpPr>
        <p:spPr>
          <a:xfrm>
            <a:off x="46228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42" name="lattice-2-vertex-0">
            <a:extLst>
              <a:ext uri="{FF2B5EF4-FFF2-40B4-BE49-F238E27FC236}">
                <a16:creationId xmlns:a16="http://schemas.microsoft.com/office/drawing/2014/main" id="{8A3D679C-D03B-4EBA-CF63-1DC37678FF12}"/>
              </a:ext>
            </a:extLst>
          </p:cNvPr>
          <p:cNvSpPr/>
          <p:nvPr/>
        </p:nvSpPr>
        <p:spPr>
          <a:xfrm>
            <a:off x="37338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lattice-2-vertex-1">
            <a:extLst>
              <a:ext uri="{FF2B5EF4-FFF2-40B4-BE49-F238E27FC236}">
                <a16:creationId xmlns:a16="http://schemas.microsoft.com/office/drawing/2014/main" id="{78CC4509-4F94-155E-56D5-C65510378573}"/>
              </a:ext>
            </a:extLst>
          </p:cNvPr>
          <p:cNvSpPr/>
          <p:nvPr/>
        </p:nvSpPr>
        <p:spPr>
          <a:xfrm>
            <a:off x="45593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lattice-2-vertex-2">
            <a:extLst>
              <a:ext uri="{FF2B5EF4-FFF2-40B4-BE49-F238E27FC236}">
                <a16:creationId xmlns:a16="http://schemas.microsoft.com/office/drawing/2014/main" id="{30FD2D80-922D-E664-9AB3-109A70CA9F39}"/>
              </a:ext>
            </a:extLst>
          </p:cNvPr>
          <p:cNvSpPr/>
          <p:nvPr/>
        </p:nvSpPr>
        <p:spPr>
          <a:xfrm>
            <a:off x="53848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lattice-2-vertex-3">
            <a:extLst>
              <a:ext uri="{FF2B5EF4-FFF2-40B4-BE49-F238E27FC236}">
                <a16:creationId xmlns:a16="http://schemas.microsoft.com/office/drawing/2014/main" id="{8935DFD6-67DF-4CCD-182F-68BDFF9ED13D}"/>
              </a:ext>
            </a:extLst>
          </p:cNvPr>
          <p:cNvSpPr/>
          <p:nvPr/>
        </p:nvSpPr>
        <p:spPr>
          <a:xfrm>
            <a:off x="37338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lattice-2-vertex-4">
            <a:extLst>
              <a:ext uri="{FF2B5EF4-FFF2-40B4-BE49-F238E27FC236}">
                <a16:creationId xmlns:a16="http://schemas.microsoft.com/office/drawing/2014/main" id="{2E410DEB-0D7E-772F-8C96-CFCC564E6FE5}"/>
              </a:ext>
            </a:extLst>
          </p:cNvPr>
          <p:cNvSpPr/>
          <p:nvPr/>
        </p:nvSpPr>
        <p:spPr>
          <a:xfrm>
            <a:off x="45593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lattice-2-vertex-5">
            <a:extLst>
              <a:ext uri="{FF2B5EF4-FFF2-40B4-BE49-F238E27FC236}">
                <a16:creationId xmlns:a16="http://schemas.microsoft.com/office/drawing/2014/main" id="{48D642D2-8C9F-315D-CAA9-41FC67CEF9BD}"/>
              </a:ext>
            </a:extLst>
          </p:cNvPr>
          <p:cNvSpPr/>
          <p:nvPr/>
        </p:nvSpPr>
        <p:spPr>
          <a:xfrm>
            <a:off x="53848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lattice-2-vertex-6">
            <a:extLst>
              <a:ext uri="{FF2B5EF4-FFF2-40B4-BE49-F238E27FC236}">
                <a16:creationId xmlns:a16="http://schemas.microsoft.com/office/drawing/2014/main" id="{BAC927FA-9E30-FAFB-8234-24980DF282F5}"/>
              </a:ext>
            </a:extLst>
          </p:cNvPr>
          <p:cNvSpPr/>
          <p:nvPr/>
        </p:nvSpPr>
        <p:spPr>
          <a:xfrm>
            <a:off x="37338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lattice-2-vertex-7">
            <a:extLst>
              <a:ext uri="{FF2B5EF4-FFF2-40B4-BE49-F238E27FC236}">
                <a16:creationId xmlns:a16="http://schemas.microsoft.com/office/drawing/2014/main" id="{1EA84539-36B0-8028-A67B-9564887C1849}"/>
              </a:ext>
            </a:extLst>
          </p:cNvPr>
          <p:cNvSpPr/>
          <p:nvPr/>
        </p:nvSpPr>
        <p:spPr>
          <a:xfrm>
            <a:off x="45593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lattice-2-vertex-8">
            <a:extLst>
              <a:ext uri="{FF2B5EF4-FFF2-40B4-BE49-F238E27FC236}">
                <a16:creationId xmlns:a16="http://schemas.microsoft.com/office/drawing/2014/main" id="{A8060FFC-D852-C775-56BA-307D0103F8A8}"/>
              </a:ext>
            </a:extLst>
          </p:cNvPr>
          <p:cNvSpPr/>
          <p:nvPr/>
        </p:nvSpPr>
        <p:spPr>
          <a:xfrm>
            <a:off x="53848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text-50">
            <a:extLst>
              <a:ext uri="{FF2B5EF4-FFF2-40B4-BE49-F238E27FC236}">
                <a16:creationId xmlns:a16="http://schemas.microsoft.com/office/drawing/2014/main" id="{663B2F84-2EBC-3940-53A0-F699BAA3F7EC}"/>
              </a:ext>
            </a:extLst>
          </p:cNvPr>
          <p:cNvSpPr txBox="1"/>
          <p:nvPr/>
        </p:nvSpPr>
        <p:spPr>
          <a:xfrm>
            <a:off x="3454400" y="4826000"/>
            <a:ext cx="2413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長さ</a:t>
            </a:r>
            <a:r>
              <a:rPr kumimoji="1" lang="en-US" altLang="ja-JP" sz="1600">
                <a:solidFill>
                  <a:srgbClr val="253746"/>
                </a:solidFill>
                <a:latin typeface="Meiryo" panose="020B0604030504040204" pitchFamily="50" charset="-128"/>
                <a:ea typeface="Meiryo" panose="020B0604030504040204" pitchFamily="50" charset="-128"/>
              </a:rPr>
              <a:t>4</a:t>
            </a:r>
            <a:r>
              <a:rPr kumimoji="1" lang="ja-JP" altLang="en-US" sz="1600">
                <a:solidFill>
                  <a:srgbClr val="253746"/>
                </a:solidFill>
                <a:latin typeface="Meiryo" panose="020B0604030504040204" pitchFamily="50" charset="-128"/>
                <a:ea typeface="Meiryo" panose="020B0604030504040204" pitchFamily="50" charset="-128"/>
              </a:rPr>
              <a:t>の経路が</a:t>
            </a:r>
            <a:r>
              <a:rPr kumimoji="1" lang="en-US" altLang="ja-JP" sz="1600">
                <a:solidFill>
                  <a:srgbClr val="253746"/>
                </a:solidFill>
                <a:latin typeface="Meiryo" panose="020B0604030504040204" pitchFamily="50" charset="-128"/>
                <a:ea typeface="Meiryo" panose="020B0604030504040204" pitchFamily="50" charset="-128"/>
              </a:rPr>
              <a:t>6</a:t>
            </a:r>
            <a:r>
              <a:rPr kumimoji="1" lang="ja-JP" altLang="en-US" sz="1600">
                <a:solidFill>
                  <a:srgbClr val="253746"/>
                </a:solidFill>
                <a:latin typeface="Meiryo" panose="020B0604030504040204" pitchFamily="50" charset="-128"/>
                <a:ea typeface="Meiryo" panose="020B0604030504040204" pitchFamily="50" charset="-128"/>
              </a:rPr>
              <a:t>本</a:t>
            </a:r>
          </a:p>
        </p:txBody>
      </p:sp>
      <p:sp>
        <p:nvSpPr>
          <p:cNvPr id="52" name="text-51">
            <a:extLst>
              <a:ext uri="{FF2B5EF4-FFF2-40B4-BE49-F238E27FC236}">
                <a16:creationId xmlns:a16="http://schemas.microsoft.com/office/drawing/2014/main" id="{03976FD1-B3EA-E516-639A-30E3E2F4DE14}"/>
              </a:ext>
            </a:extLst>
          </p:cNvPr>
          <p:cNvSpPr txBox="1"/>
          <p:nvPr/>
        </p:nvSpPr>
        <p:spPr>
          <a:xfrm>
            <a:off x="64008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③ 最短経路を</a:t>
            </a:r>
            <a:r>
              <a:rPr kumimoji="1" lang="en-US" altLang="ja-JP" sz="1700" b="1">
                <a:solidFill>
                  <a:srgbClr val="17365D"/>
                </a:solidFill>
                <a:latin typeface="Meiryo" panose="020B0604030504040204" pitchFamily="50" charset="-128"/>
                <a:ea typeface="Meiryo" panose="020B0604030504040204" pitchFamily="50" charset="-128"/>
              </a:rPr>
              <a:t>1</a:t>
            </a:r>
            <a:r>
              <a:rPr kumimoji="1" lang="ja-JP" altLang="en-US" sz="1700" b="1">
                <a:solidFill>
                  <a:srgbClr val="17365D"/>
                </a:solidFill>
                <a:latin typeface="Meiryo" panose="020B0604030504040204" pitchFamily="50" charset="-128"/>
                <a:ea typeface="Meiryo" panose="020B0604030504040204" pitchFamily="50" charset="-128"/>
              </a:rPr>
              <a:t>本選ぶ</a:t>
            </a:r>
          </a:p>
        </p:txBody>
      </p:sp>
      <p:cxnSp>
        <p:nvCxnSpPr>
          <p:cNvPr id="53" name="lattice-3-edge-0-1">
            <a:extLst>
              <a:ext uri="{FF2B5EF4-FFF2-40B4-BE49-F238E27FC236}">
                <a16:creationId xmlns:a16="http://schemas.microsoft.com/office/drawing/2014/main" id="{DC9AD3A9-C271-4FF1-4BB6-B963F9AB53C2}"/>
              </a:ext>
            </a:extLst>
          </p:cNvPr>
          <p:cNvCxnSpPr/>
          <p:nvPr/>
        </p:nvCxnSpPr>
        <p:spPr>
          <a:xfrm>
            <a:off x="6743700" y="2667000"/>
            <a:ext cx="825500" cy="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4" name="lattice-3-edge-0-3">
            <a:extLst>
              <a:ext uri="{FF2B5EF4-FFF2-40B4-BE49-F238E27FC236}">
                <a16:creationId xmlns:a16="http://schemas.microsoft.com/office/drawing/2014/main" id="{511BC02B-1E43-677E-423E-23899295E305}"/>
              </a:ext>
            </a:extLst>
          </p:cNvPr>
          <p:cNvCxnSpPr/>
          <p:nvPr/>
        </p:nvCxnSpPr>
        <p:spPr>
          <a:xfrm>
            <a:off x="67437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5" name="lattice-3-edge-1-2">
            <a:extLst>
              <a:ext uri="{FF2B5EF4-FFF2-40B4-BE49-F238E27FC236}">
                <a16:creationId xmlns:a16="http://schemas.microsoft.com/office/drawing/2014/main" id="{3236D1F2-C965-BA3F-6953-6D822D570479}"/>
              </a:ext>
            </a:extLst>
          </p:cNvPr>
          <p:cNvCxnSpPr/>
          <p:nvPr/>
        </p:nvCxnSpPr>
        <p:spPr>
          <a:xfrm>
            <a:off x="7569200" y="2667000"/>
            <a:ext cx="825500" cy="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6" name="lattice-3-edge-1-4">
            <a:extLst>
              <a:ext uri="{FF2B5EF4-FFF2-40B4-BE49-F238E27FC236}">
                <a16:creationId xmlns:a16="http://schemas.microsoft.com/office/drawing/2014/main" id="{DAC2CE7F-66BE-3BAC-086A-5E5E7A4ADBFB}"/>
              </a:ext>
            </a:extLst>
          </p:cNvPr>
          <p:cNvCxnSpPr/>
          <p:nvPr/>
        </p:nvCxnSpPr>
        <p:spPr>
          <a:xfrm>
            <a:off x="75692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7" name="lattice-3-edge-2-5">
            <a:extLst>
              <a:ext uri="{FF2B5EF4-FFF2-40B4-BE49-F238E27FC236}">
                <a16:creationId xmlns:a16="http://schemas.microsoft.com/office/drawing/2014/main" id="{498C15CB-0933-7C03-53A2-63E4B90DD5E7}"/>
              </a:ext>
            </a:extLst>
          </p:cNvPr>
          <p:cNvCxnSpPr/>
          <p:nvPr/>
        </p:nvCxnSpPr>
        <p:spPr>
          <a:xfrm>
            <a:off x="8394700" y="2667000"/>
            <a:ext cx="0" cy="82550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8" name="lattice-3-edge-3-4">
            <a:extLst>
              <a:ext uri="{FF2B5EF4-FFF2-40B4-BE49-F238E27FC236}">
                <a16:creationId xmlns:a16="http://schemas.microsoft.com/office/drawing/2014/main" id="{EC084654-B9B9-D5DC-27F6-DF169CDB7343}"/>
              </a:ext>
            </a:extLst>
          </p:cNvPr>
          <p:cNvCxnSpPr/>
          <p:nvPr/>
        </p:nvCxnSpPr>
        <p:spPr>
          <a:xfrm>
            <a:off x="67437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9" name="lattice-3-edge-3-6">
            <a:extLst>
              <a:ext uri="{FF2B5EF4-FFF2-40B4-BE49-F238E27FC236}">
                <a16:creationId xmlns:a16="http://schemas.microsoft.com/office/drawing/2014/main" id="{EFCE21E7-DF12-B7EC-5FC5-3D3007A57E89}"/>
              </a:ext>
            </a:extLst>
          </p:cNvPr>
          <p:cNvCxnSpPr/>
          <p:nvPr/>
        </p:nvCxnSpPr>
        <p:spPr>
          <a:xfrm>
            <a:off x="67437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0" name="lattice-3-edge-4-5">
            <a:extLst>
              <a:ext uri="{FF2B5EF4-FFF2-40B4-BE49-F238E27FC236}">
                <a16:creationId xmlns:a16="http://schemas.microsoft.com/office/drawing/2014/main" id="{F177FD84-6584-7B94-3DA9-2EB48B4933AF}"/>
              </a:ext>
            </a:extLst>
          </p:cNvPr>
          <p:cNvCxnSpPr/>
          <p:nvPr/>
        </p:nvCxnSpPr>
        <p:spPr>
          <a:xfrm>
            <a:off x="75692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1" name="lattice-3-edge-4-7">
            <a:extLst>
              <a:ext uri="{FF2B5EF4-FFF2-40B4-BE49-F238E27FC236}">
                <a16:creationId xmlns:a16="http://schemas.microsoft.com/office/drawing/2014/main" id="{50F9C4F7-F3D5-82A3-B3A3-11DCD6214857}"/>
              </a:ext>
            </a:extLst>
          </p:cNvPr>
          <p:cNvCxnSpPr/>
          <p:nvPr/>
        </p:nvCxnSpPr>
        <p:spPr>
          <a:xfrm>
            <a:off x="75692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2" name="lattice-3-edge-5-8">
            <a:extLst>
              <a:ext uri="{FF2B5EF4-FFF2-40B4-BE49-F238E27FC236}">
                <a16:creationId xmlns:a16="http://schemas.microsoft.com/office/drawing/2014/main" id="{A861AB42-FA5F-ACCB-2C83-F650F9D41F86}"/>
              </a:ext>
            </a:extLst>
          </p:cNvPr>
          <p:cNvCxnSpPr/>
          <p:nvPr/>
        </p:nvCxnSpPr>
        <p:spPr>
          <a:xfrm>
            <a:off x="8394700" y="3492500"/>
            <a:ext cx="0" cy="82550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63" name="lattice-3-edge-6-7">
            <a:extLst>
              <a:ext uri="{FF2B5EF4-FFF2-40B4-BE49-F238E27FC236}">
                <a16:creationId xmlns:a16="http://schemas.microsoft.com/office/drawing/2014/main" id="{05CEE992-7D05-C107-A854-BBB1F63757F0}"/>
              </a:ext>
            </a:extLst>
          </p:cNvPr>
          <p:cNvCxnSpPr/>
          <p:nvPr/>
        </p:nvCxnSpPr>
        <p:spPr>
          <a:xfrm>
            <a:off x="67437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4" name="lattice-3-edge-7-8">
            <a:extLst>
              <a:ext uri="{FF2B5EF4-FFF2-40B4-BE49-F238E27FC236}">
                <a16:creationId xmlns:a16="http://schemas.microsoft.com/office/drawing/2014/main" id="{A4C452A7-9217-82EC-1931-7C6963757939}"/>
              </a:ext>
            </a:extLst>
          </p:cNvPr>
          <p:cNvCxnSpPr/>
          <p:nvPr/>
        </p:nvCxnSpPr>
        <p:spPr>
          <a:xfrm>
            <a:off x="75692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65" name="lattice-3-vertex-0">
            <a:extLst>
              <a:ext uri="{FF2B5EF4-FFF2-40B4-BE49-F238E27FC236}">
                <a16:creationId xmlns:a16="http://schemas.microsoft.com/office/drawing/2014/main" id="{8D08EA87-61DE-2A25-C505-E5C282B1110E}"/>
              </a:ext>
            </a:extLst>
          </p:cNvPr>
          <p:cNvSpPr/>
          <p:nvPr/>
        </p:nvSpPr>
        <p:spPr>
          <a:xfrm>
            <a:off x="66802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lattice-3-vertex-1">
            <a:extLst>
              <a:ext uri="{FF2B5EF4-FFF2-40B4-BE49-F238E27FC236}">
                <a16:creationId xmlns:a16="http://schemas.microsoft.com/office/drawing/2014/main" id="{D4B70265-5032-DAB4-110D-7427DA8E1F49}"/>
              </a:ext>
            </a:extLst>
          </p:cNvPr>
          <p:cNvSpPr/>
          <p:nvPr/>
        </p:nvSpPr>
        <p:spPr>
          <a:xfrm>
            <a:off x="75057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lattice-3-vertex-2">
            <a:extLst>
              <a:ext uri="{FF2B5EF4-FFF2-40B4-BE49-F238E27FC236}">
                <a16:creationId xmlns:a16="http://schemas.microsoft.com/office/drawing/2014/main" id="{A2D17AA6-3413-330E-5BCE-AE41F2F276EE}"/>
              </a:ext>
            </a:extLst>
          </p:cNvPr>
          <p:cNvSpPr/>
          <p:nvPr/>
        </p:nvSpPr>
        <p:spPr>
          <a:xfrm>
            <a:off x="83312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lattice-3-vertex-3">
            <a:extLst>
              <a:ext uri="{FF2B5EF4-FFF2-40B4-BE49-F238E27FC236}">
                <a16:creationId xmlns:a16="http://schemas.microsoft.com/office/drawing/2014/main" id="{7223FFCD-B8AC-4F5C-6F35-D4A12DBB3CF4}"/>
              </a:ext>
            </a:extLst>
          </p:cNvPr>
          <p:cNvSpPr/>
          <p:nvPr/>
        </p:nvSpPr>
        <p:spPr>
          <a:xfrm>
            <a:off x="66802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lattice-3-vertex-4">
            <a:extLst>
              <a:ext uri="{FF2B5EF4-FFF2-40B4-BE49-F238E27FC236}">
                <a16:creationId xmlns:a16="http://schemas.microsoft.com/office/drawing/2014/main" id="{8774C296-A541-8568-C21E-C97E22B5DA7D}"/>
              </a:ext>
            </a:extLst>
          </p:cNvPr>
          <p:cNvSpPr/>
          <p:nvPr/>
        </p:nvSpPr>
        <p:spPr>
          <a:xfrm>
            <a:off x="75057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lattice-3-vertex-5">
            <a:extLst>
              <a:ext uri="{FF2B5EF4-FFF2-40B4-BE49-F238E27FC236}">
                <a16:creationId xmlns:a16="http://schemas.microsoft.com/office/drawing/2014/main" id="{8268EA24-484D-EBCF-2DDA-ED16BC6B3D76}"/>
              </a:ext>
            </a:extLst>
          </p:cNvPr>
          <p:cNvSpPr/>
          <p:nvPr/>
        </p:nvSpPr>
        <p:spPr>
          <a:xfrm>
            <a:off x="83312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lattice-3-vertex-6">
            <a:extLst>
              <a:ext uri="{FF2B5EF4-FFF2-40B4-BE49-F238E27FC236}">
                <a16:creationId xmlns:a16="http://schemas.microsoft.com/office/drawing/2014/main" id="{5F56E566-E44E-FB33-AC77-D884070FD308}"/>
              </a:ext>
            </a:extLst>
          </p:cNvPr>
          <p:cNvSpPr/>
          <p:nvPr/>
        </p:nvSpPr>
        <p:spPr>
          <a:xfrm>
            <a:off x="66802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lattice-3-vertex-7">
            <a:extLst>
              <a:ext uri="{FF2B5EF4-FFF2-40B4-BE49-F238E27FC236}">
                <a16:creationId xmlns:a16="http://schemas.microsoft.com/office/drawing/2014/main" id="{E8F4D67F-EC9E-42AC-AAC4-9DA427A224F7}"/>
              </a:ext>
            </a:extLst>
          </p:cNvPr>
          <p:cNvSpPr/>
          <p:nvPr/>
        </p:nvSpPr>
        <p:spPr>
          <a:xfrm>
            <a:off x="75057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lattice-3-vertex-8">
            <a:extLst>
              <a:ext uri="{FF2B5EF4-FFF2-40B4-BE49-F238E27FC236}">
                <a16:creationId xmlns:a16="http://schemas.microsoft.com/office/drawing/2014/main" id="{97A9FC88-0DEA-587A-22C0-D767219B28C9}"/>
              </a:ext>
            </a:extLst>
          </p:cNvPr>
          <p:cNvSpPr/>
          <p:nvPr/>
        </p:nvSpPr>
        <p:spPr>
          <a:xfrm>
            <a:off x="83312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text-73">
            <a:extLst>
              <a:ext uri="{FF2B5EF4-FFF2-40B4-BE49-F238E27FC236}">
                <a16:creationId xmlns:a16="http://schemas.microsoft.com/office/drawing/2014/main" id="{D428EEBC-9339-7E65-2517-9210A7CEB61E}"/>
              </a:ext>
            </a:extLst>
          </p:cNvPr>
          <p:cNvSpPr txBox="1"/>
          <p:nvPr/>
        </p:nvSpPr>
        <p:spPr>
          <a:xfrm>
            <a:off x="6400800" y="4826000"/>
            <a:ext cx="2413000" cy="276999"/>
          </a:xfrm>
          <a:prstGeom prst="rect">
            <a:avLst/>
          </a:prstGeom>
          <a:noFill/>
        </p:spPr>
        <p:txBody>
          <a:bodyPr vert="horz" wrap="square" lIns="0" tIns="0" rIns="0" bIns="0" rtlCol="0">
            <a:noAutofit/>
          </a:bodyPr>
          <a:lstStyle/>
          <a:p>
            <a:pPr>
              <a:lnSpc>
                <a:spcPct val="112000"/>
              </a:lnSpc>
            </a:pPr>
            <a:r>
              <a:rPr kumimoji="1" lang="en-US" altLang="ja-JP" sz="1600">
                <a:solidFill>
                  <a:srgbClr val="253746"/>
                </a:solidFill>
                <a:latin typeface="Meiryo" panose="020B0604030504040204" pitchFamily="50" charset="-128"/>
                <a:ea typeface="Meiryo" panose="020B0604030504040204" pitchFamily="50" charset="-128"/>
              </a:rPr>
              <a:t>C≥4</a:t>
            </a:r>
            <a:r>
              <a:rPr kumimoji="1" lang="ja-JP" altLang="en-US" sz="1600">
                <a:solidFill>
                  <a:srgbClr val="253746"/>
                </a:solidFill>
                <a:latin typeface="Meiryo" panose="020B0604030504040204" pitchFamily="50" charset="-128"/>
                <a:ea typeface="Meiryo" panose="020B0604030504040204" pitchFamily="50" charset="-128"/>
              </a:rPr>
              <a:t>なら、</a:t>
            </a:r>
            <a:r>
              <a:rPr kumimoji="1" lang="en-US" altLang="ja-JP" sz="1600">
                <a:solidFill>
                  <a:srgbClr val="253746"/>
                </a:solidFill>
                <a:latin typeface="Meiryo" panose="020B0604030504040204" pitchFamily="50" charset="-128"/>
                <a:ea typeface="Meiryo" panose="020B0604030504040204" pitchFamily="50" charset="-128"/>
              </a:rPr>
              <a:t>1</a:t>
            </a:r>
            <a:r>
              <a:rPr kumimoji="1" lang="ja-JP" altLang="en-US" sz="1600">
                <a:solidFill>
                  <a:srgbClr val="253746"/>
                </a:solidFill>
                <a:latin typeface="Meiryo" panose="020B0604030504040204" pitchFamily="50" charset="-128"/>
                <a:ea typeface="Meiryo" panose="020B0604030504040204" pitchFamily="50" charset="-128"/>
              </a:rPr>
              <a:t>本を
等確率で選ぶ</a:t>
            </a:r>
          </a:p>
        </p:txBody>
      </p:sp>
      <p:sp>
        <p:nvSpPr>
          <p:cNvPr id="75" name="text-74">
            <a:extLst>
              <a:ext uri="{FF2B5EF4-FFF2-40B4-BE49-F238E27FC236}">
                <a16:creationId xmlns:a16="http://schemas.microsoft.com/office/drawing/2014/main" id="{D18A3F0F-347D-6509-EF83-6A5B87785E87}"/>
              </a:ext>
            </a:extLst>
          </p:cNvPr>
          <p:cNvSpPr txBox="1"/>
          <p:nvPr/>
        </p:nvSpPr>
        <p:spPr>
          <a:xfrm>
            <a:off x="93472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④ 選んだ</a:t>
            </a:r>
            <a:r>
              <a:rPr kumimoji="1" lang="en-US" altLang="ja-JP" sz="1700" b="1">
                <a:solidFill>
                  <a:srgbClr val="17365D"/>
                </a:solidFill>
                <a:latin typeface="Meiryo" panose="020B0604030504040204" pitchFamily="50" charset="-128"/>
                <a:ea typeface="Meiryo" panose="020B0604030504040204" pitchFamily="50" charset="-128"/>
              </a:rPr>
              <a:t>4</a:t>
            </a:r>
            <a:r>
              <a:rPr kumimoji="1" lang="ja-JP" altLang="en-US" sz="1700" b="1">
                <a:solidFill>
                  <a:srgbClr val="17365D"/>
                </a:solidFill>
                <a:latin typeface="Meiryo" panose="020B0604030504040204" pitchFamily="50" charset="-128"/>
                <a:ea typeface="Meiryo" panose="020B0604030504040204" pitchFamily="50" charset="-128"/>
              </a:rPr>
              <a:t>辺を削除</a:t>
            </a:r>
          </a:p>
        </p:txBody>
      </p:sp>
      <p:cxnSp>
        <p:nvCxnSpPr>
          <p:cNvPr id="76" name="lattice-4-edge-0-3">
            <a:extLst>
              <a:ext uri="{FF2B5EF4-FFF2-40B4-BE49-F238E27FC236}">
                <a16:creationId xmlns:a16="http://schemas.microsoft.com/office/drawing/2014/main" id="{AC15FEAF-DBE3-6666-715B-9CB09D8DA185}"/>
              </a:ext>
            </a:extLst>
          </p:cNvPr>
          <p:cNvCxnSpPr/>
          <p:nvPr/>
        </p:nvCxnSpPr>
        <p:spPr>
          <a:xfrm>
            <a:off x="96901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7" name="lattice-4-edge-1-4">
            <a:extLst>
              <a:ext uri="{FF2B5EF4-FFF2-40B4-BE49-F238E27FC236}">
                <a16:creationId xmlns:a16="http://schemas.microsoft.com/office/drawing/2014/main" id="{86284A6B-AC3A-92BF-3450-714B81C501BD}"/>
              </a:ext>
            </a:extLst>
          </p:cNvPr>
          <p:cNvCxnSpPr/>
          <p:nvPr/>
        </p:nvCxnSpPr>
        <p:spPr>
          <a:xfrm>
            <a:off x="105156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8" name="lattice-4-edge-3-4">
            <a:extLst>
              <a:ext uri="{FF2B5EF4-FFF2-40B4-BE49-F238E27FC236}">
                <a16:creationId xmlns:a16="http://schemas.microsoft.com/office/drawing/2014/main" id="{02F99D6E-9BD4-29ED-F31B-11623D848113}"/>
              </a:ext>
            </a:extLst>
          </p:cNvPr>
          <p:cNvCxnSpPr/>
          <p:nvPr/>
        </p:nvCxnSpPr>
        <p:spPr>
          <a:xfrm>
            <a:off x="96901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9" name="lattice-4-edge-3-6">
            <a:extLst>
              <a:ext uri="{FF2B5EF4-FFF2-40B4-BE49-F238E27FC236}">
                <a16:creationId xmlns:a16="http://schemas.microsoft.com/office/drawing/2014/main" id="{4784C5C5-34A3-2BB7-0B78-1BC2D4610FFA}"/>
              </a:ext>
            </a:extLst>
          </p:cNvPr>
          <p:cNvCxnSpPr/>
          <p:nvPr/>
        </p:nvCxnSpPr>
        <p:spPr>
          <a:xfrm>
            <a:off x="96901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0" name="lattice-4-edge-4-5">
            <a:extLst>
              <a:ext uri="{FF2B5EF4-FFF2-40B4-BE49-F238E27FC236}">
                <a16:creationId xmlns:a16="http://schemas.microsoft.com/office/drawing/2014/main" id="{D785D747-11D3-63D1-BE73-BC1D8B368E86}"/>
              </a:ext>
            </a:extLst>
          </p:cNvPr>
          <p:cNvCxnSpPr/>
          <p:nvPr/>
        </p:nvCxnSpPr>
        <p:spPr>
          <a:xfrm>
            <a:off x="105156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1" name="lattice-4-edge-4-7">
            <a:extLst>
              <a:ext uri="{FF2B5EF4-FFF2-40B4-BE49-F238E27FC236}">
                <a16:creationId xmlns:a16="http://schemas.microsoft.com/office/drawing/2014/main" id="{B613FDCF-CE80-885D-7AC2-F95D4BDCA108}"/>
              </a:ext>
            </a:extLst>
          </p:cNvPr>
          <p:cNvCxnSpPr/>
          <p:nvPr/>
        </p:nvCxnSpPr>
        <p:spPr>
          <a:xfrm>
            <a:off x="105156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2" name="lattice-4-edge-6-7">
            <a:extLst>
              <a:ext uri="{FF2B5EF4-FFF2-40B4-BE49-F238E27FC236}">
                <a16:creationId xmlns:a16="http://schemas.microsoft.com/office/drawing/2014/main" id="{EBB2DF8E-07E9-2C9D-00FB-E64A82D1E35E}"/>
              </a:ext>
            </a:extLst>
          </p:cNvPr>
          <p:cNvCxnSpPr/>
          <p:nvPr/>
        </p:nvCxnSpPr>
        <p:spPr>
          <a:xfrm>
            <a:off x="96901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3" name="lattice-4-edge-7-8">
            <a:extLst>
              <a:ext uri="{FF2B5EF4-FFF2-40B4-BE49-F238E27FC236}">
                <a16:creationId xmlns:a16="http://schemas.microsoft.com/office/drawing/2014/main" id="{9B453011-DC6E-72C4-B2B0-6910E6D8F576}"/>
              </a:ext>
            </a:extLst>
          </p:cNvPr>
          <p:cNvCxnSpPr/>
          <p:nvPr/>
        </p:nvCxnSpPr>
        <p:spPr>
          <a:xfrm>
            <a:off x="105156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84" name="lattice-4-vertex-0">
            <a:extLst>
              <a:ext uri="{FF2B5EF4-FFF2-40B4-BE49-F238E27FC236}">
                <a16:creationId xmlns:a16="http://schemas.microsoft.com/office/drawing/2014/main" id="{7C21F638-178C-98D6-D042-A972D7E5AE70}"/>
              </a:ext>
            </a:extLst>
          </p:cNvPr>
          <p:cNvSpPr/>
          <p:nvPr/>
        </p:nvSpPr>
        <p:spPr>
          <a:xfrm>
            <a:off x="96266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lattice-4-vertex-1">
            <a:extLst>
              <a:ext uri="{FF2B5EF4-FFF2-40B4-BE49-F238E27FC236}">
                <a16:creationId xmlns:a16="http://schemas.microsoft.com/office/drawing/2014/main" id="{13B80403-F848-B7FC-2FC2-2469CF07D232}"/>
              </a:ext>
            </a:extLst>
          </p:cNvPr>
          <p:cNvSpPr/>
          <p:nvPr/>
        </p:nvSpPr>
        <p:spPr>
          <a:xfrm>
            <a:off x="104521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lattice-4-vertex-2">
            <a:extLst>
              <a:ext uri="{FF2B5EF4-FFF2-40B4-BE49-F238E27FC236}">
                <a16:creationId xmlns:a16="http://schemas.microsoft.com/office/drawing/2014/main" id="{1E7FBACE-6836-AA49-876B-48C5C30DB27F}"/>
              </a:ext>
            </a:extLst>
          </p:cNvPr>
          <p:cNvSpPr/>
          <p:nvPr/>
        </p:nvSpPr>
        <p:spPr>
          <a:xfrm>
            <a:off x="112776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lattice-4-vertex-3">
            <a:extLst>
              <a:ext uri="{FF2B5EF4-FFF2-40B4-BE49-F238E27FC236}">
                <a16:creationId xmlns:a16="http://schemas.microsoft.com/office/drawing/2014/main" id="{65635032-6B9C-444A-F1C6-D5FEF47981B2}"/>
              </a:ext>
            </a:extLst>
          </p:cNvPr>
          <p:cNvSpPr/>
          <p:nvPr/>
        </p:nvSpPr>
        <p:spPr>
          <a:xfrm>
            <a:off x="96266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lattice-4-vertex-4">
            <a:extLst>
              <a:ext uri="{FF2B5EF4-FFF2-40B4-BE49-F238E27FC236}">
                <a16:creationId xmlns:a16="http://schemas.microsoft.com/office/drawing/2014/main" id="{98D2CFF5-336F-38A3-A2F6-A7DF8CC2CC23}"/>
              </a:ext>
            </a:extLst>
          </p:cNvPr>
          <p:cNvSpPr/>
          <p:nvPr/>
        </p:nvSpPr>
        <p:spPr>
          <a:xfrm>
            <a:off x="104521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lattice-4-vertex-5">
            <a:extLst>
              <a:ext uri="{FF2B5EF4-FFF2-40B4-BE49-F238E27FC236}">
                <a16:creationId xmlns:a16="http://schemas.microsoft.com/office/drawing/2014/main" id="{59D2C4BD-306B-71B6-B8E5-6373552FD8BD}"/>
              </a:ext>
            </a:extLst>
          </p:cNvPr>
          <p:cNvSpPr/>
          <p:nvPr/>
        </p:nvSpPr>
        <p:spPr>
          <a:xfrm>
            <a:off x="112776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lattice-4-vertex-6">
            <a:extLst>
              <a:ext uri="{FF2B5EF4-FFF2-40B4-BE49-F238E27FC236}">
                <a16:creationId xmlns:a16="http://schemas.microsoft.com/office/drawing/2014/main" id="{8786DBA9-41EA-80D1-E44E-A0D07D04B431}"/>
              </a:ext>
            </a:extLst>
          </p:cNvPr>
          <p:cNvSpPr/>
          <p:nvPr/>
        </p:nvSpPr>
        <p:spPr>
          <a:xfrm>
            <a:off x="96266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lattice-4-vertex-7">
            <a:extLst>
              <a:ext uri="{FF2B5EF4-FFF2-40B4-BE49-F238E27FC236}">
                <a16:creationId xmlns:a16="http://schemas.microsoft.com/office/drawing/2014/main" id="{C6C71EF6-EF6E-5760-3DD3-7F122AC3FBB0}"/>
              </a:ext>
            </a:extLst>
          </p:cNvPr>
          <p:cNvSpPr/>
          <p:nvPr/>
        </p:nvSpPr>
        <p:spPr>
          <a:xfrm>
            <a:off x="104521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lattice-4-vertex-8">
            <a:extLst>
              <a:ext uri="{FF2B5EF4-FFF2-40B4-BE49-F238E27FC236}">
                <a16:creationId xmlns:a16="http://schemas.microsoft.com/office/drawing/2014/main" id="{EA8E864C-3D0A-FA97-D99A-B3E5C7F05549}"/>
              </a:ext>
            </a:extLst>
          </p:cNvPr>
          <p:cNvSpPr/>
          <p:nvPr/>
        </p:nvSpPr>
        <p:spPr>
          <a:xfrm>
            <a:off x="112776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text-92">
            <a:extLst>
              <a:ext uri="{FF2B5EF4-FFF2-40B4-BE49-F238E27FC236}">
                <a16:creationId xmlns:a16="http://schemas.microsoft.com/office/drawing/2014/main" id="{A5B0E9DB-BD18-54A2-8A41-0027173765A2}"/>
              </a:ext>
            </a:extLst>
          </p:cNvPr>
          <p:cNvSpPr txBox="1"/>
          <p:nvPr/>
        </p:nvSpPr>
        <p:spPr>
          <a:xfrm>
            <a:off x="9347200" y="4826000"/>
            <a:ext cx="2413000" cy="276999"/>
          </a:xfrm>
          <a:prstGeom prst="rect">
            <a:avLst/>
          </a:prstGeom>
          <a:noFill/>
        </p:spPr>
        <p:txBody>
          <a:bodyPr vert="horz" wrap="square" lIns="0" tIns="0" rIns="0" bIns="0" rtlCol="0">
            <a:noAutofit/>
          </a:bodyPr>
          <a:lstStyle/>
          <a:p>
            <a:pPr>
              <a:lnSpc>
                <a:spcPct val="112000"/>
              </a:lnSpc>
            </a:pPr>
            <a:r>
              <a:rPr kumimoji="1" lang="en-US" altLang="ja-JP" sz="1600">
                <a:solidFill>
                  <a:srgbClr val="253746"/>
                </a:solidFill>
                <a:latin typeface="Meiryo" panose="020B0604030504040204" pitchFamily="50" charset="-128"/>
                <a:ea typeface="Meiryo" panose="020B0604030504040204" pitchFamily="50" charset="-128"/>
              </a:rPr>
              <a:t>4</a:t>
            </a:r>
            <a:r>
              <a:rPr kumimoji="1" lang="ja-JP" altLang="en-US" sz="1600">
                <a:solidFill>
                  <a:srgbClr val="253746"/>
                </a:solidFill>
                <a:latin typeface="Meiryo" panose="020B0604030504040204" pitchFamily="50" charset="-128"/>
                <a:ea typeface="Meiryo" panose="020B0604030504040204" pitchFamily="50" charset="-128"/>
              </a:rPr>
              <a:t>辺を削除。
</a:t>
            </a:r>
            <a:r>
              <a:rPr kumimoji="1" lang="en-US" altLang="ja-JP" sz="1600">
                <a:solidFill>
                  <a:srgbClr val="253746"/>
                </a:solidFill>
                <a:latin typeface="Meiryo" panose="020B0604030504040204" pitchFamily="50" charset="-128"/>
                <a:ea typeface="Meiryo" panose="020B0604030504040204" pitchFamily="50" charset="-128"/>
              </a:rPr>
              <a:t>9</a:t>
            </a:r>
            <a:r>
              <a:rPr kumimoji="1" lang="ja-JP" altLang="en-US" sz="1600">
                <a:solidFill>
                  <a:srgbClr val="253746"/>
                </a:solidFill>
                <a:latin typeface="Meiryo" panose="020B0604030504040204" pitchFamily="50" charset="-128"/>
                <a:ea typeface="Meiryo" panose="020B0604030504040204" pitchFamily="50" charset="-128"/>
              </a:rPr>
              <a:t>頂点は残る。</a:t>
            </a:r>
          </a:p>
        </p:txBody>
      </p:sp>
      <p:sp>
        <p:nvSpPr>
          <p:cNvPr id="94" name="text-93">
            <a:extLst>
              <a:ext uri="{FF2B5EF4-FFF2-40B4-BE49-F238E27FC236}">
                <a16:creationId xmlns:a16="http://schemas.microsoft.com/office/drawing/2014/main" id="{6D8A47CE-403A-CD26-1689-00CCABC702E7}"/>
              </a:ext>
            </a:extLst>
          </p:cNvPr>
          <p:cNvSpPr txBox="1"/>
          <p:nvPr/>
        </p:nvSpPr>
        <p:spPr>
          <a:xfrm>
            <a:off x="635000" y="54610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横</a:t>
            </a:r>
            <a:r>
              <a:rPr kumimoji="1" lang="en-US" altLang="ja-JP" sz="2000">
                <a:solidFill>
                  <a:srgbClr val="17365D"/>
                </a:solidFill>
                <a:latin typeface="Meiryo" panose="020B0604030504040204" pitchFamily="50" charset="-128"/>
                <a:ea typeface="Meiryo" panose="020B0604030504040204" pitchFamily="50" charset="-128"/>
              </a:rPr>
              <a:t>2</a:t>
            </a:r>
            <a:r>
              <a:rPr kumimoji="1" lang="ja-JP" altLang="en-US" sz="2000">
                <a:solidFill>
                  <a:srgbClr val="17365D"/>
                </a:solidFill>
                <a:latin typeface="Meiryo" panose="020B0604030504040204" pitchFamily="50" charset="-128"/>
                <a:ea typeface="Meiryo" panose="020B0604030504040204" pitchFamily="50" charset="-128"/>
              </a:rPr>
              <a:t>辺＋縦</a:t>
            </a:r>
            <a:r>
              <a:rPr kumimoji="1" lang="en-US" altLang="ja-JP" sz="2000">
                <a:solidFill>
                  <a:srgbClr val="17365D"/>
                </a:solidFill>
                <a:latin typeface="Meiryo" panose="020B0604030504040204" pitchFamily="50" charset="-128"/>
                <a:ea typeface="Meiryo" panose="020B0604030504040204" pitchFamily="50" charset="-128"/>
              </a:rPr>
              <a:t>2</a:t>
            </a:r>
            <a:r>
              <a:rPr kumimoji="1" lang="ja-JP" altLang="en-US" sz="2000">
                <a:solidFill>
                  <a:srgbClr val="17365D"/>
                </a:solidFill>
                <a:latin typeface="Meiryo" panose="020B0604030504040204" pitchFamily="50" charset="-128"/>
                <a:ea typeface="Meiryo" panose="020B0604030504040204" pitchFamily="50" charset="-128"/>
              </a:rPr>
              <a:t>辺で最短経路長は</a:t>
            </a:r>
            <a:r>
              <a:rPr kumimoji="1" lang="en-US" altLang="ja-JP" sz="2000">
                <a:solidFill>
                  <a:srgbClr val="17365D"/>
                </a:solidFill>
                <a:latin typeface="Meiryo" panose="020B0604030504040204" pitchFamily="50" charset="-128"/>
                <a:ea typeface="Meiryo" panose="020B0604030504040204" pitchFamily="50" charset="-128"/>
              </a:rPr>
              <a:t>4</a:t>
            </a:r>
            <a:r>
              <a:rPr kumimoji="1" lang="ja-JP" altLang="en-US" sz="2000">
                <a:solidFill>
                  <a:srgbClr val="17365D"/>
                </a:solidFill>
                <a:latin typeface="Meiryo" panose="020B0604030504040204" pitchFamily="50" charset="-128"/>
                <a:ea typeface="Meiryo" panose="020B0604030504040204" pitchFamily="50" charset="-128"/>
              </a:rPr>
              <a:t>。</a:t>
            </a:r>
            <a:r>
              <a:rPr kumimoji="1" lang="en-US" altLang="ja-JP" sz="2000">
                <a:solidFill>
                  <a:srgbClr val="17365D"/>
                </a:solidFill>
                <a:latin typeface="Meiryo" panose="020B0604030504040204" pitchFamily="50" charset="-128"/>
                <a:ea typeface="Meiryo" panose="020B0604030504040204" pitchFamily="50" charset="-128"/>
              </a:rPr>
              <a:t>C&lt;4</a:t>
            </a:r>
            <a:r>
              <a:rPr kumimoji="1" lang="ja-JP" altLang="en-US" sz="2000">
                <a:solidFill>
                  <a:srgbClr val="17365D"/>
                </a:solidFill>
                <a:latin typeface="Meiryo" panose="020B0604030504040204" pitchFamily="50" charset="-128"/>
                <a:ea typeface="Meiryo" panose="020B0604030504040204" pitchFamily="50" charset="-128"/>
              </a:rPr>
              <a:t>なら削除しない。</a:t>
            </a:r>
          </a:p>
        </p:txBody>
      </p:sp>
      <p:sp>
        <p:nvSpPr>
          <p:cNvPr id="95" name="text-94">
            <a:extLst>
              <a:ext uri="{FF2B5EF4-FFF2-40B4-BE49-F238E27FC236}">
                <a16:creationId xmlns:a16="http://schemas.microsoft.com/office/drawing/2014/main" id="{60F3B23E-CACA-B326-724E-B418CE863D40}"/>
              </a:ext>
            </a:extLst>
          </p:cNvPr>
          <p:cNvSpPr txBox="1"/>
          <p:nvPr/>
        </p:nvSpPr>
        <p:spPr>
          <a:xfrm>
            <a:off x="635000" y="58293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削除の成否にかかわらず、次の要求へ進む。</a:t>
            </a:r>
          </a:p>
        </p:txBody>
      </p:sp>
    </p:spTree>
    <p:extLst>
      <p:ext uri="{BB962C8B-B14F-4D97-AF65-F5344CB8AC3E}">
        <p14:creationId xmlns:p14="http://schemas.microsoft.com/office/powerpoint/2010/main" val="3035603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D329D41E-F204-CB36-CC3F-CF9460F1F83F}"/>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論文における先行研究</a:t>
            </a:r>
          </a:p>
        </p:txBody>
      </p:sp>
      <p:cxnSp>
        <p:nvCxnSpPr>
          <p:cNvPr id="3" name="直線コネクタ 2">
            <a:extLst>
              <a:ext uri="{FF2B5EF4-FFF2-40B4-BE49-F238E27FC236}">
                <a16:creationId xmlns:a16="http://schemas.microsoft.com/office/drawing/2014/main" id="{A321B4B3-71AF-DB22-CF29-25DC2F6D9C0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6D13B1E6-9FF3-C28A-FA1D-05745163B185}"/>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047402-1–2</a:t>
            </a:r>
            <a:r>
              <a:rPr kumimoji="1" lang="ja-JP" altLang="en-US" sz="950">
                <a:solidFill>
                  <a:srgbClr val="566573"/>
                </a:solidFill>
                <a:latin typeface="Meiryo" panose="020B0604030504040204" pitchFamily="50" charset="-128"/>
                <a:ea typeface="Meiryo" panose="020B0604030504040204" pitchFamily="50" charset="-128"/>
              </a:rPr>
              <a:t>。用語は</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047402-4</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EF9B4D7B-3773-3B86-6535-FF01C218CAD8}"/>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05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50B33D66-4922-5A51-63F8-A68122734F8E}"/>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Kim &amp; Radicchi (2024) </a:t>
            </a:r>
            <a:r>
              <a:rPr kumimoji="1" lang="ja-JP" altLang="en-US" sz="2300">
                <a:solidFill>
                  <a:srgbClr val="253746"/>
                </a:solidFill>
                <a:latin typeface="Meiryo" panose="020B0604030504040204" pitchFamily="50" charset="-128"/>
                <a:ea typeface="Meiryo" panose="020B0604030504040204" pitchFamily="50" charset="-128"/>
              </a:rPr>
              <a:t>は、</a:t>
            </a:r>
            <a:r>
              <a:rPr kumimoji="1" lang="en-US" altLang="ja-JP" sz="2300">
                <a:solidFill>
                  <a:srgbClr val="253746"/>
                </a:solidFill>
                <a:latin typeface="Meiryo" panose="020B0604030504040204" pitchFamily="50" charset="-128"/>
                <a:ea typeface="Meiryo" panose="020B0604030504040204" pitchFamily="50" charset="-128"/>
              </a:rPr>
              <a:t>ER</a:t>
            </a:r>
            <a:r>
              <a:rPr kumimoji="1" lang="ja-JP" altLang="en-US" sz="2300">
                <a:solidFill>
                  <a:srgbClr val="253746"/>
                </a:solidFill>
                <a:latin typeface="Meiryo" panose="020B0604030504040204" pitchFamily="50" charset="-128"/>
                <a:ea typeface="Meiryo" panose="020B0604030504040204" pitchFamily="50" charset="-128"/>
              </a:rPr>
              <a:t>ランダムネットワーク上で</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を実行し、
経路長の上限</a:t>
            </a:r>
            <a:r>
              <a:rPr kumimoji="1" lang="en-US" altLang="ja-JP" sz="2300">
                <a:solidFill>
                  <a:srgbClr val="253746"/>
                </a:solidFill>
                <a:latin typeface="Meiryo" panose="020B0604030504040204" pitchFamily="50" charset="-128"/>
                <a:ea typeface="Meiryo" panose="020B0604030504040204" pitchFamily="50" charset="-128"/>
              </a:rPr>
              <a:t>C</a:t>
            </a:r>
            <a:r>
              <a:rPr kumimoji="1" lang="ja-JP" altLang="en-US" sz="2300">
                <a:solidFill>
                  <a:srgbClr val="253746"/>
                </a:solidFill>
                <a:latin typeface="Meiryo" panose="020B0604030504040204" pitchFamily="50" charset="-128"/>
                <a:ea typeface="Meiryo" panose="020B0604030504040204" pitchFamily="50" charset="-128"/>
              </a:rPr>
              <a:t>による相転移の違いを調べた。</a:t>
            </a:r>
          </a:p>
        </p:txBody>
      </p:sp>
      <p:sp>
        <p:nvSpPr>
          <p:cNvPr id="7" name="text-6">
            <a:extLst>
              <a:ext uri="{FF2B5EF4-FFF2-40B4-BE49-F238E27FC236}">
                <a16:creationId xmlns:a16="http://schemas.microsoft.com/office/drawing/2014/main" id="{0E524ECA-A0F3-7FC2-1661-01A7359243CA}"/>
              </a:ext>
            </a:extLst>
          </p:cNvPr>
          <p:cNvSpPr txBox="1"/>
          <p:nvPr/>
        </p:nvSpPr>
        <p:spPr>
          <a:xfrm>
            <a:off x="635000" y="2921000"/>
            <a:ext cx="10922000" cy="276999"/>
          </a:xfrm>
          <a:prstGeom prst="rect">
            <a:avLst/>
          </a:prstGeom>
          <a:noFill/>
        </p:spPr>
        <p:txBody>
          <a:bodyPr vert="horz" wrap="square" lIns="0" tIns="0" rIns="0" bIns="0" rtlCol="0">
            <a:noAutofit/>
          </a:bodyPr>
          <a:lstStyle/>
          <a:p>
            <a:pPr>
              <a:lnSpc>
                <a:spcPct val="112000"/>
              </a:lnSpc>
            </a:pPr>
            <a:r>
              <a:rPr kumimoji="1" lang="en-US" altLang="ja-JP" sz="2300" b="1">
                <a:solidFill>
                  <a:srgbClr val="17365D"/>
                </a:solidFill>
                <a:latin typeface="Meiryo" panose="020B0604030504040204" pitchFamily="50" charset="-128"/>
                <a:ea typeface="Meiryo" panose="020B0604030504040204" pitchFamily="50" charset="-128"/>
              </a:rPr>
              <a:t>C</a:t>
            </a:r>
            <a:r>
              <a:rPr kumimoji="1" lang="ja-JP" altLang="en-US" sz="2300" b="1">
                <a:solidFill>
                  <a:srgbClr val="17365D"/>
                </a:solidFill>
                <a:latin typeface="Meiryo" panose="020B0604030504040204" pitchFamily="50" charset="-128"/>
                <a:ea typeface="Meiryo" panose="020B0604030504040204" pitchFamily="50" charset="-128"/>
              </a:rPr>
              <a:t>が有限の場合</a:t>
            </a:r>
          </a:p>
        </p:txBody>
      </p:sp>
      <p:sp>
        <p:nvSpPr>
          <p:cNvPr id="8" name="text-7">
            <a:extLst>
              <a:ext uri="{FF2B5EF4-FFF2-40B4-BE49-F238E27FC236}">
                <a16:creationId xmlns:a16="http://schemas.microsoft.com/office/drawing/2014/main" id="{515EEF48-764D-A604-5E1D-5C5C59457B1E}"/>
              </a:ext>
            </a:extLst>
          </p:cNvPr>
          <p:cNvSpPr txBox="1"/>
          <p:nvPr/>
        </p:nvSpPr>
        <p:spPr>
          <a:xfrm>
            <a:off x="635000" y="34290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通常のパーコレーションと同じ普遍性クラスに属する
連続転移が報告された。</a:t>
            </a:r>
          </a:p>
        </p:txBody>
      </p:sp>
      <p:sp>
        <p:nvSpPr>
          <p:cNvPr id="9" name="text-8">
            <a:extLst>
              <a:ext uri="{FF2B5EF4-FFF2-40B4-BE49-F238E27FC236}">
                <a16:creationId xmlns:a16="http://schemas.microsoft.com/office/drawing/2014/main" id="{00C3C278-B127-F83D-C9B1-F542AF1E8DCF}"/>
              </a:ext>
            </a:extLst>
          </p:cNvPr>
          <p:cNvSpPr txBox="1"/>
          <p:nvPr/>
        </p:nvSpPr>
        <p:spPr>
          <a:xfrm>
            <a:off x="635000" y="4508500"/>
            <a:ext cx="10922000" cy="276999"/>
          </a:xfrm>
          <a:prstGeom prst="rect">
            <a:avLst/>
          </a:prstGeom>
          <a:noFill/>
        </p:spPr>
        <p:txBody>
          <a:bodyPr vert="horz" wrap="square" lIns="0" tIns="0" rIns="0" bIns="0" rtlCol="0">
            <a:noAutofit/>
          </a:bodyPr>
          <a:lstStyle/>
          <a:p>
            <a:pPr>
              <a:lnSpc>
                <a:spcPct val="112000"/>
              </a:lnSpc>
            </a:pPr>
            <a:r>
              <a:rPr kumimoji="1" lang="ja-JP" altLang="en-US" sz="2300" b="1">
                <a:solidFill>
                  <a:srgbClr val="17365D"/>
                </a:solidFill>
                <a:latin typeface="Meiryo" panose="020B0604030504040204" pitchFamily="50" charset="-128"/>
                <a:ea typeface="Meiryo" panose="020B0604030504040204" pitchFamily="50" charset="-128"/>
              </a:rPr>
              <a:t>経路長に制限がない場合</a:t>
            </a:r>
          </a:p>
        </p:txBody>
      </p:sp>
      <p:sp>
        <p:nvSpPr>
          <p:cNvPr id="10" name="text-9">
            <a:extLst>
              <a:ext uri="{FF2B5EF4-FFF2-40B4-BE49-F238E27FC236}">
                <a16:creationId xmlns:a16="http://schemas.microsoft.com/office/drawing/2014/main" id="{2D432426-A747-4949-0DA9-0EE74647DF08}"/>
              </a:ext>
            </a:extLst>
          </p:cNvPr>
          <p:cNvSpPr txBox="1"/>
          <p:nvPr/>
        </p:nvSpPr>
        <p:spPr>
          <a:xfrm>
            <a:off x="635000" y="50165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通常のパーコレーションより急激な転移が報告された。</a:t>
            </a:r>
          </a:p>
        </p:txBody>
      </p:sp>
      <p:sp>
        <p:nvSpPr>
          <p:cNvPr id="11" name="text-10">
            <a:extLst>
              <a:ext uri="{FF2B5EF4-FFF2-40B4-BE49-F238E27FC236}">
                <a16:creationId xmlns:a16="http://schemas.microsoft.com/office/drawing/2014/main" id="{E12BA2E5-72F4-3ECA-066B-97FB5C9F23BB}"/>
              </a:ext>
            </a:extLst>
          </p:cNvPr>
          <p:cNvSpPr txBox="1"/>
          <p:nvPr/>
        </p:nvSpPr>
        <p:spPr>
          <a:xfrm>
            <a:off x="635000" y="5740400"/>
            <a:ext cx="10922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著者の表現は “</a:t>
            </a:r>
            <a:r>
              <a:rPr kumimoji="1" lang="en-US" altLang="ja-JP" sz="1900">
                <a:solidFill>
                  <a:srgbClr val="253746"/>
                </a:solidFill>
                <a:latin typeface="Meiryo" panose="020B0604030504040204" pitchFamily="50" charset="-128"/>
                <a:ea typeface="Meiryo" panose="020B0604030504040204" pitchFamily="50" charset="-128"/>
              </a:rPr>
              <a:t>weakly discontinuous”</a:t>
            </a:r>
            <a:r>
              <a:rPr kumimoji="1" lang="ja-JP" altLang="en-US" sz="1900">
                <a:solidFill>
                  <a:srgbClr val="253746"/>
                </a:solidFill>
                <a:latin typeface="Meiryo" panose="020B0604030504040204" pitchFamily="50" charset="-128"/>
                <a:ea typeface="Meiryo" panose="020B0604030504040204" pitchFamily="50" charset="-128"/>
              </a:rPr>
              <a:t>。数値解析に基づく評価である。</a:t>
            </a:r>
          </a:p>
        </p:txBody>
      </p:sp>
    </p:spTree>
    <p:extLst>
      <p:ext uri="{BB962C8B-B14F-4D97-AF65-F5344CB8AC3E}">
        <p14:creationId xmlns:p14="http://schemas.microsoft.com/office/powerpoint/2010/main" val="1069049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B7302DA2-F3F9-4EF1-D84A-62A849B4026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本研究の目的</a:t>
            </a:r>
          </a:p>
        </p:txBody>
      </p:sp>
      <p:cxnSp>
        <p:nvCxnSpPr>
          <p:cNvPr id="3" name="直線コネクタ 2">
            <a:extLst>
              <a:ext uri="{FF2B5EF4-FFF2-40B4-BE49-F238E27FC236}">
                <a16:creationId xmlns:a16="http://schemas.microsoft.com/office/drawing/2014/main" id="{0F714E6F-A8C7-FAC0-4512-DDEB799BA6AE}"/>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4A2829A6-99CA-60C3-448F-31E24F5BED3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先行研究：本文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。研究目的は本研究の問い（原論文の結論ではない）。</a:t>
            </a:r>
          </a:p>
        </p:txBody>
      </p:sp>
      <p:sp>
        <p:nvSpPr>
          <p:cNvPr id="5" name="page-4">
            <a:extLst>
              <a:ext uri="{FF2B5EF4-FFF2-40B4-BE49-F238E27FC236}">
                <a16:creationId xmlns:a16="http://schemas.microsoft.com/office/drawing/2014/main" id="{E8588BDB-FF14-F729-9BA4-A1FAD5E1599B}"/>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06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1D243162-0265-2A56-50B6-256F3B711C0A}"/>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ER</a:t>
            </a:r>
            <a:r>
              <a:rPr kumimoji="1" lang="ja-JP" altLang="en-US" sz="2300">
                <a:solidFill>
                  <a:srgbClr val="253746"/>
                </a:solidFill>
                <a:latin typeface="Meiryo" panose="020B0604030504040204" pitchFamily="50" charset="-128"/>
                <a:ea typeface="Meiryo" panose="020B0604030504040204" pitchFamily="50" charset="-128"/>
              </a:rPr>
              <a:t>ランダムネットワーク上の</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では、
経路長に制限がない場合に急激な転移が報告された。</a:t>
            </a:r>
          </a:p>
        </p:txBody>
      </p:sp>
      <p:sp>
        <p:nvSpPr>
          <p:cNvPr id="7" name="text-6">
            <a:extLst>
              <a:ext uri="{FF2B5EF4-FFF2-40B4-BE49-F238E27FC236}">
                <a16:creationId xmlns:a16="http://schemas.microsoft.com/office/drawing/2014/main" id="{C3F0D09D-C6BE-9425-1892-06DA3AD08D34}"/>
              </a:ext>
            </a:extLst>
          </p:cNvPr>
          <p:cNvSpPr txBox="1"/>
          <p:nvPr/>
        </p:nvSpPr>
        <p:spPr>
          <a:xfrm>
            <a:off x="635000" y="2921000"/>
            <a:ext cx="10922000" cy="276999"/>
          </a:xfrm>
          <a:prstGeom prst="rect">
            <a:avLst/>
          </a:prstGeom>
          <a:noFill/>
        </p:spPr>
        <p:txBody>
          <a:bodyPr vert="horz" wrap="square" lIns="0" tIns="0" rIns="0" bIns="0" rtlCol="0">
            <a:noAutofit/>
          </a:bodyPr>
          <a:lstStyle/>
          <a:p>
            <a:pPr>
              <a:lnSpc>
                <a:spcPct val="112000"/>
              </a:lnSpc>
            </a:pPr>
            <a:r>
              <a:rPr kumimoji="1" lang="ja-JP" altLang="en-US" sz="2500">
                <a:solidFill>
                  <a:srgbClr val="17365D"/>
                </a:solidFill>
                <a:latin typeface="Meiryo" panose="020B0604030504040204" pitchFamily="50" charset="-128"/>
                <a:ea typeface="Meiryo" panose="020B0604030504040204" pitchFamily="50" charset="-128"/>
              </a:rPr>
              <a:t>ネットワークの構造が異なる場合にも、
同様の転移が見られるのだろうか。</a:t>
            </a:r>
          </a:p>
        </p:txBody>
      </p:sp>
      <p:sp>
        <p:nvSpPr>
          <p:cNvPr id="8" name="text-7">
            <a:extLst>
              <a:ext uri="{FF2B5EF4-FFF2-40B4-BE49-F238E27FC236}">
                <a16:creationId xmlns:a16="http://schemas.microsoft.com/office/drawing/2014/main" id="{2F937D9D-20FC-9A5C-C68C-A0AF9E5D91A0}"/>
              </a:ext>
            </a:extLst>
          </p:cNvPr>
          <p:cNvSpPr txBox="1"/>
          <p:nvPr/>
        </p:nvSpPr>
        <p:spPr>
          <a:xfrm>
            <a:off x="635000" y="4254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規則的な構造を持つ</a:t>
            </a:r>
            <a:r>
              <a:rPr kumimoji="1" lang="en-US" altLang="ja-JP" sz="2300">
                <a:solidFill>
                  <a:srgbClr val="253746"/>
                </a:solidFill>
                <a:latin typeface="Meiryo" panose="020B0604030504040204" pitchFamily="50" charset="-128"/>
                <a:ea typeface="Meiryo" panose="020B0604030504040204" pitchFamily="50" charset="-128"/>
              </a:rPr>
              <a:t>2</a:t>
            </a:r>
            <a:r>
              <a:rPr kumimoji="1" lang="ja-JP" altLang="en-US" sz="2300">
                <a:solidFill>
                  <a:srgbClr val="253746"/>
                </a:solidFill>
                <a:latin typeface="Meiryo" panose="020B0604030504040204" pitchFamily="50" charset="-128"/>
                <a:ea typeface="Meiryo" panose="020B0604030504040204" pitchFamily="50" charset="-128"/>
              </a:rPr>
              <a:t>次元正方格子上で</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を実行する。</a:t>
            </a:r>
          </a:p>
        </p:txBody>
      </p:sp>
      <p:sp>
        <p:nvSpPr>
          <p:cNvPr id="9" name="text-8">
            <a:extLst>
              <a:ext uri="{FF2B5EF4-FFF2-40B4-BE49-F238E27FC236}">
                <a16:creationId xmlns:a16="http://schemas.microsoft.com/office/drawing/2014/main" id="{E1E06194-7DC4-2D54-65D9-F7383341CE46}"/>
              </a:ext>
            </a:extLst>
          </p:cNvPr>
          <p:cNvSpPr txBox="1"/>
          <p:nvPr/>
        </p:nvSpPr>
        <p:spPr>
          <a:xfrm>
            <a:off x="635000" y="5080000"/>
            <a:ext cx="10922000" cy="276999"/>
          </a:xfrm>
          <a:prstGeom prst="rect">
            <a:avLst/>
          </a:prstGeom>
          <a:noFill/>
        </p:spPr>
        <p:txBody>
          <a:bodyPr vert="horz" wrap="square" lIns="0" tIns="0" rIns="0" bIns="0" rtlCol="0">
            <a:noAutofit/>
          </a:bodyPr>
          <a:lstStyle/>
          <a:p>
            <a:pPr>
              <a:lnSpc>
                <a:spcPct val="112000"/>
              </a:lnSpc>
            </a:pPr>
            <a:r>
              <a:rPr kumimoji="1" lang="ja-JP" altLang="en-US" sz="2600" b="1">
                <a:solidFill>
                  <a:srgbClr val="17365D"/>
                </a:solidFill>
                <a:latin typeface="Meiryo" panose="020B0604030504040204" pitchFamily="50" charset="-128"/>
                <a:ea typeface="Meiryo" panose="020B0604030504040204" pitchFamily="50" charset="-128"/>
              </a:rPr>
              <a:t>特に経路長に制限がない場合に、
不連続転移が起こるかどうかを調べる。</a:t>
            </a:r>
          </a:p>
        </p:txBody>
      </p:sp>
    </p:spTree>
    <p:extLst>
      <p:ext uri="{BB962C8B-B14F-4D97-AF65-F5344CB8AC3E}">
        <p14:creationId xmlns:p14="http://schemas.microsoft.com/office/powerpoint/2010/main" val="3624992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B2BA837F-5A10-8693-20FE-9D5B96A3CDBD}"/>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における制御変数と最大連結成分</a:t>
            </a:r>
          </a:p>
        </p:txBody>
      </p:sp>
      <p:cxnSp>
        <p:nvCxnSpPr>
          <p:cNvPr id="3" name="直線コネクタ 2">
            <a:extLst>
              <a:ext uri="{FF2B5EF4-FFF2-40B4-BE49-F238E27FC236}">
                <a16:creationId xmlns:a16="http://schemas.microsoft.com/office/drawing/2014/main" id="{AD3D0504-8A85-702E-377A-A6C64B66A82B}"/>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BB70E14B-8EB7-066C-7952-956A0978205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49218A27-4977-ABD4-D223-404CE5162C2C}"/>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07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eq_s1.png">
            <a:extLst>
              <a:ext uri="{FF2B5EF4-FFF2-40B4-BE49-F238E27FC236}">
                <a16:creationId xmlns:a16="http://schemas.microsoft.com/office/drawing/2014/main" id="{5FBCEA38-3186-4C9D-5B62-EC3567261E5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1719010"/>
            <a:ext cx="4572000" cy="854579"/>
          </a:xfrm>
          <a:prstGeom prst="rect">
            <a:avLst/>
          </a:prstGeom>
        </p:spPr>
      </p:pic>
      <p:sp>
        <p:nvSpPr>
          <p:cNvPr id="8" name="text-6">
            <a:extLst>
              <a:ext uri="{FF2B5EF4-FFF2-40B4-BE49-F238E27FC236}">
                <a16:creationId xmlns:a16="http://schemas.microsoft.com/office/drawing/2014/main" id="{6FCBF647-A086-2BA2-7352-7BDBAF01FF24}"/>
              </a:ext>
            </a:extLst>
          </p:cNvPr>
          <p:cNvSpPr txBox="1"/>
          <p:nvPr/>
        </p:nvSpPr>
        <p:spPr>
          <a:xfrm>
            <a:off x="5588000" y="1625600"/>
            <a:ext cx="5969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p(t)</a:t>
            </a:r>
            <a:r>
              <a:rPr kumimoji="1" lang="ja-JP" altLang="en-US" sz="1900">
                <a:solidFill>
                  <a:srgbClr val="253746"/>
                </a:solidFill>
                <a:latin typeface="Meiryo" panose="020B0604030504040204" pitchFamily="50" charset="-128"/>
                <a:ea typeface="Meiryo" panose="020B0604030504040204" pitchFamily="50" charset="-128"/>
              </a:rPr>
              <a:t>：要求</a:t>
            </a: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に対応する時点の辺の削除率</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E</a:t>
            </a:r>
            <a:r>
              <a:rPr kumimoji="1" lang="en-US" altLang="ja-JP" sz="1406" baseline="-16000">
                <a:solidFill>
                  <a:srgbClr val="253746"/>
                </a:solidFill>
                <a:latin typeface="Meiryo" panose="020B0604030504040204" pitchFamily="50" charset="-128"/>
                <a:ea typeface="Meiryo" panose="020B0604030504040204" pitchFamily="50" charset="-128"/>
              </a:rPr>
              <a:t>1</a:t>
            </a:r>
            <a:r>
              <a:rPr kumimoji="1" lang="ja-JP" altLang="en-US" sz="1900">
                <a:solidFill>
                  <a:srgbClr val="253746"/>
                </a:solidFill>
                <a:latin typeface="Meiryo" panose="020B0604030504040204" pitchFamily="50" charset="-128"/>
                <a:ea typeface="Meiryo" panose="020B0604030504040204" pitchFamily="50" charset="-128"/>
              </a:rPr>
              <a:t>：初期辺数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E</a:t>
            </a:r>
            <a:r>
              <a:rPr kumimoji="1" lang="en-US" altLang="ja-JP" sz="1406" baseline="-160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：要求</a:t>
            </a: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に利用可能なグラフの辺数</a:t>
            </a:r>
          </a:p>
        </p:txBody>
      </p:sp>
      <p:sp>
        <p:nvSpPr>
          <p:cNvPr id="9" name="text-7">
            <a:extLst>
              <a:ext uri="{FF2B5EF4-FFF2-40B4-BE49-F238E27FC236}">
                <a16:creationId xmlns:a16="http://schemas.microsoft.com/office/drawing/2014/main" id="{39B3F13D-89AE-1793-4FCC-A2789E0477E9}"/>
              </a:ext>
            </a:extLst>
          </p:cNvPr>
          <p:cNvSpPr txBox="1"/>
          <p:nvPr/>
        </p:nvSpPr>
        <p:spPr>
          <a:xfrm>
            <a:off x="635000" y="2946400"/>
            <a:ext cx="10922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：始点・終点の組が要求された回数</a:t>
            </a:r>
          </a:p>
        </p:txBody>
      </p:sp>
      <p:pic>
        <p:nvPicPr>
          <p:cNvPr id="11" name="source-or-equation-image-8" descr="eq_s2.png">
            <a:extLst>
              <a:ext uri="{FF2B5EF4-FFF2-40B4-BE49-F238E27FC236}">
                <a16:creationId xmlns:a16="http://schemas.microsoft.com/office/drawing/2014/main" id="{BB2A8DCC-0267-4E69-0033-B92417A4851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56264" y="3708400"/>
            <a:ext cx="4129472" cy="1168400"/>
          </a:xfrm>
          <a:prstGeom prst="rect">
            <a:avLst/>
          </a:prstGeom>
        </p:spPr>
      </p:pic>
      <p:sp>
        <p:nvSpPr>
          <p:cNvPr id="12" name="text-9">
            <a:extLst>
              <a:ext uri="{FF2B5EF4-FFF2-40B4-BE49-F238E27FC236}">
                <a16:creationId xmlns:a16="http://schemas.microsoft.com/office/drawing/2014/main" id="{724A4E3D-0B21-C673-BC48-0E9DCC86F5C9}"/>
              </a:ext>
            </a:extLst>
          </p:cNvPr>
          <p:cNvSpPr txBox="1"/>
          <p:nvPr/>
        </p:nvSpPr>
        <p:spPr>
          <a:xfrm>
            <a:off x="5588000" y="3619500"/>
            <a:ext cx="5969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P</a:t>
            </a:r>
            <a:r>
              <a:rPr kumimoji="1" lang="ja-JP" altLang="en-US" sz="2000">
                <a:solidFill>
                  <a:srgbClr val="253746"/>
                </a:solidFill>
                <a:latin typeface="Meiryo" panose="020B0604030504040204" pitchFamily="50" charset="-128"/>
                <a:ea typeface="Meiryo" panose="020B0604030504040204" pitchFamily="50" charset="-128"/>
              </a:rPr>
              <a:t>：最大連結成分の割合</a:t>
            </a:r>
          </a:p>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s</a:t>
            </a:r>
            <a:r>
              <a:rPr kumimoji="1" lang="en-US" altLang="ja-JP" sz="1480" baseline="-16000">
                <a:solidFill>
                  <a:srgbClr val="253746"/>
                </a:solidFill>
                <a:latin typeface="Meiryo" panose="020B0604030504040204" pitchFamily="50" charset="-128"/>
                <a:ea typeface="Meiryo" panose="020B0604030504040204" pitchFamily="50" charset="-128"/>
              </a:rPr>
              <a:t>R</a:t>
            </a:r>
            <a:r>
              <a:rPr kumimoji="1" lang="ja-JP" altLang="en-US" sz="2000">
                <a:solidFill>
                  <a:srgbClr val="253746"/>
                </a:solidFill>
                <a:latin typeface="Meiryo" panose="020B0604030504040204" pitchFamily="50" charset="-128"/>
                <a:ea typeface="Meiryo" panose="020B0604030504040204" pitchFamily="50" charset="-128"/>
              </a:rPr>
              <a:t>：最大連結成分の頂点数</a:t>
            </a:r>
          </a:p>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R</a:t>
            </a:r>
            <a:r>
              <a:rPr kumimoji="1" lang="ja-JP" altLang="en-US" sz="2000">
                <a:solidFill>
                  <a:srgbClr val="253746"/>
                </a:solidFill>
                <a:latin typeface="Meiryo" panose="020B0604030504040204" pitchFamily="50" charset="-128"/>
                <a:ea typeface="Meiryo" panose="020B0604030504040204" pitchFamily="50" charset="-128"/>
              </a:rPr>
              <a:t>：連結成分の総数　 </a:t>
            </a:r>
            <a:r>
              <a:rPr kumimoji="1" lang="en-US" altLang="ja-JP" sz="2000">
                <a:solidFill>
                  <a:srgbClr val="253746"/>
                </a:solidFill>
                <a:latin typeface="Meiryo" panose="020B0604030504040204" pitchFamily="50" charset="-128"/>
                <a:ea typeface="Meiryo" panose="020B0604030504040204" pitchFamily="50" charset="-128"/>
              </a:rPr>
              <a:t>N</a:t>
            </a:r>
            <a:r>
              <a:rPr kumimoji="1" lang="ja-JP" altLang="en-US" sz="2000">
                <a:solidFill>
                  <a:srgbClr val="253746"/>
                </a:solidFill>
                <a:latin typeface="Meiryo" panose="020B0604030504040204" pitchFamily="50" charset="-128"/>
                <a:ea typeface="Meiryo" panose="020B0604030504040204" pitchFamily="50" charset="-128"/>
              </a:rPr>
              <a:t>：総頂点数</a:t>
            </a:r>
          </a:p>
        </p:txBody>
      </p:sp>
      <p:sp>
        <p:nvSpPr>
          <p:cNvPr id="13" name="text-10">
            <a:extLst>
              <a:ext uri="{FF2B5EF4-FFF2-40B4-BE49-F238E27FC236}">
                <a16:creationId xmlns:a16="http://schemas.microsoft.com/office/drawing/2014/main" id="{1A4C8278-7237-4513-FBC3-86980B90CC9A}"/>
              </a:ext>
            </a:extLst>
          </p:cNvPr>
          <p:cNvSpPr txBox="1"/>
          <p:nvPr/>
        </p:nvSpPr>
        <p:spPr>
          <a:xfrm>
            <a:off x="635000" y="5397500"/>
            <a:ext cx="10922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で削除の進行、</a:t>
            </a: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で最大連結成分の大きさを測る。</a:t>
            </a:r>
          </a:p>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削除できない要求でも</a:t>
            </a:r>
            <a:r>
              <a:rPr kumimoji="1" lang="en-US" altLang="ja-JP" sz="2000">
                <a:solidFill>
                  <a:srgbClr val="17365D"/>
                </a:solidFill>
                <a:latin typeface="Meiryo" panose="020B0604030504040204" pitchFamily="50" charset="-128"/>
                <a:ea typeface="Meiryo" panose="020B0604030504040204" pitchFamily="50" charset="-128"/>
              </a:rPr>
              <a:t>t</a:t>
            </a:r>
            <a:r>
              <a:rPr kumimoji="1" lang="ja-JP" altLang="en-US" sz="2000">
                <a:solidFill>
                  <a:srgbClr val="17365D"/>
                </a:solidFill>
                <a:latin typeface="Meiryo" panose="020B0604030504040204" pitchFamily="50" charset="-128"/>
                <a:ea typeface="Meiryo" panose="020B0604030504040204" pitchFamily="50" charset="-128"/>
              </a:rPr>
              <a:t>は増えるが、</a:t>
            </a: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は変わらない。</a:t>
            </a:r>
          </a:p>
        </p:txBody>
      </p:sp>
    </p:spTree>
    <p:extLst>
      <p:ext uri="{BB962C8B-B14F-4D97-AF65-F5344CB8AC3E}">
        <p14:creationId xmlns:p14="http://schemas.microsoft.com/office/powerpoint/2010/main" val="800438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658A7B8F-0C47-693C-2C4B-4D382A26ED94}"/>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平均クラスターサイズ </a:t>
            </a:r>
            <a:r>
              <a:rPr kumimoji="1" lang="en-US" altLang="ja-JP" sz="3200" b="1">
                <a:solidFill>
                  <a:srgbClr val="17365D"/>
                </a:solidFill>
                <a:latin typeface="Meiryo" panose="020B0604030504040204" pitchFamily="50" charset="-128"/>
                <a:ea typeface="Meiryo" panose="020B0604030504040204" pitchFamily="50" charset="-128"/>
              </a:rPr>
              <a:t>S</a:t>
            </a:r>
            <a:endParaRPr kumimoji="1" lang="ja-JP" altLang="en-US" sz="3200" b="1">
              <a:solidFill>
                <a:srgbClr val="17365D"/>
              </a:solidFill>
              <a:latin typeface="Meiryo" panose="020B0604030504040204" pitchFamily="50" charset="-128"/>
              <a:ea typeface="Meiryo" panose="020B0604030504040204" pitchFamily="50" charset="-128"/>
            </a:endParaRPr>
          </a:p>
        </p:txBody>
      </p:sp>
      <p:cxnSp>
        <p:nvCxnSpPr>
          <p:cNvPr id="3" name="直線コネクタ 2">
            <a:extLst>
              <a:ext uri="{FF2B5EF4-FFF2-40B4-BE49-F238E27FC236}">
                <a16:creationId xmlns:a16="http://schemas.microsoft.com/office/drawing/2014/main" id="{7FDC12F2-91F4-1C6C-FE23-EAC6F190B48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8783AA63-731A-5245-35C9-B420E0F5868B}"/>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(S3)</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F13E9563-F396-E137-B810-E53AC7CCB486}"/>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08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cluster_order.png">
            <a:extLst>
              <a:ext uri="{FF2B5EF4-FFF2-40B4-BE49-F238E27FC236}">
                <a16:creationId xmlns:a16="http://schemas.microsoft.com/office/drawing/2014/main" id="{FE8BF72E-5E31-B51D-2F60-8B6C562C173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54807" y="1524000"/>
            <a:ext cx="2932386" cy="571500"/>
          </a:xfrm>
          <a:prstGeom prst="rect">
            <a:avLst/>
          </a:prstGeom>
        </p:spPr>
      </p:pic>
      <p:pic>
        <p:nvPicPr>
          <p:cNvPr id="9" name="source-or-equation-image-6" descr="eq_s3.png">
            <a:extLst>
              <a:ext uri="{FF2B5EF4-FFF2-40B4-BE49-F238E27FC236}">
                <a16:creationId xmlns:a16="http://schemas.microsoft.com/office/drawing/2014/main" id="{DDEF3B0E-B07E-778D-0A91-EBF0C9C9696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067864" y="2476500"/>
            <a:ext cx="2595271" cy="1333500"/>
          </a:xfrm>
          <a:prstGeom prst="rect">
            <a:avLst/>
          </a:prstGeom>
        </p:spPr>
      </p:pic>
      <p:sp>
        <p:nvSpPr>
          <p:cNvPr id="10" name="text-7">
            <a:extLst>
              <a:ext uri="{FF2B5EF4-FFF2-40B4-BE49-F238E27FC236}">
                <a16:creationId xmlns:a16="http://schemas.microsoft.com/office/drawing/2014/main" id="{EEB2FE44-CA23-70E0-15E5-3FD9963CEF18}"/>
              </a:ext>
            </a:extLst>
          </p:cNvPr>
          <p:cNvSpPr txBox="1"/>
          <p:nvPr/>
        </p:nvSpPr>
        <p:spPr>
          <a:xfrm>
            <a:off x="6667500" y="1574800"/>
            <a:ext cx="48895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：連結成分の総数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en-US" altLang="ja-JP" sz="1406" baseline="-160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：第</a:t>
            </a:r>
            <a:r>
              <a:rPr kumimoji="1" lang="en-US" altLang="ja-JP" sz="19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番目の連結成分の頂点数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en-US" altLang="ja-JP" sz="1406" baseline="-160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：最大連結成分の頂点数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ja-JP" altLang="en-US" sz="1900">
                <a:solidFill>
                  <a:srgbClr val="253746"/>
                </a:solidFill>
                <a:latin typeface="Meiryo" panose="020B0604030504040204" pitchFamily="50" charset="-128"/>
                <a:ea typeface="Meiryo" panose="020B0604030504040204" pitchFamily="50" charset="-128"/>
              </a:rPr>
              <a:t>：最大連結成分を除いた</a:t>
            </a:r>
          </a:p>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　 平均クラスターサイズ</a:t>
            </a:r>
          </a:p>
        </p:txBody>
      </p:sp>
      <p:sp>
        <p:nvSpPr>
          <p:cNvPr id="11" name="text-8">
            <a:extLst>
              <a:ext uri="{FF2B5EF4-FFF2-40B4-BE49-F238E27FC236}">
                <a16:creationId xmlns:a16="http://schemas.microsoft.com/office/drawing/2014/main" id="{40FD2834-7FCB-97A3-E8B1-2F8375A8BECD}"/>
              </a:ext>
            </a:extLst>
          </p:cNvPr>
          <p:cNvSpPr txBox="1"/>
          <p:nvPr/>
        </p:nvSpPr>
        <p:spPr>
          <a:xfrm>
            <a:off x="635000" y="42545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最大連結成分を</a:t>
            </a:r>
            <a:r>
              <a:rPr kumimoji="1" lang="en-US" altLang="ja-JP" sz="2100">
                <a:solidFill>
                  <a:srgbClr val="253746"/>
                </a:solidFill>
                <a:latin typeface="Meiryo" panose="020B0604030504040204" pitchFamily="50" charset="-128"/>
                <a:ea typeface="Meiryo" panose="020B0604030504040204" pitchFamily="50" charset="-128"/>
              </a:rPr>
              <a:t>1</a:t>
            </a:r>
            <a:r>
              <a:rPr kumimoji="1" lang="ja-JP" altLang="en-US" sz="2100">
                <a:solidFill>
                  <a:srgbClr val="253746"/>
                </a:solidFill>
                <a:latin typeface="Meiryo" panose="020B0604030504040204" pitchFamily="50" charset="-128"/>
                <a:ea typeface="Meiryo" panose="020B0604030504040204" pitchFamily="50" charset="-128"/>
              </a:rPr>
              <a:t>個除き、残りのクラスターの大きさから</a:t>
            </a:r>
            <a:r>
              <a:rPr kumimoji="1" lang="en-US" altLang="ja-JP" sz="2100">
                <a:solidFill>
                  <a:srgbClr val="253746"/>
                </a:solidFill>
                <a:latin typeface="Meiryo" panose="020B0604030504040204" pitchFamily="50" charset="-128"/>
                <a:ea typeface="Meiryo" panose="020B0604030504040204" pitchFamily="50" charset="-128"/>
              </a:rPr>
              <a:t>S</a:t>
            </a:r>
            <a:r>
              <a:rPr kumimoji="1" lang="ja-JP" altLang="en-US" sz="2100">
                <a:solidFill>
                  <a:srgbClr val="253746"/>
                </a:solidFill>
                <a:latin typeface="Meiryo" panose="020B0604030504040204" pitchFamily="50" charset="-128"/>
                <a:ea typeface="Meiryo" panose="020B0604030504040204" pitchFamily="50" charset="-128"/>
              </a:rPr>
              <a:t>を定義する。</a:t>
            </a:r>
          </a:p>
        </p:txBody>
      </p:sp>
      <p:sp>
        <p:nvSpPr>
          <p:cNvPr id="12" name="text-9">
            <a:extLst>
              <a:ext uri="{FF2B5EF4-FFF2-40B4-BE49-F238E27FC236}">
                <a16:creationId xmlns:a16="http://schemas.microsoft.com/office/drawing/2014/main" id="{C019213D-77CD-8D98-0D09-53A125F28BA3}"/>
              </a:ext>
            </a:extLst>
          </p:cNvPr>
          <p:cNvSpPr txBox="1"/>
          <p:nvPr/>
        </p:nvSpPr>
        <p:spPr>
          <a:xfrm>
            <a:off x="635000" y="50165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17365D"/>
                </a:solidFill>
                <a:latin typeface="Meiryo" panose="020B0604030504040204" pitchFamily="50" charset="-128"/>
                <a:ea typeface="Meiryo" panose="020B0604030504040204" pitchFamily="50" charset="-128"/>
              </a:rPr>
              <a:t>残りの頂点を一様ランダムに選んだとき、その頂点が属する
クラスターの大きさの期待値として解釈できる。</a:t>
            </a:r>
          </a:p>
        </p:txBody>
      </p:sp>
      <p:sp>
        <p:nvSpPr>
          <p:cNvPr id="13" name="text-10">
            <a:extLst>
              <a:ext uri="{FF2B5EF4-FFF2-40B4-BE49-F238E27FC236}">
                <a16:creationId xmlns:a16="http://schemas.microsoft.com/office/drawing/2014/main" id="{1C630EF7-28F3-CB6E-C31F-6844715E8657}"/>
              </a:ext>
            </a:extLst>
          </p:cNvPr>
          <p:cNvSpPr txBox="1"/>
          <p:nvPr/>
        </p:nvSpPr>
        <p:spPr>
          <a:xfrm>
            <a:off x="635000" y="5867400"/>
            <a:ext cx="10922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期待値の説明は、式</a:t>
            </a:r>
            <a:r>
              <a:rPr kumimoji="1" lang="en-US" altLang="ja-JP" sz="1600">
                <a:solidFill>
                  <a:srgbClr val="253746"/>
                </a:solidFill>
                <a:latin typeface="Meiryo" panose="020B0604030504040204" pitchFamily="50" charset="-128"/>
                <a:ea typeface="Meiryo" panose="020B0604030504040204" pitchFamily="50" charset="-128"/>
              </a:rPr>
              <a:t>(S3)</a:t>
            </a:r>
            <a:r>
              <a:rPr kumimoji="1" lang="ja-JP" altLang="en-US" sz="1600">
                <a:solidFill>
                  <a:srgbClr val="253746"/>
                </a:solidFill>
                <a:latin typeface="Meiryo" panose="020B0604030504040204" pitchFamily="50" charset="-128"/>
                <a:ea typeface="Meiryo" panose="020B0604030504040204" pitchFamily="50" charset="-128"/>
              </a:rPr>
              <a:t>の数学的な補足。</a:t>
            </a:r>
          </a:p>
        </p:txBody>
      </p:sp>
    </p:spTree>
    <p:extLst>
      <p:ext uri="{BB962C8B-B14F-4D97-AF65-F5344CB8AC3E}">
        <p14:creationId xmlns:p14="http://schemas.microsoft.com/office/powerpoint/2010/main" val="691691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FEE95B8C-A848-F772-BB75-4F3283D74C9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ネットワークサイズと相転移の関係</a:t>
            </a:r>
          </a:p>
        </p:txBody>
      </p:sp>
      <p:cxnSp>
        <p:nvCxnSpPr>
          <p:cNvPr id="3" name="直線コネクタ 2">
            <a:extLst>
              <a:ext uri="{FF2B5EF4-FFF2-40B4-BE49-F238E27FC236}">
                <a16:creationId xmlns:a16="http://schemas.microsoft.com/office/drawing/2014/main" id="{3026CB9D-57A3-A67A-0C4B-861BD716C5F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64B37140-372F-C48F-6601-F84EDEC5B1A2}"/>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サイズ依存解析への動機付け（本発表の説明）。</a:t>
            </a:r>
            <a:r>
              <a:rPr kumimoji="1" lang="en-US" altLang="ja-JP" sz="950">
                <a:solidFill>
                  <a:srgbClr val="566573"/>
                </a:solidFill>
                <a:latin typeface="Meiryo" panose="020B0604030504040204" pitchFamily="50" charset="-128"/>
                <a:ea typeface="Meiryo" panose="020B0604030504040204" pitchFamily="50" charset="-128"/>
              </a:rPr>
              <a:t>P</a:t>
            </a:r>
            <a:r>
              <a:rPr kumimoji="1" lang="ja-JP" altLang="en-US" sz="950">
                <a:solidFill>
                  <a:srgbClr val="566573"/>
                </a:solidFill>
                <a:latin typeface="Meiryo" panose="020B0604030504040204" pitchFamily="50" charset="-128"/>
                <a:ea typeface="Meiryo" panose="020B0604030504040204" pitchFamily="50" charset="-128"/>
              </a:rPr>
              <a:t>の定義：補足 式</a:t>
            </a:r>
            <a:r>
              <a:rPr kumimoji="1" lang="en-US" altLang="ja-JP" sz="950">
                <a:solidFill>
                  <a:srgbClr val="566573"/>
                </a:solidFill>
                <a:latin typeface="Meiryo" panose="020B0604030504040204" pitchFamily="50" charset="-128"/>
                <a:ea typeface="Meiryo" panose="020B0604030504040204" pitchFamily="50" charset="-128"/>
              </a:rPr>
              <a:t>(S2)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082AD1AE-423C-BB72-B4B7-1885565F0DAA}"/>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09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1410DEAE-853C-084F-AE64-723C8F8F8D91}"/>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有限サイズのネットワークでは、相転移付近の観測量が
ネットワークサイズ</a:t>
            </a:r>
            <a:r>
              <a:rPr kumimoji="1" lang="en-US" altLang="ja-JP" sz="2300">
                <a:solidFill>
                  <a:srgbClr val="253746"/>
                </a:solidFill>
                <a:latin typeface="Meiryo" panose="020B0604030504040204" pitchFamily="50" charset="-128"/>
                <a:ea typeface="Meiryo" panose="020B0604030504040204" pitchFamily="50" charset="-128"/>
              </a:rPr>
              <a:t>N</a:t>
            </a:r>
            <a:r>
              <a:rPr kumimoji="1" lang="ja-JP" altLang="en-US" sz="2300">
                <a:solidFill>
                  <a:srgbClr val="253746"/>
                </a:solidFill>
                <a:latin typeface="Meiryo" panose="020B0604030504040204" pitchFamily="50" charset="-128"/>
                <a:ea typeface="Meiryo" panose="020B0604030504040204" pitchFamily="50" charset="-128"/>
              </a:rPr>
              <a:t>の影響を受ける。</a:t>
            </a:r>
          </a:p>
        </p:txBody>
      </p:sp>
      <p:sp>
        <p:nvSpPr>
          <p:cNvPr id="7" name="text-6">
            <a:extLst>
              <a:ext uri="{FF2B5EF4-FFF2-40B4-BE49-F238E27FC236}">
                <a16:creationId xmlns:a16="http://schemas.microsoft.com/office/drawing/2014/main" id="{02A922F2-0C93-8E54-34B5-64492D321408}"/>
              </a:ext>
            </a:extLst>
          </p:cNvPr>
          <p:cNvSpPr txBox="1"/>
          <p:nvPr/>
        </p:nvSpPr>
        <p:spPr>
          <a:xfrm>
            <a:off x="635000" y="285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P</a:t>
            </a:r>
            <a:r>
              <a:rPr kumimoji="1" lang="ja-JP" altLang="en-US" sz="2300">
                <a:solidFill>
                  <a:srgbClr val="253746"/>
                </a:solidFill>
                <a:latin typeface="Meiryo" panose="020B0604030504040204" pitchFamily="50" charset="-128"/>
                <a:ea typeface="Meiryo" panose="020B0604030504040204" pitchFamily="50" charset="-128"/>
              </a:rPr>
              <a:t>が急激に減少しても、有限サイズでの観測だけでは、
大きなサイズの極限でも不連続な変化が残るとは判断できない。</a:t>
            </a:r>
          </a:p>
        </p:txBody>
      </p:sp>
      <p:sp>
        <p:nvSpPr>
          <p:cNvPr id="8" name="text-7">
            <a:extLst>
              <a:ext uri="{FF2B5EF4-FFF2-40B4-BE49-F238E27FC236}">
                <a16:creationId xmlns:a16="http://schemas.microsoft.com/office/drawing/2014/main" id="{911299C2-ECB4-53F5-B322-BE054A5AC705}"/>
              </a:ext>
            </a:extLst>
          </p:cNvPr>
          <p:cNvSpPr txBox="1"/>
          <p:nvPr/>
        </p:nvSpPr>
        <p:spPr>
          <a:xfrm>
            <a:off x="635000" y="4140200"/>
            <a:ext cx="10922000" cy="276999"/>
          </a:xfrm>
          <a:prstGeom prst="rect">
            <a:avLst/>
          </a:prstGeom>
          <a:noFill/>
        </p:spPr>
        <p:txBody>
          <a:bodyPr vert="horz" wrap="square" lIns="0" tIns="0" rIns="0" bIns="0" rtlCol="0">
            <a:noAutofit/>
          </a:bodyPr>
          <a:lstStyle/>
          <a:p>
            <a:pPr>
              <a:lnSpc>
                <a:spcPct val="112000"/>
              </a:lnSpc>
            </a:pPr>
            <a:r>
              <a:rPr kumimoji="1" lang="en-US" altLang="ja-JP" sz="2200">
                <a:solidFill>
                  <a:srgbClr val="17365D"/>
                </a:solidFill>
                <a:latin typeface="Meiryo" panose="020B0604030504040204" pitchFamily="50" charset="-128"/>
                <a:ea typeface="Meiryo" panose="020B0604030504040204" pitchFamily="50" charset="-128"/>
              </a:rPr>
              <a:t>N</a:t>
            </a:r>
            <a:r>
              <a:rPr kumimoji="1" lang="ja-JP" altLang="en-US" sz="2200">
                <a:solidFill>
                  <a:srgbClr val="17365D"/>
                </a:solidFill>
                <a:latin typeface="Meiryo" panose="020B0604030504040204" pitchFamily="50" charset="-128"/>
                <a:ea typeface="Meiryo" panose="020B0604030504040204" pitchFamily="50" charset="-128"/>
              </a:rPr>
              <a:t>を変えて観測量の変化を調べ、大きなサイズでの振る舞いを推定する。</a:t>
            </a:r>
          </a:p>
        </p:txBody>
      </p:sp>
      <p:pic>
        <p:nvPicPr>
          <p:cNvPr id="10" name="source-or-equation-image-8" descr="size_n.png">
            <a:extLst>
              <a:ext uri="{FF2B5EF4-FFF2-40B4-BE49-F238E27FC236}">
                <a16:creationId xmlns:a16="http://schemas.microsoft.com/office/drawing/2014/main" id="{D7D05461-0954-0E03-491F-75BA0AB160E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34818" y="5156200"/>
            <a:ext cx="1457864" cy="685800"/>
          </a:xfrm>
          <a:prstGeom prst="rect">
            <a:avLst/>
          </a:prstGeom>
        </p:spPr>
      </p:pic>
      <p:sp>
        <p:nvSpPr>
          <p:cNvPr id="11" name="text-9">
            <a:extLst>
              <a:ext uri="{FF2B5EF4-FFF2-40B4-BE49-F238E27FC236}">
                <a16:creationId xmlns:a16="http://schemas.microsoft.com/office/drawing/2014/main" id="{8CFF61B9-8701-43FA-5723-D3BED2E1FDDC}"/>
              </a:ext>
            </a:extLst>
          </p:cNvPr>
          <p:cNvSpPr txBox="1"/>
          <p:nvPr/>
        </p:nvSpPr>
        <p:spPr>
          <a:xfrm>
            <a:off x="4191000" y="5016500"/>
            <a:ext cx="7366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N</a:t>
            </a:r>
            <a:r>
              <a:rPr kumimoji="1" lang="ja-JP" altLang="en-US" sz="2000">
                <a:solidFill>
                  <a:srgbClr val="253746"/>
                </a:solidFill>
                <a:latin typeface="Meiryo" panose="020B0604030504040204" pitchFamily="50" charset="-128"/>
                <a:ea typeface="Meiryo" panose="020B0604030504040204" pitchFamily="50" charset="-128"/>
              </a:rPr>
              <a:t>：ネットワークの頂点数
</a:t>
            </a:r>
            <a:r>
              <a:rPr kumimoji="1" lang="en-US" altLang="ja-JP" sz="2000">
                <a:solidFill>
                  <a:srgbClr val="253746"/>
                </a:solidFill>
                <a:latin typeface="Meiryo" panose="020B0604030504040204" pitchFamily="50" charset="-128"/>
                <a:ea typeface="Meiryo" panose="020B0604030504040204" pitchFamily="50" charset="-128"/>
              </a:rPr>
              <a:t>L</a:t>
            </a:r>
            <a:r>
              <a:rPr kumimoji="1" lang="ja-JP" altLang="en-US" sz="2000">
                <a:solidFill>
                  <a:srgbClr val="253746"/>
                </a:solidFill>
                <a:latin typeface="Meiryo" panose="020B0604030504040204" pitchFamily="50" charset="-128"/>
                <a:ea typeface="Meiryo" panose="020B0604030504040204" pitchFamily="50" charset="-128"/>
              </a:rPr>
              <a:t>：</a:t>
            </a:r>
            <a:r>
              <a:rPr kumimoji="1" lang="en-US" altLang="ja-JP" sz="2000">
                <a:solidFill>
                  <a:srgbClr val="253746"/>
                </a:solidFill>
                <a:latin typeface="Meiryo" panose="020B0604030504040204" pitchFamily="50" charset="-128"/>
                <a:ea typeface="Meiryo" panose="020B0604030504040204" pitchFamily="50" charset="-128"/>
              </a:rPr>
              <a:t>2</a:t>
            </a:r>
            <a:r>
              <a:rPr kumimoji="1" lang="ja-JP" altLang="en-US" sz="2000">
                <a:solidFill>
                  <a:srgbClr val="253746"/>
                </a:solidFill>
                <a:latin typeface="Meiryo" panose="020B0604030504040204" pitchFamily="50" charset="-128"/>
                <a:ea typeface="Meiryo" panose="020B0604030504040204" pitchFamily="50" charset="-128"/>
              </a:rPr>
              <a:t>次元正方格子の一辺の頂点数
</a:t>
            </a:r>
            <a:r>
              <a:rPr kumimoji="1" lang="en-US" altLang="ja-JP" sz="2000">
                <a:solidFill>
                  <a:srgbClr val="253746"/>
                </a:solidFill>
                <a:latin typeface="Meiryo" panose="020B0604030504040204" pitchFamily="50" charset="-128"/>
                <a:ea typeface="Meiryo" panose="020B0604030504040204" pitchFamily="50" charset="-128"/>
              </a:rPr>
              <a:t>P</a:t>
            </a:r>
            <a:r>
              <a:rPr kumimoji="1" lang="ja-JP" altLang="en-US" sz="2000">
                <a:solidFill>
                  <a:srgbClr val="253746"/>
                </a:solidFill>
                <a:latin typeface="Meiryo" panose="020B0604030504040204" pitchFamily="50" charset="-128"/>
                <a:ea typeface="Meiryo" panose="020B0604030504040204" pitchFamily="50" charset="-128"/>
              </a:rPr>
              <a:t>：最大連結成分の割合</a:t>
            </a:r>
          </a:p>
        </p:txBody>
      </p:sp>
    </p:spTree>
    <p:extLst>
      <p:ext uri="{BB962C8B-B14F-4D97-AF65-F5344CB8AC3E}">
        <p14:creationId xmlns:p14="http://schemas.microsoft.com/office/powerpoint/2010/main" val="2572207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4300851A-9D29-ACFE-7944-5B6C618373F9}"/>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べき乗則と指数の推定方法</a:t>
            </a:r>
          </a:p>
        </p:txBody>
      </p:sp>
      <p:cxnSp>
        <p:nvCxnSpPr>
          <p:cNvPr id="3" name="直線コネクタ 2">
            <a:extLst>
              <a:ext uri="{FF2B5EF4-FFF2-40B4-BE49-F238E27FC236}">
                <a16:creationId xmlns:a16="http://schemas.microsoft.com/office/drawing/2014/main" id="{6699D13E-3771-9305-D3AA-9F8DAF58BB00}"/>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FBE435F8-E5A7-C164-1CD8-53ADFE21E05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(S5)</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A717809A-7909-835A-97B2-3ED4E799C2D4}"/>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10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FE06F269-5A46-785C-72A4-3D9CFA147FEB}"/>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数値データのサイズ依存性を調べるため、原論文ではべき乗則を仮定し、
回帰分析によって指数を推定する。</a:t>
            </a:r>
          </a:p>
        </p:txBody>
      </p:sp>
      <p:pic>
        <p:nvPicPr>
          <p:cNvPr id="8" name="source-or-equation-image-6" descr="eq_s4.png">
            <a:extLst>
              <a:ext uri="{FF2B5EF4-FFF2-40B4-BE49-F238E27FC236}">
                <a16:creationId xmlns:a16="http://schemas.microsoft.com/office/drawing/2014/main" id="{7E5C634F-9984-E52F-4407-69D1F878CE0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2832100"/>
            <a:ext cx="3810000" cy="812800"/>
          </a:xfrm>
          <a:prstGeom prst="rect">
            <a:avLst/>
          </a:prstGeom>
        </p:spPr>
      </p:pic>
      <p:pic>
        <p:nvPicPr>
          <p:cNvPr id="10" name="source-or-equation-image-7" descr="eq_s5.png">
            <a:extLst>
              <a:ext uri="{FF2B5EF4-FFF2-40B4-BE49-F238E27FC236}">
                <a16:creationId xmlns:a16="http://schemas.microsoft.com/office/drawing/2014/main" id="{8DE70DAD-ECA1-50C1-47F2-509D27A3355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207000" y="2888138"/>
            <a:ext cx="6350000" cy="700723"/>
          </a:xfrm>
          <a:prstGeom prst="rect">
            <a:avLst/>
          </a:prstGeom>
        </p:spPr>
      </p:pic>
      <p:sp>
        <p:nvSpPr>
          <p:cNvPr id="11" name="text-8">
            <a:extLst>
              <a:ext uri="{FF2B5EF4-FFF2-40B4-BE49-F238E27FC236}">
                <a16:creationId xmlns:a16="http://schemas.microsoft.com/office/drawing/2014/main" id="{1ACD1F8E-2C1A-690A-5AA5-599633CBEE38}"/>
              </a:ext>
            </a:extLst>
          </p:cNvPr>
          <p:cNvSpPr txBox="1"/>
          <p:nvPr/>
        </p:nvSpPr>
        <p:spPr>
          <a:xfrm>
            <a:off x="635000" y="4064000"/>
            <a:ext cx="10922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x, y</a:t>
            </a:r>
            <a:r>
              <a:rPr kumimoji="1" lang="ja-JP" altLang="en-US" sz="2000">
                <a:solidFill>
                  <a:srgbClr val="253746"/>
                </a:solidFill>
                <a:latin typeface="Meiryo" panose="020B0604030504040204" pitchFamily="50" charset="-128"/>
                <a:ea typeface="Meiryo" panose="020B0604030504040204" pitchFamily="50" charset="-128"/>
              </a:rPr>
              <a:t>：関係を調べる正の量　 </a:t>
            </a:r>
            <a:r>
              <a:rPr kumimoji="1" lang="en-US" altLang="ja-JP" sz="2000">
                <a:solidFill>
                  <a:srgbClr val="253746"/>
                </a:solidFill>
                <a:latin typeface="Meiryo" panose="020B0604030504040204" pitchFamily="50" charset="-128"/>
                <a:ea typeface="Meiryo" panose="020B0604030504040204" pitchFamily="50" charset="-128"/>
              </a:rPr>
              <a:t>z</a:t>
            </a:r>
            <a:r>
              <a:rPr kumimoji="1" lang="ja-JP" altLang="en-US" sz="2000">
                <a:solidFill>
                  <a:srgbClr val="253746"/>
                </a:solidFill>
                <a:latin typeface="Meiryo" panose="020B0604030504040204" pitchFamily="50" charset="-128"/>
                <a:ea typeface="Meiryo" panose="020B0604030504040204" pitchFamily="50" charset="-128"/>
              </a:rPr>
              <a:t>：比例係数（</a:t>
            </a:r>
            <a:r>
              <a:rPr kumimoji="1" lang="en-US" altLang="ja-JP" sz="2000">
                <a:solidFill>
                  <a:srgbClr val="253746"/>
                </a:solidFill>
                <a:latin typeface="Meiryo" panose="020B0604030504040204" pitchFamily="50" charset="-128"/>
                <a:ea typeface="Meiryo" panose="020B0604030504040204" pitchFamily="50" charset="-128"/>
              </a:rPr>
              <a:t>z&gt;0</a:t>
            </a:r>
            <a:r>
              <a:rPr kumimoji="1" lang="ja-JP" altLang="en-US" sz="2000">
                <a:solidFill>
                  <a:srgbClr val="253746"/>
                </a:solidFill>
                <a:latin typeface="Meiryo" panose="020B0604030504040204" pitchFamily="50" charset="-128"/>
                <a:ea typeface="Meiryo" panose="020B0604030504040204" pitchFamily="50" charset="-128"/>
              </a:rPr>
              <a:t>）
</a:t>
            </a:r>
            <a:r>
              <a:rPr kumimoji="1" lang="en-US" altLang="ja-JP" sz="2000">
                <a:solidFill>
                  <a:srgbClr val="253746"/>
                </a:solidFill>
                <a:latin typeface="Meiryo" panose="020B0604030504040204" pitchFamily="50" charset="-128"/>
                <a:ea typeface="Meiryo" panose="020B0604030504040204" pitchFamily="50" charset="-128"/>
              </a:rPr>
              <a:t>ζ</a:t>
            </a:r>
            <a:r>
              <a:rPr kumimoji="1" lang="ja-JP" altLang="en-US" sz="2000">
                <a:solidFill>
                  <a:srgbClr val="253746"/>
                </a:solidFill>
                <a:latin typeface="Meiryo" panose="020B0604030504040204" pitchFamily="50" charset="-128"/>
                <a:ea typeface="Meiryo" panose="020B0604030504040204" pitchFamily="50" charset="-128"/>
              </a:rPr>
              <a:t>：推定するべき指数（ゼータ）　 </a:t>
            </a:r>
            <a:r>
              <a:rPr kumimoji="1" lang="en-US" altLang="ja-JP" sz="2000">
                <a:solidFill>
                  <a:srgbClr val="253746"/>
                </a:solidFill>
                <a:latin typeface="Meiryo" panose="020B0604030504040204" pitchFamily="50" charset="-128"/>
                <a:ea typeface="Meiryo" panose="020B0604030504040204" pitchFamily="50" charset="-128"/>
              </a:rPr>
              <a:t>log</a:t>
            </a:r>
            <a:r>
              <a:rPr kumimoji="1" lang="ja-JP" altLang="en-US" sz="2000">
                <a:solidFill>
                  <a:srgbClr val="253746"/>
                </a:solidFill>
                <a:latin typeface="Meiryo" panose="020B0604030504040204" pitchFamily="50" charset="-128"/>
                <a:ea typeface="Meiryo" panose="020B0604030504040204" pitchFamily="50" charset="-128"/>
              </a:rPr>
              <a:t>：対数</a:t>
            </a:r>
          </a:p>
        </p:txBody>
      </p:sp>
      <p:sp>
        <p:nvSpPr>
          <p:cNvPr id="12" name="text-9">
            <a:extLst>
              <a:ext uri="{FF2B5EF4-FFF2-40B4-BE49-F238E27FC236}">
                <a16:creationId xmlns:a16="http://schemas.microsoft.com/office/drawing/2014/main" id="{0CC8F5C0-8706-4F14-B384-E789317F8023}"/>
              </a:ext>
            </a:extLst>
          </p:cNvPr>
          <p:cNvSpPr txBox="1"/>
          <p:nvPr/>
        </p:nvSpPr>
        <p:spPr>
          <a:xfrm>
            <a:off x="635000" y="52070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17365D"/>
                </a:solidFill>
                <a:latin typeface="Meiryo" panose="020B0604030504040204" pitchFamily="50" charset="-128"/>
                <a:ea typeface="Meiryo" panose="020B0604030504040204" pitchFamily="50" charset="-128"/>
              </a:rPr>
              <a:t>対数変換したデータに直線回帰を行い、傾きから指数</a:t>
            </a:r>
            <a:r>
              <a:rPr kumimoji="1" lang="en-US" altLang="ja-JP" sz="2200">
                <a:solidFill>
                  <a:srgbClr val="17365D"/>
                </a:solidFill>
                <a:latin typeface="Meiryo" panose="020B0604030504040204" pitchFamily="50" charset="-128"/>
                <a:ea typeface="Meiryo" panose="020B0604030504040204" pitchFamily="50" charset="-128"/>
              </a:rPr>
              <a:t>ζ</a:t>
            </a:r>
            <a:r>
              <a:rPr kumimoji="1" lang="ja-JP" altLang="en-US" sz="2200">
                <a:solidFill>
                  <a:srgbClr val="17365D"/>
                </a:solidFill>
                <a:latin typeface="Meiryo" panose="020B0604030504040204" pitchFamily="50" charset="-128"/>
                <a:ea typeface="Meiryo" panose="020B0604030504040204" pitchFamily="50" charset="-128"/>
              </a:rPr>
              <a:t>を推定する。</a:t>
            </a:r>
          </a:p>
        </p:txBody>
      </p:sp>
      <p:sp>
        <p:nvSpPr>
          <p:cNvPr id="13" name="text-10">
            <a:extLst>
              <a:ext uri="{FF2B5EF4-FFF2-40B4-BE49-F238E27FC236}">
                <a16:creationId xmlns:a16="http://schemas.microsoft.com/office/drawing/2014/main" id="{D5EDBA44-7134-E03A-7782-E072D3E225C0}"/>
              </a:ext>
            </a:extLst>
          </p:cNvPr>
          <p:cNvSpPr txBox="1"/>
          <p:nvPr/>
        </p:nvSpPr>
        <p:spPr>
          <a:xfrm>
            <a:off x="635000" y="58039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この方法を、後に扱う有限サイズスケーリングでの臨界指数推定に利用する。</a:t>
            </a:r>
          </a:p>
        </p:txBody>
      </p:sp>
    </p:spTree>
    <p:extLst>
      <p:ext uri="{BB962C8B-B14F-4D97-AF65-F5344CB8AC3E}">
        <p14:creationId xmlns:p14="http://schemas.microsoft.com/office/powerpoint/2010/main" val="1777930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1">
            <a:extLst>
              <a:ext uri="{FF2B5EF4-FFF2-40B4-BE49-F238E27FC236}">
                <a16:creationId xmlns:a16="http://schemas.microsoft.com/office/drawing/2014/main" id="{A1FF90D2-8ECD-7C8E-F693-F2B0B62CFC7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有限サイズスケーリング（</a:t>
            </a:r>
            <a:r>
              <a:rPr kumimoji="1" lang="en-US" altLang="ja-JP" sz="3200" b="1">
                <a:solidFill>
                  <a:srgbClr val="17365D"/>
                </a:solidFill>
                <a:latin typeface="Meiryo" panose="020B0604030504040204" pitchFamily="50" charset="-128"/>
                <a:ea typeface="Meiryo" panose="020B0604030504040204" pitchFamily="50" charset="-128"/>
              </a:rPr>
              <a:t>FSS</a:t>
            </a:r>
            <a:r>
              <a:rPr kumimoji="1" lang="ja-JP" altLang="en-US" sz="3200" b="1">
                <a:solidFill>
                  <a:srgbClr val="17365D"/>
                </a:solidFill>
                <a:latin typeface="Meiryo" panose="020B0604030504040204" pitchFamily="50" charset="-128"/>
                <a:ea typeface="Meiryo" panose="020B0604030504040204" pitchFamily="50" charset="-128"/>
              </a:rPr>
              <a:t>）</a:t>
            </a:r>
          </a:p>
        </p:txBody>
      </p:sp>
      <p:cxnSp>
        <p:nvCxnSpPr>
          <p:cNvPr id="11" name="直線コネクタ 10">
            <a:extLst>
              <a:ext uri="{FF2B5EF4-FFF2-40B4-BE49-F238E27FC236}">
                <a16:creationId xmlns:a16="http://schemas.microsoft.com/office/drawing/2014/main" id="{BB8D24BC-92D8-B7D4-7FD5-F61C400B1A67}"/>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B42CE81A-7E29-7B4F-5088-F9BC893D1FF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。後続の式</a:t>
            </a:r>
            <a:r>
              <a:rPr kumimoji="1" lang="en-US" altLang="ja-JP" sz="950">
                <a:solidFill>
                  <a:srgbClr val="566573"/>
                </a:solidFill>
                <a:latin typeface="Meiryo" panose="020B0604030504040204" pitchFamily="50" charset="-128"/>
                <a:ea typeface="Meiryo" panose="020B0604030504040204" pitchFamily="50" charset="-128"/>
              </a:rPr>
              <a:t>(S9)</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(S10)</a:t>
            </a:r>
            <a:r>
              <a:rPr kumimoji="1" lang="ja-JP" altLang="en-US" sz="950">
                <a:solidFill>
                  <a:srgbClr val="566573"/>
                </a:solidFill>
                <a:latin typeface="Meiryo" panose="020B0604030504040204" pitchFamily="50" charset="-128"/>
                <a:ea typeface="Meiryo" panose="020B0604030504040204" pitchFamily="50" charset="-128"/>
              </a:rPr>
              <a:t>を先に紹介。記号・導出は後述。</a:t>
            </a:r>
          </a:p>
        </p:txBody>
      </p:sp>
      <p:sp>
        <p:nvSpPr>
          <p:cNvPr id="13" name="page-4">
            <a:extLst>
              <a:ext uri="{FF2B5EF4-FFF2-40B4-BE49-F238E27FC236}">
                <a16:creationId xmlns:a16="http://schemas.microsoft.com/office/drawing/2014/main" id="{DE175418-30FC-59DE-E5FC-5AC02B6F9D09}"/>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11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709AE34E-9AED-CAE3-AAB8-37AC04D37094}"/>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en-US" altLang="ja-JP" sz="2200">
                <a:solidFill>
                  <a:srgbClr val="263746"/>
                </a:solidFill>
                <a:latin typeface="Meiryo" panose="020B0604030504040204" pitchFamily="50" charset="-128"/>
                <a:ea typeface="Meiryo" panose="020B0604030504040204" pitchFamily="50" charset="-128"/>
              </a:rPr>
              <a:t>SPP</a:t>
            </a:r>
            <a:r>
              <a:rPr kumimoji="1" lang="ja-JP" altLang="en-US" sz="2200">
                <a:solidFill>
                  <a:srgbClr val="263746"/>
                </a:solidFill>
                <a:latin typeface="Meiryo" panose="020B0604030504040204" pitchFamily="50" charset="-128"/>
                <a:ea typeface="Meiryo" panose="020B0604030504040204" pitchFamily="50" charset="-128"/>
              </a:rPr>
              <a:t>原論文では、相転移の臨界点と臨界指数を推定するために、
有限サイズスケーリング（</a:t>
            </a:r>
            <a:r>
              <a:rPr kumimoji="1" lang="en-US" altLang="ja-JP" sz="2200">
                <a:solidFill>
                  <a:srgbClr val="263746"/>
                </a:solidFill>
                <a:latin typeface="Meiryo" panose="020B0604030504040204" pitchFamily="50" charset="-128"/>
                <a:ea typeface="Meiryo" panose="020B0604030504040204" pitchFamily="50" charset="-128"/>
              </a:rPr>
              <a:t>FSS</a:t>
            </a:r>
            <a:r>
              <a:rPr kumimoji="1" lang="ja-JP" altLang="en-US" sz="2200">
                <a:solidFill>
                  <a:srgbClr val="263746"/>
                </a:solidFill>
                <a:latin typeface="Meiryo" panose="020B0604030504040204" pitchFamily="50" charset="-128"/>
                <a:ea typeface="Meiryo" panose="020B0604030504040204" pitchFamily="50" charset="-128"/>
              </a:rPr>
              <a:t>）を用いる。</a:t>
            </a:r>
          </a:p>
        </p:txBody>
      </p:sp>
      <p:sp>
        <p:nvSpPr>
          <p:cNvPr id="15" name="text-6">
            <a:extLst>
              <a:ext uri="{FF2B5EF4-FFF2-40B4-BE49-F238E27FC236}">
                <a16:creationId xmlns:a16="http://schemas.microsoft.com/office/drawing/2014/main" id="{AAC39127-D4C5-9FD9-903E-8758909FD937}"/>
              </a:ext>
            </a:extLst>
          </p:cNvPr>
          <p:cNvSpPr txBox="1"/>
          <p:nvPr/>
        </p:nvSpPr>
        <p:spPr>
          <a:xfrm>
            <a:off x="635000" y="2413000"/>
            <a:ext cx="109220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ネットワークサイズ</a:t>
            </a:r>
            <a:r>
              <a:rPr kumimoji="1" lang="en-US" altLang="ja-JP" sz="2200" b="1">
                <a:solidFill>
                  <a:srgbClr val="17365D"/>
                </a:solidFill>
                <a:latin typeface="Meiryo" panose="020B0604030504040204" pitchFamily="50" charset="-128"/>
                <a:ea typeface="Meiryo" panose="020B0604030504040204" pitchFamily="50" charset="-128"/>
              </a:rPr>
              <a:t>N</a:t>
            </a:r>
            <a:r>
              <a:rPr kumimoji="1" lang="ja-JP" altLang="en-US" sz="2200" b="1">
                <a:solidFill>
                  <a:srgbClr val="17365D"/>
                </a:solidFill>
                <a:latin typeface="Meiryo" panose="020B0604030504040204" pitchFamily="50" charset="-128"/>
                <a:ea typeface="Meiryo" panose="020B0604030504040204" pitchFamily="50" charset="-128"/>
              </a:rPr>
              <a:t>に対する依存性の例</a:t>
            </a:r>
          </a:p>
        </p:txBody>
      </p:sp>
      <p:sp>
        <p:nvSpPr>
          <p:cNvPr id="16" name="text-7">
            <a:extLst>
              <a:ext uri="{FF2B5EF4-FFF2-40B4-BE49-F238E27FC236}">
                <a16:creationId xmlns:a16="http://schemas.microsoft.com/office/drawing/2014/main" id="{44FE1A3F-A5B1-7B91-8573-4B643244D962}"/>
              </a:ext>
            </a:extLst>
          </p:cNvPr>
          <p:cNvSpPr txBox="1"/>
          <p:nvPr/>
        </p:nvSpPr>
        <p:spPr>
          <a:xfrm>
            <a:off x="635000" y="29464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① 疑似臨界点の位置</a:t>
            </a:r>
          </a:p>
        </p:txBody>
      </p:sp>
      <p:pic>
        <p:nvPicPr>
          <p:cNvPr id="18" name="source-or-equation-image-8" descr="p_c=p_c(N)+bN^{-1/\bar\nu}\qquad\mathrm{(S9)}">
            <a:extLst>
              <a:ext uri="{FF2B5EF4-FFF2-40B4-BE49-F238E27FC236}">
                <a16:creationId xmlns:a16="http://schemas.microsoft.com/office/drawing/2014/main" id="{6D74A9D7-185A-A79C-3BE9-A5349F635EF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92328" y="3378200"/>
            <a:ext cx="5007344" cy="622300"/>
          </a:xfrm>
          <a:prstGeom prst="rect">
            <a:avLst/>
          </a:prstGeom>
        </p:spPr>
      </p:pic>
      <p:sp>
        <p:nvSpPr>
          <p:cNvPr id="19" name="text-9">
            <a:extLst>
              <a:ext uri="{FF2B5EF4-FFF2-40B4-BE49-F238E27FC236}">
                <a16:creationId xmlns:a16="http://schemas.microsoft.com/office/drawing/2014/main" id="{4D06ECD3-E2D7-4414-B05F-0B9A89B1DB01}"/>
              </a:ext>
            </a:extLst>
          </p:cNvPr>
          <p:cNvSpPr txBox="1"/>
          <p:nvPr/>
        </p:nvSpPr>
        <p:spPr>
          <a:xfrm>
            <a:off x="635000" y="41529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② 臨界点における最大連結成分の割合</a:t>
            </a:r>
          </a:p>
        </p:txBody>
      </p:sp>
      <p:pic>
        <p:nvPicPr>
          <p:cNvPr id="21" name="source-or-equation-image-10" descr="\langle P(p=p_c,N)\rangle\sim N^{-\beta/\bar\nu}\qquad\mathrm{(S10)}">
            <a:extLst>
              <a:ext uri="{FF2B5EF4-FFF2-40B4-BE49-F238E27FC236}">
                <a16:creationId xmlns:a16="http://schemas.microsoft.com/office/drawing/2014/main" id="{6B861F47-3771-CD5A-61BD-EC95DE204C5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277560" y="4559300"/>
            <a:ext cx="5636880" cy="622300"/>
          </a:xfrm>
          <a:prstGeom prst="rect">
            <a:avLst/>
          </a:prstGeom>
        </p:spPr>
      </p:pic>
      <p:sp>
        <p:nvSpPr>
          <p:cNvPr id="22" name="text-11">
            <a:extLst>
              <a:ext uri="{FF2B5EF4-FFF2-40B4-BE49-F238E27FC236}">
                <a16:creationId xmlns:a16="http://schemas.microsoft.com/office/drawing/2014/main" id="{16B62B72-06CA-E468-78B1-9ECFDFE34794}"/>
              </a:ext>
            </a:extLst>
          </p:cNvPr>
          <p:cNvSpPr txBox="1"/>
          <p:nvPr/>
        </p:nvSpPr>
        <p:spPr>
          <a:xfrm>
            <a:off x="635000" y="5219700"/>
            <a:ext cx="10922000" cy="276999"/>
          </a:xfrm>
          <a:prstGeom prst="rect">
            <a:avLst/>
          </a:prstGeom>
          <a:noFill/>
        </p:spPr>
        <p:txBody>
          <a:bodyPr vert="horz" wrap="square" lIns="0" tIns="0" rIns="0" bIns="0" rtlCol="0">
            <a:noAutofit/>
          </a:bodyPr>
          <a:lstStyle/>
          <a:p>
            <a:pPr>
              <a:lnSpc>
                <a:spcPct val="112000"/>
              </a:lnSpc>
            </a:pPr>
            <a:r>
              <a:rPr kumimoji="1" lang="ja-JP" altLang="en-US" sz="1400">
                <a:solidFill>
                  <a:srgbClr val="263746"/>
                </a:solidFill>
                <a:latin typeface="Meiryo" panose="020B0604030504040204" pitchFamily="50" charset="-128"/>
                <a:ea typeface="Meiryo" panose="020B0604030504040204" pitchFamily="50" charset="-128"/>
              </a:rPr>
              <a:t>（</a:t>
            </a:r>
            <a:r>
              <a:rPr kumimoji="1" lang="en-US" altLang="ja-JP" sz="1400">
                <a:solidFill>
                  <a:srgbClr val="263746"/>
                </a:solidFill>
                <a:latin typeface="Meiryo" panose="020B0604030504040204" pitchFamily="50" charset="-128"/>
                <a:ea typeface="Meiryo" panose="020B0604030504040204" pitchFamily="50" charset="-128"/>
              </a:rPr>
              <a:t>S10</a:t>
            </a:r>
            <a:r>
              <a:rPr kumimoji="1" lang="ja-JP" altLang="en-US" sz="1400">
                <a:solidFill>
                  <a:srgbClr val="263746"/>
                </a:solidFill>
                <a:latin typeface="Meiryo" panose="020B0604030504040204" pitchFamily="50" charset="-128"/>
                <a:ea typeface="Meiryo" panose="020B0604030504040204" pitchFamily="50" charset="-128"/>
              </a:rPr>
              <a:t>）を明示的に書いた形：原文の省略記法</a:t>
            </a:r>
            <a:r>
              <a:rPr kumimoji="1" lang="en-US" altLang="ja-JP" sz="1400">
                <a:solidFill>
                  <a:srgbClr val="263746"/>
                </a:solidFill>
                <a:latin typeface="Meiryo" panose="020B0604030504040204" pitchFamily="50" charset="-128"/>
                <a:ea typeface="Meiryo" panose="020B0604030504040204" pitchFamily="50" charset="-128"/>
              </a:rPr>
              <a:t>P(p</a:t>
            </a:r>
            <a:r>
              <a:rPr kumimoji="1" lang="en-US" altLang="ja-JP" sz="1036" baseline="-16000">
                <a:solidFill>
                  <a:srgbClr val="263746"/>
                </a:solidFill>
                <a:latin typeface="Meiryo" panose="020B0604030504040204" pitchFamily="50" charset="-128"/>
                <a:ea typeface="Meiryo" panose="020B0604030504040204" pitchFamily="50" charset="-128"/>
              </a:rPr>
              <a:t>c</a:t>
            </a:r>
            <a:r>
              <a:rPr kumimoji="1" lang="en-US" altLang="ja-JP" sz="1400">
                <a:solidFill>
                  <a:srgbClr val="263746"/>
                </a:solidFill>
                <a:latin typeface="Meiryo" panose="020B0604030504040204" pitchFamily="50" charset="-128"/>
                <a:ea typeface="Meiryo" panose="020B0604030504040204" pitchFamily="50" charset="-128"/>
              </a:rPr>
              <a:t>)</a:t>
            </a:r>
            <a:r>
              <a:rPr kumimoji="1" lang="ja-JP" altLang="en-US" sz="1400">
                <a:solidFill>
                  <a:srgbClr val="263746"/>
                </a:solidFill>
                <a:latin typeface="Meiryo" panose="020B0604030504040204" pitchFamily="50" charset="-128"/>
                <a:ea typeface="Meiryo" panose="020B0604030504040204" pitchFamily="50" charset="-128"/>
              </a:rPr>
              <a:t>について、</a:t>
            </a:r>
          </a:p>
          <a:p>
            <a:pPr>
              <a:lnSpc>
                <a:spcPct val="112000"/>
              </a:lnSpc>
            </a:pPr>
            <a:r>
              <a:rPr kumimoji="1" lang="ja-JP" altLang="en-US" sz="1400">
                <a:solidFill>
                  <a:srgbClr val="263746"/>
                </a:solidFill>
                <a:latin typeface="Meiryo" panose="020B0604030504040204" pitchFamily="50" charset="-128"/>
                <a:ea typeface="Meiryo" panose="020B0604030504040204" pitchFamily="50" charset="-128"/>
              </a:rPr>
              <a:t>試行間平均と</a:t>
            </a:r>
            <a:r>
              <a:rPr kumimoji="1" lang="en-US" altLang="ja-JP" sz="1400">
                <a:solidFill>
                  <a:srgbClr val="263746"/>
                </a:solidFill>
                <a:latin typeface="Meiryo" panose="020B0604030504040204" pitchFamily="50" charset="-128"/>
                <a:ea typeface="Meiryo" panose="020B0604030504040204" pitchFamily="50" charset="-128"/>
              </a:rPr>
              <a:t>N</a:t>
            </a:r>
            <a:r>
              <a:rPr kumimoji="1" lang="ja-JP" altLang="en-US" sz="1400">
                <a:solidFill>
                  <a:srgbClr val="263746"/>
                </a:solidFill>
                <a:latin typeface="Meiryo" panose="020B0604030504040204" pitchFamily="50" charset="-128"/>
                <a:ea typeface="Meiryo" panose="020B0604030504040204" pitchFamily="50" charset="-128"/>
              </a:rPr>
              <a:t>依存性を明示している。</a:t>
            </a:r>
          </a:p>
        </p:txBody>
      </p:sp>
      <p:sp>
        <p:nvSpPr>
          <p:cNvPr id="23" name="text-12">
            <a:extLst>
              <a:ext uri="{FF2B5EF4-FFF2-40B4-BE49-F238E27FC236}">
                <a16:creationId xmlns:a16="http://schemas.microsoft.com/office/drawing/2014/main" id="{1EF2A5F7-A579-0973-602E-3E65D197451F}"/>
              </a:ext>
            </a:extLst>
          </p:cNvPr>
          <p:cNvSpPr txBox="1"/>
          <p:nvPr/>
        </p:nvSpPr>
        <p:spPr>
          <a:xfrm>
            <a:off x="635000" y="57658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異なるサイズの測定結果から、臨界点や臨界指数を推定する。</a:t>
            </a:r>
          </a:p>
        </p:txBody>
      </p:sp>
    </p:spTree>
    <p:extLst>
      <p:ext uri="{BB962C8B-B14F-4D97-AF65-F5344CB8AC3E}">
        <p14:creationId xmlns:p14="http://schemas.microsoft.com/office/powerpoint/2010/main" val="328441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A50AA27B-F745-B1B3-6EB3-D80728ECCA0E}"/>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最大連結成分の有限サイズスケーリング</a:t>
            </a:r>
          </a:p>
        </p:txBody>
      </p:sp>
      <p:cxnSp>
        <p:nvCxnSpPr>
          <p:cNvPr id="9" name="直線コネクタ 8">
            <a:extLst>
              <a:ext uri="{FF2B5EF4-FFF2-40B4-BE49-F238E27FC236}">
                <a16:creationId xmlns:a16="http://schemas.microsoft.com/office/drawing/2014/main" id="{C9CE53F7-80B9-1D2E-3EAF-9D14D2416519}"/>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4" name="source-3">
            <a:extLst>
              <a:ext uri="{FF2B5EF4-FFF2-40B4-BE49-F238E27FC236}">
                <a16:creationId xmlns:a16="http://schemas.microsoft.com/office/drawing/2014/main" id="{02AC173C-62CE-1063-9AC2-10FAFFF86537}"/>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(S6)</a:t>
            </a:r>
            <a:r>
              <a:rPr kumimoji="1" lang="ja-JP" altLang="en-US" sz="950">
                <a:solidFill>
                  <a:srgbClr val="566573"/>
                </a:solidFill>
                <a:latin typeface="Meiryo" panose="020B0604030504040204" pitchFamily="50" charset="-128"/>
                <a:ea typeface="Meiryo" panose="020B0604030504040204" pitchFamily="50" charset="-128"/>
              </a:rPr>
              <a:t>。右辺を</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つの役割に分けて説明。</a:t>
            </a:r>
          </a:p>
        </p:txBody>
      </p:sp>
      <p:sp>
        <p:nvSpPr>
          <p:cNvPr id="15" name="page-4">
            <a:extLst>
              <a:ext uri="{FF2B5EF4-FFF2-40B4-BE49-F238E27FC236}">
                <a16:creationId xmlns:a16="http://schemas.microsoft.com/office/drawing/2014/main" id="{3EB08BDB-8CDF-D9D3-A3AD-A50BF2B3E4F8}"/>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12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6" name="text-5">
            <a:extLst>
              <a:ext uri="{FF2B5EF4-FFF2-40B4-BE49-F238E27FC236}">
                <a16:creationId xmlns:a16="http://schemas.microsoft.com/office/drawing/2014/main" id="{69CC78FE-2E27-B579-75E1-ADBA270FA0B2}"/>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63746"/>
                </a:solidFill>
                <a:latin typeface="Meiryo" panose="020B0604030504040204" pitchFamily="50" charset="-128"/>
                <a:ea typeface="Meiryo" panose="020B0604030504040204" pitchFamily="50" charset="-128"/>
              </a:rPr>
              <a:t>原論文では、最大連結成分の割合</a:t>
            </a:r>
            <a:r>
              <a:rPr kumimoji="1" lang="en-US" altLang="ja-JP" sz="2100">
                <a:solidFill>
                  <a:srgbClr val="263746"/>
                </a:solidFill>
                <a:latin typeface="Meiryo" panose="020B0604030504040204" pitchFamily="50" charset="-128"/>
                <a:ea typeface="Meiryo" panose="020B0604030504040204" pitchFamily="50" charset="-128"/>
              </a:rPr>
              <a:t>P</a:t>
            </a:r>
            <a:r>
              <a:rPr kumimoji="1" lang="ja-JP" altLang="en-US" sz="2100">
                <a:solidFill>
                  <a:srgbClr val="263746"/>
                </a:solidFill>
                <a:latin typeface="Meiryo" panose="020B0604030504040204" pitchFamily="50" charset="-128"/>
                <a:ea typeface="Meiryo" panose="020B0604030504040204" pitchFamily="50" charset="-128"/>
              </a:rPr>
              <a:t>について次の</a:t>
            </a:r>
            <a:r>
              <a:rPr kumimoji="1" lang="en-US" altLang="ja-JP" sz="2100">
                <a:solidFill>
                  <a:srgbClr val="263746"/>
                </a:solidFill>
                <a:latin typeface="Meiryo" panose="020B0604030504040204" pitchFamily="50" charset="-128"/>
                <a:ea typeface="Meiryo" panose="020B0604030504040204" pitchFamily="50" charset="-128"/>
              </a:rPr>
              <a:t>FSS</a:t>
            </a:r>
            <a:r>
              <a:rPr kumimoji="1" lang="ja-JP" altLang="en-US" sz="2100">
                <a:solidFill>
                  <a:srgbClr val="263746"/>
                </a:solidFill>
                <a:latin typeface="Meiryo" panose="020B0604030504040204" pitchFamily="50" charset="-128"/>
                <a:ea typeface="Meiryo" panose="020B0604030504040204" pitchFamily="50" charset="-128"/>
              </a:rPr>
              <a:t>を仮定する。</a:t>
            </a:r>
          </a:p>
        </p:txBody>
      </p:sp>
      <p:pic>
        <p:nvPicPr>
          <p:cNvPr id="18" name="source-or-equation-image-6" descr="\langle P(p,N)\rangle=N^{-\beta/\bar\nu}F^{(1)}[(p-p_c)N^{1/\bar\nu}]\qquad\mathrm{(S6)}">
            <a:extLst>
              <a:ext uri="{FF2B5EF4-FFF2-40B4-BE49-F238E27FC236}">
                <a16:creationId xmlns:a16="http://schemas.microsoft.com/office/drawing/2014/main" id="{7A0E543F-F4C1-9B1A-BD47-BA7FF3A480B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49128" y="2095500"/>
            <a:ext cx="10493744" cy="863600"/>
          </a:xfrm>
          <a:prstGeom prst="rect">
            <a:avLst/>
          </a:prstGeom>
        </p:spPr>
      </p:pic>
      <p:pic>
        <p:nvPicPr>
          <p:cNvPr id="20" name="source-or-equation-image-7" descr="N^{-\beta/\bar\nu}">
            <a:extLst>
              <a:ext uri="{FF2B5EF4-FFF2-40B4-BE49-F238E27FC236}">
                <a16:creationId xmlns:a16="http://schemas.microsoft.com/office/drawing/2014/main" id="{951694F0-B03E-186C-8881-FABDAF88778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320874" y="3302000"/>
            <a:ext cx="1168252" cy="685800"/>
          </a:xfrm>
          <a:prstGeom prst="rect">
            <a:avLst/>
          </a:prstGeom>
        </p:spPr>
      </p:pic>
      <p:sp>
        <p:nvSpPr>
          <p:cNvPr id="21" name="text-8">
            <a:extLst>
              <a:ext uri="{FF2B5EF4-FFF2-40B4-BE49-F238E27FC236}">
                <a16:creationId xmlns:a16="http://schemas.microsoft.com/office/drawing/2014/main" id="{324C2F10-6A1B-5D09-00CD-9F917BE0A908}"/>
              </a:ext>
            </a:extLst>
          </p:cNvPr>
          <p:cNvSpPr txBox="1"/>
          <p:nvPr/>
        </p:nvSpPr>
        <p:spPr>
          <a:xfrm>
            <a:off x="3429000" y="3289300"/>
            <a:ext cx="8128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63746"/>
                </a:solidFill>
                <a:latin typeface="Meiryo" panose="020B0604030504040204" pitchFamily="50" charset="-128"/>
                <a:ea typeface="Meiryo" panose="020B0604030504040204" pitchFamily="50" charset="-128"/>
              </a:rPr>
              <a:t>① 引数</a:t>
            </a:r>
            <a:r>
              <a:rPr kumimoji="1" lang="en-US" altLang="ja-JP" sz="2100">
                <a:solidFill>
                  <a:srgbClr val="263746"/>
                </a:solidFill>
                <a:latin typeface="Meiryo" panose="020B0604030504040204" pitchFamily="50" charset="-128"/>
                <a:ea typeface="Meiryo" panose="020B0604030504040204" pitchFamily="50" charset="-128"/>
              </a:rPr>
              <a:t>u</a:t>
            </a:r>
            <a:r>
              <a:rPr kumimoji="1" lang="ja-JP" altLang="en-US" sz="2100">
                <a:solidFill>
                  <a:srgbClr val="263746"/>
                </a:solidFill>
                <a:latin typeface="Meiryo" panose="020B0604030504040204" pitchFamily="50" charset="-128"/>
                <a:ea typeface="Meiryo" panose="020B0604030504040204" pitchFamily="50" charset="-128"/>
              </a:rPr>
              <a:t>が一定のときの、
　 </a:t>
            </a:r>
            <a:r>
              <a:rPr kumimoji="1" lang="en-US" altLang="ja-JP" sz="2100">
                <a:solidFill>
                  <a:srgbClr val="263746"/>
                </a:solidFill>
                <a:latin typeface="Meiryo" panose="020B0604030504040204" pitchFamily="50" charset="-128"/>
                <a:ea typeface="Meiryo" panose="020B0604030504040204" pitchFamily="50" charset="-128"/>
              </a:rPr>
              <a:t>P</a:t>
            </a:r>
            <a:r>
              <a:rPr kumimoji="1" lang="ja-JP" altLang="en-US" sz="2100">
                <a:solidFill>
                  <a:srgbClr val="263746"/>
                </a:solidFill>
                <a:latin typeface="Meiryo" panose="020B0604030504040204" pitchFamily="50" charset="-128"/>
                <a:ea typeface="Meiryo" panose="020B0604030504040204" pitchFamily="50" charset="-128"/>
              </a:rPr>
              <a:t>のサイズ依存性を表す。</a:t>
            </a:r>
          </a:p>
        </p:txBody>
      </p:sp>
      <p:pic>
        <p:nvPicPr>
          <p:cNvPr id="23" name="source-or-equation-image-9" descr="u=(p-p_c)N^{1/\bar\nu}">
            <a:extLst>
              <a:ext uri="{FF2B5EF4-FFF2-40B4-BE49-F238E27FC236}">
                <a16:creationId xmlns:a16="http://schemas.microsoft.com/office/drawing/2014/main" id="{DFA0BF67-3730-2407-CF92-E2D091138A0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746988" y="4203700"/>
            <a:ext cx="3110023" cy="685800"/>
          </a:xfrm>
          <a:prstGeom prst="rect">
            <a:avLst/>
          </a:prstGeom>
        </p:spPr>
      </p:pic>
      <p:sp>
        <p:nvSpPr>
          <p:cNvPr id="24" name="text-10">
            <a:extLst>
              <a:ext uri="{FF2B5EF4-FFF2-40B4-BE49-F238E27FC236}">
                <a16:creationId xmlns:a16="http://schemas.microsoft.com/office/drawing/2014/main" id="{03A19533-7AD6-BCAA-D7B9-97813A8CF0BD}"/>
              </a:ext>
            </a:extLst>
          </p:cNvPr>
          <p:cNvSpPr txBox="1"/>
          <p:nvPr/>
        </p:nvSpPr>
        <p:spPr>
          <a:xfrm>
            <a:off x="6223000" y="4191000"/>
            <a:ext cx="5334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63746"/>
                </a:solidFill>
                <a:latin typeface="Meiryo" panose="020B0604030504040204" pitchFamily="50" charset="-128"/>
                <a:ea typeface="Meiryo" panose="020B0604030504040204" pitchFamily="50" charset="-128"/>
              </a:rPr>
              <a:t>② 臨界点からの距離を、</a:t>
            </a:r>
            <a:r>
              <a:rPr kumimoji="1" lang="en-US" altLang="ja-JP" sz="1900">
                <a:solidFill>
                  <a:srgbClr val="263746"/>
                </a:solidFill>
                <a:latin typeface="Meiryo" panose="020B0604030504040204" pitchFamily="50" charset="-128"/>
                <a:ea typeface="Meiryo" panose="020B0604030504040204" pitchFamily="50" charset="-128"/>
              </a:rPr>
              <a:t>N</a:t>
            </a:r>
            <a:r>
              <a:rPr kumimoji="1" lang="ja-JP" altLang="en-US" sz="1900">
                <a:solidFill>
                  <a:srgbClr val="263746"/>
                </a:solidFill>
                <a:latin typeface="Meiryo" panose="020B0604030504040204" pitchFamily="50" charset="-128"/>
                <a:ea typeface="Meiryo" panose="020B0604030504040204" pitchFamily="50" charset="-128"/>
              </a:rPr>
              <a:t>に応じて調整。
　 </a:t>
            </a:r>
            <a:r>
              <a:rPr kumimoji="1" lang="en-US" altLang="ja-JP" sz="1900">
                <a:solidFill>
                  <a:srgbClr val="263746"/>
                </a:solidFill>
                <a:latin typeface="Meiryo" panose="020B0604030504040204" pitchFamily="50" charset="-128"/>
                <a:ea typeface="Meiryo" panose="020B0604030504040204" pitchFamily="50" charset="-128"/>
              </a:rPr>
              <a:t>u</a:t>
            </a:r>
            <a:r>
              <a:rPr kumimoji="1" lang="ja-JP" altLang="en-US" sz="1900">
                <a:solidFill>
                  <a:srgbClr val="263746"/>
                </a:solidFill>
                <a:latin typeface="Meiryo" panose="020B0604030504040204" pitchFamily="50" charset="-128"/>
                <a:ea typeface="Meiryo" panose="020B0604030504040204" pitchFamily="50" charset="-128"/>
              </a:rPr>
              <a:t>は説明用に導入した補助記号。</a:t>
            </a:r>
          </a:p>
        </p:txBody>
      </p:sp>
      <p:sp>
        <p:nvSpPr>
          <p:cNvPr id="25" name="text-11">
            <a:extLst>
              <a:ext uri="{FF2B5EF4-FFF2-40B4-BE49-F238E27FC236}">
                <a16:creationId xmlns:a16="http://schemas.microsoft.com/office/drawing/2014/main" id="{5E4BD421-A3C0-903C-906F-171C443666D9}"/>
              </a:ext>
            </a:extLst>
          </p:cNvPr>
          <p:cNvSpPr txBox="1"/>
          <p:nvPr/>
        </p:nvSpPr>
        <p:spPr>
          <a:xfrm>
            <a:off x="635000" y="5105400"/>
            <a:ext cx="5715000" cy="276999"/>
          </a:xfrm>
          <a:prstGeom prst="rect">
            <a:avLst/>
          </a:prstGeom>
          <a:noFill/>
        </p:spPr>
        <p:txBody>
          <a:bodyPr vert="horz" wrap="square" lIns="0" tIns="0" rIns="0" bIns="0" rtlCol="0">
            <a:noAutofit/>
          </a:bodyPr>
          <a:lstStyle/>
          <a:p>
            <a:pPr>
              <a:lnSpc>
                <a:spcPct val="112000"/>
              </a:lnSpc>
            </a:pPr>
            <a:r>
              <a:rPr kumimoji="1" lang="en-US" altLang="ja-JP">
                <a:solidFill>
                  <a:srgbClr val="263746"/>
                </a:solidFill>
                <a:latin typeface="Meiryo" panose="020B0604030504040204" pitchFamily="50" charset="-128"/>
                <a:ea typeface="Meiryo" panose="020B0604030504040204" pitchFamily="50" charset="-128"/>
              </a:rPr>
              <a:t>β</a:t>
            </a:r>
            <a:r>
              <a:rPr kumimoji="1" lang="ja-JP" altLang="en-US">
                <a:solidFill>
                  <a:srgbClr val="263746"/>
                </a:solidFill>
                <a:latin typeface="Meiryo" panose="020B0604030504040204" pitchFamily="50" charset="-128"/>
                <a:ea typeface="Meiryo" panose="020B0604030504040204" pitchFamily="50" charset="-128"/>
              </a:rPr>
              <a:t>（ベータ）：</a:t>
            </a:r>
            <a:r>
              <a:rPr kumimoji="1" lang="en-US" altLang="ja-JP">
                <a:solidFill>
                  <a:srgbClr val="263746"/>
                </a:solidFill>
                <a:latin typeface="Meiryo" panose="020B0604030504040204" pitchFamily="50" charset="-128"/>
                <a:ea typeface="Meiryo" panose="020B0604030504040204" pitchFamily="50" charset="-128"/>
              </a:rPr>
              <a:t>P</a:t>
            </a:r>
            <a:r>
              <a:rPr kumimoji="1" lang="ja-JP" altLang="en-US">
                <a:solidFill>
                  <a:srgbClr val="263746"/>
                </a:solidFill>
                <a:latin typeface="Meiryo" panose="020B0604030504040204" pitchFamily="50" charset="-128"/>
                <a:ea typeface="Meiryo" panose="020B0604030504040204" pitchFamily="50" charset="-128"/>
              </a:rPr>
              <a:t>の臨界指数</a:t>
            </a:r>
          </a:p>
          <a:p>
            <a:pPr>
              <a:lnSpc>
                <a:spcPct val="112000"/>
              </a:lnSpc>
            </a:pPr>
            <a:r>
              <a:rPr kumimoji="1" lang="en-US" altLang="ja-JP">
                <a:solidFill>
                  <a:srgbClr val="263746"/>
                </a:solidFill>
                <a:latin typeface="Meiryo" panose="020B0604030504040204" pitchFamily="50" charset="-128"/>
                <a:ea typeface="Meiryo" panose="020B0604030504040204" pitchFamily="50" charset="-128"/>
              </a:rPr>
              <a:t>ν̄</a:t>
            </a:r>
            <a:r>
              <a:rPr kumimoji="1" lang="ja-JP" altLang="en-US">
                <a:solidFill>
                  <a:srgbClr val="263746"/>
                </a:solidFill>
                <a:latin typeface="Meiryo" panose="020B0604030504040204" pitchFamily="50" charset="-128"/>
                <a:ea typeface="Meiryo" panose="020B0604030504040204" pitchFamily="50" charset="-128"/>
              </a:rPr>
              <a:t>（ニューバー）：相関体積の臨界指数</a:t>
            </a:r>
          </a:p>
          <a:p>
            <a:pPr>
              <a:lnSpc>
                <a:spcPct val="112000"/>
              </a:lnSpc>
            </a:pPr>
            <a:r>
              <a:rPr kumimoji="1" lang="en-US" altLang="ja-JP">
                <a:solidFill>
                  <a:srgbClr val="263746"/>
                </a:solidFill>
                <a:latin typeface="Meiryo" panose="020B0604030504040204" pitchFamily="50" charset="-128"/>
                <a:ea typeface="Meiryo" panose="020B0604030504040204" pitchFamily="50" charset="-128"/>
              </a:rPr>
              <a:t>p</a:t>
            </a:r>
            <a:r>
              <a:rPr kumimoji="1" lang="en-US" altLang="ja-JP" sz="1332" baseline="-16000">
                <a:solidFill>
                  <a:srgbClr val="263746"/>
                </a:solidFill>
                <a:latin typeface="Meiryo" panose="020B0604030504040204" pitchFamily="50" charset="-128"/>
                <a:ea typeface="Meiryo" panose="020B0604030504040204" pitchFamily="50" charset="-128"/>
              </a:rPr>
              <a:t>c</a:t>
            </a:r>
            <a:r>
              <a:rPr kumimoji="1" lang="ja-JP" altLang="en-US">
                <a:solidFill>
                  <a:srgbClr val="263746"/>
                </a:solidFill>
                <a:latin typeface="Meiryo" panose="020B0604030504040204" pitchFamily="50" charset="-128"/>
                <a:ea typeface="Meiryo" panose="020B0604030504040204" pitchFamily="50" charset="-128"/>
              </a:rPr>
              <a:t>：無限サイズの臨界点</a:t>
            </a:r>
          </a:p>
        </p:txBody>
      </p:sp>
      <p:sp>
        <p:nvSpPr>
          <p:cNvPr id="26" name="text-12">
            <a:extLst>
              <a:ext uri="{FF2B5EF4-FFF2-40B4-BE49-F238E27FC236}">
                <a16:creationId xmlns:a16="http://schemas.microsoft.com/office/drawing/2014/main" id="{9527EEA6-016D-5DD0-7143-78DDDF4CD4A7}"/>
              </a:ext>
            </a:extLst>
          </p:cNvPr>
          <p:cNvSpPr txBox="1"/>
          <p:nvPr/>
        </p:nvSpPr>
        <p:spPr>
          <a:xfrm>
            <a:off x="6477000" y="5105400"/>
            <a:ext cx="5080000" cy="276999"/>
          </a:xfrm>
          <a:prstGeom prst="rect">
            <a:avLst/>
          </a:prstGeom>
          <a:noFill/>
        </p:spPr>
        <p:txBody>
          <a:bodyPr vert="horz" wrap="square" lIns="0" tIns="0" rIns="0" bIns="0" rtlCol="0">
            <a:noAutofit/>
          </a:bodyPr>
          <a:lstStyle/>
          <a:p>
            <a:pPr>
              <a:lnSpc>
                <a:spcPct val="112000"/>
              </a:lnSpc>
            </a:pPr>
            <a:r>
              <a:rPr kumimoji="1" lang="en-US" altLang="ja-JP">
                <a:solidFill>
                  <a:srgbClr val="263746"/>
                </a:solidFill>
                <a:latin typeface="Meiryo" panose="020B0604030504040204" pitchFamily="50" charset="-128"/>
                <a:ea typeface="Meiryo" panose="020B0604030504040204" pitchFamily="50" charset="-128"/>
              </a:rPr>
              <a:t>F⁽¹⁾</a:t>
            </a:r>
            <a:r>
              <a:rPr kumimoji="1" lang="ja-JP" altLang="en-US">
                <a:solidFill>
                  <a:srgbClr val="263746"/>
                </a:solidFill>
                <a:latin typeface="Meiryo" panose="020B0604030504040204" pitchFamily="50" charset="-128"/>
                <a:ea typeface="Meiryo" panose="020B0604030504040204" pitchFamily="50" charset="-128"/>
              </a:rPr>
              <a:t>：</a:t>
            </a:r>
            <a:r>
              <a:rPr kumimoji="1" lang="en-US" altLang="ja-JP">
                <a:solidFill>
                  <a:srgbClr val="263746"/>
                </a:solidFill>
                <a:latin typeface="Meiryo" panose="020B0604030504040204" pitchFamily="50" charset="-128"/>
                <a:ea typeface="Meiryo" panose="020B0604030504040204" pitchFamily="50" charset="-128"/>
              </a:rPr>
              <a:t>P</a:t>
            </a:r>
            <a:r>
              <a:rPr kumimoji="1" lang="ja-JP" altLang="en-US">
                <a:solidFill>
                  <a:srgbClr val="263746"/>
                </a:solidFill>
                <a:latin typeface="Meiryo" panose="020B0604030504040204" pitchFamily="50" charset="-128"/>
                <a:ea typeface="Meiryo" panose="020B0604030504040204" pitchFamily="50" charset="-128"/>
              </a:rPr>
              <a:t>に対応するスケーリング関数
</a:t>
            </a:r>
            <a:r>
              <a:rPr kumimoji="1" lang="en-US" altLang="ja-JP">
                <a:solidFill>
                  <a:srgbClr val="263746"/>
                </a:solidFill>
                <a:latin typeface="Meiryo" panose="020B0604030504040204" pitchFamily="50" charset="-128"/>
                <a:ea typeface="Meiryo" panose="020B0604030504040204" pitchFamily="50" charset="-128"/>
              </a:rPr>
              <a:t>〈P(p,N)〉</a:t>
            </a:r>
            <a:r>
              <a:rPr kumimoji="1" lang="ja-JP" altLang="en-US">
                <a:solidFill>
                  <a:srgbClr val="263746"/>
                </a:solidFill>
                <a:latin typeface="Meiryo" panose="020B0604030504040204" pitchFamily="50" charset="-128"/>
                <a:ea typeface="Meiryo" panose="020B0604030504040204" pitchFamily="50" charset="-128"/>
              </a:rPr>
              <a:t>：削除率</a:t>
            </a:r>
            <a:r>
              <a:rPr kumimoji="1" lang="en-US" altLang="ja-JP">
                <a:solidFill>
                  <a:srgbClr val="263746"/>
                </a:solidFill>
                <a:latin typeface="Meiryo" panose="020B0604030504040204" pitchFamily="50" charset="-128"/>
                <a:ea typeface="Meiryo" panose="020B0604030504040204" pitchFamily="50" charset="-128"/>
              </a:rPr>
              <a:t>p</a:t>
            </a:r>
            <a:r>
              <a:rPr kumimoji="1" lang="ja-JP" altLang="en-US">
                <a:solidFill>
                  <a:srgbClr val="263746"/>
                </a:solidFill>
                <a:latin typeface="Meiryo" panose="020B0604030504040204" pitchFamily="50" charset="-128"/>
                <a:ea typeface="Meiryo" panose="020B0604030504040204" pitchFamily="50" charset="-128"/>
              </a:rPr>
              <a:t>、サイズ</a:t>
            </a:r>
            <a:r>
              <a:rPr kumimoji="1" lang="en-US" altLang="ja-JP">
                <a:solidFill>
                  <a:srgbClr val="263746"/>
                </a:solidFill>
                <a:latin typeface="Meiryo" panose="020B0604030504040204" pitchFamily="50" charset="-128"/>
                <a:ea typeface="Meiryo" panose="020B0604030504040204" pitchFamily="50" charset="-128"/>
              </a:rPr>
              <a:t>N</a:t>
            </a:r>
            <a:r>
              <a:rPr kumimoji="1" lang="ja-JP" altLang="en-US">
                <a:solidFill>
                  <a:srgbClr val="263746"/>
                </a:solidFill>
                <a:latin typeface="Meiryo" panose="020B0604030504040204" pitchFamily="50" charset="-128"/>
                <a:ea typeface="Meiryo" panose="020B0604030504040204" pitchFamily="50" charset="-128"/>
              </a:rPr>
              <a:t>での
　　　　　 </a:t>
            </a:r>
            <a:r>
              <a:rPr kumimoji="1" lang="en-US" altLang="ja-JP">
                <a:solidFill>
                  <a:srgbClr val="263746"/>
                </a:solidFill>
                <a:latin typeface="Meiryo" panose="020B0604030504040204" pitchFamily="50" charset="-128"/>
                <a:ea typeface="Meiryo" panose="020B0604030504040204" pitchFamily="50" charset="-128"/>
              </a:rPr>
              <a:t>P</a:t>
            </a:r>
            <a:r>
              <a:rPr kumimoji="1" lang="ja-JP" altLang="en-US">
                <a:solidFill>
                  <a:srgbClr val="263746"/>
                </a:solidFill>
                <a:latin typeface="Meiryo" panose="020B0604030504040204" pitchFamily="50" charset="-128"/>
                <a:ea typeface="Meiryo" panose="020B0604030504040204" pitchFamily="50" charset="-128"/>
              </a:rPr>
              <a:t>の試行間平均</a:t>
            </a:r>
          </a:p>
        </p:txBody>
      </p:sp>
    </p:spTree>
    <p:extLst>
      <p:ext uri="{BB962C8B-B14F-4D97-AF65-F5344CB8AC3E}">
        <p14:creationId xmlns:p14="http://schemas.microsoft.com/office/powerpoint/2010/main" val="61003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4D7BC1A8-5BDB-1257-2737-E7CB183B653C}"/>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平均クラスターサイズの有限サイズスケーリング</a:t>
            </a:r>
          </a:p>
        </p:txBody>
      </p:sp>
      <p:cxnSp>
        <p:nvCxnSpPr>
          <p:cNvPr id="11" name="直線コネクタ 10">
            <a:extLst>
              <a:ext uri="{FF2B5EF4-FFF2-40B4-BE49-F238E27FC236}">
                <a16:creationId xmlns:a16="http://schemas.microsoft.com/office/drawing/2014/main" id="{85FC8AB8-F32E-C580-688D-B3A5B83C3E7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EC9B55EB-F480-1C1F-8468-01EB7D41408D}"/>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(S7)</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a:t>
            </a:r>
            <a:r>
              <a:rPr kumimoji="1" lang="ja-JP" altLang="en-US" sz="950">
                <a:solidFill>
                  <a:srgbClr val="566573"/>
                </a:solidFill>
                <a:latin typeface="Meiryo" panose="020B0604030504040204" pitchFamily="50" charset="-128"/>
                <a:ea typeface="Meiryo" panose="020B0604030504040204" pitchFamily="50" charset="-128"/>
              </a:rPr>
              <a:t>の関係は一般理論に基づく補足。</a:t>
            </a:r>
          </a:p>
        </p:txBody>
      </p:sp>
      <p:sp>
        <p:nvSpPr>
          <p:cNvPr id="13" name="page-4">
            <a:extLst>
              <a:ext uri="{FF2B5EF4-FFF2-40B4-BE49-F238E27FC236}">
                <a16:creationId xmlns:a16="http://schemas.microsoft.com/office/drawing/2014/main" id="{555B6917-4F67-B3B6-4E84-706EAFBD0D45}"/>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13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97B52824-27D3-EF2C-E937-0A578E647C64}"/>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63746"/>
                </a:solidFill>
                <a:latin typeface="Meiryo" panose="020B0604030504040204" pitchFamily="50" charset="-128"/>
                <a:ea typeface="Meiryo" panose="020B0604030504040204" pitchFamily="50" charset="-128"/>
              </a:rPr>
              <a:t>原論文では、平均クラスターサイズ</a:t>
            </a:r>
            <a:r>
              <a:rPr kumimoji="1" lang="en-US" altLang="ja-JP" sz="2100">
                <a:solidFill>
                  <a:srgbClr val="263746"/>
                </a:solidFill>
                <a:latin typeface="Meiryo" panose="020B0604030504040204" pitchFamily="50" charset="-128"/>
                <a:ea typeface="Meiryo" panose="020B0604030504040204" pitchFamily="50" charset="-128"/>
              </a:rPr>
              <a:t>S</a:t>
            </a:r>
            <a:r>
              <a:rPr kumimoji="1" lang="ja-JP" altLang="en-US" sz="2100">
                <a:solidFill>
                  <a:srgbClr val="263746"/>
                </a:solidFill>
                <a:latin typeface="Meiryo" panose="020B0604030504040204" pitchFamily="50" charset="-128"/>
                <a:ea typeface="Meiryo" panose="020B0604030504040204" pitchFamily="50" charset="-128"/>
              </a:rPr>
              <a:t>について次の</a:t>
            </a:r>
            <a:r>
              <a:rPr kumimoji="1" lang="en-US" altLang="ja-JP" sz="2100">
                <a:solidFill>
                  <a:srgbClr val="263746"/>
                </a:solidFill>
                <a:latin typeface="Meiryo" panose="020B0604030504040204" pitchFamily="50" charset="-128"/>
                <a:ea typeface="Meiryo" panose="020B0604030504040204" pitchFamily="50" charset="-128"/>
              </a:rPr>
              <a:t>FSS</a:t>
            </a:r>
            <a:r>
              <a:rPr kumimoji="1" lang="ja-JP" altLang="en-US" sz="2100">
                <a:solidFill>
                  <a:srgbClr val="263746"/>
                </a:solidFill>
                <a:latin typeface="Meiryo" panose="020B0604030504040204" pitchFamily="50" charset="-128"/>
                <a:ea typeface="Meiryo" panose="020B0604030504040204" pitchFamily="50" charset="-128"/>
              </a:rPr>
              <a:t>を仮定する。</a:t>
            </a:r>
          </a:p>
        </p:txBody>
      </p:sp>
      <p:pic>
        <p:nvPicPr>
          <p:cNvPr id="16" name="source-or-equation-image-6" descr="\langle S(p,N)\rangle=N^{\gamma/\bar\nu}F^{(2)}[(p-p_c)N^{1/\bar\nu}]\qquad\mathrm{(S7)}">
            <a:extLst>
              <a:ext uri="{FF2B5EF4-FFF2-40B4-BE49-F238E27FC236}">
                <a16:creationId xmlns:a16="http://schemas.microsoft.com/office/drawing/2014/main" id="{B5955C2E-BFB4-A3AD-A14C-24F5FA36FA5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39923" y="2095500"/>
            <a:ext cx="10112153" cy="863600"/>
          </a:xfrm>
          <a:prstGeom prst="rect">
            <a:avLst/>
          </a:prstGeom>
        </p:spPr>
      </p:pic>
      <p:sp>
        <p:nvSpPr>
          <p:cNvPr id="17" name="text-7">
            <a:extLst>
              <a:ext uri="{FF2B5EF4-FFF2-40B4-BE49-F238E27FC236}">
                <a16:creationId xmlns:a16="http://schemas.microsoft.com/office/drawing/2014/main" id="{F57956FA-907F-25B5-3326-409CEF8B01AA}"/>
              </a:ext>
            </a:extLst>
          </p:cNvPr>
          <p:cNvSpPr txBox="1"/>
          <p:nvPr/>
        </p:nvSpPr>
        <p:spPr>
          <a:xfrm>
            <a:off x="635000" y="2997200"/>
            <a:ext cx="10922000" cy="276999"/>
          </a:xfrm>
          <a:prstGeom prst="rect">
            <a:avLst/>
          </a:prstGeom>
          <a:noFill/>
        </p:spPr>
        <p:txBody>
          <a:bodyPr vert="horz" wrap="square" lIns="0" tIns="0" rIns="0" bIns="0" rtlCol="0">
            <a:noAutofit/>
          </a:bodyPr>
          <a:lstStyle/>
          <a:p>
            <a:pPr>
              <a:lnSpc>
                <a:spcPct val="112000"/>
              </a:lnSpc>
            </a:pPr>
            <a:r>
              <a:rPr kumimoji="1" lang="ja-JP" altLang="en-US" sz="2000" b="1">
                <a:solidFill>
                  <a:srgbClr val="17365D"/>
                </a:solidFill>
                <a:latin typeface="Meiryo" panose="020B0604030504040204" pitchFamily="50" charset="-128"/>
                <a:ea typeface="Meiryo" panose="020B0604030504040204" pitchFamily="50" charset="-128"/>
              </a:rPr>
              <a:t>通常の連続転移の背景（原論文の式とは別）</a:t>
            </a:r>
          </a:p>
        </p:txBody>
      </p:sp>
      <p:pic>
        <p:nvPicPr>
          <p:cNvPr id="19" name="source-or-equation-image-8" descr="S_\infty(p)\propto|p-p_c|^{-\gamma}">
            <a:extLst>
              <a:ext uri="{FF2B5EF4-FFF2-40B4-BE49-F238E27FC236}">
                <a16:creationId xmlns:a16="http://schemas.microsoft.com/office/drawing/2014/main" id="{F1A7BC28-881B-DFB7-46AF-7149AF6C6F4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292245" y="3492500"/>
            <a:ext cx="3638510" cy="660400"/>
          </a:xfrm>
          <a:prstGeom prst="rect">
            <a:avLst/>
          </a:prstGeom>
        </p:spPr>
      </p:pic>
      <p:sp>
        <p:nvSpPr>
          <p:cNvPr id="20" name="text-9">
            <a:extLst>
              <a:ext uri="{FF2B5EF4-FFF2-40B4-BE49-F238E27FC236}">
                <a16:creationId xmlns:a16="http://schemas.microsoft.com/office/drawing/2014/main" id="{A2B33140-37E8-7977-F692-E09CF98E759E}"/>
              </a:ext>
            </a:extLst>
          </p:cNvPr>
          <p:cNvSpPr txBox="1"/>
          <p:nvPr/>
        </p:nvSpPr>
        <p:spPr>
          <a:xfrm>
            <a:off x="6223000" y="3492500"/>
            <a:ext cx="5334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臨界点付近で、有限クラスターの
平均サイズが増大する（</a:t>
            </a:r>
            <a:r>
              <a:rPr kumimoji="1" lang="en-US" altLang="ja-JP" sz="2000">
                <a:solidFill>
                  <a:srgbClr val="263746"/>
                </a:solidFill>
                <a:latin typeface="Meiryo" panose="020B0604030504040204" pitchFamily="50" charset="-128"/>
                <a:ea typeface="Meiryo" panose="020B0604030504040204" pitchFamily="50" charset="-128"/>
              </a:rPr>
              <a:t>γ&gt;0</a:t>
            </a:r>
            <a:r>
              <a:rPr kumimoji="1" lang="ja-JP" altLang="en-US" sz="2000">
                <a:solidFill>
                  <a:srgbClr val="263746"/>
                </a:solidFill>
                <a:latin typeface="Meiryo" panose="020B0604030504040204" pitchFamily="50" charset="-128"/>
                <a:ea typeface="Meiryo" panose="020B0604030504040204" pitchFamily="50" charset="-128"/>
              </a:rPr>
              <a:t>）。</a:t>
            </a:r>
          </a:p>
        </p:txBody>
      </p:sp>
      <p:sp>
        <p:nvSpPr>
          <p:cNvPr id="21" name="text-10">
            <a:extLst>
              <a:ext uri="{FF2B5EF4-FFF2-40B4-BE49-F238E27FC236}">
                <a16:creationId xmlns:a16="http://schemas.microsoft.com/office/drawing/2014/main" id="{1BFB0170-5FF9-B0EE-2F0B-119D6F43A085}"/>
              </a:ext>
            </a:extLst>
          </p:cNvPr>
          <p:cNvSpPr txBox="1"/>
          <p:nvPr/>
        </p:nvSpPr>
        <p:spPr>
          <a:xfrm>
            <a:off x="635000" y="4318000"/>
            <a:ext cx="10922000" cy="276999"/>
          </a:xfrm>
          <a:prstGeom prst="rect">
            <a:avLst/>
          </a:prstGeom>
          <a:noFill/>
        </p:spPr>
        <p:txBody>
          <a:bodyPr vert="horz" wrap="square" lIns="0" tIns="0" rIns="0" bIns="0" rtlCol="0">
            <a:noAutofit/>
          </a:bodyPr>
          <a:lstStyle/>
          <a:p>
            <a:pPr>
              <a:lnSpc>
                <a:spcPct val="112000"/>
              </a:lnSpc>
            </a:pPr>
            <a:r>
              <a:rPr kumimoji="1" lang="en-US" altLang="ja-JP" sz="1700">
                <a:solidFill>
                  <a:srgbClr val="263746"/>
                </a:solidFill>
                <a:latin typeface="Meiryo" panose="020B0604030504040204" pitchFamily="50" charset="-128"/>
                <a:ea typeface="Meiryo" panose="020B0604030504040204" pitchFamily="50" charset="-128"/>
              </a:rPr>
              <a:t>S</a:t>
            </a:r>
            <a:r>
              <a:rPr kumimoji="1" lang="en-US" altLang="ja-JP" sz="1258" baseline="-16000">
                <a:solidFill>
                  <a:srgbClr val="263746"/>
                </a:solidFill>
                <a:latin typeface="Meiryo" panose="020B0604030504040204" pitchFamily="50" charset="-128"/>
                <a:ea typeface="Meiryo" panose="020B0604030504040204" pitchFamily="50" charset="-128"/>
              </a:rPr>
              <a:t>∞</a:t>
            </a:r>
            <a:r>
              <a:rPr kumimoji="1" lang="ja-JP" altLang="en-US" sz="1700">
                <a:solidFill>
                  <a:srgbClr val="263746"/>
                </a:solidFill>
                <a:latin typeface="Meiryo" panose="020B0604030504040204" pitchFamily="50" charset="-128"/>
                <a:ea typeface="Meiryo" panose="020B0604030504040204" pitchFamily="50" charset="-128"/>
              </a:rPr>
              <a:t>は無限系の有限クラスターの平均。有限系で最大成分</a:t>
            </a:r>
            <a:r>
              <a:rPr kumimoji="1" lang="en-US" altLang="ja-JP" sz="1700">
                <a:solidFill>
                  <a:srgbClr val="263746"/>
                </a:solidFill>
                <a:latin typeface="Meiryo" panose="020B0604030504040204" pitchFamily="50" charset="-128"/>
                <a:ea typeface="Meiryo" panose="020B0604030504040204" pitchFamily="50" charset="-128"/>
              </a:rPr>
              <a:t>1</a:t>
            </a:r>
            <a:r>
              <a:rPr kumimoji="1" lang="ja-JP" altLang="en-US" sz="1700">
                <a:solidFill>
                  <a:srgbClr val="263746"/>
                </a:solidFill>
                <a:latin typeface="Meiryo" panose="020B0604030504040204" pitchFamily="50" charset="-128"/>
                <a:ea typeface="Meiryo" panose="020B0604030504040204" pitchFamily="50" charset="-128"/>
              </a:rPr>
              <a:t>個を</a:t>
            </a:r>
          </a:p>
          <a:p>
            <a:pPr>
              <a:lnSpc>
                <a:spcPct val="112000"/>
              </a:lnSpc>
            </a:pPr>
            <a:r>
              <a:rPr kumimoji="1" lang="ja-JP" altLang="en-US" sz="1700">
                <a:solidFill>
                  <a:srgbClr val="263746"/>
                </a:solidFill>
                <a:latin typeface="Meiryo" panose="020B0604030504040204" pitchFamily="50" charset="-128"/>
                <a:ea typeface="Meiryo" panose="020B0604030504040204" pitchFamily="50" charset="-128"/>
              </a:rPr>
              <a:t>除く定義と、無条件に同一視しない。</a:t>
            </a:r>
          </a:p>
        </p:txBody>
      </p:sp>
      <p:sp>
        <p:nvSpPr>
          <p:cNvPr id="22" name="text-11">
            <a:extLst>
              <a:ext uri="{FF2B5EF4-FFF2-40B4-BE49-F238E27FC236}">
                <a16:creationId xmlns:a16="http://schemas.microsoft.com/office/drawing/2014/main" id="{D0BE3009-0C11-433F-F890-6CAE6FD3A769}"/>
              </a:ext>
            </a:extLst>
          </p:cNvPr>
          <p:cNvSpPr txBox="1"/>
          <p:nvPr/>
        </p:nvSpPr>
        <p:spPr>
          <a:xfrm>
            <a:off x="635000" y="50419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17365D"/>
                </a:solidFill>
                <a:latin typeface="Meiryo" panose="020B0604030504040204" pitchFamily="50" charset="-128"/>
                <a:ea typeface="Meiryo" panose="020B0604030504040204" pitchFamily="50" charset="-128"/>
              </a:rPr>
              <a:t>有限サイズの転移領域では、</a:t>
            </a:r>
            <a:r>
              <a:rPr kumimoji="1" lang="en-US" altLang="ja-JP" sz="2100">
                <a:solidFill>
                  <a:srgbClr val="17365D"/>
                </a:solidFill>
                <a:latin typeface="Meiryo" panose="020B0604030504040204" pitchFamily="50" charset="-128"/>
                <a:ea typeface="Meiryo" panose="020B0604030504040204" pitchFamily="50" charset="-128"/>
              </a:rPr>
              <a:t>S</a:t>
            </a:r>
            <a:r>
              <a:rPr kumimoji="1" lang="ja-JP" altLang="en-US" sz="2100">
                <a:solidFill>
                  <a:srgbClr val="17365D"/>
                </a:solidFill>
                <a:latin typeface="Meiryo" panose="020B0604030504040204" pitchFamily="50" charset="-128"/>
                <a:ea typeface="Meiryo" panose="020B0604030504040204" pitchFamily="50" charset="-128"/>
              </a:rPr>
              <a:t>の代表的な大きさが</a:t>
            </a:r>
            <a:r>
              <a:rPr kumimoji="1" lang="en-US" altLang="ja-JP" sz="2100">
                <a:solidFill>
                  <a:srgbClr val="17365D"/>
                </a:solidFill>
                <a:latin typeface="Meiryo" panose="020B0604030504040204" pitchFamily="50" charset="-128"/>
                <a:ea typeface="Meiryo" panose="020B0604030504040204" pitchFamily="50" charset="-128"/>
              </a:rPr>
              <a:t>N</a:t>
            </a:r>
            <a:r>
              <a:rPr kumimoji="1" lang="en-US" altLang="ja-JP" sz="1554" baseline="30000">
                <a:solidFill>
                  <a:srgbClr val="17365D"/>
                </a:solidFill>
                <a:latin typeface="Meiryo" panose="020B0604030504040204" pitchFamily="50" charset="-128"/>
                <a:ea typeface="Meiryo" panose="020B0604030504040204" pitchFamily="50" charset="-128"/>
              </a:rPr>
              <a:t>γ/ν̄</a:t>
            </a:r>
            <a:r>
              <a:rPr kumimoji="1" lang="ja-JP" altLang="en-US" sz="2100">
                <a:solidFill>
                  <a:srgbClr val="17365D"/>
                </a:solidFill>
                <a:latin typeface="Meiryo" panose="020B0604030504040204" pitchFamily="50" charset="-128"/>
                <a:ea typeface="Meiryo" panose="020B0604030504040204" pitchFamily="50" charset="-128"/>
              </a:rPr>
              <a:t>に従うと考える。</a:t>
            </a:r>
          </a:p>
        </p:txBody>
      </p:sp>
      <p:sp>
        <p:nvSpPr>
          <p:cNvPr id="23" name="text-12">
            <a:extLst>
              <a:ext uri="{FF2B5EF4-FFF2-40B4-BE49-F238E27FC236}">
                <a16:creationId xmlns:a16="http://schemas.microsoft.com/office/drawing/2014/main" id="{0BBF7C58-F3F7-A774-208D-11F8A1948FA4}"/>
              </a:ext>
            </a:extLst>
          </p:cNvPr>
          <p:cNvSpPr txBox="1"/>
          <p:nvPr/>
        </p:nvSpPr>
        <p:spPr>
          <a:xfrm>
            <a:off x="635000" y="5575300"/>
            <a:ext cx="10922000" cy="276999"/>
          </a:xfrm>
          <a:prstGeom prst="rect">
            <a:avLst/>
          </a:prstGeom>
          <a:noFill/>
        </p:spPr>
        <p:txBody>
          <a:bodyPr vert="horz" wrap="square" lIns="0" tIns="0" rIns="0" bIns="0" rtlCol="0">
            <a:noAutofit/>
          </a:bodyPr>
          <a:lstStyle/>
          <a:p>
            <a:pPr>
              <a:lnSpc>
                <a:spcPct val="112000"/>
              </a:lnSpc>
            </a:pPr>
            <a:r>
              <a:rPr kumimoji="1" lang="en-US" altLang="ja-JP" sz="1700">
                <a:solidFill>
                  <a:srgbClr val="263746"/>
                </a:solidFill>
                <a:latin typeface="Meiryo" panose="020B0604030504040204" pitchFamily="50" charset="-128"/>
                <a:ea typeface="Meiryo" panose="020B0604030504040204" pitchFamily="50" charset="-128"/>
              </a:rPr>
              <a:t>γ</a:t>
            </a:r>
            <a:r>
              <a:rPr kumimoji="1" lang="ja-JP" altLang="en-US" sz="1700">
                <a:solidFill>
                  <a:srgbClr val="263746"/>
                </a:solidFill>
                <a:latin typeface="Meiryo" panose="020B0604030504040204" pitchFamily="50" charset="-128"/>
                <a:ea typeface="Meiryo" panose="020B0604030504040204" pitchFamily="50" charset="-128"/>
              </a:rPr>
              <a:t>（ガンマ）：</a:t>
            </a:r>
            <a:r>
              <a:rPr kumimoji="1" lang="en-US" altLang="ja-JP" sz="1700">
                <a:solidFill>
                  <a:srgbClr val="263746"/>
                </a:solidFill>
                <a:latin typeface="Meiryo" panose="020B0604030504040204" pitchFamily="50" charset="-128"/>
                <a:ea typeface="Meiryo" panose="020B0604030504040204" pitchFamily="50" charset="-128"/>
              </a:rPr>
              <a:t>S</a:t>
            </a:r>
            <a:r>
              <a:rPr kumimoji="1" lang="ja-JP" altLang="en-US" sz="1700">
                <a:solidFill>
                  <a:srgbClr val="263746"/>
                </a:solidFill>
                <a:latin typeface="Meiryo" panose="020B0604030504040204" pitchFamily="50" charset="-128"/>
                <a:ea typeface="Meiryo" panose="020B0604030504040204" pitchFamily="50" charset="-128"/>
              </a:rPr>
              <a:t>の臨界指数　</a:t>
            </a:r>
            <a:r>
              <a:rPr kumimoji="1" lang="en-US" altLang="ja-JP" sz="1700">
                <a:solidFill>
                  <a:srgbClr val="263746"/>
                </a:solidFill>
                <a:latin typeface="Meiryo" panose="020B0604030504040204" pitchFamily="50" charset="-128"/>
                <a:ea typeface="Meiryo" panose="020B0604030504040204" pitchFamily="50" charset="-128"/>
              </a:rPr>
              <a:t>F⁽²⁾</a:t>
            </a:r>
            <a:r>
              <a:rPr kumimoji="1" lang="ja-JP" altLang="en-US" sz="1700">
                <a:solidFill>
                  <a:srgbClr val="263746"/>
                </a:solidFill>
                <a:latin typeface="Meiryo" panose="020B0604030504040204" pitchFamily="50" charset="-128"/>
                <a:ea typeface="Meiryo" panose="020B0604030504040204" pitchFamily="50" charset="-128"/>
              </a:rPr>
              <a:t>：</a:t>
            </a:r>
            <a:r>
              <a:rPr kumimoji="1" lang="en-US" altLang="ja-JP" sz="1700">
                <a:solidFill>
                  <a:srgbClr val="263746"/>
                </a:solidFill>
                <a:latin typeface="Meiryo" panose="020B0604030504040204" pitchFamily="50" charset="-128"/>
                <a:ea typeface="Meiryo" panose="020B0604030504040204" pitchFamily="50" charset="-128"/>
              </a:rPr>
              <a:t>S</a:t>
            </a:r>
            <a:r>
              <a:rPr kumimoji="1" lang="ja-JP" altLang="en-US" sz="1700">
                <a:solidFill>
                  <a:srgbClr val="263746"/>
                </a:solidFill>
                <a:latin typeface="Meiryo" panose="020B0604030504040204" pitchFamily="50" charset="-128"/>
                <a:ea typeface="Meiryo" panose="020B0604030504040204" pitchFamily="50" charset="-128"/>
              </a:rPr>
              <a:t>のスケーリング関数
</a:t>
            </a:r>
            <a:r>
              <a:rPr kumimoji="1" lang="en-US" altLang="ja-JP" sz="1700">
                <a:solidFill>
                  <a:srgbClr val="263746"/>
                </a:solidFill>
                <a:latin typeface="Meiryo" panose="020B0604030504040204" pitchFamily="50" charset="-128"/>
                <a:ea typeface="Meiryo" panose="020B0604030504040204" pitchFamily="50" charset="-128"/>
              </a:rPr>
              <a:t>ν̄</a:t>
            </a:r>
            <a:r>
              <a:rPr kumimoji="1" lang="ja-JP" altLang="en-US" sz="1700">
                <a:solidFill>
                  <a:srgbClr val="263746"/>
                </a:solidFill>
                <a:latin typeface="Meiryo" panose="020B0604030504040204" pitchFamily="50" charset="-128"/>
                <a:ea typeface="Meiryo" panose="020B0604030504040204" pitchFamily="50" charset="-128"/>
              </a:rPr>
              <a:t>（ニューバー）：相関体積の臨界指数（スライド</a:t>
            </a:r>
            <a:r>
              <a:rPr kumimoji="1" lang="en-US" altLang="ja-JP" sz="1700">
                <a:solidFill>
                  <a:srgbClr val="263746"/>
                </a:solidFill>
                <a:latin typeface="Meiryo" panose="020B0604030504040204" pitchFamily="50" charset="-128"/>
                <a:ea typeface="Meiryo" panose="020B0604030504040204" pitchFamily="50" charset="-128"/>
              </a:rPr>
              <a:t>12</a:t>
            </a:r>
            <a:r>
              <a:rPr kumimoji="1" lang="ja-JP" altLang="en-US" sz="1700">
                <a:solidFill>
                  <a:srgbClr val="263746"/>
                </a:solidFill>
                <a:latin typeface="Meiryo" panose="020B0604030504040204" pitchFamily="50" charset="-128"/>
                <a:ea typeface="Meiryo" panose="020B0604030504040204" pitchFamily="50" charset="-128"/>
              </a:rPr>
              <a:t>と共通）</a:t>
            </a:r>
          </a:p>
        </p:txBody>
      </p:sp>
    </p:spTree>
    <p:extLst>
      <p:ext uri="{BB962C8B-B14F-4D97-AF65-F5344CB8AC3E}">
        <p14:creationId xmlns:p14="http://schemas.microsoft.com/office/powerpoint/2010/main" val="2903857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8CFE8A51-4921-03AF-4E19-729688130CC4}"/>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疑似臨界点：平均クラスターサイズの最大位置</a:t>
            </a:r>
          </a:p>
        </p:txBody>
      </p:sp>
      <p:cxnSp>
        <p:nvCxnSpPr>
          <p:cNvPr id="11" name="直線コネクタ 10">
            <a:extLst>
              <a:ext uri="{FF2B5EF4-FFF2-40B4-BE49-F238E27FC236}">
                <a16:creationId xmlns:a16="http://schemas.microsoft.com/office/drawing/2014/main" id="{205FEB43-7A2D-F266-2584-5DEC08176E55}"/>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7D2AE754-AE29-47E8-E230-298C8E1EA9C5}"/>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(S8)</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p_c(N)</a:t>
            </a:r>
            <a:r>
              <a:rPr kumimoji="1" lang="ja-JP" altLang="en-US" sz="950">
                <a:solidFill>
                  <a:srgbClr val="566573"/>
                </a:solidFill>
                <a:latin typeface="Meiryo" panose="020B0604030504040204" pitchFamily="50" charset="-128"/>
                <a:ea typeface="Meiryo" panose="020B0604030504040204" pitchFamily="50" charset="-128"/>
              </a:rPr>
              <a:t>は有限</a:t>
            </a:r>
            <a:r>
              <a:rPr kumimoji="1" lang="en-US" altLang="ja-JP" sz="950">
                <a:solidFill>
                  <a:srgbClr val="566573"/>
                </a:solidFill>
                <a:latin typeface="Meiryo" panose="020B0604030504040204" pitchFamily="50" charset="-128"/>
                <a:ea typeface="Meiryo" panose="020B0604030504040204" pitchFamily="50" charset="-128"/>
              </a:rPr>
              <a:t>N</a:t>
            </a:r>
            <a:r>
              <a:rPr kumimoji="1" lang="ja-JP" altLang="en-US" sz="950">
                <a:solidFill>
                  <a:srgbClr val="566573"/>
                </a:solidFill>
                <a:latin typeface="Meiryo" panose="020B0604030504040204" pitchFamily="50" charset="-128"/>
                <a:ea typeface="Meiryo" panose="020B0604030504040204" pitchFamily="50" charset="-128"/>
              </a:rPr>
              <a:t>ごとの量。</a:t>
            </a:r>
          </a:p>
        </p:txBody>
      </p:sp>
      <p:sp>
        <p:nvSpPr>
          <p:cNvPr id="13" name="page-4">
            <a:extLst>
              <a:ext uri="{FF2B5EF4-FFF2-40B4-BE49-F238E27FC236}">
                <a16:creationId xmlns:a16="http://schemas.microsoft.com/office/drawing/2014/main" id="{ABFD2E54-80DC-C6F2-2120-DBC54D0701BA}"/>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14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2AFEC344-0435-8BA4-4EF1-2F2F0132C259}"/>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63746"/>
                </a:solidFill>
                <a:latin typeface="Meiryo" panose="020B0604030504040204" pitchFamily="50" charset="-128"/>
                <a:ea typeface="Meiryo" panose="020B0604030504040204" pitchFamily="50" charset="-128"/>
              </a:rPr>
              <a:t>有限サイズ</a:t>
            </a:r>
            <a:r>
              <a:rPr kumimoji="1" lang="en-US" altLang="ja-JP" sz="2200">
                <a:solidFill>
                  <a:srgbClr val="263746"/>
                </a:solidFill>
                <a:latin typeface="Meiryo" panose="020B0604030504040204" pitchFamily="50" charset="-128"/>
                <a:ea typeface="Meiryo" panose="020B0604030504040204" pitchFamily="50" charset="-128"/>
              </a:rPr>
              <a:t>N</a:t>
            </a:r>
            <a:r>
              <a:rPr kumimoji="1" lang="ja-JP" altLang="en-US" sz="2200">
                <a:solidFill>
                  <a:srgbClr val="263746"/>
                </a:solidFill>
                <a:latin typeface="Meiryo" panose="020B0604030504040204" pitchFamily="50" charset="-128"/>
                <a:ea typeface="Meiryo" panose="020B0604030504040204" pitchFamily="50" charset="-128"/>
              </a:rPr>
              <a:t>の疑似臨界点を、平均クラスターサイズが
最大となる辺の削除率として定義する。</a:t>
            </a:r>
          </a:p>
        </p:txBody>
      </p:sp>
      <p:pic>
        <p:nvPicPr>
          <p:cNvPr id="16" name="source-or-equation-image-6" descr="p_c(N)=\underset{p}{\operatorname{arg\,max}}\,\langle S(p,N)\rangle\qquad\mathrm{(S8)}">
            <a:extLst>
              <a:ext uri="{FF2B5EF4-FFF2-40B4-BE49-F238E27FC236}">
                <a16:creationId xmlns:a16="http://schemas.microsoft.com/office/drawing/2014/main" id="{03BF57EF-0096-62F8-3EDF-8CDFF3E4532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71270" y="2362200"/>
            <a:ext cx="6849459" cy="939800"/>
          </a:xfrm>
          <a:prstGeom prst="rect">
            <a:avLst/>
          </a:prstGeom>
        </p:spPr>
      </p:pic>
      <p:pic>
        <p:nvPicPr>
          <p:cNvPr id="18" name="source-or-equation-image-7" descr="\max_p\,\langle S(p,N)\rangle">
            <a:extLst>
              <a:ext uri="{FF2B5EF4-FFF2-40B4-BE49-F238E27FC236}">
                <a16:creationId xmlns:a16="http://schemas.microsoft.com/office/drawing/2014/main" id="{7764C112-4A41-622C-9ADA-1AEB3E599AF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003905" y="3683000"/>
            <a:ext cx="2278690" cy="673100"/>
          </a:xfrm>
          <a:prstGeom prst="rect">
            <a:avLst/>
          </a:prstGeom>
        </p:spPr>
      </p:pic>
      <p:pic>
        <p:nvPicPr>
          <p:cNvPr id="20" name="source-or-equation-image-8" descr="\underset{p}{\operatorname{arg\,max}}\,\langle S(p,N)\rangle">
            <a:extLst>
              <a:ext uri="{FF2B5EF4-FFF2-40B4-BE49-F238E27FC236}">
                <a16:creationId xmlns:a16="http://schemas.microsoft.com/office/drawing/2014/main" id="{1528D7B4-EEBB-BCB7-65B8-44586901F76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7530850" y="3683000"/>
            <a:ext cx="2527799" cy="673100"/>
          </a:xfrm>
          <a:prstGeom prst="rect">
            <a:avLst/>
          </a:prstGeom>
        </p:spPr>
      </p:pic>
      <p:sp>
        <p:nvSpPr>
          <p:cNvPr id="21" name="text-9">
            <a:extLst>
              <a:ext uri="{FF2B5EF4-FFF2-40B4-BE49-F238E27FC236}">
                <a16:creationId xmlns:a16="http://schemas.microsoft.com/office/drawing/2014/main" id="{AB12707B-751D-E502-8611-79FEAFC72F65}"/>
              </a:ext>
            </a:extLst>
          </p:cNvPr>
          <p:cNvSpPr txBox="1"/>
          <p:nvPr/>
        </p:nvSpPr>
        <p:spPr>
          <a:xfrm>
            <a:off x="825500" y="4457700"/>
            <a:ext cx="4635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ピークの高さ</a:t>
            </a:r>
          </a:p>
        </p:txBody>
      </p:sp>
      <p:sp>
        <p:nvSpPr>
          <p:cNvPr id="22" name="text-10">
            <a:extLst>
              <a:ext uri="{FF2B5EF4-FFF2-40B4-BE49-F238E27FC236}">
                <a16:creationId xmlns:a16="http://schemas.microsoft.com/office/drawing/2014/main" id="{FB92D420-9B00-A248-D2CB-3DBB9A9D371E}"/>
              </a:ext>
            </a:extLst>
          </p:cNvPr>
          <p:cNvSpPr txBox="1"/>
          <p:nvPr/>
        </p:nvSpPr>
        <p:spPr>
          <a:xfrm>
            <a:off x="6477000" y="4457700"/>
            <a:ext cx="4635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ピークを与える削除率</a:t>
            </a:r>
            <a:r>
              <a:rPr kumimoji="1" lang="en-US" altLang="ja-JP" sz="2200" b="1">
                <a:solidFill>
                  <a:srgbClr val="17365D"/>
                </a:solidFill>
                <a:latin typeface="Meiryo" panose="020B0604030504040204" pitchFamily="50" charset="-128"/>
                <a:ea typeface="Meiryo" panose="020B0604030504040204" pitchFamily="50" charset="-128"/>
              </a:rPr>
              <a:t>p</a:t>
            </a:r>
            <a:endParaRPr kumimoji="1" lang="ja-JP" altLang="en-US" sz="2200" b="1">
              <a:solidFill>
                <a:srgbClr val="17365D"/>
              </a:solidFill>
              <a:latin typeface="Meiryo" panose="020B0604030504040204" pitchFamily="50" charset="-128"/>
              <a:ea typeface="Meiryo" panose="020B0604030504040204" pitchFamily="50" charset="-128"/>
            </a:endParaRPr>
          </a:p>
        </p:txBody>
      </p:sp>
      <p:sp>
        <p:nvSpPr>
          <p:cNvPr id="23" name="text-11">
            <a:extLst>
              <a:ext uri="{FF2B5EF4-FFF2-40B4-BE49-F238E27FC236}">
                <a16:creationId xmlns:a16="http://schemas.microsoft.com/office/drawing/2014/main" id="{4B5D2B4A-0661-1FAE-7BD4-6CDA004C2778}"/>
              </a:ext>
            </a:extLst>
          </p:cNvPr>
          <p:cNvSpPr txBox="1"/>
          <p:nvPr/>
        </p:nvSpPr>
        <p:spPr>
          <a:xfrm>
            <a:off x="635000" y="5105400"/>
            <a:ext cx="10922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63746"/>
                </a:solidFill>
                <a:latin typeface="Meiryo" panose="020B0604030504040204" pitchFamily="50" charset="-128"/>
                <a:ea typeface="Meiryo" panose="020B0604030504040204" pitchFamily="50" charset="-128"/>
              </a:rPr>
              <a:t>argmax</a:t>
            </a:r>
            <a:r>
              <a:rPr kumimoji="1" lang="ja-JP" altLang="en-US" sz="1900">
                <a:solidFill>
                  <a:srgbClr val="263746"/>
                </a:solidFill>
                <a:latin typeface="Meiryo" panose="020B0604030504040204" pitchFamily="50" charset="-128"/>
                <a:ea typeface="Meiryo" panose="020B0604030504040204" pitchFamily="50" charset="-128"/>
              </a:rPr>
              <a:t>（アーグマックス）：最大値を取る変数の値を求める演算。</a:t>
            </a:r>
          </a:p>
        </p:txBody>
      </p:sp>
      <p:sp>
        <p:nvSpPr>
          <p:cNvPr id="24" name="text-12">
            <a:extLst>
              <a:ext uri="{FF2B5EF4-FFF2-40B4-BE49-F238E27FC236}">
                <a16:creationId xmlns:a16="http://schemas.microsoft.com/office/drawing/2014/main" id="{596EA38C-45A3-7211-6E2B-E71783BC7FBF}"/>
              </a:ext>
            </a:extLst>
          </p:cNvPr>
          <p:cNvSpPr txBox="1"/>
          <p:nvPr/>
        </p:nvSpPr>
        <p:spPr>
          <a:xfrm>
            <a:off x="635000" y="5511800"/>
            <a:ext cx="10922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63746"/>
                </a:solidFill>
                <a:latin typeface="Meiryo" panose="020B0604030504040204" pitchFamily="50" charset="-128"/>
                <a:ea typeface="Meiryo" panose="020B0604030504040204" pitchFamily="50" charset="-128"/>
              </a:rPr>
              <a:t>同じ</a:t>
            </a:r>
            <a:r>
              <a:rPr kumimoji="1" lang="en-US" altLang="ja-JP" sz="1900">
                <a:solidFill>
                  <a:srgbClr val="263746"/>
                </a:solidFill>
                <a:latin typeface="Meiryo" panose="020B0604030504040204" pitchFamily="50" charset="-128"/>
                <a:ea typeface="Meiryo" panose="020B0604030504040204" pitchFamily="50" charset="-128"/>
              </a:rPr>
              <a:t>N</a:t>
            </a:r>
            <a:r>
              <a:rPr kumimoji="1" lang="ja-JP" altLang="en-US" sz="1900">
                <a:solidFill>
                  <a:srgbClr val="263746"/>
                </a:solidFill>
                <a:latin typeface="Meiryo" panose="020B0604030504040204" pitchFamily="50" charset="-128"/>
                <a:ea typeface="Meiryo" panose="020B0604030504040204" pitchFamily="50" charset="-128"/>
              </a:rPr>
              <a:t>と</a:t>
            </a:r>
            <a:r>
              <a:rPr kumimoji="1" lang="en-US" altLang="ja-JP" sz="1900">
                <a:solidFill>
                  <a:srgbClr val="263746"/>
                </a:solidFill>
                <a:latin typeface="Meiryo" panose="020B0604030504040204" pitchFamily="50" charset="-128"/>
                <a:ea typeface="Meiryo" panose="020B0604030504040204" pitchFamily="50" charset="-128"/>
              </a:rPr>
              <a:t>p</a:t>
            </a:r>
            <a:r>
              <a:rPr kumimoji="1" lang="ja-JP" altLang="en-US" sz="1900">
                <a:solidFill>
                  <a:srgbClr val="263746"/>
                </a:solidFill>
                <a:latin typeface="Meiryo" panose="020B0604030504040204" pitchFamily="50" charset="-128"/>
                <a:ea typeface="Meiryo" panose="020B0604030504040204" pitchFamily="50" charset="-128"/>
              </a:rPr>
              <a:t>で</a:t>
            </a:r>
            <a:r>
              <a:rPr kumimoji="1" lang="en-US" altLang="ja-JP" sz="1900">
                <a:solidFill>
                  <a:srgbClr val="263746"/>
                </a:solidFill>
                <a:latin typeface="Meiryo" panose="020B0604030504040204" pitchFamily="50" charset="-128"/>
                <a:ea typeface="Meiryo" panose="020B0604030504040204" pitchFamily="50" charset="-128"/>
              </a:rPr>
              <a:t>S</a:t>
            </a:r>
            <a:r>
              <a:rPr kumimoji="1" lang="ja-JP" altLang="en-US" sz="1900">
                <a:solidFill>
                  <a:srgbClr val="263746"/>
                </a:solidFill>
                <a:latin typeface="Meiryo" panose="020B0604030504040204" pitchFamily="50" charset="-128"/>
                <a:ea typeface="Meiryo" panose="020B0604030504040204" pitchFamily="50" charset="-128"/>
              </a:rPr>
              <a:t>を試行間平均し、</a:t>
            </a:r>
          </a:p>
          <a:p>
            <a:pPr>
              <a:lnSpc>
                <a:spcPct val="112000"/>
              </a:lnSpc>
            </a:pPr>
            <a:r>
              <a:rPr kumimoji="1" lang="ja-JP" altLang="en-US" sz="1900">
                <a:solidFill>
                  <a:srgbClr val="263746"/>
                </a:solidFill>
                <a:latin typeface="Meiryo" panose="020B0604030504040204" pitchFamily="50" charset="-128"/>
                <a:ea typeface="Meiryo" panose="020B0604030504040204" pitchFamily="50" charset="-128"/>
              </a:rPr>
              <a:t>その平均曲線が最大となる削除率を</a:t>
            </a:r>
            <a:r>
              <a:rPr kumimoji="1" lang="en-US" altLang="ja-JP" sz="1900">
                <a:solidFill>
                  <a:srgbClr val="263746"/>
                </a:solidFill>
                <a:latin typeface="Meiryo" panose="020B0604030504040204" pitchFamily="50" charset="-128"/>
                <a:ea typeface="Meiryo" panose="020B0604030504040204" pitchFamily="50" charset="-128"/>
              </a:rPr>
              <a:t>p</a:t>
            </a:r>
            <a:r>
              <a:rPr kumimoji="1" lang="en-US" altLang="ja-JP" sz="1406" baseline="-16000">
                <a:solidFill>
                  <a:srgbClr val="263746"/>
                </a:solidFill>
                <a:latin typeface="Meiryo" panose="020B0604030504040204" pitchFamily="50" charset="-128"/>
                <a:ea typeface="Meiryo" panose="020B0604030504040204" pitchFamily="50" charset="-128"/>
              </a:rPr>
              <a:t>c</a:t>
            </a:r>
            <a:r>
              <a:rPr kumimoji="1" lang="en-US" altLang="ja-JP" sz="1900">
                <a:solidFill>
                  <a:srgbClr val="263746"/>
                </a:solidFill>
                <a:latin typeface="Meiryo" panose="020B0604030504040204" pitchFamily="50" charset="-128"/>
                <a:ea typeface="Meiryo" panose="020B0604030504040204" pitchFamily="50" charset="-128"/>
              </a:rPr>
              <a:t>(N)</a:t>
            </a:r>
            <a:r>
              <a:rPr kumimoji="1" lang="ja-JP" altLang="en-US" sz="1900">
                <a:solidFill>
                  <a:srgbClr val="263746"/>
                </a:solidFill>
                <a:latin typeface="Meiryo" panose="020B0604030504040204" pitchFamily="50" charset="-128"/>
                <a:ea typeface="Meiryo" panose="020B0604030504040204" pitchFamily="50" charset="-128"/>
              </a:rPr>
              <a:t>とする。</a:t>
            </a:r>
          </a:p>
        </p:txBody>
      </p:sp>
    </p:spTree>
    <p:extLst>
      <p:ext uri="{BB962C8B-B14F-4D97-AF65-F5344CB8AC3E}">
        <p14:creationId xmlns:p14="http://schemas.microsoft.com/office/powerpoint/2010/main" val="85708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543F762C-7714-1B61-3F04-A3751E8316DD}"/>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臨界点と疑似臨界点の関係</a:t>
            </a:r>
          </a:p>
        </p:txBody>
      </p:sp>
      <p:cxnSp>
        <p:nvCxnSpPr>
          <p:cNvPr id="11" name="直線コネクタ 10">
            <a:extLst>
              <a:ext uri="{FF2B5EF4-FFF2-40B4-BE49-F238E27FC236}">
                <a16:creationId xmlns:a16="http://schemas.microsoft.com/office/drawing/2014/main" id="{4F933766-9261-0F63-04BD-D7669B91FB9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856957C8-FC35-544F-F15A-85E3262309DE}"/>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3–4</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(S7)–(S9)</a:t>
            </a:r>
            <a:r>
              <a:rPr kumimoji="1" lang="ja-JP" altLang="en-US" sz="950">
                <a:solidFill>
                  <a:srgbClr val="566573"/>
                </a:solidFill>
                <a:latin typeface="Meiryo" panose="020B0604030504040204" pitchFamily="50" charset="-128"/>
                <a:ea typeface="Meiryo" panose="020B0604030504040204" pitchFamily="50" charset="-128"/>
              </a:rPr>
              <a:t>。導出と前提は板書へ。</a:t>
            </a:r>
          </a:p>
        </p:txBody>
      </p:sp>
      <p:sp>
        <p:nvSpPr>
          <p:cNvPr id="13" name="page-4">
            <a:extLst>
              <a:ext uri="{FF2B5EF4-FFF2-40B4-BE49-F238E27FC236}">
                <a16:creationId xmlns:a16="http://schemas.microsoft.com/office/drawing/2014/main" id="{8A9C080B-0DB4-853B-DA6B-53037ED8B7A7}"/>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15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62DF126B-431A-3D92-196D-63DC13CC0041}"/>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63746"/>
                </a:solidFill>
                <a:latin typeface="Meiryo" panose="020B0604030504040204" pitchFamily="50" charset="-128"/>
                <a:ea typeface="Meiryo" panose="020B0604030504040204" pitchFamily="50" charset="-128"/>
              </a:rPr>
              <a:t>有限サイズの疑似臨界点</a:t>
            </a:r>
            <a:r>
              <a:rPr kumimoji="1" lang="en-US" altLang="ja-JP" sz="2200">
                <a:solidFill>
                  <a:srgbClr val="263746"/>
                </a:solidFill>
                <a:latin typeface="Meiryo" panose="020B0604030504040204" pitchFamily="50" charset="-128"/>
                <a:ea typeface="Meiryo" panose="020B0604030504040204" pitchFamily="50" charset="-128"/>
              </a:rPr>
              <a:t>p</a:t>
            </a:r>
            <a:r>
              <a:rPr kumimoji="1" lang="en-US" altLang="ja-JP" sz="1628" baseline="-16000">
                <a:solidFill>
                  <a:srgbClr val="263746"/>
                </a:solidFill>
                <a:latin typeface="Meiryo" panose="020B0604030504040204" pitchFamily="50" charset="-128"/>
                <a:ea typeface="Meiryo" panose="020B0604030504040204" pitchFamily="50" charset="-128"/>
              </a:rPr>
              <a:t>c</a:t>
            </a:r>
            <a:r>
              <a:rPr kumimoji="1" lang="en-US" altLang="ja-JP" sz="2200">
                <a:solidFill>
                  <a:srgbClr val="263746"/>
                </a:solidFill>
                <a:latin typeface="Meiryo" panose="020B0604030504040204" pitchFamily="50" charset="-128"/>
                <a:ea typeface="Meiryo" panose="020B0604030504040204" pitchFamily="50" charset="-128"/>
              </a:rPr>
              <a:t>(N)</a:t>
            </a:r>
            <a:r>
              <a:rPr kumimoji="1" lang="ja-JP" altLang="en-US" sz="2200">
                <a:solidFill>
                  <a:srgbClr val="263746"/>
                </a:solidFill>
                <a:latin typeface="Meiryo" panose="020B0604030504040204" pitchFamily="50" charset="-128"/>
                <a:ea typeface="Meiryo" panose="020B0604030504040204" pitchFamily="50" charset="-128"/>
              </a:rPr>
              <a:t>と、無限サイズの臨界点</a:t>
            </a:r>
            <a:r>
              <a:rPr kumimoji="1" lang="en-US" altLang="ja-JP" sz="2200">
                <a:solidFill>
                  <a:srgbClr val="263746"/>
                </a:solidFill>
                <a:latin typeface="Meiryo" panose="020B0604030504040204" pitchFamily="50" charset="-128"/>
                <a:ea typeface="Meiryo" panose="020B0604030504040204" pitchFamily="50" charset="-128"/>
              </a:rPr>
              <a:t>p</a:t>
            </a:r>
            <a:r>
              <a:rPr kumimoji="1" lang="en-US" altLang="ja-JP" sz="1628" baseline="-16000">
                <a:solidFill>
                  <a:srgbClr val="263746"/>
                </a:solidFill>
                <a:latin typeface="Meiryo" panose="020B0604030504040204" pitchFamily="50" charset="-128"/>
                <a:ea typeface="Meiryo" panose="020B0604030504040204" pitchFamily="50" charset="-128"/>
              </a:rPr>
              <a:t>c</a:t>
            </a:r>
            <a:r>
              <a:rPr kumimoji="1" lang="ja-JP" altLang="en-US" sz="2200">
                <a:solidFill>
                  <a:srgbClr val="263746"/>
                </a:solidFill>
                <a:latin typeface="Meiryo" panose="020B0604030504040204" pitchFamily="50" charset="-128"/>
                <a:ea typeface="Meiryo" panose="020B0604030504040204" pitchFamily="50" charset="-128"/>
              </a:rPr>
              <a:t>の</a:t>
            </a:r>
          </a:p>
          <a:p>
            <a:pPr>
              <a:lnSpc>
                <a:spcPct val="112000"/>
              </a:lnSpc>
            </a:pPr>
            <a:r>
              <a:rPr kumimoji="1" lang="ja-JP" altLang="en-US" sz="2200">
                <a:solidFill>
                  <a:srgbClr val="263746"/>
                </a:solidFill>
                <a:latin typeface="Meiryo" panose="020B0604030504040204" pitchFamily="50" charset="-128"/>
                <a:ea typeface="Meiryo" panose="020B0604030504040204" pitchFamily="50" charset="-128"/>
              </a:rPr>
              <a:t>関係を、</a:t>
            </a:r>
            <a:r>
              <a:rPr kumimoji="1" lang="en-US" altLang="ja-JP" sz="2200">
                <a:solidFill>
                  <a:srgbClr val="263746"/>
                </a:solidFill>
                <a:latin typeface="Meiryo" panose="020B0604030504040204" pitchFamily="50" charset="-128"/>
                <a:ea typeface="Meiryo" panose="020B0604030504040204" pitchFamily="50" charset="-128"/>
              </a:rPr>
              <a:t>FSS</a:t>
            </a:r>
            <a:r>
              <a:rPr kumimoji="1" lang="ja-JP" altLang="en-US" sz="2200">
                <a:solidFill>
                  <a:srgbClr val="263746"/>
                </a:solidFill>
                <a:latin typeface="Meiryo" panose="020B0604030504040204" pitchFamily="50" charset="-128"/>
                <a:ea typeface="Meiryo" panose="020B0604030504040204" pitchFamily="50" charset="-128"/>
              </a:rPr>
              <a:t>では次のように表す。</a:t>
            </a:r>
          </a:p>
        </p:txBody>
      </p:sp>
      <p:pic>
        <p:nvPicPr>
          <p:cNvPr id="16" name="source-or-equation-image-6" descr="p_c=p_c(N)+bN^{-1/\bar\nu}\qquad\mathrm{(S9)}">
            <a:extLst>
              <a:ext uri="{FF2B5EF4-FFF2-40B4-BE49-F238E27FC236}">
                <a16:creationId xmlns:a16="http://schemas.microsoft.com/office/drawing/2014/main" id="{E69C1528-DACE-5BED-B424-188EF16922C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01800" y="2667000"/>
            <a:ext cx="8788400" cy="1092200"/>
          </a:xfrm>
          <a:prstGeom prst="rect">
            <a:avLst/>
          </a:prstGeom>
        </p:spPr>
      </p:pic>
      <p:sp>
        <p:nvSpPr>
          <p:cNvPr id="17" name="text-7">
            <a:extLst>
              <a:ext uri="{FF2B5EF4-FFF2-40B4-BE49-F238E27FC236}">
                <a16:creationId xmlns:a16="http://schemas.microsoft.com/office/drawing/2014/main" id="{86ED51E5-B5EE-17BD-83D8-383C52B4FDD5}"/>
              </a:ext>
            </a:extLst>
          </p:cNvPr>
          <p:cNvSpPr txBox="1"/>
          <p:nvPr/>
        </p:nvSpPr>
        <p:spPr>
          <a:xfrm>
            <a:off x="635000" y="4229100"/>
            <a:ext cx="10922000" cy="276999"/>
          </a:xfrm>
          <a:prstGeom prst="rect">
            <a:avLst/>
          </a:prstGeom>
          <a:noFill/>
        </p:spPr>
        <p:txBody>
          <a:bodyPr vert="horz" wrap="square" lIns="0" tIns="0" rIns="0" bIns="0" rtlCol="0">
            <a:noAutofit/>
          </a:bodyPr>
          <a:lstStyle/>
          <a:p>
            <a:pPr>
              <a:lnSpc>
                <a:spcPct val="112000"/>
              </a:lnSpc>
            </a:pPr>
            <a:r>
              <a:rPr kumimoji="1" lang="en-US" altLang="ja-JP" sz="2200">
                <a:solidFill>
                  <a:srgbClr val="263746"/>
                </a:solidFill>
                <a:latin typeface="Meiryo" panose="020B0604030504040204" pitchFamily="50" charset="-128"/>
                <a:ea typeface="Meiryo" panose="020B0604030504040204" pitchFamily="50" charset="-128"/>
              </a:rPr>
              <a:t>b</a:t>
            </a:r>
            <a:r>
              <a:rPr kumimoji="1" lang="ja-JP" altLang="en-US" sz="2200">
                <a:solidFill>
                  <a:srgbClr val="263746"/>
                </a:solidFill>
                <a:latin typeface="Meiryo" panose="020B0604030504040204" pitchFamily="50" charset="-128"/>
                <a:ea typeface="Meiryo" panose="020B0604030504040204" pitchFamily="50" charset="-128"/>
              </a:rPr>
              <a:t>：サイズ</a:t>
            </a:r>
            <a:r>
              <a:rPr kumimoji="1" lang="en-US" altLang="ja-JP" sz="2200">
                <a:solidFill>
                  <a:srgbClr val="263746"/>
                </a:solidFill>
                <a:latin typeface="Meiryo" panose="020B0604030504040204" pitchFamily="50" charset="-128"/>
                <a:ea typeface="Meiryo" panose="020B0604030504040204" pitchFamily="50" charset="-128"/>
              </a:rPr>
              <a:t>N</a:t>
            </a:r>
            <a:r>
              <a:rPr kumimoji="1" lang="ja-JP" altLang="en-US" sz="2200">
                <a:solidFill>
                  <a:srgbClr val="263746"/>
                </a:solidFill>
                <a:latin typeface="Meiryo" panose="020B0604030504040204" pitchFamily="50" charset="-128"/>
                <a:ea typeface="Meiryo" panose="020B0604030504040204" pitchFamily="50" charset="-128"/>
              </a:rPr>
              <a:t>に依存しない係数。符号は限定しない。</a:t>
            </a:r>
          </a:p>
        </p:txBody>
      </p:sp>
      <p:sp>
        <p:nvSpPr>
          <p:cNvPr id="18" name="text-8">
            <a:extLst>
              <a:ext uri="{FF2B5EF4-FFF2-40B4-BE49-F238E27FC236}">
                <a16:creationId xmlns:a16="http://schemas.microsoft.com/office/drawing/2014/main" id="{CB6FB481-6D45-BAEB-BD8B-C3C51AFE9C7E}"/>
              </a:ext>
            </a:extLst>
          </p:cNvPr>
          <p:cNvSpPr txBox="1"/>
          <p:nvPr/>
        </p:nvSpPr>
        <p:spPr>
          <a:xfrm>
            <a:off x="635000" y="50546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17365D"/>
                </a:solidFill>
                <a:latin typeface="Meiryo" panose="020B0604030504040204" pitchFamily="50" charset="-128"/>
                <a:ea typeface="Meiryo" panose="020B0604030504040204" pitchFamily="50" charset="-128"/>
              </a:rPr>
              <a:t>p</a:t>
            </a:r>
            <a:r>
              <a:rPr kumimoji="1" lang="en-US" altLang="ja-JP" sz="1702" baseline="-16000">
                <a:solidFill>
                  <a:srgbClr val="17365D"/>
                </a:solidFill>
                <a:latin typeface="Meiryo" panose="020B0604030504040204" pitchFamily="50" charset="-128"/>
                <a:ea typeface="Meiryo" panose="020B0604030504040204" pitchFamily="50" charset="-128"/>
              </a:rPr>
              <a:t>c</a:t>
            </a:r>
            <a:r>
              <a:rPr kumimoji="1" lang="en-US" altLang="ja-JP" sz="2300">
                <a:solidFill>
                  <a:srgbClr val="17365D"/>
                </a:solidFill>
                <a:latin typeface="Meiryo" panose="020B0604030504040204" pitchFamily="50" charset="-128"/>
                <a:ea typeface="Meiryo" panose="020B0604030504040204" pitchFamily="50" charset="-128"/>
              </a:rPr>
              <a:t>(N)</a:t>
            </a:r>
            <a:r>
              <a:rPr kumimoji="1" lang="ja-JP" altLang="en-US" sz="2300">
                <a:solidFill>
                  <a:srgbClr val="17365D"/>
                </a:solidFill>
                <a:latin typeface="Meiryo" panose="020B0604030504040204" pitchFamily="50" charset="-128"/>
                <a:ea typeface="Meiryo" panose="020B0604030504040204" pitchFamily="50" charset="-128"/>
              </a:rPr>
              <a:t>と</a:t>
            </a:r>
            <a:r>
              <a:rPr kumimoji="1" lang="en-US" altLang="ja-JP" sz="2300">
                <a:solidFill>
                  <a:srgbClr val="17365D"/>
                </a:solidFill>
                <a:latin typeface="Meiryo" panose="020B0604030504040204" pitchFamily="50" charset="-128"/>
                <a:ea typeface="Meiryo" panose="020B0604030504040204" pitchFamily="50" charset="-128"/>
              </a:rPr>
              <a:t>p</a:t>
            </a:r>
            <a:r>
              <a:rPr kumimoji="1" lang="en-US" altLang="ja-JP" sz="1702" baseline="-16000">
                <a:solidFill>
                  <a:srgbClr val="17365D"/>
                </a:solidFill>
                <a:latin typeface="Meiryo" panose="020B0604030504040204" pitchFamily="50" charset="-128"/>
                <a:ea typeface="Meiryo" panose="020B0604030504040204" pitchFamily="50" charset="-128"/>
              </a:rPr>
              <a:t>c</a:t>
            </a:r>
            <a:r>
              <a:rPr kumimoji="1" lang="ja-JP" altLang="en-US" sz="2300">
                <a:solidFill>
                  <a:srgbClr val="17365D"/>
                </a:solidFill>
                <a:latin typeface="Meiryo" panose="020B0604030504040204" pitchFamily="50" charset="-128"/>
                <a:ea typeface="Meiryo" panose="020B0604030504040204" pitchFamily="50" charset="-128"/>
              </a:rPr>
              <a:t>のずれを、</a:t>
            </a:r>
            <a:r>
              <a:rPr kumimoji="1" lang="en-US" altLang="ja-JP" sz="2300">
                <a:solidFill>
                  <a:srgbClr val="17365D"/>
                </a:solidFill>
                <a:latin typeface="Meiryo" panose="020B0604030504040204" pitchFamily="50" charset="-128"/>
                <a:ea typeface="Meiryo" panose="020B0604030504040204" pitchFamily="50" charset="-128"/>
              </a:rPr>
              <a:t>N</a:t>
            </a:r>
            <a:r>
              <a:rPr kumimoji="1" lang="ja-JP" altLang="en-US" sz="2300">
                <a:solidFill>
                  <a:srgbClr val="17365D"/>
                </a:solidFill>
                <a:latin typeface="Meiryo" panose="020B0604030504040204" pitchFamily="50" charset="-128"/>
                <a:ea typeface="Meiryo" panose="020B0604030504040204" pitchFamily="50" charset="-128"/>
              </a:rPr>
              <a:t>のべき乗で表すシフト則。</a:t>
            </a:r>
          </a:p>
          <a:p>
            <a:pPr>
              <a:lnSpc>
                <a:spcPct val="112000"/>
              </a:lnSpc>
            </a:pPr>
            <a:r>
              <a:rPr kumimoji="1" lang="ja-JP" altLang="en-US" sz="2300">
                <a:solidFill>
                  <a:srgbClr val="17365D"/>
                </a:solidFill>
                <a:latin typeface="Meiryo" panose="020B0604030504040204" pitchFamily="50" charset="-128"/>
                <a:ea typeface="Meiryo" panose="020B0604030504040204" pitchFamily="50" charset="-128"/>
              </a:rPr>
              <a:t>複数サイズの</a:t>
            </a:r>
            <a:r>
              <a:rPr kumimoji="1" lang="en-US" altLang="ja-JP" sz="2300">
                <a:solidFill>
                  <a:srgbClr val="17365D"/>
                </a:solidFill>
                <a:latin typeface="Meiryo" panose="020B0604030504040204" pitchFamily="50" charset="-128"/>
                <a:ea typeface="Meiryo" panose="020B0604030504040204" pitchFamily="50" charset="-128"/>
              </a:rPr>
              <a:t>p</a:t>
            </a:r>
            <a:r>
              <a:rPr kumimoji="1" lang="en-US" altLang="ja-JP" sz="1702" baseline="-16000">
                <a:solidFill>
                  <a:srgbClr val="17365D"/>
                </a:solidFill>
                <a:latin typeface="Meiryo" panose="020B0604030504040204" pitchFamily="50" charset="-128"/>
                <a:ea typeface="Meiryo" panose="020B0604030504040204" pitchFamily="50" charset="-128"/>
              </a:rPr>
              <a:t>c</a:t>
            </a:r>
            <a:r>
              <a:rPr kumimoji="1" lang="en-US" altLang="ja-JP" sz="2300">
                <a:solidFill>
                  <a:srgbClr val="17365D"/>
                </a:solidFill>
                <a:latin typeface="Meiryo" panose="020B0604030504040204" pitchFamily="50" charset="-128"/>
                <a:ea typeface="Meiryo" panose="020B0604030504040204" pitchFamily="50" charset="-128"/>
              </a:rPr>
              <a:t>(N)</a:t>
            </a:r>
            <a:r>
              <a:rPr kumimoji="1" lang="ja-JP" altLang="en-US" sz="2300">
                <a:solidFill>
                  <a:srgbClr val="17365D"/>
                </a:solidFill>
                <a:latin typeface="Meiryo" panose="020B0604030504040204" pitchFamily="50" charset="-128"/>
                <a:ea typeface="Meiryo" panose="020B0604030504040204" pitchFamily="50" charset="-128"/>
              </a:rPr>
              <a:t>を調べ、</a:t>
            </a:r>
            <a:r>
              <a:rPr kumimoji="1" lang="en-US" altLang="ja-JP" sz="2300">
                <a:solidFill>
                  <a:srgbClr val="17365D"/>
                </a:solidFill>
                <a:latin typeface="Meiryo" panose="020B0604030504040204" pitchFamily="50" charset="-128"/>
                <a:ea typeface="Meiryo" panose="020B0604030504040204" pitchFamily="50" charset="-128"/>
              </a:rPr>
              <a:t>p</a:t>
            </a:r>
            <a:r>
              <a:rPr kumimoji="1" lang="en-US" altLang="ja-JP" sz="1702" baseline="-16000">
                <a:solidFill>
                  <a:srgbClr val="17365D"/>
                </a:solidFill>
                <a:latin typeface="Meiryo" panose="020B0604030504040204" pitchFamily="50" charset="-128"/>
                <a:ea typeface="Meiryo" panose="020B0604030504040204" pitchFamily="50" charset="-128"/>
              </a:rPr>
              <a:t>c</a:t>
            </a:r>
            <a:r>
              <a:rPr kumimoji="1" lang="ja-JP" altLang="en-US" sz="2300">
                <a:solidFill>
                  <a:srgbClr val="17365D"/>
                </a:solidFill>
                <a:latin typeface="Meiryo" panose="020B0604030504040204" pitchFamily="50" charset="-128"/>
                <a:ea typeface="Meiryo" panose="020B0604030504040204" pitchFamily="50" charset="-128"/>
              </a:rPr>
              <a:t>と</a:t>
            </a:r>
            <a:r>
              <a:rPr kumimoji="1" lang="en-US" altLang="ja-JP" sz="2300">
                <a:solidFill>
                  <a:srgbClr val="17365D"/>
                </a:solidFill>
                <a:latin typeface="Meiryo" panose="020B0604030504040204" pitchFamily="50" charset="-128"/>
                <a:ea typeface="Meiryo" panose="020B0604030504040204" pitchFamily="50" charset="-128"/>
              </a:rPr>
              <a:t>1/ν̄</a:t>
            </a:r>
            <a:r>
              <a:rPr kumimoji="1" lang="ja-JP" altLang="en-US" sz="2300">
                <a:solidFill>
                  <a:srgbClr val="17365D"/>
                </a:solidFill>
                <a:latin typeface="Meiryo" panose="020B0604030504040204" pitchFamily="50" charset="-128"/>
                <a:ea typeface="Meiryo" panose="020B0604030504040204" pitchFamily="50" charset="-128"/>
              </a:rPr>
              <a:t>を推定する。</a:t>
            </a:r>
          </a:p>
        </p:txBody>
      </p:sp>
    </p:spTree>
    <p:extLst>
      <p:ext uri="{BB962C8B-B14F-4D97-AF65-F5344CB8AC3E}">
        <p14:creationId xmlns:p14="http://schemas.microsoft.com/office/powerpoint/2010/main" val="1936550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105236EF-1F96-C5D7-CD2D-BC01A2E76C45}"/>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臨界点でのサイズ依存性</a:t>
            </a:r>
          </a:p>
        </p:txBody>
      </p:sp>
      <p:cxnSp>
        <p:nvCxnSpPr>
          <p:cNvPr id="9" name="直線コネクタ 8">
            <a:extLst>
              <a:ext uri="{FF2B5EF4-FFF2-40B4-BE49-F238E27FC236}">
                <a16:creationId xmlns:a16="http://schemas.microsoft.com/office/drawing/2014/main" id="{67F5D9DE-1AA6-8056-8197-5D0A643B43A7}"/>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3" name="source-3">
            <a:extLst>
              <a:ext uri="{FF2B5EF4-FFF2-40B4-BE49-F238E27FC236}">
                <a16:creationId xmlns:a16="http://schemas.microsoft.com/office/drawing/2014/main" id="{10611B9A-FC85-48C1-37C6-C5A940B3ACF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(S10)</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P(p_c)</a:t>
            </a:r>
            <a:r>
              <a:rPr kumimoji="1" lang="ja-JP" altLang="en-US" sz="950">
                <a:solidFill>
                  <a:srgbClr val="566573"/>
                </a:solidFill>
                <a:latin typeface="Meiryo" panose="020B0604030504040204" pitchFamily="50" charset="-128"/>
                <a:ea typeface="Meiryo" panose="020B0604030504040204" pitchFamily="50" charset="-128"/>
              </a:rPr>
              <a:t>は</a:t>
            </a:r>
            <a:r>
              <a:rPr kumimoji="1" lang="en-US" altLang="ja-JP" sz="950">
                <a:solidFill>
                  <a:srgbClr val="566573"/>
                </a:solidFill>
                <a:latin typeface="Meiryo" panose="020B0604030504040204" pitchFamily="50" charset="-128"/>
                <a:ea typeface="Meiryo" panose="020B0604030504040204" pitchFamily="50" charset="-128"/>
              </a:rPr>
              <a:t>N</a:t>
            </a:r>
            <a:r>
              <a:rPr kumimoji="1" lang="ja-JP" altLang="en-US" sz="950">
                <a:solidFill>
                  <a:srgbClr val="566573"/>
                </a:solidFill>
                <a:latin typeface="Meiryo" panose="020B0604030504040204" pitchFamily="50" charset="-128"/>
                <a:ea typeface="Meiryo" panose="020B0604030504040204" pitchFamily="50" charset="-128"/>
              </a:rPr>
              <a:t>依存を省略した平均</a:t>
            </a:r>
            <a:r>
              <a:rPr kumimoji="1" lang="en-US" altLang="ja-JP" sz="950">
                <a:solidFill>
                  <a:srgbClr val="566573"/>
                </a:solidFill>
                <a:latin typeface="Meiryo" panose="020B0604030504040204" pitchFamily="50" charset="-128"/>
                <a:ea typeface="Meiryo" panose="020B0604030504040204" pitchFamily="50" charset="-128"/>
              </a:rPr>
              <a:t>P</a:t>
            </a:r>
            <a:r>
              <a:rPr kumimoji="1" lang="ja-JP" altLang="en-US" sz="950">
                <a:solidFill>
                  <a:srgbClr val="566573"/>
                </a:solidFill>
                <a:latin typeface="Meiryo" panose="020B0604030504040204" pitchFamily="50" charset="-128"/>
                <a:ea typeface="Meiryo" panose="020B0604030504040204" pitchFamily="50" charset="-128"/>
              </a:rPr>
              <a:t>の原文記法。</a:t>
            </a:r>
          </a:p>
        </p:txBody>
      </p:sp>
      <p:sp>
        <p:nvSpPr>
          <p:cNvPr id="14" name="page-4">
            <a:extLst>
              <a:ext uri="{FF2B5EF4-FFF2-40B4-BE49-F238E27FC236}">
                <a16:creationId xmlns:a16="http://schemas.microsoft.com/office/drawing/2014/main" id="{F75EA195-D631-2115-4D66-C0E6D9BFB32B}"/>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16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5" name="text-5">
            <a:extLst>
              <a:ext uri="{FF2B5EF4-FFF2-40B4-BE49-F238E27FC236}">
                <a16:creationId xmlns:a16="http://schemas.microsoft.com/office/drawing/2014/main" id="{A1607812-507F-F0F2-CB89-9CA1544E4A9B}"/>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63746"/>
                </a:solidFill>
                <a:latin typeface="Meiryo" panose="020B0604030504040204" pitchFamily="50" charset="-128"/>
                <a:ea typeface="Meiryo" panose="020B0604030504040204" pitchFamily="50" charset="-128"/>
              </a:rPr>
              <a:t>式</a:t>
            </a:r>
            <a:r>
              <a:rPr kumimoji="1" lang="en-US" altLang="ja-JP" sz="2200">
                <a:solidFill>
                  <a:srgbClr val="263746"/>
                </a:solidFill>
                <a:latin typeface="Meiryo" panose="020B0604030504040204" pitchFamily="50" charset="-128"/>
                <a:ea typeface="Meiryo" panose="020B0604030504040204" pitchFamily="50" charset="-128"/>
              </a:rPr>
              <a:t>(S6)</a:t>
            </a:r>
            <a:r>
              <a:rPr kumimoji="1" lang="ja-JP" altLang="en-US" sz="2200">
                <a:solidFill>
                  <a:srgbClr val="263746"/>
                </a:solidFill>
                <a:latin typeface="Meiryo" panose="020B0604030504040204" pitchFamily="50" charset="-128"/>
                <a:ea typeface="Meiryo" panose="020B0604030504040204" pitchFamily="50" charset="-128"/>
              </a:rPr>
              <a:t>において</a:t>
            </a:r>
            <a:r>
              <a:rPr kumimoji="1" lang="en-US" altLang="ja-JP" sz="2200">
                <a:solidFill>
                  <a:srgbClr val="263746"/>
                </a:solidFill>
                <a:latin typeface="Meiryo" panose="020B0604030504040204" pitchFamily="50" charset="-128"/>
                <a:ea typeface="Meiryo" panose="020B0604030504040204" pitchFamily="50" charset="-128"/>
              </a:rPr>
              <a:t>p=p</a:t>
            </a:r>
            <a:r>
              <a:rPr kumimoji="1" lang="en-US" altLang="ja-JP" sz="1628" baseline="-16000">
                <a:solidFill>
                  <a:srgbClr val="263746"/>
                </a:solidFill>
                <a:latin typeface="Meiryo" panose="020B0604030504040204" pitchFamily="50" charset="-128"/>
                <a:ea typeface="Meiryo" panose="020B0604030504040204" pitchFamily="50" charset="-128"/>
              </a:rPr>
              <a:t>c</a:t>
            </a:r>
            <a:r>
              <a:rPr kumimoji="1" lang="ja-JP" altLang="en-US" sz="2200">
                <a:solidFill>
                  <a:srgbClr val="263746"/>
                </a:solidFill>
                <a:latin typeface="Meiryo" panose="020B0604030504040204" pitchFamily="50" charset="-128"/>
                <a:ea typeface="Meiryo" panose="020B0604030504040204" pitchFamily="50" charset="-128"/>
              </a:rPr>
              <a:t>とすると、</a:t>
            </a:r>
          </a:p>
          <a:p>
            <a:pPr>
              <a:lnSpc>
                <a:spcPct val="112000"/>
              </a:lnSpc>
            </a:pPr>
            <a:r>
              <a:rPr kumimoji="1" lang="ja-JP" altLang="en-US" sz="2200">
                <a:solidFill>
                  <a:srgbClr val="263746"/>
                </a:solidFill>
                <a:latin typeface="Meiryo" panose="020B0604030504040204" pitchFamily="50" charset="-128"/>
                <a:ea typeface="Meiryo" panose="020B0604030504040204" pitchFamily="50" charset="-128"/>
              </a:rPr>
              <a:t>スケーリング関数の引数は</a:t>
            </a:r>
            <a:r>
              <a:rPr kumimoji="1" lang="en-US" altLang="ja-JP" sz="2200">
                <a:solidFill>
                  <a:srgbClr val="263746"/>
                </a:solidFill>
                <a:latin typeface="Meiryo" panose="020B0604030504040204" pitchFamily="50" charset="-128"/>
                <a:ea typeface="Meiryo" panose="020B0604030504040204" pitchFamily="50" charset="-128"/>
              </a:rPr>
              <a:t>0</a:t>
            </a:r>
            <a:r>
              <a:rPr kumimoji="1" lang="ja-JP" altLang="en-US" sz="2200">
                <a:solidFill>
                  <a:srgbClr val="263746"/>
                </a:solidFill>
                <a:latin typeface="Meiryo" panose="020B0604030504040204" pitchFamily="50" charset="-128"/>
                <a:ea typeface="Meiryo" panose="020B0604030504040204" pitchFamily="50" charset="-128"/>
              </a:rPr>
              <a:t>となる。</a:t>
            </a:r>
          </a:p>
        </p:txBody>
      </p:sp>
      <p:pic>
        <p:nvPicPr>
          <p:cNvPr id="17" name="source-or-equation-image-6" descr="u=(p_c-p_c)N^{1/\bar\nu}=0">
            <a:extLst>
              <a:ext uri="{FF2B5EF4-FFF2-40B4-BE49-F238E27FC236}">
                <a16:creationId xmlns:a16="http://schemas.microsoft.com/office/drawing/2014/main" id="{FFD4F641-23DC-C333-8547-80897C91235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94421" y="2425700"/>
            <a:ext cx="4003158" cy="685800"/>
          </a:xfrm>
          <a:prstGeom prst="rect">
            <a:avLst/>
          </a:prstGeom>
        </p:spPr>
      </p:pic>
      <p:pic>
        <p:nvPicPr>
          <p:cNvPr id="19" name="source-or-equation-image-7" descr="\langle P(p_c,N)\rangle=N^{-\beta/\bar\nu}F^{(1)}(0)">
            <a:extLst>
              <a:ext uri="{FF2B5EF4-FFF2-40B4-BE49-F238E27FC236}">
                <a16:creationId xmlns:a16="http://schemas.microsoft.com/office/drawing/2014/main" id="{04025A4E-462C-8B1D-A0AE-5EFC0E777EC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473450" y="3365500"/>
            <a:ext cx="5245100" cy="749300"/>
          </a:xfrm>
          <a:prstGeom prst="rect">
            <a:avLst/>
          </a:prstGeom>
        </p:spPr>
      </p:pic>
      <p:pic>
        <p:nvPicPr>
          <p:cNvPr id="21" name="source-or-equation-image-8" descr="P(p_c)=\langle P(p=p_c,N)\rangle\sim N^{-\beta/\bar\nu}\qquad\mathrm{(S10)}">
            <a:extLst>
              <a:ext uri="{FF2B5EF4-FFF2-40B4-BE49-F238E27FC236}">
                <a16:creationId xmlns:a16="http://schemas.microsoft.com/office/drawing/2014/main" id="{B3CB8A68-3434-F7C5-B7F5-260A0BD6F862}"/>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462161" y="4330700"/>
            <a:ext cx="9267677" cy="825500"/>
          </a:xfrm>
          <a:prstGeom prst="rect">
            <a:avLst/>
          </a:prstGeom>
        </p:spPr>
      </p:pic>
      <p:sp>
        <p:nvSpPr>
          <p:cNvPr id="22" name="text-9">
            <a:extLst>
              <a:ext uri="{FF2B5EF4-FFF2-40B4-BE49-F238E27FC236}">
                <a16:creationId xmlns:a16="http://schemas.microsoft.com/office/drawing/2014/main" id="{0E43A849-CF93-0B6D-909D-F1F4B7C914D9}"/>
              </a:ext>
            </a:extLst>
          </p:cNvPr>
          <p:cNvSpPr txBox="1"/>
          <p:nvPr/>
        </p:nvSpPr>
        <p:spPr>
          <a:xfrm>
            <a:off x="635000" y="5384800"/>
            <a:ext cx="10922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63746"/>
                </a:solidFill>
                <a:latin typeface="Meiryo" panose="020B0604030504040204" pitchFamily="50" charset="-128"/>
                <a:ea typeface="Meiryo" panose="020B0604030504040204" pitchFamily="50" charset="-128"/>
              </a:rPr>
              <a:t>F⁽¹⁾(0)</a:t>
            </a:r>
            <a:r>
              <a:rPr kumimoji="1" lang="ja-JP" altLang="en-US" sz="2000">
                <a:solidFill>
                  <a:srgbClr val="263746"/>
                </a:solidFill>
                <a:latin typeface="Meiryo" panose="020B0604030504040204" pitchFamily="50" charset="-128"/>
                <a:ea typeface="Meiryo" panose="020B0604030504040204" pitchFamily="50" charset="-128"/>
              </a:rPr>
              <a:t>が有限かつ非零なら、</a:t>
            </a:r>
            <a:r>
              <a:rPr kumimoji="1" lang="en-US" altLang="ja-JP" sz="2000">
                <a:solidFill>
                  <a:srgbClr val="263746"/>
                </a:solidFill>
                <a:latin typeface="Meiryo" panose="020B0604030504040204" pitchFamily="50" charset="-128"/>
                <a:ea typeface="Meiryo" panose="020B0604030504040204" pitchFamily="50" charset="-128"/>
              </a:rPr>
              <a:t>P</a:t>
            </a:r>
            <a:r>
              <a:rPr kumimoji="1" lang="ja-JP" altLang="en-US" sz="2000">
                <a:solidFill>
                  <a:srgbClr val="263746"/>
                </a:solidFill>
                <a:latin typeface="Meiryo" panose="020B0604030504040204" pitchFamily="50" charset="-128"/>
                <a:ea typeface="Meiryo" panose="020B0604030504040204" pitchFamily="50" charset="-128"/>
              </a:rPr>
              <a:t>のサイズ依存性として
この</a:t>
            </a:r>
            <a:r>
              <a:rPr kumimoji="1" lang="en-US" altLang="ja-JP" sz="2000">
                <a:solidFill>
                  <a:srgbClr val="263746"/>
                </a:solidFill>
                <a:latin typeface="Meiryo" panose="020B0604030504040204" pitchFamily="50" charset="-128"/>
                <a:ea typeface="Meiryo" panose="020B0604030504040204" pitchFamily="50" charset="-128"/>
              </a:rPr>
              <a:t>N</a:t>
            </a:r>
            <a:r>
              <a:rPr kumimoji="1" lang="ja-JP" altLang="en-US" sz="2000">
                <a:solidFill>
                  <a:srgbClr val="263746"/>
                </a:solidFill>
                <a:latin typeface="Meiryo" panose="020B0604030504040204" pitchFamily="50" charset="-128"/>
                <a:ea typeface="Meiryo" panose="020B0604030504040204" pitchFamily="50" charset="-128"/>
              </a:rPr>
              <a:t>のべき乗則が得られる。</a:t>
            </a:r>
          </a:p>
        </p:txBody>
      </p:sp>
    </p:spTree>
    <p:extLst>
      <p:ext uri="{BB962C8B-B14F-4D97-AF65-F5344CB8AC3E}">
        <p14:creationId xmlns:p14="http://schemas.microsoft.com/office/powerpoint/2010/main" val="1196198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0E48E2BF-14EF-3054-EDEB-E241F4C961FB}"/>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疑似臨界点での臨界指数推定</a:t>
            </a:r>
          </a:p>
        </p:txBody>
      </p:sp>
      <p:cxnSp>
        <p:nvCxnSpPr>
          <p:cNvPr id="8" name="直線コネクタ 7">
            <a:extLst>
              <a:ext uri="{FF2B5EF4-FFF2-40B4-BE49-F238E27FC236}">
                <a16:creationId xmlns:a16="http://schemas.microsoft.com/office/drawing/2014/main" id="{53102E8A-F19D-A8EB-A2CD-DBE53647FA70}"/>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5C00FE11-2968-FC7B-9E6F-50089EFBDF1B}"/>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(S11)</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(S12)</a:t>
            </a:r>
            <a:r>
              <a:rPr kumimoji="1" lang="ja-JP" altLang="en-US" sz="950">
                <a:solidFill>
                  <a:srgbClr val="566573"/>
                </a:solidFill>
                <a:latin typeface="Meiryo" panose="020B0604030504040204" pitchFamily="50" charset="-128"/>
                <a:ea typeface="Meiryo" panose="020B0604030504040204" pitchFamily="50" charset="-128"/>
              </a:rPr>
              <a:t>。有限・非零の関数値を仮定。</a:t>
            </a:r>
          </a:p>
        </p:txBody>
      </p:sp>
      <p:sp>
        <p:nvSpPr>
          <p:cNvPr id="13" name="page-4">
            <a:extLst>
              <a:ext uri="{FF2B5EF4-FFF2-40B4-BE49-F238E27FC236}">
                <a16:creationId xmlns:a16="http://schemas.microsoft.com/office/drawing/2014/main" id="{65B420C7-6CF2-8817-D849-E51892FD5D41}"/>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17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B988A7FE-1AA7-F760-9621-27948EA2AA25}"/>
              </a:ext>
            </a:extLst>
          </p:cNvPr>
          <p:cNvSpPr txBox="1"/>
          <p:nvPr/>
        </p:nvSpPr>
        <p:spPr>
          <a:xfrm>
            <a:off x="635000" y="1524000"/>
            <a:ext cx="1778000" cy="276999"/>
          </a:xfrm>
          <a:prstGeom prst="rect">
            <a:avLst/>
          </a:prstGeom>
          <a:noFill/>
        </p:spPr>
        <p:txBody>
          <a:bodyPr vert="horz" wrap="square" lIns="0" tIns="0" rIns="0" bIns="0" rtlCol="0">
            <a:noAutofit/>
          </a:bodyPr>
          <a:lstStyle/>
          <a:p>
            <a:pPr>
              <a:lnSpc>
                <a:spcPct val="112000"/>
              </a:lnSpc>
            </a:pPr>
            <a:r>
              <a:rPr kumimoji="1" lang="en-US" altLang="ja-JP" sz="2000" b="1">
                <a:solidFill>
                  <a:srgbClr val="17365D"/>
                </a:solidFill>
                <a:latin typeface="Meiryo" panose="020B0604030504040204" pitchFamily="50" charset="-128"/>
                <a:ea typeface="Meiryo" panose="020B0604030504040204" pitchFamily="50" charset="-128"/>
              </a:rPr>
              <a:t>p</a:t>
            </a:r>
            <a:r>
              <a:rPr kumimoji="1" lang="en-US" altLang="ja-JP" sz="1480" b="1" baseline="-16000">
                <a:solidFill>
                  <a:srgbClr val="17365D"/>
                </a:solidFill>
                <a:latin typeface="Meiryo" panose="020B0604030504040204" pitchFamily="50" charset="-128"/>
                <a:ea typeface="Meiryo" panose="020B0604030504040204" pitchFamily="50" charset="-128"/>
              </a:rPr>
              <a:t>c</a:t>
            </a:r>
            <a:r>
              <a:rPr kumimoji="1" lang="en-US" altLang="ja-JP" sz="2000" b="1">
                <a:solidFill>
                  <a:srgbClr val="17365D"/>
                </a:solidFill>
                <a:latin typeface="Meiryo" panose="020B0604030504040204" pitchFamily="50" charset="-128"/>
                <a:ea typeface="Meiryo" panose="020B0604030504040204" pitchFamily="50" charset="-128"/>
              </a:rPr>
              <a:t>(N)</a:t>
            </a:r>
            <a:r>
              <a:rPr kumimoji="1" lang="ja-JP" altLang="en-US" sz="2000" b="1">
                <a:solidFill>
                  <a:srgbClr val="17365D"/>
                </a:solidFill>
                <a:latin typeface="Meiryo" panose="020B0604030504040204" pitchFamily="50" charset="-128"/>
                <a:ea typeface="Meiryo" panose="020B0604030504040204" pitchFamily="50" charset="-128"/>
              </a:rPr>
              <a:t>：</a:t>
            </a:r>
          </a:p>
        </p:txBody>
      </p:sp>
      <p:sp>
        <p:nvSpPr>
          <p:cNvPr id="15" name="text-6">
            <a:extLst>
              <a:ext uri="{FF2B5EF4-FFF2-40B4-BE49-F238E27FC236}">
                <a16:creationId xmlns:a16="http://schemas.microsoft.com/office/drawing/2014/main" id="{FC983E2A-DAE4-1D85-4D8A-E3F963846EF7}"/>
              </a:ext>
            </a:extLst>
          </p:cNvPr>
          <p:cNvSpPr txBox="1"/>
          <p:nvPr/>
        </p:nvSpPr>
        <p:spPr>
          <a:xfrm>
            <a:off x="2540000" y="1524000"/>
            <a:ext cx="9017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サイズ</a:t>
            </a:r>
            <a:r>
              <a:rPr kumimoji="1" lang="en-US" altLang="ja-JP" sz="2000">
                <a:solidFill>
                  <a:srgbClr val="263746"/>
                </a:solidFill>
                <a:latin typeface="Meiryo" panose="020B0604030504040204" pitchFamily="50" charset="-128"/>
                <a:ea typeface="Meiryo" panose="020B0604030504040204" pitchFamily="50" charset="-128"/>
              </a:rPr>
              <a:t>N</a:t>
            </a:r>
            <a:r>
              <a:rPr kumimoji="1" lang="ja-JP" altLang="en-US" sz="2000">
                <a:solidFill>
                  <a:srgbClr val="263746"/>
                </a:solidFill>
                <a:latin typeface="Meiryo" panose="020B0604030504040204" pitchFamily="50" charset="-128"/>
                <a:ea typeface="Meiryo" panose="020B0604030504040204" pitchFamily="50" charset="-128"/>
              </a:rPr>
              <a:t>で、試行平均した</a:t>
            </a:r>
            <a:r>
              <a:rPr kumimoji="1" lang="en-US" altLang="ja-JP" sz="2000">
                <a:solidFill>
                  <a:srgbClr val="263746"/>
                </a:solidFill>
                <a:latin typeface="Meiryo" panose="020B0604030504040204" pitchFamily="50" charset="-128"/>
                <a:ea typeface="Meiryo" panose="020B0604030504040204" pitchFamily="50" charset="-128"/>
              </a:rPr>
              <a:t>S</a:t>
            </a:r>
            <a:r>
              <a:rPr kumimoji="1" lang="ja-JP" altLang="en-US" sz="2000">
                <a:solidFill>
                  <a:srgbClr val="263746"/>
                </a:solidFill>
                <a:latin typeface="Meiryo" panose="020B0604030504040204" pitchFamily="50" charset="-128"/>
                <a:ea typeface="Meiryo" panose="020B0604030504040204" pitchFamily="50" charset="-128"/>
              </a:rPr>
              <a:t>が最大となる辺の削除率</a:t>
            </a:r>
          </a:p>
        </p:txBody>
      </p:sp>
      <p:sp>
        <p:nvSpPr>
          <p:cNvPr id="16" name="text-7">
            <a:extLst>
              <a:ext uri="{FF2B5EF4-FFF2-40B4-BE49-F238E27FC236}">
                <a16:creationId xmlns:a16="http://schemas.microsoft.com/office/drawing/2014/main" id="{2257C0E2-99B6-3787-0C20-DDB1AB191C4A}"/>
              </a:ext>
            </a:extLst>
          </p:cNvPr>
          <p:cNvSpPr txBox="1"/>
          <p:nvPr/>
        </p:nvSpPr>
        <p:spPr>
          <a:xfrm>
            <a:off x="635000" y="1905000"/>
            <a:ext cx="1778000" cy="276999"/>
          </a:xfrm>
          <a:prstGeom prst="rect">
            <a:avLst/>
          </a:prstGeom>
          <a:noFill/>
        </p:spPr>
        <p:txBody>
          <a:bodyPr vert="horz" wrap="square" lIns="0" tIns="0" rIns="0" bIns="0" rtlCol="0">
            <a:noAutofit/>
          </a:bodyPr>
          <a:lstStyle/>
          <a:p>
            <a:pPr>
              <a:lnSpc>
                <a:spcPct val="112000"/>
              </a:lnSpc>
            </a:pPr>
            <a:r>
              <a:rPr kumimoji="1" lang="en-US" altLang="ja-JP" sz="2000" b="1">
                <a:solidFill>
                  <a:srgbClr val="17365D"/>
                </a:solidFill>
                <a:latin typeface="Meiryo" panose="020B0604030504040204" pitchFamily="50" charset="-128"/>
                <a:ea typeface="Meiryo" panose="020B0604030504040204" pitchFamily="50" charset="-128"/>
              </a:rPr>
              <a:t>P</a:t>
            </a:r>
            <a:r>
              <a:rPr kumimoji="1" lang="en-US" altLang="ja-JP" sz="1480" b="1" baseline="-16000">
                <a:solidFill>
                  <a:srgbClr val="17365D"/>
                </a:solidFill>
                <a:latin typeface="Meiryo" panose="020B0604030504040204" pitchFamily="50" charset="-128"/>
                <a:ea typeface="Meiryo" panose="020B0604030504040204" pitchFamily="50" charset="-128"/>
              </a:rPr>
              <a:t>c</a:t>
            </a:r>
            <a:r>
              <a:rPr kumimoji="1" lang="en-US" altLang="ja-JP" sz="2000" b="1">
                <a:solidFill>
                  <a:srgbClr val="17365D"/>
                </a:solidFill>
                <a:latin typeface="Meiryo" panose="020B0604030504040204" pitchFamily="50" charset="-128"/>
                <a:ea typeface="Meiryo" panose="020B0604030504040204" pitchFamily="50" charset="-128"/>
              </a:rPr>
              <a:t>(N)</a:t>
            </a:r>
            <a:r>
              <a:rPr kumimoji="1" lang="ja-JP" altLang="en-US" sz="2000" b="1">
                <a:solidFill>
                  <a:srgbClr val="17365D"/>
                </a:solidFill>
                <a:latin typeface="Meiryo" panose="020B0604030504040204" pitchFamily="50" charset="-128"/>
                <a:ea typeface="Meiryo" panose="020B0604030504040204" pitchFamily="50" charset="-128"/>
              </a:rPr>
              <a:t>：</a:t>
            </a:r>
          </a:p>
        </p:txBody>
      </p:sp>
      <p:sp>
        <p:nvSpPr>
          <p:cNvPr id="17" name="text-8">
            <a:extLst>
              <a:ext uri="{FF2B5EF4-FFF2-40B4-BE49-F238E27FC236}">
                <a16:creationId xmlns:a16="http://schemas.microsoft.com/office/drawing/2014/main" id="{DF9B740B-0546-99AE-D765-532663B18529}"/>
              </a:ext>
            </a:extLst>
          </p:cNvPr>
          <p:cNvSpPr txBox="1"/>
          <p:nvPr/>
        </p:nvSpPr>
        <p:spPr>
          <a:xfrm>
            <a:off x="2540000" y="1905000"/>
            <a:ext cx="9017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その削除率での、最大連結成分の割合</a:t>
            </a:r>
            <a:r>
              <a:rPr kumimoji="1" lang="en-US" altLang="ja-JP" sz="2000">
                <a:solidFill>
                  <a:srgbClr val="263746"/>
                </a:solidFill>
                <a:latin typeface="Meiryo" panose="020B0604030504040204" pitchFamily="50" charset="-128"/>
                <a:ea typeface="Meiryo" panose="020B0604030504040204" pitchFamily="50" charset="-128"/>
              </a:rPr>
              <a:t>P</a:t>
            </a:r>
            <a:r>
              <a:rPr kumimoji="1" lang="ja-JP" altLang="en-US" sz="2000">
                <a:solidFill>
                  <a:srgbClr val="263746"/>
                </a:solidFill>
                <a:latin typeface="Meiryo" panose="020B0604030504040204" pitchFamily="50" charset="-128"/>
                <a:ea typeface="Meiryo" panose="020B0604030504040204" pitchFamily="50" charset="-128"/>
              </a:rPr>
              <a:t>の試行間平均</a:t>
            </a:r>
          </a:p>
        </p:txBody>
      </p:sp>
      <p:sp>
        <p:nvSpPr>
          <p:cNvPr id="18" name="text-9">
            <a:extLst>
              <a:ext uri="{FF2B5EF4-FFF2-40B4-BE49-F238E27FC236}">
                <a16:creationId xmlns:a16="http://schemas.microsoft.com/office/drawing/2014/main" id="{E380ACB1-48E6-7D53-7593-15F47E88631B}"/>
              </a:ext>
            </a:extLst>
          </p:cNvPr>
          <p:cNvSpPr txBox="1"/>
          <p:nvPr/>
        </p:nvSpPr>
        <p:spPr>
          <a:xfrm>
            <a:off x="635000" y="2286000"/>
            <a:ext cx="1778000" cy="276999"/>
          </a:xfrm>
          <a:prstGeom prst="rect">
            <a:avLst/>
          </a:prstGeom>
          <a:noFill/>
        </p:spPr>
        <p:txBody>
          <a:bodyPr vert="horz" wrap="square" lIns="0" tIns="0" rIns="0" bIns="0" rtlCol="0">
            <a:noAutofit/>
          </a:bodyPr>
          <a:lstStyle/>
          <a:p>
            <a:pPr>
              <a:lnSpc>
                <a:spcPct val="112000"/>
              </a:lnSpc>
            </a:pPr>
            <a:r>
              <a:rPr kumimoji="1" lang="en-US" altLang="ja-JP" sz="2000" b="1">
                <a:solidFill>
                  <a:srgbClr val="17365D"/>
                </a:solidFill>
                <a:latin typeface="Meiryo" panose="020B0604030504040204" pitchFamily="50" charset="-128"/>
                <a:ea typeface="Meiryo" panose="020B0604030504040204" pitchFamily="50" charset="-128"/>
              </a:rPr>
              <a:t>S</a:t>
            </a:r>
            <a:r>
              <a:rPr kumimoji="1" lang="en-US" altLang="ja-JP" sz="1480" b="1" baseline="-16000">
                <a:solidFill>
                  <a:srgbClr val="17365D"/>
                </a:solidFill>
                <a:latin typeface="Meiryo" panose="020B0604030504040204" pitchFamily="50" charset="-128"/>
                <a:ea typeface="Meiryo" panose="020B0604030504040204" pitchFamily="50" charset="-128"/>
              </a:rPr>
              <a:t>c</a:t>
            </a:r>
            <a:r>
              <a:rPr kumimoji="1" lang="en-US" altLang="ja-JP" sz="2000" b="1">
                <a:solidFill>
                  <a:srgbClr val="17365D"/>
                </a:solidFill>
                <a:latin typeface="Meiryo" panose="020B0604030504040204" pitchFamily="50" charset="-128"/>
                <a:ea typeface="Meiryo" panose="020B0604030504040204" pitchFamily="50" charset="-128"/>
              </a:rPr>
              <a:t>(N)</a:t>
            </a:r>
            <a:r>
              <a:rPr kumimoji="1" lang="ja-JP" altLang="en-US" sz="2000" b="1">
                <a:solidFill>
                  <a:srgbClr val="17365D"/>
                </a:solidFill>
                <a:latin typeface="Meiryo" panose="020B0604030504040204" pitchFamily="50" charset="-128"/>
                <a:ea typeface="Meiryo" panose="020B0604030504040204" pitchFamily="50" charset="-128"/>
              </a:rPr>
              <a:t>：</a:t>
            </a:r>
          </a:p>
        </p:txBody>
      </p:sp>
      <p:sp>
        <p:nvSpPr>
          <p:cNvPr id="19" name="text-10">
            <a:extLst>
              <a:ext uri="{FF2B5EF4-FFF2-40B4-BE49-F238E27FC236}">
                <a16:creationId xmlns:a16="http://schemas.microsoft.com/office/drawing/2014/main" id="{2C8667CE-89AF-0C36-3154-29291B83864E}"/>
              </a:ext>
            </a:extLst>
          </p:cNvPr>
          <p:cNvSpPr txBox="1"/>
          <p:nvPr/>
        </p:nvSpPr>
        <p:spPr>
          <a:xfrm>
            <a:off x="2540000" y="2286000"/>
            <a:ext cx="9017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同じ削除率での、平均クラスターサイズ</a:t>
            </a:r>
            <a:r>
              <a:rPr kumimoji="1" lang="en-US" altLang="ja-JP" sz="2000">
                <a:solidFill>
                  <a:srgbClr val="263746"/>
                </a:solidFill>
                <a:latin typeface="Meiryo" panose="020B0604030504040204" pitchFamily="50" charset="-128"/>
                <a:ea typeface="Meiryo" panose="020B0604030504040204" pitchFamily="50" charset="-128"/>
              </a:rPr>
              <a:t>S</a:t>
            </a:r>
            <a:r>
              <a:rPr kumimoji="1" lang="ja-JP" altLang="en-US" sz="2000">
                <a:solidFill>
                  <a:srgbClr val="263746"/>
                </a:solidFill>
                <a:latin typeface="Meiryo" panose="020B0604030504040204" pitchFamily="50" charset="-128"/>
                <a:ea typeface="Meiryo" panose="020B0604030504040204" pitchFamily="50" charset="-128"/>
              </a:rPr>
              <a:t>の試行間平均</a:t>
            </a:r>
          </a:p>
        </p:txBody>
      </p:sp>
      <p:pic>
        <p:nvPicPr>
          <p:cNvPr id="21" name="source-or-equation-image-11" descr="P_c(N)=\langle P(p=p_c(N),N)\rangle\sim N^{-\beta/\bar\nu}\qquad\mathrm{(S11)}">
            <a:extLst>
              <a:ext uri="{FF2B5EF4-FFF2-40B4-BE49-F238E27FC236}">
                <a16:creationId xmlns:a16="http://schemas.microsoft.com/office/drawing/2014/main" id="{BC26CB95-AACC-F69B-6BDC-21D8F78DB36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81089" y="2832100"/>
            <a:ext cx="8229822" cy="673100"/>
          </a:xfrm>
          <a:prstGeom prst="rect">
            <a:avLst/>
          </a:prstGeom>
        </p:spPr>
      </p:pic>
      <p:pic>
        <p:nvPicPr>
          <p:cNvPr id="23" name="source-or-equation-image-12" descr="S_c(N)=\langle S(p=p_c(N),N)\rangle\sim N^{\gamma/\bar\nu}\qquad\mathrm{(S12)}">
            <a:extLst>
              <a:ext uri="{FF2B5EF4-FFF2-40B4-BE49-F238E27FC236}">
                <a16:creationId xmlns:a16="http://schemas.microsoft.com/office/drawing/2014/main" id="{05F49844-D6DE-4FDC-0987-3EE8869C2EA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153278" y="3606800"/>
            <a:ext cx="7885445" cy="673100"/>
          </a:xfrm>
          <a:prstGeom prst="rect">
            <a:avLst/>
          </a:prstGeom>
        </p:spPr>
      </p:pic>
      <p:sp>
        <p:nvSpPr>
          <p:cNvPr id="24" name="text-13">
            <a:extLst>
              <a:ext uri="{FF2B5EF4-FFF2-40B4-BE49-F238E27FC236}">
                <a16:creationId xmlns:a16="http://schemas.microsoft.com/office/drawing/2014/main" id="{76DA9E69-10B2-C5C1-8B8E-3703C107342E}"/>
              </a:ext>
            </a:extLst>
          </p:cNvPr>
          <p:cNvSpPr txBox="1"/>
          <p:nvPr/>
        </p:nvSpPr>
        <p:spPr>
          <a:xfrm>
            <a:off x="635000" y="44196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63746"/>
                </a:solidFill>
                <a:latin typeface="Meiryo" panose="020B0604030504040204" pitchFamily="50" charset="-128"/>
                <a:ea typeface="Meiryo" panose="020B0604030504040204" pitchFamily="50" charset="-128"/>
              </a:rPr>
              <a:t>＝：観測量の定義　～：</a:t>
            </a:r>
            <a:r>
              <a:rPr kumimoji="1" lang="en-US" altLang="ja-JP">
                <a:solidFill>
                  <a:srgbClr val="263746"/>
                </a:solidFill>
                <a:latin typeface="Meiryo" panose="020B0604030504040204" pitchFamily="50" charset="-128"/>
                <a:ea typeface="Meiryo" panose="020B0604030504040204" pitchFamily="50" charset="-128"/>
              </a:rPr>
              <a:t>FSS</a:t>
            </a:r>
            <a:r>
              <a:rPr kumimoji="1" lang="ja-JP" altLang="en-US">
                <a:solidFill>
                  <a:srgbClr val="263746"/>
                </a:solidFill>
                <a:latin typeface="Meiryo" panose="020B0604030504040204" pitchFamily="50" charset="-128"/>
                <a:ea typeface="Meiryo" panose="020B0604030504040204" pitchFamily="50" charset="-128"/>
              </a:rPr>
              <a:t>に基づくサイズ依存性</a:t>
            </a:r>
          </a:p>
        </p:txBody>
      </p:sp>
      <p:pic>
        <p:nvPicPr>
          <p:cNvPr id="26" name="source-or-equation-image-14" descr="u=[p_c(N)-p_c]N^{1/\bar\nu}=-b">
            <a:extLst>
              <a:ext uri="{FF2B5EF4-FFF2-40B4-BE49-F238E27FC236}">
                <a16:creationId xmlns:a16="http://schemas.microsoft.com/office/drawing/2014/main" id="{7788D90C-6F61-5A66-C807-68CD5D7A0FF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326559" y="4851400"/>
            <a:ext cx="4204881" cy="584200"/>
          </a:xfrm>
          <a:prstGeom prst="rect">
            <a:avLst/>
          </a:prstGeom>
        </p:spPr>
      </p:pic>
      <p:sp>
        <p:nvSpPr>
          <p:cNvPr id="27" name="text-15">
            <a:extLst>
              <a:ext uri="{FF2B5EF4-FFF2-40B4-BE49-F238E27FC236}">
                <a16:creationId xmlns:a16="http://schemas.microsoft.com/office/drawing/2014/main" id="{6BA80B10-0ED9-BD25-C8B2-5835D178152A}"/>
              </a:ext>
            </a:extLst>
          </p:cNvPr>
          <p:cNvSpPr txBox="1"/>
          <p:nvPr/>
        </p:nvSpPr>
        <p:spPr>
          <a:xfrm>
            <a:off x="6604000" y="4813300"/>
            <a:ext cx="4953000" cy="276999"/>
          </a:xfrm>
          <a:prstGeom prst="rect">
            <a:avLst/>
          </a:prstGeom>
          <a:noFill/>
        </p:spPr>
        <p:txBody>
          <a:bodyPr vert="horz" wrap="square" lIns="0" tIns="0" rIns="0" bIns="0" rtlCol="0">
            <a:noAutofit/>
          </a:bodyPr>
          <a:lstStyle/>
          <a:p>
            <a:pPr>
              <a:lnSpc>
                <a:spcPct val="112000"/>
              </a:lnSpc>
            </a:pPr>
            <a:r>
              <a:rPr kumimoji="1" lang="en-US" altLang="ja-JP">
                <a:solidFill>
                  <a:srgbClr val="263746"/>
                </a:solidFill>
                <a:latin typeface="Meiryo" panose="020B0604030504040204" pitchFamily="50" charset="-128"/>
                <a:ea typeface="Meiryo" panose="020B0604030504040204" pitchFamily="50" charset="-128"/>
              </a:rPr>
              <a:t>S9</a:t>
            </a:r>
            <a:r>
              <a:rPr kumimoji="1" lang="ja-JP" altLang="en-US">
                <a:solidFill>
                  <a:srgbClr val="263746"/>
                </a:solidFill>
                <a:latin typeface="Meiryo" panose="020B0604030504040204" pitchFamily="50" charset="-128"/>
                <a:ea typeface="Meiryo" panose="020B0604030504040204" pitchFamily="50" charset="-128"/>
              </a:rPr>
              <a:t>より引数が一定となるため、</a:t>
            </a:r>
            <a:r>
              <a:rPr kumimoji="1" lang="en-US" altLang="ja-JP">
                <a:solidFill>
                  <a:srgbClr val="263746"/>
                </a:solidFill>
                <a:latin typeface="Meiryo" panose="020B0604030504040204" pitchFamily="50" charset="-128"/>
                <a:ea typeface="Meiryo" panose="020B0604030504040204" pitchFamily="50" charset="-128"/>
              </a:rPr>
              <a:t>S6</a:t>
            </a:r>
            <a:r>
              <a:rPr kumimoji="1" lang="ja-JP" altLang="en-US">
                <a:solidFill>
                  <a:srgbClr val="263746"/>
                </a:solidFill>
                <a:latin typeface="Meiryo" panose="020B0604030504040204" pitchFamily="50" charset="-128"/>
                <a:ea typeface="Meiryo" panose="020B0604030504040204" pitchFamily="50" charset="-128"/>
              </a:rPr>
              <a:t>・</a:t>
            </a:r>
            <a:r>
              <a:rPr kumimoji="1" lang="en-US" altLang="ja-JP">
                <a:solidFill>
                  <a:srgbClr val="263746"/>
                </a:solidFill>
                <a:latin typeface="Meiryo" panose="020B0604030504040204" pitchFamily="50" charset="-128"/>
                <a:ea typeface="Meiryo" panose="020B0604030504040204" pitchFamily="50" charset="-128"/>
              </a:rPr>
              <a:t>S7</a:t>
            </a:r>
            <a:r>
              <a:rPr kumimoji="1" lang="ja-JP" altLang="en-US">
                <a:solidFill>
                  <a:srgbClr val="263746"/>
                </a:solidFill>
                <a:latin typeface="Meiryo" panose="020B0604030504040204" pitchFamily="50" charset="-128"/>
                <a:ea typeface="Meiryo" panose="020B0604030504040204" pitchFamily="50" charset="-128"/>
              </a:rPr>
              <a:t>から
べき乗のサイズ依存性が得られる。</a:t>
            </a:r>
          </a:p>
        </p:txBody>
      </p:sp>
      <p:sp>
        <p:nvSpPr>
          <p:cNvPr id="28" name="text-16">
            <a:extLst>
              <a:ext uri="{FF2B5EF4-FFF2-40B4-BE49-F238E27FC236}">
                <a16:creationId xmlns:a16="http://schemas.microsoft.com/office/drawing/2014/main" id="{BBC7CE25-2824-631C-8232-2A363A757843}"/>
              </a:ext>
            </a:extLst>
          </p:cNvPr>
          <p:cNvSpPr txBox="1"/>
          <p:nvPr/>
        </p:nvSpPr>
        <p:spPr>
          <a:xfrm>
            <a:off x="635000" y="5575300"/>
            <a:ext cx="10922000" cy="276999"/>
          </a:xfrm>
          <a:prstGeom prst="rect">
            <a:avLst/>
          </a:prstGeom>
          <a:noFill/>
        </p:spPr>
        <p:txBody>
          <a:bodyPr vert="horz" wrap="square" lIns="0" tIns="0" rIns="0" bIns="0" rtlCol="0">
            <a:noAutofit/>
          </a:bodyPr>
          <a:lstStyle/>
          <a:p>
            <a:pPr>
              <a:lnSpc>
                <a:spcPct val="112000"/>
              </a:lnSpc>
            </a:pPr>
            <a:r>
              <a:rPr kumimoji="1" lang="en-US" altLang="ja-JP" sz="1650">
                <a:solidFill>
                  <a:srgbClr val="263746"/>
                </a:solidFill>
                <a:latin typeface="Meiryo" panose="020B0604030504040204" pitchFamily="50" charset="-128"/>
                <a:ea typeface="Meiryo" panose="020B0604030504040204" pitchFamily="50" charset="-128"/>
              </a:rPr>
              <a:t>S</a:t>
            </a:r>
            <a:r>
              <a:rPr kumimoji="1" lang="ja-JP" altLang="en-US" sz="1650">
                <a:solidFill>
                  <a:srgbClr val="263746"/>
                </a:solidFill>
                <a:latin typeface="Meiryo" panose="020B0604030504040204" pitchFamily="50" charset="-128"/>
                <a:ea typeface="Meiryo" panose="020B0604030504040204" pitchFamily="50" charset="-128"/>
              </a:rPr>
              <a:t>は試行内での平均、</a:t>
            </a:r>
            <a:r>
              <a:rPr kumimoji="1" lang="en-US" altLang="ja-JP" sz="1650">
                <a:solidFill>
                  <a:srgbClr val="263746"/>
                </a:solidFill>
                <a:latin typeface="Meiryo" panose="020B0604030504040204" pitchFamily="50" charset="-128"/>
                <a:ea typeface="Meiryo" panose="020B0604030504040204" pitchFamily="50" charset="-128"/>
              </a:rPr>
              <a:t>〈S〉</a:t>
            </a:r>
            <a:r>
              <a:rPr kumimoji="1" lang="ja-JP" altLang="en-US" sz="1650">
                <a:solidFill>
                  <a:srgbClr val="263746"/>
                </a:solidFill>
                <a:latin typeface="Meiryo" panose="020B0604030504040204" pitchFamily="50" charset="-128"/>
                <a:ea typeface="Meiryo" panose="020B0604030504040204" pitchFamily="50" charset="-128"/>
              </a:rPr>
              <a:t>はさらに試行間の平均。
添字</a:t>
            </a:r>
            <a:r>
              <a:rPr kumimoji="1" lang="en-US" altLang="ja-JP" sz="1650">
                <a:solidFill>
                  <a:srgbClr val="263746"/>
                </a:solidFill>
                <a:latin typeface="Meiryo" panose="020B0604030504040204" pitchFamily="50" charset="-128"/>
                <a:ea typeface="Meiryo" panose="020B0604030504040204" pitchFamily="50" charset="-128"/>
              </a:rPr>
              <a:t>c</a:t>
            </a:r>
            <a:r>
              <a:rPr kumimoji="1" lang="ja-JP" altLang="en-US" sz="1650">
                <a:solidFill>
                  <a:srgbClr val="263746"/>
                </a:solidFill>
                <a:latin typeface="Meiryo" panose="020B0604030504040204" pitchFamily="50" charset="-128"/>
                <a:ea typeface="Meiryo" panose="020B0604030504040204" pitchFamily="50" charset="-128"/>
              </a:rPr>
              <a:t>は評価位置を表し、経路長上限</a:t>
            </a:r>
            <a:r>
              <a:rPr kumimoji="1" lang="en-US" altLang="ja-JP" sz="1650">
                <a:solidFill>
                  <a:srgbClr val="263746"/>
                </a:solidFill>
                <a:latin typeface="Meiryo" panose="020B0604030504040204" pitchFamily="50" charset="-128"/>
                <a:ea typeface="Meiryo" panose="020B0604030504040204" pitchFamily="50" charset="-128"/>
              </a:rPr>
              <a:t>C</a:t>
            </a:r>
            <a:r>
              <a:rPr kumimoji="1" lang="ja-JP" altLang="en-US" sz="1650">
                <a:solidFill>
                  <a:srgbClr val="263746"/>
                </a:solidFill>
                <a:latin typeface="Meiryo" panose="020B0604030504040204" pitchFamily="50" charset="-128"/>
                <a:ea typeface="Meiryo" panose="020B0604030504040204" pitchFamily="50" charset="-128"/>
              </a:rPr>
              <a:t>とは別。</a:t>
            </a:r>
          </a:p>
        </p:txBody>
      </p:sp>
    </p:spTree>
    <p:extLst>
      <p:ext uri="{BB962C8B-B14F-4D97-AF65-F5344CB8AC3E}">
        <p14:creationId xmlns:p14="http://schemas.microsoft.com/office/powerpoint/2010/main" val="2372038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BED33548-6E00-EE54-D292-CA7DA2DF35D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原論文の臨界点推定：</a:t>
            </a:r>
            <a:r>
              <a:rPr kumimoji="1" lang="en-US" altLang="ja-JP" sz="3200" b="1">
                <a:solidFill>
                  <a:srgbClr val="17365D"/>
                </a:solidFill>
                <a:latin typeface="Meiryo" panose="020B0604030504040204" pitchFamily="50" charset="-128"/>
                <a:ea typeface="Meiryo" panose="020B0604030504040204" pitchFamily="50" charset="-128"/>
              </a:rPr>
              <a:t>C=1</a:t>
            </a:r>
            <a:endParaRPr kumimoji="1" lang="ja-JP" altLang="en-US" sz="3200" b="1">
              <a:solidFill>
                <a:srgbClr val="17365D"/>
              </a:solidFill>
              <a:latin typeface="Meiryo" panose="020B0604030504040204" pitchFamily="50" charset="-128"/>
              <a:ea typeface="Meiryo" panose="020B0604030504040204" pitchFamily="50" charset="-128"/>
            </a:endParaRPr>
          </a:p>
        </p:txBody>
      </p:sp>
      <p:cxnSp>
        <p:nvCxnSpPr>
          <p:cNvPr id="11" name="直線コネクタ 10">
            <a:extLst>
              <a:ext uri="{FF2B5EF4-FFF2-40B4-BE49-F238E27FC236}">
                <a16:creationId xmlns:a16="http://schemas.microsoft.com/office/drawing/2014/main" id="{7697F845-C67D-DC1C-3423-7CD322E2EBF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A2C3C470-0A7C-6CF3-4F05-9E0B71D8659A}"/>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2–3</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Fig.S1(a)(b)</a:t>
            </a:r>
            <a:r>
              <a:rPr kumimoji="1" lang="ja-JP" altLang="en-US" sz="950">
                <a:solidFill>
                  <a:srgbClr val="566573"/>
                </a:solidFill>
                <a:latin typeface="Meiryo" panose="020B0604030504040204" pitchFamily="50" charset="-128"/>
                <a:ea typeface="Meiryo" panose="020B0604030504040204" pitchFamily="50" charset="-128"/>
              </a:rPr>
              <a:t>。補足原</a:t>
            </a:r>
            <a:r>
              <a:rPr kumimoji="1" lang="en-US" altLang="ja-JP" sz="950">
                <a:solidFill>
                  <a:srgbClr val="566573"/>
                </a:solidFill>
                <a:latin typeface="Meiryo" panose="020B0604030504040204" pitchFamily="50" charset="-128"/>
                <a:ea typeface="Meiryo" panose="020B0604030504040204" pitchFamily="50" charset="-128"/>
              </a:rPr>
              <a:t>PDF</a:t>
            </a:r>
            <a:r>
              <a:rPr kumimoji="1" lang="ja-JP" altLang="en-US" sz="950">
                <a:solidFill>
                  <a:srgbClr val="566573"/>
                </a:solidFill>
                <a:latin typeface="Meiryo" panose="020B0604030504040204" pitchFamily="50" charset="-128"/>
                <a:ea typeface="Meiryo" panose="020B0604030504040204" pitchFamily="50" charset="-128"/>
              </a:rPr>
              <a:t>から直接抽出（著者公開版と同一）。</a:t>
            </a:r>
          </a:p>
        </p:txBody>
      </p:sp>
      <p:sp>
        <p:nvSpPr>
          <p:cNvPr id="13" name="page-4">
            <a:extLst>
              <a:ext uri="{FF2B5EF4-FFF2-40B4-BE49-F238E27FC236}">
                <a16:creationId xmlns:a16="http://schemas.microsoft.com/office/drawing/2014/main" id="{9B9DCCF3-0377-727F-8996-6939383FB08D}"/>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18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F9E881C1-F2F2-5DD0-16F3-01956767D69A}"/>
              </a:ext>
            </a:extLst>
          </p:cNvPr>
          <p:cNvSpPr txBox="1"/>
          <p:nvPr/>
        </p:nvSpPr>
        <p:spPr>
          <a:xfrm>
            <a:off x="635000" y="5207000"/>
            <a:ext cx="10922000" cy="276999"/>
          </a:xfrm>
          <a:prstGeom prst="rect">
            <a:avLst/>
          </a:prstGeom>
          <a:noFill/>
        </p:spPr>
        <p:txBody>
          <a:bodyPr vert="horz" wrap="square" lIns="0" tIns="0" rIns="0" bIns="0" rtlCol="0">
            <a:noAutofit/>
          </a:bodyPr>
          <a:lstStyle/>
          <a:p>
            <a:pPr>
              <a:lnSpc>
                <a:spcPct val="112000"/>
              </a:lnSpc>
            </a:pPr>
            <a:r>
              <a:rPr kumimoji="1" lang="ja-JP" altLang="en-US" sz="1700">
                <a:solidFill>
                  <a:srgbClr val="263746"/>
                </a:solidFill>
                <a:latin typeface="Meiryo" panose="020B0604030504040204" pitchFamily="50" charset="-128"/>
                <a:ea typeface="Meiryo" panose="020B0604030504040204" pitchFamily="50" charset="-128"/>
              </a:rPr>
              <a:t>候補</a:t>
            </a:r>
            <a:r>
              <a:rPr kumimoji="1" lang="en-US" altLang="ja-JP" sz="1700">
                <a:solidFill>
                  <a:srgbClr val="263746"/>
                </a:solidFill>
                <a:latin typeface="Meiryo" panose="020B0604030504040204" pitchFamily="50" charset="-128"/>
                <a:ea typeface="Meiryo" panose="020B0604030504040204" pitchFamily="50" charset="-128"/>
              </a:rPr>
              <a:t>p</a:t>
            </a:r>
            <a:r>
              <a:rPr kumimoji="1" lang="ja-JP" altLang="en-US" sz="1700">
                <a:solidFill>
                  <a:srgbClr val="263746"/>
                </a:solidFill>
                <a:latin typeface="Meiryo" panose="020B0604030504040204" pitchFamily="50" charset="-128"/>
                <a:ea typeface="Meiryo" panose="020B0604030504040204" pitchFamily="50" charset="-128"/>
              </a:rPr>
              <a:t>ごとに</a:t>
            </a:r>
            <a:r>
              <a:rPr kumimoji="1" lang="en-US" altLang="ja-JP" sz="1700">
                <a:solidFill>
                  <a:srgbClr val="263746"/>
                </a:solidFill>
                <a:latin typeface="Meiryo" panose="020B0604030504040204" pitchFamily="50" charset="-128"/>
                <a:ea typeface="Meiryo" panose="020B0604030504040204" pitchFamily="50" charset="-128"/>
              </a:rPr>
              <a:t>log N</a:t>
            </a:r>
            <a:r>
              <a:rPr kumimoji="1" lang="ja-JP" altLang="en-US" sz="1700">
                <a:solidFill>
                  <a:srgbClr val="263746"/>
                </a:solidFill>
                <a:latin typeface="Meiryo" panose="020B0604030504040204" pitchFamily="50" charset="-128"/>
                <a:ea typeface="Meiryo" panose="020B0604030504040204" pitchFamily="50" charset="-128"/>
              </a:rPr>
              <a:t>と</a:t>
            </a:r>
            <a:r>
              <a:rPr kumimoji="1" lang="en-US" altLang="ja-JP" sz="1700">
                <a:solidFill>
                  <a:srgbClr val="263746"/>
                </a:solidFill>
                <a:latin typeface="Meiryo" panose="020B0604030504040204" pitchFamily="50" charset="-128"/>
                <a:ea typeface="Meiryo" panose="020B0604030504040204" pitchFamily="50" charset="-128"/>
              </a:rPr>
              <a:t>log〈P〉</a:t>
            </a:r>
            <a:r>
              <a:rPr kumimoji="1" lang="ja-JP" altLang="en-US" sz="1700">
                <a:solidFill>
                  <a:srgbClr val="263746"/>
                </a:solidFill>
                <a:latin typeface="Meiryo" panose="020B0604030504040204" pitchFamily="50" charset="-128"/>
                <a:ea typeface="Meiryo" panose="020B0604030504040204" pitchFamily="50" charset="-128"/>
              </a:rPr>
              <a:t>を切片ありの単回帰し、</a:t>
            </a:r>
            <a:r>
              <a:rPr kumimoji="1" lang="en-US" altLang="ja-JP" sz="1700">
                <a:solidFill>
                  <a:srgbClr val="263746"/>
                </a:solidFill>
                <a:latin typeface="Meiryo" panose="020B0604030504040204" pitchFamily="50" charset="-128"/>
                <a:ea typeface="Meiryo" panose="020B0604030504040204" pitchFamily="50" charset="-128"/>
              </a:rPr>
              <a:t>Pearson</a:t>
            </a:r>
            <a:r>
              <a:rPr kumimoji="1" lang="ja-JP" altLang="en-US" sz="1700">
                <a:solidFill>
                  <a:srgbClr val="263746"/>
                </a:solidFill>
                <a:latin typeface="Meiryo" panose="020B0604030504040204" pitchFamily="50" charset="-128"/>
                <a:ea typeface="Meiryo" panose="020B0604030504040204" pitchFamily="50" charset="-128"/>
              </a:rPr>
              <a:t>相関係数</a:t>
            </a:r>
            <a:r>
              <a:rPr kumimoji="1" lang="en-US" altLang="ja-JP" sz="1700">
                <a:solidFill>
                  <a:srgbClr val="263746"/>
                </a:solidFill>
                <a:latin typeface="Meiryo" panose="020B0604030504040204" pitchFamily="50" charset="-128"/>
                <a:ea typeface="Meiryo" panose="020B0604030504040204" pitchFamily="50" charset="-128"/>
              </a:rPr>
              <a:t>r</a:t>
            </a:r>
            <a:r>
              <a:rPr kumimoji="1" lang="ja-JP" altLang="en-US" sz="1700">
                <a:solidFill>
                  <a:srgbClr val="263746"/>
                </a:solidFill>
                <a:latin typeface="Meiryo" panose="020B0604030504040204" pitchFamily="50" charset="-128"/>
                <a:ea typeface="Meiryo" panose="020B0604030504040204" pitchFamily="50" charset="-128"/>
              </a:rPr>
              <a:t>を求める。</a:t>
            </a:r>
          </a:p>
          <a:p>
            <a:pPr>
              <a:lnSpc>
                <a:spcPct val="112000"/>
              </a:lnSpc>
            </a:pPr>
            <a:r>
              <a:rPr kumimoji="1" lang="en-US" altLang="ja-JP" sz="1700">
                <a:solidFill>
                  <a:srgbClr val="263746"/>
                </a:solidFill>
                <a:latin typeface="Meiryo" panose="020B0604030504040204" pitchFamily="50" charset="-128"/>
                <a:ea typeface="Meiryo" panose="020B0604030504040204" pitchFamily="50" charset="-128"/>
              </a:rPr>
              <a:t>(a) r²</a:t>
            </a:r>
            <a:r>
              <a:rPr kumimoji="1" lang="ja-JP" altLang="en-US" sz="1700">
                <a:solidFill>
                  <a:srgbClr val="263746"/>
                </a:solidFill>
                <a:latin typeface="Meiryo" panose="020B0604030504040204" pitchFamily="50" charset="-128"/>
                <a:ea typeface="Meiryo" panose="020B0604030504040204" pitchFamily="50" charset="-128"/>
              </a:rPr>
              <a:t>はその二乗の決定係数。</a:t>
            </a:r>
            <a:r>
              <a:rPr kumimoji="1" lang="en-US" altLang="ja-JP" sz="1700">
                <a:solidFill>
                  <a:srgbClr val="263746"/>
                </a:solidFill>
                <a:latin typeface="Meiryo" panose="020B0604030504040204" pitchFamily="50" charset="-128"/>
                <a:ea typeface="Meiryo" panose="020B0604030504040204" pitchFamily="50" charset="-128"/>
              </a:rPr>
              <a:t>1</a:t>
            </a:r>
            <a:r>
              <a:rPr kumimoji="1" lang="ja-JP" altLang="en-US" sz="1700">
                <a:solidFill>
                  <a:srgbClr val="263746"/>
                </a:solidFill>
                <a:latin typeface="Meiryo" panose="020B0604030504040204" pitchFamily="50" charset="-128"/>
                <a:ea typeface="Meiryo" panose="020B0604030504040204" pitchFamily="50" charset="-128"/>
              </a:rPr>
              <a:t>に近いほど直線に沿い、黄色ひし形の最大位置を採用。</a:t>
            </a:r>
          </a:p>
          <a:p>
            <a:pPr>
              <a:lnSpc>
                <a:spcPct val="112000"/>
              </a:lnSpc>
            </a:pPr>
            <a:r>
              <a:rPr kumimoji="1" lang="en-US" altLang="ja-JP" sz="1700">
                <a:solidFill>
                  <a:srgbClr val="263746"/>
                </a:solidFill>
                <a:latin typeface="Meiryo" panose="020B0604030504040204" pitchFamily="50" charset="-128"/>
                <a:ea typeface="Meiryo" panose="020B0604030504040204" pitchFamily="50" charset="-128"/>
              </a:rPr>
              <a:t>(b) </a:t>
            </a:r>
            <a:r>
              <a:rPr kumimoji="1" lang="ja-JP" altLang="en-US" sz="1700">
                <a:solidFill>
                  <a:srgbClr val="263746"/>
                </a:solidFill>
                <a:latin typeface="Meiryo" panose="020B0604030504040204" pitchFamily="50" charset="-128"/>
                <a:ea typeface="Meiryo" panose="020B0604030504040204" pitchFamily="50" charset="-128"/>
              </a:rPr>
              <a:t>推定した</a:t>
            </a:r>
            <a:r>
              <a:rPr kumimoji="1" lang="en-US" altLang="ja-JP" sz="1700">
                <a:solidFill>
                  <a:srgbClr val="263746"/>
                </a:solidFill>
                <a:latin typeface="Meiryo" panose="020B0604030504040204" pitchFamily="50" charset="-128"/>
                <a:ea typeface="Meiryo" panose="020B0604030504040204" pitchFamily="50" charset="-128"/>
              </a:rPr>
              <a:t>p</a:t>
            </a:r>
            <a:r>
              <a:rPr kumimoji="1" lang="en-US" altLang="ja-JP" sz="1258" baseline="-16000">
                <a:solidFill>
                  <a:srgbClr val="263746"/>
                </a:solidFill>
                <a:latin typeface="Meiryo" panose="020B0604030504040204" pitchFamily="50" charset="-128"/>
                <a:ea typeface="Meiryo" panose="020B0604030504040204" pitchFamily="50" charset="-128"/>
              </a:rPr>
              <a:t>c</a:t>
            </a:r>
            <a:r>
              <a:rPr kumimoji="1" lang="ja-JP" altLang="en-US" sz="1700">
                <a:solidFill>
                  <a:srgbClr val="263746"/>
                </a:solidFill>
                <a:latin typeface="Meiryo" panose="020B0604030504040204" pitchFamily="50" charset="-128"/>
                <a:ea typeface="Meiryo" panose="020B0604030504040204" pitchFamily="50" charset="-128"/>
              </a:rPr>
              <a:t>と前後を比較し、黒の条件のべき乗当てはまりが最良であることを確認。</a:t>
            </a:r>
          </a:p>
        </p:txBody>
      </p:sp>
      <p:pic>
        <p:nvPicPr>
          <p:cNvPr id="16" name="source-or-equation-image-6" descr="Official Supplemental Material PDF3 Fig.S1(a)(b), direct 340dpi crop; original axes, markers, lines and legend unchanged">
            <a:extLst>
              <a:ext uri="{FF2B5EF4-FFF2-40B4-BE49-F238E27FC236}">
                <a16:creationId xmlns:a16="http://schemas.microsoft.com/office/drawing/2014/main" id="{7B58D5E8-292C-A0F3-3273-288BAFDA5DE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48690" y="1600200"/>
            <a:ext cx="9326120" cy="3467100"/>
          </a:xfrm>
          <a:prstGeom prst="rect">
            <a:avLst/>
          </a:prstGeom>
        </p:spPr>
      </p:pic>
      <p:sp>
        <p:nvSpPr>
          <p:cNvPr id="17" name="text-7">
            <a:extLst>
              <a:ext uri="{FF2B5EF4-FFF2-40B4-BE49-F238E27FC236}">
                <a16:creationId xmlns:a16="http://schemas.microsoft.com/office/drawing/2014/main" id="{3572A7D1-68F2-44CA-424F-8562C0A7674E}"/>
              </a:ext>
            </a:extLst>
          </p:cNvPr>
          <p:cNvSpPr txBox="1"/>
          <p:nvPr/>
        </p:nvSpPr>
        <p:spPr>
          <a:xfrm>
            <a:off x="10033000" y="2044700"/>
            <a:ext cx="1778000" cy="276999"/>
          </a:xfrm>
          <a:prstGeom prst="rect">
            <a:avLst/>
          </a:prstGeom>
          <a:noFill/>
        </p:spPr>
        <p:txBody>
          <a:bodyPr vert="horz" wrap="square" lIns="0" tIns="0" rIns="0" bIns="0" rtlCol="0">
            <a:noAutofit/>
          </a:bodyPr>
          <a:lstStyle/>
          <a:p>
            <a:pPr>
              <a:lnSpc>
                <a:spcPct val="112000"/>
              </a:lnSpc>
            </a:pPr>
            <a:r>
              <a:rPr kumimoji="1" lang="en-US" altLang="ja-JP" sz="1750">
                <a:solidFill>
                  <a:srgbClr val="17365D"/>
                </a:solidFill>
                <a:latin typeface="Meiryo" panose="020B0604030504040204" pitchFamily="50" charset="-128"/>
                <a:ea typeface="Meiryo" panose="020B0604030504040204" pitchFamily="50" charset="-128"/>
              </a:rPr>
              <a:t>ER</a:t>
            </a:r>
            <a:r>
              <a:rPr kumimoji="1" lang="ja-JP" altLang="en-US" sz="1750">
                <a:solidFill>
                  <a:srgbClr val="17365D"/>
                </a:solidFill>
                <a:latin typeface="Meiryo" panose="020B0604030504040204" pitchFamily="50" charset="-128"/>
                <a:ea typeface="Meiryo" panose="020B0604030504040204" pitchFamily="50" charset="-128"/>
              </a:rPr>
              <a:t>上の原図</a:t>
            </a:r>
          </a:p>
          <a:p>
            <a:pPr>
              <a:lnSpc>
                <a:spcPct val="112000"/>
              </a:lnSpc>
            </a:pPr>
            <a:r>
              <a:rPr kumimoji="1" lang="en-US" altLang="ja-JP" sz="1750">
                <a:solidFill>
                  <a:srgbClr val="17365D"/>
                </a:solidFill>
                <a:latin typeface="Meiryo" panose="020B0604030504040204" pitchFamily="50" charset="-128"/>
                <a:ea typeface="Meiryo" panose="020B0604030504040204" pitchFamily="50" charset="-128"/>
              </a:rPr>
              <a:t>p</a:t>
            </a:r>
            <a:r>
              <a:rPr kumimoji="1" lang="en-US" altLang="ja-JP" sz="1295" baseline="-16000">
                <a:solidFill>
                  <a:srgbClr val="17365D"/>
                </a:solidFill>
                <a:latin typeface="Meiryo" panose="020B0604030504040204" pitchFamily="50" charset="-128"/>
                <a:ea typeface="Meiryo" panose="020B0604030504040204" pitchFamily="50" charset="-128"/>
              </a:rPr>
              <a:t>c</a:t>
            </a:r>
            <a:r>
              <a:rPr kumimoji="1" lang="en-US" altLang="ja-JP" sz="1750">
                <a:solidFill>
                  <a:srgbClr val="17365D"/>
                </a:solidFill>
                <a:latin typeface="Meiryo" panose="020B0604030504040204" pitchFamily="50" charset="-128"/>
                <a:ea typeface="Meiryo" panose="020B0604030504040204" pitchFamily="50" charset="-128"/>
              </a:rPr>
              <a:t>=0.750</a:t>
            </a:r>
          </a:p>
          <a:p>
            <a:pPr>
              <a:lnSpc>
                <a:spcPct val="112000"/>
              </a:lnSpc>
            </a:pPr>
            <a:r>
              <a:rPr kumimoji="1" lang="el-GR" altLang="ja-JP" sz="1750">
                <a:solidFill>
                  <a:srgbClr val="17365D"/>
                </a:solidFill>
                <a:latin typeface="Meiryo" panose="020B0604030504040204" pitchFamily="50" charset="-128"/>
                <a:ea typeface="Meiryo" panose="020B0604030504040204" pitchFamily="50" charset="-128"/>
              </a:rPr>
              <a:t>Δ=0.005</a:t>
            </a:r>
          </a:p>
          <a:p>
            <a:pPr>
              <a:lnSpc>
                <a:spcPct val="112000"/>
              </a:lnSpc>
            </a:pPr>
            <a:r>
              <a:rPr kumimoji="1" lang="ja-JP" altLang="en-US" sz="1750">
                <a:solidFill>
                  <a:srgbClr val="17365D"/>
                </a:solidFill>
                <a:latin typeface="Meiryo" panose="020B0604030504040204" pitchFamily="50" charset="-128"/>
                <a:ea typeface="Meiryo" panose="020B0604030504040204" pitchFamily="50" charset="-128"/>
              </a:rPr>
              <a:t>黒：</a:t>
            </a:r>
            <a:r>
              <a:rPr kumimoji="1" lang="en-US" altLang="ja-JP" sz="1750">
                <a:solidFill>
                  <a:srgbClr val="17365D"/>
                </a:solidFill>
                <a:latin typeface="Meiryo" panose="020B0604030504040204" pitchFamily="50" charset="-128"/>
                <a:ea typeface="Meiryo" panose="020B0604030504040204" pitchFamily="50" charset="-128"/>
              </a:rPr>
              <a:t>0.750</a:t>
            </a:r>
          </a:p>
          <a:p>
            <a:pPr>
              <a:lnSpc>
                <a:spcPct val="112000"/>
              </a:lnSpc>
            </a:pPr>
            <a:r>
              <a:rPr kumimoji="1" lang="ja-JP" altLang="en-US" sz="1750">
                <a:solidFill>
                  <a:srgbClr val="17365D"/>
                </a:solidFill>
                <a:latin typeface="Meiryo" panose="020B0604030504040204" pitchFamily="50" charset="-128"/>
                <a:ea typeface="Meiryo" panose="020B0604030504040204" pitchFamily="50" charset="-128"/>
              </a:rPr>
              <a:t>紫：</a:t>
            </a:r>
            <a:r>
              <a:rPr kumimoji="1" lang="en-US" altLang="ja-JP" sz="1750">
                <a:solidFill>
                  <a:srgbClr val="17365D"/>
                </a:solidFill>
                <a:latin typeface="Meiryo" panose="020B0604030504040204" pitchFamily="50" charset="-128"/>
                <a:ea typeface="Meiryo" panose="020B0604030504040204" pitchFamily="50" charset="-128"/>
              </a:rPr>
              <a:t>0.745</a:t>
            </a:r>
          </a:p>
          <a:p>
            <a:pPr>
              <a:lnSpc>
                <a:spcPct val="112000"/>
              </a:lnSpc>
            </a:pPr>
            <a:r>
              <a:rPr kumimoji="1" lang="ja-JP" altLang="en-US" sz="1750">
                <a:solidFill>
                  <a:srgbClr val="17365D"/>
                </a:solidFill>
                <a:latin typeface="Meiryo" panose="020B0604030504040204" pitchFamily="50" charset="-128"/>
                <a:ea typeface="Meiryo" panose="020B0604030504040204" pitchFamily="50" charset="-128"/>
              </a:rPr>
              <a:t>赤：</a:t>
            </a:r>
            <a:r>
              <a:rPr kumimoji="1" lang="en-US" altLang="ja-JP" sz="1750">
                <a:solidFill>
                  <a:srgbClr val="17365D"/>
                </a:solidFill>
                <a:latin typeface="Meiryo" panose="020B0604030504040204" pitchFamily="50" charset="-128"/>
                <a:ea typeface="Meiryo" panose="020B0604030504040204" pitchFamily="50" charset="-128"/>
              </a:rPr>
              <a:t>0.755</a:t>
            </a:r>
            <a:endParaRPr kumimoji="1" lang="ja-JP" altLang="en-US" sz="1750">
              <a:solidFill>
                <a:srgbClr val="17365D"/>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3370424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BC61A81B-C17D-80FB-1D10-89699FC9E4D5}"/>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原論文の臨界点推定：制限なし</a:t>
            </a:r>
          </a:p>
        </p:txBody>
      </p:sp>
      <p:cxnSp>
        <p:nvCxnSpPr>
          <p:cNvPr id="11" name="直線コネクタ 10">
            <a:extLst>
              <a:ext uri="{FF2B5EF4-FFF2-40B4-BE49-F238E27FC236}">
                <a16:creationId xmlns:a16="http://schemas.microsoft.com/office/drawing/2014/main" id="{49234E18-E564-8EF4-7460-0AC27AAEFF94}"/>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CFE4E0FD-A0D1-B831-BC15-81F7C99EFF6A}"/>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Fig.S1(c)(d)</a:t>
            </a:r>
            <a:r>
              <a:rPr kumimoji="1" lang="ja-JP" altLang="en-US" sz="950">
                <a:solidFill>
                  <a:srgbClr val="566573"/>
                </a:solidFill>
                <a:latin typeface="Meiryo" panose="020B0604030504040204" pitchFamily="50" charset="-128"/>
                <a:ea typeface="Meiryo" panose="020B0604030504040204" pitchFamily="50" charset="-128"/>
              </a:rPr>
              <a:t>。補足原</a:t>
            </a:r>
            <a:r>
              <a:rPr kumimoji="1" lang="en-US" altLang="ja-JP" sz="950">
                <a:solidFill>
                  <a:srgbClr val="566573"/>
                </a:solidFill>
                <a:latin typeface="Meiryo" panose="020B0604030504040204" pitchFamily="50" charset="-128"/>
                <a:ea typeface="Meiryo" panose="020B0604030504040204" pitchFamily="50" charset="-128"/>
              </a:rPr>
              <a:t>PDF</a:t>
            </a:r>
            <a:r>
              <a:rPr kumimoji="1" lang="ja-JP" altLang="en-US" sz="950">
                <a:solidFill>
                  <a:srgbClr val="566573"/>
                </a:solidFill>
                <a:latin typeface="Meiryo" panose="020B0604030504040204" pitchFamily="50" charset="-128"/>
                <a:ea typeface="Meiryo" panose="020B0604030504040204" pitchFamily="50" charset="-128"/>
              </a:rPr>
              <a:t>から直接抽出（著者公開版と同一）。</a:t>
            </a:r>
          </a:p>
        </p:txBody>
      </p:sp>
      <p:sp>
        <p:nvSpPr>
          <p:cNvPr id="13" name="page-4">
            <a:extLst>
              <a:ext uri="{FF2B5EF4-FFF2-40B4-BE49-F238E27FC236}">
                <a16:creationId xmlns:a16="http://schemas.microsoft.com/office/drawing/2014/main" id="{B3769815-D43A-C06C-B67E-8E68679AC04E}"/>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19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679A39BD-ACD0-B7BE-C320-0486F349D3D3}"/>
              </a:ext>
            </a:extLst>
          </p:cNvPr>
          <p:cNvSpPr txBox="1"/>
          <p:nvPr/>
        </p:nvSpPr>
        <p:spPr>
          <a:xfrm>
            <a:off x="635000" y="5003800"/>
            <a:ext cx="10922000" cy="276999"/>
          </a:xfrm>
          <a:prstGeom prst="rect">
            <a:avLst/>
          </a:prstGeom>
          <a:noFill/>
        </p:spPr>
        <p:txBody>
          <a:bodyPr vert="horz" wrap="square" lIns="0" tIns="0" rIns="0" bIns="0" rtlCol="0">
            <a:noAutofit/>
          </a:bodyPr>
          <a:lstStyle/>
          <a:p>
            <a:pPr>
              <a:lnSpc>
                <a:spcPct val="112000"/>
              </a:lnSpc>
            </a:pPr>
            <a:r>
              <a:rPr kumimoji="1" lang="en-US" altLang="ja-JP" sz="1700">
                <a:solidFill>
                  <a:srgbClr val="263746"/>
                </a:solidFill>
                <a:latin typeface="Meiryo" panose="020B0604030504040204" pitchFamily="50" charset="-128"/>
                <a:ea typeface="Meiryo" panose="020B0604030504040204" pitchFamily="50" charset="-128"/>
              </a:rPr>
              <a:t>(c) C=1</a:t>
            </a:r>
            <a:r>
              <a:rPr kumimoji="1" lang="ja-JP" altLang="en-US" sz="1700">
                <a:solidFill>
                  <a:srgbClr val="263746"/>
                </a:solidFill>
                <a:latin typeface="Meiryo" panose="020B0604030504040204" pitchFamily="50" charset="-128"/>
                <a:ea typeface="Meiryo" panose="020B0604030504040204" pitchFamily="50" charset="-128"/>
              </a:rPr>
              <a:t>と同じ回帰法。</a:t>
            </a:r>
            <a:r>
              <a:rPr kumimoji="1" lang="en-US" altLang="ja-JP" sz="1700">
                <a:solidFill>
                  <a:srgbClr val="263746"/>
                </a:solidFill>
                <a:latin typeface="Meiryo" panose="020B0604030504040204" pitchFamily="50" charset="-128"/>
                <a:ea typeface="Meiryo" panose="020B0604030504040204" pitchFamily="50" charset="-128"/>
              </a:rPr>
              <a:t>r²</a:t>
            </a:r>
            <a:r>
              <a:rPr kumimoji="1" lang="ja-JP" altLang="en-US" sz="1700">
                <a:solidFill>
                  <a:srgbClr val="263746"/>
                </a:solidFill>
                <a:latin typeface="Meiryo" panose="020B0604030504040204" pitchFamily="50" charset="-128"/>
                <a:ea typeface="Meiryo" panose="020B0604030504040204" pitchFamily="50" charset="-128"/>
              </a:rPr>
              <a:t>軸は約</a:t>
            </a:r>
            <a:r>
              <a:rPr kumimoji="1" lang="en-US" altLang="ja-JP" sz="1700">
                <a:solidFill>
                  <a:srgbClr val="263746"/>
                </a:solidFill>
                <a:latin typeface="Meiryo" panose="020B0604030504040204" pitchFamily="50" charset="-128"/>
                <a:ea typeface="Meiryo" panose="020B0604030504040204" pitchFamily="50" charset="-128"/>
              </a:rPr>
              <a:t>0.7〜1</a:t>
            </a:r>
            <a:r>
              <a:rPr kumimoji="1" lang="ja-JP" altLang="en-US" sz="1700">
                <a:solidFill>
                  <a:srgbClr val="263746"/>
                </a:solidFill>
                <a:latin typeface="Meiryo" panose="020B0604030504040204" pitchFamily="50" charset="-128"/>
                <a:ea typeface="Meiryo" panose="020B0604030504040204" pitchFamily="50" charset="-128"/>
              </a:rPr>
              <a:t>へ拡大（図</a:t>
            </a:r>
            <a:r>
              <a:rPr kumimoji="1" lang="en-US" altLang="ja-JP" sz="1700">
                <a:solidFill>
                  <a:srgbClr val="263746"/>
                </a:solidFill>
                <a:latin typeface="Meiryo" panose="020B0604030504040204" pitchFamily="50" charset="-128"/>
                <a:ea typeface="Meiryo" panose="020B0604030504040204" pitchFamily="50" charset="-128"/>
              </a:rPr>
              <a:t>(a)</a:t>
            </a:r>
            <a:r>
              <a:rPr kumimoji="1" lang="ja-JP" altLang="en-US" sz="1700">
                <a:solidFill>
                  <a:srgbClr val="263746"/>
                </a:solidFill>
                <a:latin typeface="Meiryo" panose="020B0604030504040204" pitchFamily="50" charset="-128"/>
                <a:ea typeface="Meiryo" panose="020B0604030504040204" pitchFamily="50" charset="-128"/>
              </a:rPr>
              <a:t>と異なる）。</a:t>
            </a:r>
          </a:p>
          <a:p>
            <a:pPr>
              <a:lnSpc>
                <a:spcPct val="112000"/>
              </a:lnSpc>
            </a:pPr>
            <a:r>
              <a:rPr kumimoji="1" lang="en-US" altLang="ja-JP" sz="1700">
                <a:solidFill>
                  <a:srgbClr val="263746"/>
                </a:solidFill>
                <a:latin typeface="Meiryo" panose="020B0604030504040204" pitchFamily="50" charset="-128"/>
                <a:ea typeface="Meiryo" panose="020B0604030504040204" pitchFamily="50" charset="-128"/>
              </a:rPr>
              <a:t>(d) p</a:t>
            </a:r>
            <a:r>
              <a:rPr kumimoji="1" lang="en-US" altLang="ja-JP" sz="1258" baseline="-16000">
                <a:solidFill>
                  <a:srgbClr val="263746"/>
                </a:solidFill>
                <a:latin typeface="Meiryo" panose="020B0604030504040204" pitchFamily="50" charset="-128"/>
                <a:ea typeface="Meiryo" panose="020B0604030504040204" pitchFamily="50" charset="-128"/>
              </a:rPr>
              <a:t>c</a:t>
            </a:r>
            <a:r>
              <a:rPr kumimoji="1" lang="ja-JP" altLang="en-US" sz="1700">
                <a:solidFill>
                  <a:srgbClr val="263746"/>
                </a:solidFill>
                <a:latin typeface="Meiryo" panose="020B0604030504040204" pitchFamily="50" charset="-128"/>
                <a:ea typeface="Meiryo" panose="020B0604030504040204" pitchFamily="50" charset="-128"/>
              </a:rPr>
              <a:t>と前後の</a:t>
            </a:r>
            <a:r>
              <a:rPr kumimoji="1" lang="en-US" altLang="ja-JP" sz="1700">
                <a:solidFill>
                  <a:srgbClr val="263746"/>
                </a:solidFill>
                <a:latin typeface="Meiryo" panose="020B0604030504040204" pitchFamily="50" charset="-128"/>
                <a:ea typeface="Meiryo" panose="020B0604030504040204" pitchFamily="50" charset="-128"/>
              </a:rPr>
              <a:t>P</a:t>
            </a:r>
            <a:r>
              <a:rPr kumimoji="1" lang="ja-JP" altLang="en-US" sz="1700">
                <a:solidFill>
                  <a:srgbClr val="263746"/>
                </a:solidFill>
                <a:latin typeface="Meiryo" panose="020B0604030504040204" pitchFamily="50" charset="-128"/>
                <a:ea typeface="Meiryo" panose="020B0604030504040204" pitchFamily="50" charset="-128"/>
              </a:rPr>
              <a:t>のサイズ依存を比較する。</a:t>
            </a:r>
          </a:p>
          <a:p>
            <a:pPr>
              <a:lnSpc>
                <a:spcPct val="112000"/>
              </a:lnSpc>
            </a:pPr>
            <a:r>
              <a:rPr kumimoji="1" lang="ja-JP" altLang="en-US" sz="1700">
                <a:solidFill>
                  <a:srgbClr val="263746"/>
                </a:solidFill>
                <a:latin typeface="Meiryo" panose="020B0604030504040204" pitchFamily="50" charset="-128"/>
                <a:ea typeface="Meiryo" panose="020B0604030504040204" pitchFamily="50" charset="-128"/>
              </a:rPr>
              <a:t>著者の評価：固定</a:t>
            </a:r>
            <a:r>
              <a:rPr kumimoji="1" lang="en-US" altLang="ja-JP" sz="1700">
                <a:solidFill>
                  <a:srgbClr val="263746"/>
                </a:solidFill>
                <a:latin typeface="Meiryo" panose="020B0604030504040204" pitchFamily="50" charset="-128"/>
                <a:ea typeface="Meiryo" panose="020B0604030504040204" pitchFamily="50" charset="-128"/>
              </a:rPr>
              <a:t>p</a:t>
            </a:r>
            <a:r>
              <a:rPr kumimoji="1" lang="en-US" altLang="ja-JP" sz="1258" baseline="-16000">
                <a:solidFill>
                  <a:srgbClr val="263746"/>
                </a:solidFill>
                <a:latin typeface="Meiryo" panose="020B0604030504040204" pitchFamily="50" charset="-128"/>
                <a:ea typeface="Meiryo" panose="020B0604030504040204" pitchFamily="50" charset="-128"/>
              </a:rPr>
              <a:t>c</a:t>
            </a:r>
            <a:r>
              <a:rPr kumimoji="1" lang="ja-JP" altLang="en-US" sz="1700">
                <a:solidFill>
                  <a:srgbClr val="263746"/>
                </a:solidFill>
                <a:latin typeface="Meiryo" panose="020B0604030504040204" pitchFamily="50" charset="-128"/>
                <a:ea typeface="Meiryo" panose="020B0604030504040204" pitchFamily="50" charset="-128"/>
              </a:rPr>
              <a:t>の指数には強い有限サイズ効果がある。</a:t>
            </a:r>
          </a:p>
          <a:p>
            <a:pPr>
              <a:lnSpc>
                <a:spcPct val="112000"/>
              </a:lnSpc>
            </a:pPr>
            <a:r>
              <a:rPr kumimoji="1" lang="en-US" altLang="ja-JP" sz="1700">
                <a:solidFill>
                  <a:srgbClr val="263746"/>
                </a:solidFill>
                <a:latin typeface="Meiryo" panose="020B0604030504040204" pitchFamily="50" charset="-128"/>
                <a:ea typeface="Meiryo" panose="020B0604030504040204" pitchFamily="50" charset="-128"/>
              </a:rPr>
              <a:t>p</a:t>
            </a:r>
            <a:r>
              <a:rPr kumimoji="1" lang="en-US" altLang="ja-JP" sz="1258" baseline="-16000">
                <a:solidFill>
                  <a:srgbClr val="263746"/>
                </a:solidFill>
                <a:latin typeface="Meiryo" panose="020B0604030504040204" pitchFamily="50" charset="-128"/>
                <a:ea typeface="Meiryo" panose="020B0604030504040204" pitchFamily="50" charset="-128"/>
              </a:rPr>
              <a:t>c</a:t>
            </a:r>
            <a:r>
              <a:rPr kumimoji="1" lang="ja-JP" altLang="en-US" sz="1700">
                <a:solidFill>
                  <a:srgbClr val="263746"/>
                </a:solidFill>
                <a:latin typeface="Meiryo" panose="020B0604030504040204" pitchFamily="50" charset="-128"/>
                <a:ea typeface="Meiryo" panose="020B0604030504040204" pitchFamily="50" charset="-128"/>
              </a:rPr>
              <a:t>の推定はその影響を受けないと評価するが、数学的な証明ではない。</a:t>
            </a:r>
          </a:p>
        </p:txBody>
      </p:sp>
      <p:pic>
        <p:nvPicPr>
          <p:cNvPr id="16" name="source-or-equation-image-6" descr="SM PDF3 Fig.S1(c)(d), direct original crop; axes, markers, lines and colors unchanged">
            <a:extLst>
              <a:ext uri="{FF2B5EF4-FFF2-40B4-BE49-F238E27FC236}">
                <a16:creationId xmlns:a16="http://schemas.microsoft.com/office/drawing/2014/main" id="{2D476051-AE69-EF33-BCDA-7DEDA80FCE1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97078" y="1574800"/>
            <a:ext cx="9229344" cy="3365500"/>
          </a:xfrm>
          <a:prstGeom prst="rect">
            <a:avLst/>
          </a:prstGeom>
        </p:spPr>
      </p:pic>
      <p:sp>
        <p:nvSpPr>
          <p:cNvPr id="17" name="text-7">
            <a:extLst>
              <a:ext uri="{FF2B5EF4-FFF2-40B4-BE49-F238E27FC236}">
                <a16:creationId xmlns:a16="http://schemas.microsoft.com/office/drawing/2014/main" id="{59853F5E-19A2-0D41-544A-806C6D69877F}"/>
              </a:ext>
            </a:extLst>
          </p:cNvPr>
          <p:cNvSpPr txBox="1"/>
          <p:nvPr/>
        </p:nvSpPr>
        <p:spPr>
          <a:xfrm>
            <a:off x="10033000" y="1879600"/>
            <a:ext cx="1778000" cy="276999"/>
          </a:xfrm>
          <a:prstGeom prst="rect">
            <a:avLst/>
          </a:prstGeom>
          <a:noFill/>
        </p:spPr>
        <p:txBody>
          <a:bodyPr vert="horz" wrap="square" lIns="0" tIns="0" rIns="0" bIns="0" rtlCol="0">
            <a:noAutofit/>
          </a:bodyPr>
          <a:lstStyle/>
          <a:p>
            <a:pPr>
              <a:lnSpc>
                <a:spcPct val="112000"/>
              </a:lnSpc>
            </a:pPr>
            <a:r>
              <a:rPr kumimoji="1" lang="en-US" altLang="ja-JP" sz="1750">
                <a:solidFill>
                  <a:srgbClr val="17365D"/>
                </a:solidFill>
                <a:latin typeface="Meiryo" panose="020B0604030504040204" pitchFamily="50" charset="-128"/>
                <a:ea typeface="Meiryo" panose="020B0604030504040204" pitchFamily="50" charset="-128"/>
              </a:rPr>
              <a:t>ER</a:t>
            </a:r>
            <a:r>
              <a:rPr kumimoji="1" lang="ja-JP" altLang="en-US" sz="1750">
                <a:solidFill>
                  <a:srgbClr val="17365D"/>
                </a:solidFill>
                <a:latin typeface="Meiryo" panose="020B0604030504040204" pitchFamily="50" charset="-128"/>
                <a:ea typeface="Meiryo" panose="020B0604030504040204" pitchFamily="50" charset="-128"/>
              </a:rPr>
              <a:t>・</a:t>
            </a:r>
            <a:r>
              <a:rPr kumimoji="1" lang="en-US" altLang="ja-JP" sz="1750">
                <a:solidFill>
                  <a:srgbClr val="17365D"/>
                </a:solidFill>
                <a:latin typeface="Meiryo" panose="020B0604030504040204" pitchFamily="50" charset="-128"/>
                <a:ea typeface="Meiryo" panose="020B0604030504040204" pitchFamily="50" charset="-128"/>
              </a:rPr>
              <a:t>C=∞</a:t>
            </a:r>
          </a:p>
          <a:p>
            <a:pPr>
              <a:lnSpc>
                <a:spcPct val="112000"/>
              </a:lnSpc>
            </a:pPr>
            <a:r>
              <a:rPr kumimoji="1" lang="ja-JP" altLang="en-US" sz="1750">
                <a:solidFill>
                  <a:srgbClr val="17365D"/>
                </a:solidFill>
                <a:latin typeface="Meiryo" panose="020B0604030504040204" pitchFamily="50" charset="-128"/>
                <a:ea typeface="Meiryo" panose="020B0604030504040204" pitchFamily="50" charset="-128"/>
              </a:rPr>
              <a:t>設定：</a:t>
            </a:r>
            <a:r>
              <a:rPr kumimoji="1" lang="en-US" altLang="ja-JP" sz="1750">
                <a:solidFill>
                  <a:srgbClr val="17365D"/>
                </a:solidFill>
                <a:latin typeface="Meiryo" panose="020B0604030504040204" pitchFamily="50" charset="-128"/>
                <a:ea typeface="Meiryo" panose="020B0604030504040204" pitchFamily="50" charset="-128"/>
              </a:rPr>
              <a:t>C=N</a:t>
            </a:r>
          </a:p>
          <a:p>
            <a:pPr>
              <a:lnSpc>
                <a:spcPct val="112000"/>
              </a:lnSpc>
            </a:pPr>
            <a:r>
              <a:rPr kumimoji="1" lang="en-US" altLang="ja-JP" sz="1750">
                <a:solidFill>
                  <a:srgbClr val="17365D"/>
                </a:solidFill>
                <a:latin typeface="Meiryo" panose="020B0604030504040204" pitchFamily="50" charset="-128"/>
                <a:ea typeface="Meiryo" panose="020B0604030504040204" pitchFamily="50" charset="-128"/>
              </a:rPr>
              <a:t>p</a:t>
            </a:r>
            <a:r>
              <a:rPr kumimoji="1" lang="en-US" altLang="ja-JP" sz="1295" baseline="-16000">
                <a:solidFill>
                  <a:srgbClr val="17365D"/>
                </a:solidFill>
                <a:latin typeface="Meiryo" panose="020B0604030504040204" pitchFamily="50" charset="-128"/>
                <a:ea typeface="Meiryo" panose="020B0604030504040204" pitchFamily="50" charset="-128"/>
              </a:rPr>
              <a:t>c</a:t>
            </a:r>
            <a:r>
              <a:rPr kumimoji="1" lang="en-US" altLang="ja-JP" sz="1750">
                <a:solidFill>
                  <a:srgbClr val="17365D"/>
                </a:solidFill>
                <a:latin typeface="Meiryo" panose="020B0604030504040204" pitchFamily="50" charset="-128"/>
                <a:ea typeface="Meiryo" panose="020B0604030504040204" pitchFamily="50" charset="-128"/>
              </a:rPr>
              <a:t>=0.646</a:t>
            </a:r>
          </a:p>
          <a:p>
            <a:pPr>
              <a:lnSpc>
                <a:spcPct val="112000"/>
              </a:lnSpc>
            </a:pPr>
            <a:r>
              <a:rPr kumimoji="1" lang="el-GR" altLang="ja-JP" sz="1750">
                <a:solidFill>
                  <a:srgbClr val="17365D"/>
                </a:solidFill>
                <a:latin typeface="Meiryo" panose="020B0604030504040204" pitchFamily="50" charset="-128"/>
                <a:ea typeface="Meiryo" panose="020B0604030504040204" pitchFamily="50" charset="-128"/>
              </a:rPr>
              <a:t>Δ=0.01</a:t>
            </a:r>
          </a:p>
          <a:p>
            <a:pPr>
              <a:lnSpc>
                <a:spcPct val="112000"/>
              </a:lnSpc>
            </a:pPr>
            <a:r>
              <a:rPr kumimoji="1" lang="ja-JP" altLang="en-US" sz="1750">
                <a:solidFill>
                  <a:srgbClr val="17365D"/>
                </a:solidFill>
                <a:latin typeface="Meiryo" panose="020B0604030504040204" pitchFamily="50" charset="-128"/>
                <a:ea typeface="Meiryo" panose="020B0604030504040204" pitchFamily="50" charset="-128"/>
              </a:rPr>
              <a:t>黒：</a:t>
            </a:r>
            <a:r>
              <a:rPr kumimoji="1" lang="en-US" altLang="ja-JP" sz="1750">
                <a:solidFill>
                  <a:srgbClr val="17365D"/>
                </a:solidFill>
                <a:latin typeface="Meiryo" panose="020B0604030504040204" pitchFamily="50" charset="-128"/>
                <a:ea typeface="Meiryo" panose="020B0604030504040204" pitchFamily="50" charset="-128"/>
              </a:rPr>
              <a:t>0.646</a:t>
            </a:r>
          </a:p>
          <a:p>
            <a:pPr>
              <a:lnSpc>
                <a:spcPct val="112000"/>
              </a:lnSpc>
            </a:pPr>
            <a:r>
              <a:rPr kumimoji="1" lang="ja-JP" altLang="en-US" sz="1750">
                <a:solidFill>
                  <a:srgbClr val="17365D"/>
                </a:solidFill>
                <a:latin typeface="Meiryo" panose="020B0604030504040204" pitchFamily="50" charset="-128"/>
                <a:ea typeface="Meiryo" panose="020B0604030504040204" pitchFamily="50" charset="-128"/>
              </a:rPr>
              <a:t>紫：</a:t>
            </a:r>
            <a:r>
              <a:rPr kumimoji="1" lang="en-US" altLang="ja-JP" sz="1750">
                <a:solidFill>
                  <a:srgbClr val="17365D"/>
                </a:solidFill>
                <a:latin typeface="Meiryo" panose="020B0604030504040204" pitchFamily="50" charset="-128"/>
                <a:ea typeface="Meiryo" panose="020B0604030504040204" pitchFamily="50" charset="-128"/>
              </a:rPr>
              <a:t>0.636</a:t>
            </a:r>
          </a:p>
          <a:p>
            <a:pPr>
              <a:lnSpc>
                <a:spcPct val="112000"/>
              </a:lnSpc>
            </a:pPr>
            <a:r>
              <a:rPr kumimoji="1" lang="ja-JP" altLang="en-US" sz="1750">
                <a:solidFill>
                  <a:srgbClr val="17365D"/>
                </a:solidFill>
                <a:latin typeface="Meiryo" panose="020B0604030504040204" pitchFamily="50" charset="-128"/>
                <a:ea typeface="Meiryo" panose="020B0604030504040204" pitchFamily="50" charset="-128"/>
              </a:rPr>
              <a:t>赤：</a:t>
            </a:r>
            <a:r>
              <a:rPr kumimoji="1" lang="en-US" altLang="ja-JP" sz="1750">
                <a:solidFill>
                  <a:srgbClr val="17365D"/>
                </a:solidFill>
                <a:latin typeface="Meiryo" panose="020B0604030504040204" pitchFamily="50" charset="-128"/>
                <a:ea typeface="Meiryo" panose="020B0604030504040204" pitchFamily="50" charset="-128"/>
              </a:rPr>
              <a:t>0.656</a:t>
            </a:r>
            <a:endParaRPr kumimoji="1" lang="ja-JP" altLang="en-US" sz="1750">
              <a:solidFill>
                <a:srgbClr val="17365D"/>
              </a:solidFill>
              <a:latin typeface="Meiryo" panose="020B0604030504040204" pitchFamily="50" charset="-128"/>
              <a:ea typeface="Meiryo" panose="020B0604030504040204" pitchFamily="50" charset="-128"/>
            </a:endParaRPr>
          </a:p>
        </p:txBody>
      </p:sp>
    </p:spTree>
    <p:extLst>
      <p:ext uri="{BB962C8B-B14F-4D97-AF65-F5344CB8AC3E}">
        <p14:creationId xmlns:p14="http://schemas.microsoft.com/office/powerpoint/2010/main" val="318967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2E0E0BA4-8328-541C-0E91-AB5BC80EEA84}"/>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疑似臨界点の有限サイズシフト</a:t>
            </a:r>
          </a:p>
        </p:txBody>
      </p:sp>
      <p:cxnSp>
        <p:nvCxnSpPr>
          <p:cNvPr id="8" name="直線コネクタ 7">
            <a:extLst>
              <a:ext uri="{FF2B5EF4-FFF2-40B4-BE49-F238E27FC236}">
                <a16:creationId xmlns:a16="http://schemas.microsoft.com/office/drawing/2014/main" id="{2B1ADDE0-52BE-4E3F-3EBC-34490D1F2A35}"/>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1" name="source-3">
            <a:extLst>
              <a:ext uri="{FF2B5EF4-FFF2-40B4-BE49-F238E27FC236}">
                <a16:creationId xmlns:a16="http://schemas.microsoft.com/office/drawing/2014/main" id="{8608BFDA-7A46-D7F0-3550-07D6A7FA1DEC}"/>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Fig.S2(a)</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(S9)</a:t>
            </a:r>
            <a:r>
              <a:rPr kumimoji="1" lang="ja-JP" altLang="en-US" sz="950">
                <a:solidFill>
                  <a:srgbClr val="566573"/>
                </a:solidFill>
                <a:latin typeface="Meiryo" panose="020B0604030504040204" pitchFamily="50" charset="-128"/>
                <a:ea typeface="Meiryo" panose="020B0604030504040204" pitchFamily="50" charset="-128"/>
              </a:rPr>
              <a:t>。絶対値の式は説明用の代数変形。</a:t>
            </a:r>
          </a:p>
        </p:txBody>
      </p:sp>
      <p:sp>
        <p:nvSpPr>
          <p:cNvPr id="15" name="page-4">
            <a:extLst>
              <a:ext uri="{FF2B5EF4-FFF2-40B4-BE49-F238E27FC236}">
                <a16:creationId xmlns:a16="http://schemas.microsoft.com/office/drawing/2014/main" id="{E0688D6F-9DCD-2ABD-FB50-EA344D38E6CC}"/>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20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6" name="text-5">
            <a:extLst>
              <a:ext uri="{FF2B5EF4-FFF2-40B4-BE49-F238E27FC236}">
                <a16:creationId xmlns:a16="http://schemas.microsoft.com/office/drawing/2014/main" id="{C9FD40B2-CADB-5D9D-CD03-5A396E911C7E}"/>
              </a:ext>
            </a:extLst>
          </p:cNvPr>
          <p:cNvSpPr txBox="1"/>
          <p:nvPr/>
        </p:nvSpPr>
        <p:spPr>
          <a:xfrm>
            <a:off x="4762500" y="2768600"/>
            <a:ext cx="6794500" cy="276999"/>
          </a:xfrm>
          <a:prstGeom prst="rect">
            <a:avLst/>
          </a:prstGeom>
          <a:noFill/>
        </p:spPr>
        <p:txBody>
          <a:bodyPr vert="horz" wrap="square" lIns="0" tIns="0" rIns="0" bIns="0" rtlCol="0">
            <a:noAutofit/>
          </a:bodyPr>
          <a:lstStyle/>
          <a:p>
            <a:pPr>
              <a:lnSpc>
                <a:spcPct val="112000"/>
              </a:lnSpc>
            </a:pPr>
            <a:r>
              <a:rPr kumimoji="1" lang="ja-JP" altLang="en-US" sz="2100" b="1">
                <a:solidFill>
                  <a:srgbClr val="17365D"/>
                </a:solidFill>
                <a:latin typeface="Meiryo" panose="020B0604030504040204" pitchFamily="50" charset="-128"/>
                <a:ea typeface="Meiryo" panose="020B0604030504040204" pitchFamily="50" charset="-128"/>
              </a:rPr>
              <a:t>式</a:t>
            </a:r>
            <a:r>
              <a:rPr kumimoji="1" lang="en-US" altLang="ja-JP" sz="2100" b="1">
                <a:solidFill>
                  <a:srgbClr val="17365D"/>
                </a:solidFill>
                <a:latin typeface="Meiryo" panose="020B0604030504040204" pitchFamily="50" charset="-128"/>
                <a:ea typeface="Meiryo" panose="020B0604030504040204" pitchFamily="50" charset="-128"/>
              </a:rPr>
              <a:t>(S9)</a:t>
            </a:r>
            <a:r>
              <a:rPr kumimoji="1" lang="ja-JP" altLang="en-US" sz="2100" b="1">
                <a:solidFill>
                  <a:srgbClr val="17365D"/>
                </a:solidFill>
                <a:latin typeface="Meiryo" panose="020B0604030504040204" pitchFamily="50" charset="-128"/>
                <a:ea typeface="Meiryo" panose="020B0604030504040204" pitchFamily="50" charset="-128"/>
              </a:rPr>
              <a:t>からの変形</a:t>
            </a:r>
          </a:p>
        </p:txBody>
      </p:sp>
      <p:pic>
        <p:nvPicPr>
          <p:cNvPr id="18" name="source-or-equation-image-6" descr="SM PDF4 Fig.S2(a), original plot including axis display factor, points and fits unchanged">
            <a:extLst>
              <a:ext uri="{FF2B5EF4-FFF2-40B4-BE49-F238E27FC236}">
                <a16:creationId xmlns:a16="http://schemas.microsoft.com/office/drawing/2014/main" id="{DF02A9A2-205E-17FC-B812-AC1A0D3F3A2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44500" y="1614708"/>
            <a:ext cx="3619500" cy="4034984"/>
          </a:xfrm>
          <a:prstGeom prst="rect">
            <a:avLst/>
          </a:prstGeom>
        </p:spPr>
      </p:pic>
      <p:pic>
        <p:nvPicPr>
          <p:cNvPr id="20" name="source-or-equation-image-7" descr="p_c=p_c(N)+bN^{-1/\bar\nu}\qquad\mathrm{(S9)}">
            <a:extLst>
              <a:ext uri="{FF2B5EF4-FFF2-40B4-BE49-F238E27FC236}">
                <a16:creationId xmlns:a16="http://schemas.microsoft.com/office/drawing/2014/main" id="{EA23BCBC-CC77-8CFF-3B35-821EBFE5EF0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635500" y="1608257"/>
            <a:ext cx="6921500" cy="860186"/>
          </a:xfrm>
          <a:prstGeom prst="rect">
            <a:avLst/>
          </a:prstGeom>
        </p:spPr>
      </p:pic>
      <p:pic>
        <p:nvPicPr>
          <p:cNvPr id="22" name="source-or-equation-image-8" descr="|p_c-p_c(N)|=|b|N^{-1/\bar\nu}">
            <a:extLst>
              <a:ext uri="{FF2B5EF4-FFF2-40B4-BE49-F238E27FC236}">
                <a16:creationId xmlns:a16="http://schemas.microsoft.com/office/drawing/2014/main" id="{1C43C469-0AE1-573C-FE13-2345121A42A7}"/>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740622" y="3289300"/>
            <a:ext cx="4711257" cy="774700"/>
          </a:xfrm>
          <a:prstGeom prst="rect">
            <a:avLst/>
          </a:prstGeom>
        </p:spPr>
      </p:pic>
      <p:sp>
        <p:nvSpPr>
          <p:cNvPr id="23" name="text-9">
            <a:extLst>
              <a:ext uri="{FF2B5EF4-FFF2-40B4-BE49-F238E27FC236}">
                <a16:creationId xmlns:a16="http://schemas.microsoft.com/office/drawing/2014/main" id="{1C043FE3-6B0C-880C-DFFA-8D0F0A9BBDCC}"/>
              </a:ext>
            </a:extLst>
          </p:cNvPr>
          <p:cNvSpPr txBox="1"/>
          <p:nvPr/>
        </p:nvSpPr>
        <p:spPr>
          <a:xfrm>
            <a:off x="4762500" y="4381500"/>
            <a:ext cx="4508500" cy="276999"/>
          </a:xfrm>
          <a:prstGeom prst="rect">
            <a:avLst/>
          </a:prstGeom>
          <a:noFill/>
        </p:spPr>
        <p:txBody>
          <a:bodyPr vert="horz" wrap="square" lIns="0" tIns="0" rIns="0" bIns="0" rtlCol="0">
            <a:noAutofit/>
          </a:bodyPr>
          <a:lstStyle/>
          <a:p>
            <a:pPr>
              <a:lnSpc>
                <a:spcPct val="112000"/>
              </a:lnSpc>
            </a:pPr>
            <a:r>
              <a:rPr kumimoji="1" lang="en-US" altLang="ja-JP" sz="1900">
                <a:solidFill>
                  <a:srgbClr val="17365D"/>
                </a:solidFill>
                <a:latin typeface="Meiryo" panose="020B0604030504040204" pitchFamily="50" charset="-128"/>
                <a:ea typeface="Meiryo" panose="020B0604030504040204" pitchFamily="50" charset="-128"/>
              </a:rPr>
              <a:t>p</a:t>
            </a:r>
            <a:r>
              <a:rPr kumimoji="1" lang="en-US" altLang="ja-JP" sz="1406" baseline="-16000">
                <a:solidFill>
                  <a:srgbClr val="17365D"/>
                </a:solidFill>
                <a:latin typeface="Meiryo" panose="020B0604030504040204" pitchFamily="50" charset="-128"/>
                <a:ea typeface="Meiryo" panose="020B0604030504040204" pitchFamily="50" charset="-128"/>
              </a:rPr>
              <a:t>c</a:t>
            </a:r>
            <a:r>
              <a:rPr kumimoji="1" lang="ja-JP" altLang="en-US" sz="1900">
                <a:solidFill>
                  <a:srgbClr val="17365D"/>
                </a:solidFill>
                <a:latin typeface="Meiryo" panose="020B0604030504040204" pitchFamily="50" charset="-128"/>
                <a:ea typeface="Meiryo" panose="020B0604030504040204" pitchFamily="50" charset="-128"/>
              </a:rPr>
              <a:t>と</a:t>
            </a:r>
            <a:r>
              <a:rPr kumimoji="1" lang="en-US" altLang="ja-JP" sz="1900">
                <a:solidFill>
                  <a:srgbClr val="17365D"/>
                </a:solidFill>
                <a:latin typeface="Meiryo" panose="020B0604030504040204" pitchFamily="50" charset="-128"/>
                <a:ea typeface="Meiryo" panose="020B0604030504040204" pitchFamily="50" charset="-128"/>
              </a:rPr>
              <a:t>p</a:t>
            </a:r>
            <a:r>
              <a:rPr kumimoji="1" lang="en-US" altLang="ja-JP" sz="1406" baseline="-16000">
                <a:solidFill>
                  <a:srgbClr val="17365D"/>
                </a:solidFill>
                <a:latin typeface="Meiryo" panose="020B0604030504040204" pitchFamily="50" charset="-128"/>
                <a:ea typeface="Meiryo" panose="020B0604030504040204" pitchFamily="50" charset="-128"/>
              </a:rPr>
              <a:t>c</a:t>
            </a:r>
            <a:r>
              <a:rPr kumimoji="1" lang="en-US" altLang="ja-JP" sz="1900">
                <a:solidFill>
                  <a:srgbClr val="17365D"/>
                </a:solidFill>
                <a:latin typeface="Meiryo" panose="020B0604030504040204" pitchFamily="50" charset="-128"/>
                <a:ea typeface="Meiryo" panose="020B0604030504040204" pitchFamily="50" charset="-128"/>
              </a:rPr>
              <a:t>(N)</a:t>
            </a:r>
            <a:r>
              <a:rPr kumimoji="1" lang="ja-JP" altLang="en-US" sz="1900">
                <a:solidFill>
                  <a:srgbClr val="17365D"/>
                </a:solidFill>
                <a:latin typeface="Meiryo" panose="020B0604030504040204" pitchFamily="50" charset="-128"/>
                <a:ea typeface="Meiryo" panose="020B0604030504040204" pitchFamily="50" charset="-128"/>
              </a:rPr>
              <a:t>のずれを</a:t>
            </a:r>
          </a:p>
          <a:p>
            <a:pPr>
              <a:lnSpc>
                <a:spcPct val="112000"/>
              </a:lnSpc>
            </a:pPr>
            <a:r>
              <a:rPr kumimoji="1" lang="en-US" altLang="ja-JP" sz="1900">
                <a:solidFill>
                  <a:srgbClr val="17365D"/>
                </a:solidFill>
                <a:latin typeface="Meiryo" panose="020B0604030504040204" pitchFamily="50" charset="-128"/>
                <a:ea typeface="Meiryo" panose="020B0604030504040204" pitchFamily="50" charset="-128"/>
              </a:rPr>
              <a:t>N</a:t>
            </a:r>
            <a:r>
              <a:rPr kumimoji="1" lang="ja-JP" altLang="en-US" sz="1900">
                <a:solidFill>
                  <a:srgbClr val="17365D"/>
                </a:solidFill>
                <a:latin typeface="Meiryo" panose="020B0604030504040204" pitchFamily="50" charset="-128"/>
                <a:ea typeface="Meiryo" panose="020B0604030504040204" pitchFamily="50" charset="-128"/>
              </a:rPr>
              <a:t>に対して調べる。</a:t>
            </a:r>
          </a:p>
          <a:p>
            <a:pPr>
              <a:lnSpc>
                <a:spcPct val="112000"/>
              </a:lnSpc>
            </a:pPr>
            <a:r>
              <a:rPr kumimoji="1" lang="ja-JP" altLang="en-US" sz="1900">
                <a:solidFill>
                  <a:srgbClr val="17365D"/>
                </a:solidFill>
                <a:latin typeface="Meiryo" panose="020B0604030504040204" pitchFamily="50" charset="-128"/>
                <a:ea typeface="Meiryo" panose="020B0604030504040204" pitchFamily="50" charset="-128"/>
              </a:rPr>
              <a:t>両対数の傾き−</a:t>
            </a:r>
            <a:r>
              <a:rPr kumimoji="1" lang="en-US" altLang="ja-JP" sz="1900">
                <a:solidFill>
                  <a:srgbClr val="17365D"/>
                </a:solidFill>
                <a:latin typeface="Meiryo" panose="020B0604030504040204" pitchFamily="50" charset="-128"/>
                <a:ea typeface="Meiryo" panose="020B0604030504040204" pitchFamily="50" charset="-128"/>
              </a:rPr>
              <a:t>1/ν̄</a:t>
            </a:r>
            <a:r>
              <a:rPr kumimoji="1" lang="ja-JP" altLang="en-US" sz="1900">
                <a:solidFill>
                  <a:srgbClr val="17365D"/>
                </a:solidFill>
                <a:latin typeface="Meiryo" panose="020B0604030504040204" pitchFamily="50" charset="-128"/>
                <a:ea typeface="Meiryo" panose="020B0604030504040204" pitchFamily="50" charset="-128"/>
              </a:rPr>
              <a:t>から</a:t>
            </a:r>
          </a:p>
          <a:p>
            <a:pPr>
              <a:lnSpc>
                <a:spcPct val="112000"/>
              </a:lnSpc>
            </a:pPr>
            <a:r>
              <a:rPr kumimoji="1" lang="en-US" altLang="ja-JP" sz="1900">
                <a:solidFill>
                  <a:srgbClr val="17365D"/>
                </a:solidFill>
                <a:latin typeface="Meiryo" panose="020B0604030504040204" pitchFamily="50" charset="-128"/>
                <a:ea typeface="Meiryo" panose="020B0604030504040204" pitchFamily="50" charset="-128"/>
              </a:rPr>
              <a:t>1/ν̄</a:t>
            </a:r>
            <a:r>
              <a:rPr kumimoji="1" lang="ja-JP" altLang="en-US" sz="1900">
                <a:solidFill>
                  <a:srgbClr val="17365D"/>
                </a:solidFill>
                <a:latin typeface="Meiryo" panose="020B0604030504040204" pitchFamily="50" charset="-128"/>
                <a:ea typeface="Meiryo" panose="020B0604030504040204" pitchFamily="50" charset="-128"/>
              </a:rPr>
              <a:t>を推定する。</a:t>
            </a:r>
          </a:p>
        </p:txBody>
      </p:sp>
      <p:pic>
        <p:nvPicPr>
          <p:cNvPr id="25" name="source-or-equation-image-10" descr="Original shared Fig.S2 legend, unchanged C=1,2,3,infinity">
            <a:extLst>
              <a:ext uri="{FF2B5EF4-FFF2-40B4-BE49-F238E27FC236}">
                <a16:creationId xmlns:a16="http://schemas.microsoft.com/office/drawing/2014/main" id="{E8DA136B-49C5-5A32-B1A0-86E1D69CACA3}"/>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9684896" y="4343400"/>
            <a:ext cx="1775709" cy="1587500"/>
          </a:xfrm>
          <a:prstGeom prst="rect">
            <a:avLst/>
          </a:prstGeom>
        </p:spPr>
      </p:pic>
    </p:spTree>
    <p:extLst>
      <p:ext uri="{BB962C8B-B14F-4D97-AF65-F5344CB8AC3E}">
        <p14:creationId xmlns:p14="http://schemas.microsoft.com/office/powerpoint/2010/main" val="3798004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ADD8293B-2B71-2E9E-B6F6-F84672816170}"/>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固定した臨界点での</a:t>
            </a:r>
            <a:r>
              <a:rPr kumimoji="1" lang="en-US" altLang="ja-JP" sz="3200" b="1">
                <a:solidFill>
                  <a:srgbClr val="17365D"/>
                </a:solidFill>
                <a:latin typeface="Meiryo" panose="020B0604030504040204" pitchFamily="50" charset="-128"/>
                <a:ea typeface="Meiryo" panose="020B0604030504040204" pitchFamily="50" charset="-128"/>
              </a:rPr>
              <a:t>P</a:t>
            </a:r>
            <a:r>
              <a:rPr kumimoji="1" lang="ja-JP" altLang="en-US" sz="3200" b="1">
                <a:solidFill>
                  <a:srgbClr val="17365D"/>
                </a:solidFill>
                <a:latin typeface="Meiryo" panose="020B0604030504040204" pitchFamily="50" charset="-128"/>
                <a:ea typeface="Meiryo" panose="020B0604030504040204" pitchFamily="50" charset="-128"/>
              </a:rPr>
              <a:t>・</a:t>
            </a:r>
            <a:r>
              <a:rPr kumimoji="1" lang="en-US" altLang="ja-JP" sz="3200" b="1">
                <a:solidFill>
                  <a:srgbClr val="17365D"/>
                </a:solidFill>
                <a:latin typeface="Meiryo" panose="020B0604030504040204" pitchFamily="50" charset="-128"/>
                <a:ea typeface="Meiryo" panose="020B0604030504040204" pitchFamily="50" charset="-128"/>
              </a:rPr>
              <a:t>S</a:t>
            </a:r>
            <a:r>
              <a:rPr kumimoji="1" lang="ja-JP" altLang="en-US" sz="3200" b="1">
                <a:solidFill>
                  <a:srgbClr val="17365D"/>
                </a:solidFill>
                <a:latin typeface="Meiryo" panose="020B0604030504040204" pitchFamily="50" charset="-128"/>
                <a:ea typeface="Meiryo" panose="020B0604030504040204" pitchFamily="50" charset="-128"/>
              </a:rPr>
              <a:t>の指数</a:t>
            </a:r>
          </a:p>
        </p:txBody>
      </p:sp>
      <p:cxnSp>
        <p:nvCxnSpPr>
          <p:cNvPr id="3" name="直線コネクタ 2">
            <a:extLst>
              <a:ext uri="{FF2B5EF4-FFF2-40B4-BE49-F238E27FC236}">
                <a16:creationId xmlns:a16="http://schemas.microsoft.com/office/drawing/2014/main" id="{CA97AC91-1BEE-5F3F-7C6B-11502E2C543F}"/>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383C30EA-F7A8-DE1E-B17D-854974EE69B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Fig.S2(b)(c)</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(S6)</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(S7)</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(S10)</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7CB9EBC3-E958-1829-09BC-3C680E16043E}"/>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21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2_bc.png">
            <a:extLst>
              <a:ext uri="{FF2B5EF4-FFF2-40B4-BE49-F238E27FC236}">
                <a16:creationId xmlns:a16="http://schemas.microsoft.com/office/drawing/2014/main" id="{AF13088C-CECC-6053-BF04-322D9D4A708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608548"/>
            <a:ext cx="7112000" cy="4021904"/>
          </a:xfrm>
          <a:prstGeom prst="rect">
            <a:avLst/>
          </a:prstGeom>
        </p:spPr>
      </p:pic>
      <p:sp>
        <p:nvSpPr>
          <p:cNvPr id="8" name="text-6">
            <a:extLst>
              <a:ext uri="{FF2B5EF4-FFF2-40B4-BE49-F238E27FC236}">
                <a16:creationId xmlns:a16="http://schemas.microsoft.com/office/drawing/2014/main" id="{D50B9D31-FF48-B5C6-52D3-D3BA1D9DF4A0}"/>
              </a:ext>
            </a:extLst>
          </p:cNvPr>
          <p:cNvSpPr txBox="1"/>
          <p:nvPr/>
        </p:nvSpPr>
        <p:spPr>
          <a:xfrm>
            <a:off x="8255000" y="1841500"/>
            <a:ext cx="34925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(b) </a:t>
            </a:r>
            <a:r>
              <a:rPr kumimoji="1" lang="ja-JP" altLang="en-US" sz="2000">
                <a:solidFill>
                  <a:srgbClr val="17365D"/>
                </a:solidFill>
                <a:latin typeface="Meiryo" panose="020B0604030504040204" pitchFamily="50" charset="-128"/>
                <a:ea typeface="Meiryo" panose="020B0604030504040204" pitchFamily="50" charset="-128"/>
              </a:rPr>
              <a:t>平均</a:t>
            </a: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の傾き：−</a:t>
            </a:r>
            <a:r>
              <a:rPr kumimoji="1" lang="en-US" altLang="ja-JP" sz="2000">
                <a:solidFill>
                  <a:srgbClr val="17365D"/>
                </a:solidFill>
                <a:latin typeface="Meiryo" panose="020B0604030504040204" pitchFamily="50" charset="-128"/>
                <a:ea typeface="Meiryo" panose="020B0604030504040204" pitchFamily="50" charset="-128"/>
              </a:rPr>
              <a:t>β/ν̄</a:t>
            </a:r>
          </a:p>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(c) </a:t>
            </a:r>
            <a:r>
              <a:rPr kumimoji="1" lang="ja-JP" altLang="en-US" sz="2000">
                <a:solidFill>
                  <a:srgbClr val="17365D"/>
                </a:solidFill>
                <a:latin typeface="Meiryo" panose="020B0604030504040204" pitchFamily="50" charset="-128"/>
                <a:ea typeface="Meiryo" panose="020B0604030504040204" pitchFamily="50" charset="-128"/>
              </a:rPr>
              <a:t>平均</a:t>
            </a:r>
            <a:r>
              <a:rPr kumimoji="1" lang="en-US" altLang="ja-JP" sz="2000">
                <a:solidFill>
                  <a:srgbClr val="17365D"/>
                </a:solidFill>
                <a:latin typeface="Meiryo" panose="020B0604030504040204" pitchFamily="50" charset="-128"/>
                <a:ea typeface="Meiryo" panose="020B0604030504040204" pitchFamily="50" charset="-128"/>
              </a:rPr>
              <a:t>S</a:t>
            </a:r>
            <a:r>
              <a:rPr kumimoji="1" lang="ja-JP" altLang="en-US" sz="2000">
                <a:solidFill>
                  <a:srgbClr val="17365D"/>
                </a:solidFill>
                <a:latin typeface="Meiryo" panose="020B0604030504040204" pitchFamily="50" charset="-128"/>
                <a:ea typeface="Meiryo" panose="020B0604030504040204" pitchFamily="50" charset="-128"/>
              </a:rPr>
              <a:t>の傾き： </a:t>
            </a:r>
            <a:r>
              <a:rPr kumimoji="1" lang="en-US" altLang="ja-JP" sz="2000">
                <a:solidFill>
                  <a:srgbClr val="17365D"/>
                </a:solidFill>
                <a:latin typeface="Meiryo" panose="020B0604030504040204" pitchFamily="50" charset="-128"/>
                <a:ea typeface="Meiryo" panose="020B0604030504040204" pitchFamily="50" charset="-128"/>
              </a:rPr>
              <a:t>γ/ν̄</a:t>
            </a:r>
          </a:p>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全</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で同じ</a:t>
            </a:r>
            <a:r>
              <a:rPr kumimoji="1" lang="en-US" altLang="ja-JP" sz="2000">
                <a:solidFill>
                  <a:srgbClr val="17365D"/>
                </a:solidFill>
                <a:latin typeface="Meiryo" panose="020B0604030504040204" pitchFamily="50" charset="-128"/>
                <a:ea typeface="Meiryo" panose="020B0604030504040204" pitchFamily="50" charset="-128"/>
              </a:rPr>
              <a:t>p</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ja-JP" altLang="en-US" sz="2000">
                <a:solidFill>
                  <a:srgbClr val="17365D"/>
                </a:solidFill>
                <a:latin typeface="Meiryo" panose="020B0604030504040204" pitchFamily="50" charset="-128"/>
                <a:ea typeface="Meiryo" panose="020B0604030504040204" pitchFamily="50" charset="-128"/>
              </a:rPr>
              <a:t>を用いる。</a:t>
            </a:r>
          </a:p>
        </p:txBody>
      </p:sp>
      <p:pic>
        <p:nvPicPr>
          <p:cNvPr id="10" name="source-or-equation-image-7" descr="fig_s2_legend.png">
            <a:extLst>
              <a:ext uri="{FF2B5EF4-FFF2-40B4-BE49-F238E27FC236}">
                <a16:creationId xmlns:a16="http://schemas.microsoft.com/office/drawing/2014/main" id="{603F085F-3F74-A2B1-CAC8-DC1983103A5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594954" y="3708400"/>
            <a:ext cx="1733092" cy="1549400"/>
          </a:xfrm>
          <a:prstGeom prst="rect">
            <a:avLst/>
          </a:prstGeom>
        </p:spPr>
      </p:pic>
      <p:sp>
        <p:nvSpPr>
          <p:cNvPr id="11" name="text-8">
            <a:extLst>
              <a:ext uri="{FF2B5EF4-FFF2-40B4-BE49-F238E27FC236}">
                <a16:creationId xmlns:a16="http://schemas.microsoft.com/office/drawing/2014/main" id="{698E7CA4-31E9-EB62-6BB4-69BEB55A0C45}"/>
              </a:ext>
            </a:extLst>
          </p:cNvPr>
          <p:cNvSpPr txBox="1"/>
          <p:nvPr/>
        </p:nvSpPr>
        <p:spPr>
          <a:xfrm>
            <a:off x="635000" y="5803900"/>
            <a:ext cx="10922000" cy="276999"/>
          </a:xfrm>
          <a:prstGeom prst="rect">
            <a:avLst/>
          </a:prstGeom>
          <a:noFill/>
        </p:spPr>
        <p:txBody>
          <a:bodyPr vert="horz" wrap="square" lIns="0" tIns="0" rIns="0" bIns="0" rtlCol="0">
            <a:noAutofit/>
          </a:bodyPr>
          <a:lstStyle/>
          <a:p>
            <a:pPr>
              <a:lnSpc>
                <a:spcPct val="112000"/>
              </a:lnSpc>
            </a:pPr>
            <a:r>
              <a:rPr kumimoji="1" lang="ja-JP" altLang="en-US" sz="1700">
                <a:solidFill>
                  <a:srgbClr val="253746"/>
                </a:solidFill>
                <a:latin typeface="Meiryo" panose="020B0604030504040204" pitchFamily="50" charset="-128"/>
                <a:ea typeface="Meiryo" panose="020B0604030504040204" pitchFamily="50" charset="-128"/>
              </a:rPr>
              <a:t>両対数軸。縦軸の</a:t>
            </a:r>
            <a:r>
              <a:rPr kumimoji="1" lang="en-US" altLang="ja-JP" sz="1700">
                <a:solidFill>
                  <a:srgbClr val="253746"/>
                </a:solidFill>
                <a:latin typeface="Meiryo" panose="020B0604030504040204" pitchFamily="50" charset="-128"/>
                <a:ea typeface="Meiryo" panose="020B0604030504040204" pitchFamily="50" charset="-128"/>
              </a:rPr>
              <a:t>10</a:t>
            </a:r>
            <a:r>
              <a:rPr kumimoji="1" lang="en-US" altLang="ja-JP" sz="1258" baseline="30000">
                <a:solidFill>
                  <a:srgbClr val="253746"/>
                </a:solidFill>
                <a:latin typeface="Meiryo" panose="020B0604030504040204" pitchFamily="50" charset="-128"/>
                <a:ea typeface="Meiryo" panose="020B0604030504040204" pitchFamily="50" charset="-128"/>
              </a:rPr>
              <a:t>X</a:t>
            </a:r>
            <a:r>
              <a:rPr kumimoji="1" lang="ja-JP" altLang="en-US" sz="1700">
                <a:solidFill>
                  <a:srgbClr val="253746"/>
                </a:solidFill>
                <a:latin typeface="Meiryo" panose="020B0604030504040204" pitchFamily="50" charset="-128"/>
                <a:ea typeface="Meiryo" panose="020B0604030504040204" pitchFamily="50" charset="-128"/>
              </a:rPr>
              <a:t>による定数倍、誤差棒省略は原図の表示。</a:t>
            </a:r>
          </a:p>
        </p:txBody>
      </p:sp>
    </p:spTree>
    <p:extLst>
      <p:ext uri="{BB962C8B-B14F-4D97-AF65-F5344CB8AC3E}">
        <p14:creationId xmlns:p14="http://schemas.microsoft.com/office/powerpoint/2010/main" val="3886222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3D5E0198-F685-715A-29AC-E18400DC2643}"/>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疑似臨界点での</a:t>
            </a:r>
            <a:r>
              <a:rPr kumimoji="1" lang="en-US" altLang="ja-JP" sz="3200" b="1">
                <a:solidFill>
                  <a:srgbClr val="17365D"/>
                </a:solidFill>
                <a:latin typeface="Meiryo" panose="020B0604030504040204" pitchFamily="50" charset="-128"/>
                <a:ea typeface="Meiryo" panose="020B0604030504040204" pitchFamily="50" charset="-128"/>
              </a:rPr>
              <a:t>P</a:t>
            </a:r>
            <a:r>
              <a:rPr kumimoji="1" lang="ja-JP" altLang="en-US" sz="3200" b="1">
                <a:solidFill>
                  <a:srgbClr val="17365D"/>
                </a:solidFill>
                <a:latin typeface="Meiryo" panose="020B0604030504040204" pitchFamily="50" charset="-128"/>
                <a:ea typeface="Meiryo" panose="020B0604030504040204" pitchFamily="50" charset="-128"/>
              </a:rPr>
              <a:t>・</a:t>
            </a:r>
            <a:r>
              <a:rPr kumimoji="1" lang="en-US" altLang="ja-JP" sz="3200" b="1">
                <a:solidFill>
                  <a:srgbClr val="17365D"/>
                </a:solidFill>
                <a:latin typeface="Meiryo" panose="020B0604030504040204" pitchFamily="50" charset="-128"/>
                <a:ea typeface="Meiryo" panose="020B0604030504040204" pitchFamily="50" charset="-128"/>
              </a:rPr>
              <a:t>S</a:t>
            </a:r>
            <a:r>
              <a:rPr kumimoji="1" lang="ja-JP" altLang="en-US" sz="3200" b="1">
                <a:solidFill>
                  <a:srgbClr val="17365D"/>
                </a:solidFill>
                <a:latin typeface="Meiryo" panose="020B0604030504040204" pitchFamily="50" charset="-128"/>
                <a:ea typeface="Meiryo" panose="020B0604030504040204" pitchFamily="50" charset="-128"/>
              </a:rPr>
              <a:t>の指数</a:t>
            </a:r>
          </a:p>
        </p:txBody>
      </p:sp>
      <p:cxnSp>
        <p:nvCxnSpPr>
          <p:cNvPr id="3" name="直線コネクタ 2">
            <a:extLst>
              <a:ext uri="{FF2B5EF4-FFF2-40B4-BE49-F238E27FC236}">
                <a16:creationId xmlns:a16="http://schemas.microsoft.com/office/drawing/2014/main" id="{5DC836E6-2700-ACB4-8D47-2B4D9C07221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23090BAF-865C-84B3-05CB-5E0005163EA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Fig.S2(d)(e)</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(S11)</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A2892057-C3BA-3DFF-6D21-6A05BD1516E9}"/>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22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2_de.png">
            <a:extLst>
              <a:ext uri="{FF2B5EF4-FFF2-40B4-BE49-F238E27FC236}">
                <a16:creationId xmlns:a16="http://schemas.microsoft.com/office/drawing/2014/main" id="{3E2C7135-E2A3-9F23-3A28-B0C569360A5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47232" y="1587500"/>
            <a:ext cx="7033537" cy="4064000"/>
          </a:xfrm>
          <a:prstGeom prst="rect">
            <a:avLst/>
          </a:prstGeom>
        </p:spPr>
      </p:pic>
      <p:sp>
        <p:nvSpPr>
          <p:cNvPr id="8" name="text-6">
            <a:extLst>
              <a:ext uri="{FF2B5EF4-FFF2-40B4-BE49-F238E27FC236}">
                <a16:creationId xmlns:a16="http://schemas.microsoft.com/office/drawing/2014/main" id="{8583BE20-7E58-F6B0-B77E-0086A2B6F6B8}"/>
              </a:ext>
            </a:extLst>
          </p:cNvPr>
          <p:cNvSpPr txBox="1"/>
          <p:nvPr/>
        </p:nvSpPr>
        <p:spPr>
          <a:xfrm>
            <a:off x="8255000" y="1841500"/>
            <a:ext cx="34925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(d) P</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の傾き：−</a:t>
            </a:r>
            <a:r>
              <a:rPr kumimoji="1" lang="el-GR" altLang="ja-JP" sz="2000">
                <a:solidFill>
                  <a:srgbClr val="17365D"/>
                </a:solidFill>
                <a:latin typeface="Meiryo" panose="020B0604030504040204" pitchFamily="50" charset="-128"/>
                <a:ea typeface="Meiryo" panose="020B0604030504040204" pitchFamily="50" charset="-128"/>
              </a:rPr>
              <a:t>β/ν̄</a:t>
            </a:r>
          </a:p>
          <a:p>
            <a:pPr>
              <a:lnSpc>
                <a:spcPct val="112000"/>
              </a:lnSpc>
            </a:pPr>
            <a:r>
              <a:rPr kumimoji="1" lang="el-GR" altLang="ja-JP" sz="2000">
                <a:solidFill>
                  <a:srgbClr val="17365D"/>
                </a:solidFill>
                <a:latin typeface="Meiryo" panose="020B0604030504040204" pitchFamily="50" charset="-128"/>
                <a:ea typeface="Meiryo" panose="020B0604030504040204" pitchFamily="50" charset="-128"/>
              </a:rPr>
              <a:t>(</a:t>
            </a:r>
            <a:r>
              <a:rPr kumimoji="1" lang="en-US" altLang="ja-JP" sz="2000">
                <a:solidFill>
                  <a:srgbClr val="17365D"/>
                </a:solidFill>
                <a:latin typeface="Meiryo" panose="020B0604030504040204" pitchFamily="50" charset="-128"/>
                <a:ea typeface="Meiryo" panose="020B0604030504040204" pitchFamily="50" charset="-128"/>
              </a:rPr>
              <a:t>e) S</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の傾き： </a:t>
            </a:r>
            <a:r>
              <a:rPr kumimoji="1" lang="el-GR" altLang="ja-JP" sz="2000">
                <a:solidFill>
                  <a:srgbClr val="17365D"/>
                </a:solidFill>
                <a:latin typeface="Meiryo" panose="020B0604030504040204" pitchFamily="50" charset="-128"/>
                <a:ea typeface="Meiryo" panose="020B0604030504040204" pitchFamily="50" charset="-128"/>
              </a:rPr>
              <a:t>γ/ν̄</a:t>
            </a:r>
          </a:p>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ごとに</a:t>
            </a:r>
            <a:r>
              <a:rPr kumimoji="1" lang="en-US" altLang="ja-JP" sz="2000">
                <a:solidFill>
                  <a:srgbClr val="17365D"/>
                </a:solidFill>
                <a:latin typeface="Meiryo" panose="020B0604030504040204" pitchFamily="50" charset="-128"/>
                <a:ea typeface="Meiryo" panose="020B0604030504040204" pitchFamily="50" charset="-128"/>
              </a:rPr>
              <a:t>p</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を用いる。</a:t>
            </a:r>
          </a:p>
        </p:txBody>
      </p:sp>
      <p:pic>
        <p:nvPicPr>
          <p:cNvPr id="10" name="source-or-equation-image-7" descr="fig_s2_legend.png">
            <a:extLst>
              <a:ext uri="{FF2B5EF4-FFF2-40B4-BE49-F238E27FC236}">
                <a16:creationId xmlns:a16="http://schemas.microsoft.com/office/drawing/2014/main" id="{0AD4D2EA-B275-C2A7-8AA9-4FCDF4D6A6A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594954" y="3708400"/>
            <a:ext cx="1733092" cy="1549400"/>
          </a:xfrm>
          <a:prstGeom prst="rect">
            <a:avLst/>
          </a:prstGeom>
        </p:spPr>
      </p:pic>
      <p:sp>
        <p:nvSpPr>
          <p:cNvPr id="11" name="text-8">
            <a:extLst>
              <a:ext uri="{FF2B5EF4-FFF2-40B4-BE49-F238E27FC236}">
                <a16:creationId xmlns:a16="http://schemas.microsoft.com/office/drawing/2014/main" id="{981F2BA3-54E8-215F-2E81-61B69F63BE0F}"/>
              </a:ext>
            </a:extLst>
          </p:cNvPr>
          <p:cNvSpPr txBox="1"/>
          <p:nvPr/>
        </p:nvSpPr>
        <p:spPr>
          <a:xfrm>
            <a:off x="635000" y="58039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同じ指数比を狙う方法でも、評価位置と有限サイズ効果を区別する。</a:t>
            </a:r>
          </a:p>
        </p:txBody>
      </p:sp>
    </p:spTree>
    <p:extLst>
      <p:ext uri="{BB962C8B-B14F-4D97-AF65-F5344CB8AC3E}">
        <p14:creationId xmlns:p14="http://schemas.microsoft.com/office/powerpoint/2010/main" val="2976261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6CA2AA63-5474-2FFF-7672-CB408E32CBDC}"/>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原論文の推定値と</a:t>
            </a:r>
            <a:r>
              <a:rPr kumimoji="1" lang="en-US" altLang="ja-JP" sz="3200" b="1">
                <a:solidFill>
                  <a:srgbClr val="17365D"/>
                </a:solidFill>
                <a:latin typeface="Meiryo" panose="020B0604030504040204" pitchFamily="50" charset="-128"/>
                <a:ea typeface="Meiryo" panose="020B0604030504040204" pitchFamily="50" charset="-128"/>
              </a:rPr>
              <a:t>2D</a:t>
            </a:r>
            <a:r>
              <a:rPr kumimoji="1" lang="ja-JP" altLang="en-US" sz="3200" b="1">
                <a:solidFill>
                  <a:srgbClr val="17365D"/>
                </a:solidFill>
                <a:latin typeface="Meiryo" panose="020B0604030504040204" pitchFamily="50" charset="-128"/>
                <a:ea typeface="Meiryo" panose="020B0604030504040204" pitchFamily="50" charset="-128"/>
              </a:rPr>
              <a:t>格子との区別</a:t>
            </a:r>
          </a:p>
        </p:txBody>
      </p:sp>
      <p:cxnSp>
        <p:nvCxnSpPr>
          <p:cNvPr id="11" name="直線コネクタ 10">
            <a:extLst>
              <a:ext uri="{FF2B5EF4-FFF2-40B4-BE49-F238E27FC236}">
                <a16:creationId xmlns:a16="http://schemas.microsoft.com/office/drawing/2014/main" id="{08A82C32-B2A3-10BA-2657-D56DECD3920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0FC64F7D-2387-6266-7157-86AD5C8550EE}"/>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Table S2</a:t>
            </a:r>
            <a:r>
              <a:rPr kumimoji="1" lang="ja-JP" altLang="en-US" sz="950">
                <a:solidFill>
                  <a:srgbClr val="566573"/>
                </a:solidFill>
                <a:latin typeface="Meiryo" panose="020B0604030504040204" pitchFamily="50" charset="-128"/>
                <a:ea typeface="Meiryo" panose="020B0604030504040204" pitchFamily="50" charset="-128"/>
              </a:rPr>
              <a:t>。主論文</a:t>
            </a:r>
            <a:r>
              <a:rPr kumimoji="1" lang="en-US" altLang="ja-JP" sz="950">
                <a:solidFill>
                  <a:srgbClr val="566573"/>
                </a:solidFill>
                <a:latin typeface="Meiryo" panose="020B0604030504040204" pitchFamily="50" charset="-128"/>
                <a:ea typeface="Meiryo" panose="020B0604030504040204" pitchFamily="50" charset="-128"/>
              </a:rPr>
              <a:t>PDF2–3</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Table 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event-based</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13" name="page-4">
            <a:extLst>
              <a:ext uri="{FF2B5EF4-FFF2-40B4-BE49-F238E27FC236}">
                <a16:creationId xmlns:a16="http://schemas.microsoft.com/office/drawing/2014/main" id="{156A9964-73CA-B23D-903A-11C55B6A0B6B}"/>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23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970DC9C1-C704-AEB1-2BC0-7C0730315953}"/>
              </a:ext>
            </a:extLst>
          </p:cNvPr>
          <p:cNvSpPr txBox="1"/>
          <p:nvPr/>
        </p:nvSpPr>
        <p:spPr>
          <a:xfrm>
            <a:off x="635000" y="4470400"/>
            <a:ext cx="10922000" cy="276999"/>
          </a:xfrm>
          <a:prstGeom prst="rect">
            <a:avLst/>
          </a:prstGeom>
          <a:noFill/>
        </p:spPr>
        <p:txBody>
          <a:bodyPr vert="horz" wrap="square" lIns="0" tIns="0" rIns="0" bIns="0" rtlCol="0">
            <a:noAutofit/>
          </a:bodyPr>
          <a:lstStyle/>
          <a:p>
            <a:pPr>
              <a:lnSpc>
                <a:spcPct val="112000"/>
              </a:lnSpc>
            </a:pPr>
            <a:r>
              <a:rPr kumimoji="1" lang="en-US" altLang="ja-JP" sz="1850">
                <a:solidFill>
                  <a:srgbClr val="263746"/>
                </a:solidFill>
                <a:latin typeface="Meiryo" panose="020B0604030504040204" pitchFamily="50" charset="-128"/>
                <a:ea typeface="Meiryo" panose="020B0604030504040204" pitchFamily="50" charset="-128"/>
              </a:rPr>
              <a:t>Table S2</a:t>
            </a:r>
            <a:r>
              <a:rPr kumimoji="1" lang="ja-JP" altLang="en-US" sz="1850">
                <a:solidFill>
                  <a:srgbClr val="263746"/>
                </a:solidFill>
                <a:latin typeface="Meiryo" panose="020B0604030504040204" pitchFamily="50" charset="-128"/>
                <a:ea typeface="Meiryo" panose="020B0604030504040204" pitchFamily="50" charset="-128"/>
              </a:rPr>
              <a:t>：補足資料の第</a:t>
            </a:r>
            <a:r>
              <a:rPr kumimoji="1" lang="en-US" altLang="ja-JP" sz="1850">
                <a:solidFill>
                  <a:srgbClr val="263746"/>
                </a:solidFill>
                <a:latin typeface="Meiryo" panose="020B0604030504040204" pitchFamily="50" charset="-128"/>
                <a:ea typeface="Meiryo" panose="020B0604030504040204" pitchFamily="50" charset="-128"/>
              </a:rPr>
              <a:t>2</a:t>
            </a:r>
            <a:r>
              <a:rPr kumimoji="1" lang="ja-JP" altLang="en-US" sz="1850">
                <a:solidFill>
                  <a:srgbClr val="263746"/>
                </a:solidFill>
                <a:latin typeface="Meiryo" panose="020B0604030504040204" pitchFamily="50" charset="-128"/>
                <a:ea typeface="Meiryo" panose="020B0604030504040204" pitchFamily="50" charset="-128"/>
              </a:rPr>
              <a:t>表。</a:t>
            </a:r>
            <a:r>
              <a:rPr kumimoji="1" lang="en-US" altLang="ja-JP" sz="1850">
                <a:solidFill>
                  <a:srgbClr val="263746"/>
                </a:solidFill>
                <a:latin typeface="Meiryo" panose="020B0604030504040204" pitchFamily="50" charset="-128"/>
                <a:ea typeface="Meiryo" panose="020B0604030504040204" pitchFamily="50" charset="-128"/>
              </a:rPr>
              <a:t>ER</a:t>
            </a:r>
            <a:r>
              <a:rPr kumimoji="1" lang="ja-JP" altLang="en-US" sz="1850">
                <a:solidFill>
                  <a:srgbClr val="263746"/>
                </a:solidFill>
                <a:latin typeface="Meiryo" panose="020B0604030504040204" pitchFamily="50" charset="-128"/>
                <a:ea typeface="Meiryo" panose="020B0604030504040204" pitchFamily="50" charset="-128"/>
              </a:rPr>
              <a:t>ネットワークの</a:t>
            </a:r>
            <a:r>
              <a:rPr kumimoji="1" lang="en-US" altLang="ja-JP" sz="1850">
                <a:solidFill>
                  <a:srgbClr val="263746"/>
                </a:solidFill>
                <a:latin typeface="Meiryo" panose="020B0604030504040204" pitchFamily="50" charset="-128"/>
                <a:ea typeface="Meiryo" panose="020B0604030504040204" pitchFamily="50" charset="-128"/>
              </a:rPr>
              <a:t>FSS</a:t>
            </a:r>
            <a:r>
              <a:rPr kumimoji="1" lang="ja-JP" altLang="en-US" sz="1850">
                <a:solidFill>
                  <a:srgbClr val="263746"/>
                </a:solidFill>
                <a:latin typeface="Meiryo" panose="020B0604030504040204" pitchFamily="50" charset="-128"/>
                <a:ea typeface="Meiryo" panose="020B0604030504040204" pitchFamily="50" charset="-128"/>
              </a:rPr>
              <a:t>推定値。</a:t>
            </a:r>
          </a:p>
          <a:p>
            <a:pPr>
              <a:lnSpc>
                <a:spcPct val="112000"/>
              </a:lnSpc>
            </a:pPr>
            <a:r>
              <a:rPr kumimoji="1" lang="en-US" altLang="ja-JP" sz="1850">
                <a:solidFill>
                  <a:srgbClr val="263746"/>
                </a:solidFill>
                <a:latin typeface="Meiryo" panose="020B0604030504040204" pitchFamily="50" charset="-128"/>
                <a:ea typeface="Meiryo" panose="020B0604030504040204" pitchFamily="50" charset="-128"/>
              </a:rPr>
              <a:t>critical</a:t>
            </a:r>
            <a:r>
              <a:rPr kumimoji="1" lang="ja-JP" altLang="en-US" sz="1850">
                <a:solidFill>
                  <a:srgbClr val="263746"/>
                </a:solidFill>
                <a:latin typeface="Meiryo" panose="020B0604030504040204" pitchFamily="50" charset="-128"/>
                <a:ea typeface="Meiryo" panose="020B0604030504040204" pitchFamily="50" charset="-128"/>
              </a:rPr>
              <a:t>：共通の</a:t>
            </a:r>
            <a:r>
              <a:rPr kumimoji="1" lang="en-US" altLang="ja-JP" sz="1850">
                <a:solidFill>
                  <a:srgbClr val="263746"/>
                </a:solidFill>
                <a:latin typeface="Meiryo" panose="020B0604030504040204" pitchFamily="50" charset="-128"/>
                <a:ea typeface="Meiryo" panose="020B0604030504040204" pitchFamily="50" charset="-128"/>
              </a:rPr>
              <a:t>p</a:t>
            </a:r>
            <a:r>
              <a:rPr kumimoji="1" lang="en-US" altLang="ja-JP" sz="1369" baseline="-16000">
                <a:solidFill>
                  <a:srgbClr val="263746"/>
                </a:solidFill>
                <a:latin typeface="Meiryo" panose="020B0604030504040204" pitchFamily="50" charset="-128"/>
                <a:ea typeface="Meiryo" panose="020B0604030504040204" pitchFamily="50" charset="-128"/>
              </a:rPr>
              <a:t>c</a:t>
            </a:r>
            <a:r>
              <a:rPr kumimoji="1" lang="ja-JP" altLang="en-US" sz="1850">
                <a:solidFill>
                  <a:srgbClr val="263746"/>
                </a:solidFill>
                <a:latin typeface="Meiryo" panose="020B0604030504040204" pitchFamily="50" charset="-128"/>
                <a:ea typeface="Meiryo" panose="020B0604030504040204" pitchFamily="50" charset="-128"/>
              </a:rPr>
              <a:t>　／　</a:t>
            </a:r>
            <a:r>
              <a:rPr kumimoji="1" lang="en-US" altLang="ja-JP" sz="1850">
                <a:solidFill>
                  <a:srgbClr val="263746"/>
                </a:solidFill>
                <a:latin typeface="Meiryo" panose="020B0604030504040204" pitchFamily="50" charset="-128"/>
                <a:ea typeface="Meiryo" panose="020B0604030504040204" pitchFamily="50" charset="-128"/>
              </a:rPr>
              <a:t>pseudo-critical</a:t>
            </a:r>
            <a:r>
              <a:rPr kumimoji="1" lang="ja-JP" altLang="en-US" sz="1850">
                <a:solidFill>
                  <a:srgbClr val="263746"/>
                </a:solidFill>
                <a:latin typeface="Meiryo" panose="020B0604030504040204" pitchFamily="50" charset="-128"/>
                <a:ea typeface="Meiryo" panose="020B0604030504040204" pitchFamily="50" charset="-128"/>
              </a:rPr>
              <a:t>：</a:t>
            </a:r>
            <a:r>
              <a:rPr kumimoji="1" lang="en-US" altLang="ja-JP" sz="1850">
                <a:solidFill>
                  <a:srgbClr val="263746"/>
                </a:solidFill>
                <a:latin typeface="Meiryo" panose="020B0604030504040204" pitchFamily="50" charset="-128"/>
                <a:ea typeface="Meiryo" panose="020B0604030504040204" pitchFamily="50" charset="-128"/>
              </a:rPr>
              <a:t>N</a:t>
            </a:r>
            <a:r>
              <a:rPr kumimoji="1" lang="ja-JP" altLang="en-US" sz="1850">
                <a:solidFill>
                  <a:srgbClr val="263746"/>
                </a:solidFill>
                <a:latin typeface="Meiryo" panose="020B0604030504040204" pitchFamily="50" charset="-128"/>
                <a:ea typeface="Meiryo" panose="020B0604030504040204" pitchFamily="50" charset="-128"/>
              </a:rPr>
              <a:t>ごとの</a:t>
            </a:r>
            <a:r>
              <a:rPr kumimoji="1" lang="en-US" altLang="ja-JP" sz="1850">
                <a:solidFill>
                  <a:srgbClr val="263746"/>
                </a:solidFill>
                <a:latin typeface="Meiryo" panose="020B0604030504040204" pitchFamily="50" charset="-128"/>
                <a:ea typeface="Meiryo" panose="020B0604030504040204" pitchFamily="50" charset="-128"/>
              </a:rPr>
              <a:t>p</a:t>
            </a:r>
            <a:r>
              <a:rPr kumimoji="1" lang="en-US" altLang="ja-JP" sz="1369" baseline="-16000">
                <a:solidFill>
                  <a:srgbClr val="263746"/>
                </a:solidFill>
                <a:latin typeface="Meiryo" panose="020B0604030504040204" pitchFamily="50" charset="-128"/>
                <a:ea typeface="Meiryo" panose="020B0604030504040204" pitchFamily="50" charset="-128"/>
              </a:rPr>
              <a:t>c</a:t>
            </a:r>
            <a:r>
              <a:rPr kumimoji="1" lang="en-US" altLang="ja-JP" sz="1850">
                <a:solidFill>
                  <a:srgbClr val="263746"/>
                </a:solidFill>
                <a:latin typeface="Meiryo" panose="020B0604030504040204" pitchFamily="50" charset="-128"/>
                <a:ea typeface="Meiryo" panose="020B0604030504040204" pitchFamily="50" charset="-128"/>
              </a:rPr>
              <a:t>(N)</a:t>
            </a:r>
          </a:p>
          <a:p>
            <a:pPr>
              <a:lnSpc>
                <a:spcPct val="112000"/>
              </a:lnSpc>
            </a:pPr>
            <a:r>
              <a:rPr kumimoji="1" lang="ja-JP" altLang="en-US" sz="1850">
                <a:solidFill>
                  <a:srgbClr val="263746"/>
                </a:solidFill>
                <a:latin typeface="Meiryo" panose="020B0604030504040204" pitchFamily="50" charset="-128"/>
                <a:ea typeface="Meiryo" panose="020B0604030504040204" pitchFamily="50" charset="-128"/>
              </a:rPr>
              <a:t>評価位置の区別であり、連続・不連続の分類ではない。</a:t>
            </a:r>
          </a:p>
          <a:p>
            <a:pPr>
              <a:lnSpc>
                <a:spcPct val="112000"/>
              </a:lnSpc>
            </a:pPr>
            <a:r>
              <a:rPr kumimoji="1" lang="ja-JP" altLang="en-US" sz="1850">
                <a:solidFill>
                  <a:srgbClr val="263746"/>
                </a:solidFill>
                <a:latin typeface="Meiryo" panose="020B0604030504040204" pitchFamily="50" charset="-128"/>
                <a:ea typeface="Meiryo" panose="020B0604030504040204" pitchFamily="50" charset="-128"/>
              </a:rPr>
              <a:t>制限なしは両方法の指数比に大きな差。著者は固定</a:t>
            </a:r>
            <a:r>
              <a:rPr kumimoji="1" lang="en-US" altLang="ja-JP" sz="1850">
                <a:solidFill>
                  <a:srgbClr val="263746"/>
                </a:solidFill>
                <a:latin typeface="Meiryo" panose="020B0604030504040204" pitchFamily="50" charset="-128"/>
                <a:ea typeface="Meiryo" panose="020B0604030504040204" pitchFamily="50" charset="-128"/>
              </a:rPr>
              <a:t>p</a:t>
            </a:r>
            <a:r>
              <a:rPr kumimoji="1" lang="en-US" altLang="ja-JP" sz="1369" baseline="-16000">
                <a:solidFill>
                  <a:srgbClr val="263746"/>
                </a:solidFill>
                <a:latin typeface="Meiryo" panose="020B0604030504040204" pitchFamily="50" charset="-128"/>
                <a:ea typeface="Meiryo" panose="020B0604030504040204" pitchFamily="50" charset="-128"/>
              </a:rPr>
              <a:t>c</a:t>
            </a:r>
            <a:r>
              <a:rPr kumimoji="1" lang="ja-JP" altLang="en-US" sz="1850">
                <a:solidFill>
                  <a:srgbClr val="263746"/>
                </a:solidFill>
                <a:latin typeface="Meiryo" panose="020B0604030504040204" pitchFamily="50" charset="-128"/>
                <a:ea typeface="Meiryo" panose="020B0604030504040204" pitchFamily="50" charset="-128"/>
              </a:rPr>
              <a:t>での強い有限サイズ効果を指摘。</a:t>
            </a:r>
          </a:p>
          <a:p>
            <a:pPr>
              <a:lnSpc>
                <a:spcPct val="112000"/>
              </a:lnSpc>
            </a:pPr>
            <a:r>
              <a:rPr kumimoji="1" lang="en-US" altLang="ja-JP" sz="1850">
                <a:solidFill>
                  <a:srgbClr val="263746"/>
                </a:solidFill>
                <a:latin typeface="Meiryo" panose="020B0604030504040204" pitchFamily="50" charset="-128"/>
                <a:ea typeface="Meiryo" panose="020B0604030504040204" pitchFamily="50" charset="-128"/>
              </a:rPr>
              <a:t>Table I</a:t>
            </a:r>
            <a:r>
              <a:rPr kumimoji="1" lang="ja-JP" altLang="en-US" sz="1850">
                <a:solidFill>
                  <a:srgbClr val="263746"/>
                </a:solidFill>
                <a:latin typeface="Meiryo" panose="020B0604030504040204" pitchFamily="50" charset="-128"/>
                <a:ea typeface="Meiryo" panose="020B0604030504040204" pitchFamily="50" charset="-128"/>
              </a:rPr>
              <a:t>は各試行の最大単一辺落下を基準とする</a:t>
            </a:r>
            <a:r>
              <a:rPr kumimoji="1" lang="en-US" altLang="ja-JP" sz="1850">
                <a:solidFill>
                  <a:srgbClr val="263746"/>
                </a:solidFill>
                <a:latin typeface="Meiryo" panose="020B0604030504040204" pitchFamily="50" charset="-128"/>
                <a:ea typeface="Meiryo" panose="020B0604030504040204" pitchFamily="50" charset="-128"/>
              </a:rPr>
              <a:t>event-based</a:t>
            </a:r>
            <a:r>
              <a:rPr kumimoji="1" lang="ja-JP" altLang="en-US" sz="1850">
                <a:solidFill>
                  <a:srgbClr val="263746"/>
                </a:solidFill>
                <a:latin typeface="Meiryo" panose="020B0604030504040204" pitchFamily="50" charset="-128"/>
                <a:ea typeface="Meiryo" panose="020B0604030504040204" pitchFamily="50" charset="-128"/>
              </a:rPr>
              <a:t>で、推定方法が異なる。</a:t>
            </a:r>
          </a:p>
        </p:txBody>
      </p:sp>
      <p:pic>
        <p:nvPicPr>
          <p:cNvPr id="16" name="source-or-equation-image-6" descr="SM PDF4 full Table S2, original headings, all C rows, numerical values and uncertainty digits unchanged">
            <a:extLst>
              <a:ext uri="{FF2B5EF4-FFF2-40B4-BE49-F238E27FC236}">
                <a16:creationId xmlns:a16="http://schemas.microsoft.com/office/drawing/2014/main" id="{8AC74FE9-FC06-E0E6-B430-CEF5134462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00953" y="1485900"/>
            <a:ext cx="10390094" cy="2895600"/>
          </a:xfrm>
          <a:prstGeom prst="rect">
            <a:avLst/>
          </a:prstGeom>
        </p:spPr>
      </p:pic>
    </p:spTree>
    <p:extLst>
      <p:ext uri="{BB962C8B-B14F-4D97-AF65-F5344CB8AC3E}">
        <p14:creationId xmlns:p14="http://schemas.microsoft.com/office/powerpoint/2010/main" val="223894243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4735</Words>
  <Application>Microsoft Office PowerPoint</Application>
  <PresentationFormat>ワイド画面</PresentationFormat>
  <Paragraphs>243</Paragraphs>
  <Slides>23</Slides>
  <Notes>23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23</vt:i4>
      </vt:variant>
    </vt:vector>
  </HeadingPairs>
  <TitlesOfParts>
    <vt:vector size="28" baseType="lpstr">
      <vt:lpstr>游ゴシック Light</vt:lpstr>
      <vt:lpstr>Arial</vt:lpstr>
      <vt:lpstr>Meiryo</vt:lpstr>
      <vt:lpstr>游ゴシック</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Raiki Yoshinari</dc:creator>
  <cp:lastModifiedBy>Raiki Yoshinari</cp:lastModifiedBy>
  <cp:revision>3</cp:revision>
  <dcterms:created xsi:type="dcterms:W3CDTF">2026-10-12T17:25:13Z</dcterms:created>
  <dcterms:modified xsi:type="dcterms:W3CDTF">2026-10-13T03:41:25Z</dcterms:modified>
</cp:coreProperties>
</file>