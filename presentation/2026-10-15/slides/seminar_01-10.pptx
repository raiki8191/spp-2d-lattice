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Meiryo" panose="020B0604030504040204" pitchFamily="50" charset="-128"/>
      <p:regular r:id="rId13"/>
      <p:bold r:id="rId14"/>
      <p:italic r:id="rId15"/>
      <p:boldItalic r:id="rId16"/>
    </p:embeddedFont>
    <p:embeddedFont>
      <p:font typeface="游ゴシック" panose="020B0400000000000000" pitchFamily="50" charset="-128"/>
      <p:regular r:id="rId17"/>
      <p:bold r:id="rId18"/>
    </p:embeddedFont>
    <p:embeddedFont>
      <p:font typeface="游ゴシック Light" panose="020B0300000000000000" pitchFamily="50" charset="-128"/>
      <p:regular r:id="rId19"/>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7349D-1C5A-498A-999B-D642A4745AC7}"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220A5-C5C7-40DE-9AF0-5CCB1E885E91}" type="slidenum">
              <a:rPr kumimoji="1" lang="ja-JP" altLang="en-US" smtClean="0"/>
              <a:t>‹#›</a:t>
            </a:fld>
            <a:endParaRPr kumimoji="1" lang="ja-JP" altLang="en-US"/>
          </a:p>
        </p:txBody>
      </p:sp>
    </p:spTree>
    <p:extLst>
      <p:ext uri="{BB962C8B-B14F-4D97-AF65-F5344CB8AC3E}">
        <p14:creationId xmlns:p14="http://schemas.microsoft.com/office/powerpoint/2010/main" val="35107092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今回の対象は</a:t>
            </a:r>
            <a:r>
              <a:rPr kumimoji="1" lang="en-US" altLang="ja-JP">
                <a:latin typeface="Meiryo" panose="020B0604030504040204" pitchFamily="50" charset="-128"/>
              </a:rPr>
              <a:t>2</a:t>
            </a:r>
            <a:r>
              <a:rPr kumimoji="1" lang="ja-JP" altLang="en-US">
                <a:latin typeface="Meiryo" panose="020B0604030504040204" pitchFamily="50" charset="-128"/>
              </a:rPr>
              <a:t>次元正方格子上の</a:t>
            </a:r>
            <a:r>
              <a:rPr kumimoji="1" lang="en-US" altLang="ja-JP">
                <a:latin typeface="Meiryo" panose="020B0604030504040204" pitchFamily="50" charset="-128"/>
              </a:rPr>
              <a:t>SPP</a:t>
            </a:r>
            <a:r>
              <a:rPr kumimoji="1" lang="ja-JP" altLang="en-US">
                <a:latin typeface="Meiryo" panose="020B0604030504040204" pitchFamily="50" charset="-128"/>
              </a:rPr>
              <a:t>です。研究途中であり、不連続転移の成立を確定した発表ではありません。今回の説明は研究背景、操作、研究目的、</a:t>
            </a:r>
            <a:r>
              <a:rPr kumimoji="1" lang="en-US" altLang="ja-JP">
                <a:latin typeface="Meiryo" panose="020B0604030504040204" pitchFamily="50" charset="-128"/>
              </a:rPr>
              <a:t>Supplemental Material</a:t>
            </a:r>
            <a:r>
              <a:rPr kumimoji="1" lang="ja-JP" altLang="en-US">
                <a:latin typeface="Meiryo" panose="020B0604030504040204" pitchFamily="50" charset="-128"/>
              </a:rPr>
              <a:t>の式</a:t>
            </a:r>
            <a:r>
              <a:rPr kumimoji="1" lang="en-US" altLang="ja-JP">
                <a:latin typeface="Meiryo" panose="020B0604030504040204" pitchFamily="50" charset="-128"/>
              </a:rPr>
              <a:t>(S1)〜(S5)</a:t>
            </a:r>
            <a:r>
              <a:rPr kumimoji="1" lang="ja-JP" altLang="en-US">
                <a:latin typeface="Meiryo" panose="020B0604030504040204" pitchFamily="50" charset="-128"/>
              </a:rPr>
              <a:t>までです。所属・氏名は追加していません。板書なし。</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a:t>
            </a:fld>
            <a:endParaRPr kumimoji="1" lang="ja-JP" altLang="en-US"/>
          </a:p>
        </p:txBody>
      </p:sp>
    </p:spTree>
    <p:extLst>
      <p:ext uri="{BB962C8B-B14F-4D97-AF65-F5344CB8AC3E}">
        <p14:creationId xmlns:p14="http://schemas.microsoft.com/office/powerpoint/2010/main" val="72334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板書なし。連結性・最大連結成分・臨界点・転移の性質を簡潔に導入します。削除だけがパーコレーションの本質とは説明しません。本文</a:t>
            </a:r>
            <a:r>
              <a:rPr kumimoji="1" lang="en-US" altLang="ja-JP">
                <a:latin typeface="Meiryo" panose="020B0604030504040204" pitchFamily="50" charset="-128"/>
              </a:rPr>
              <a:t>PDF1</a:t>
            </a:r>
            <a:r>
              <a:rPr kumimoji="1" lang="ja-JP" altLang="en-US">
                <a:latin typeface="Meiryo" panose="020B0604030504040204" pitchFamily="50" charset="-128"/>
              </a:rPr>
              <a:t>の一般的な背景とモデル依存性を日本語で要約しています。数学的な観測量はスライド</a:t>
            </a:r>
            <a:r>
              <a:rPr kumimoji="1" lang="en-US" altLang="ja-JP">
                <a:latin typeface="Meiryo" panose="020B0604030504040204" pitchFamily="50" charset="-128"/>
              </a:rPr>
              <a:t>7</a:t>
            </a:r>
            <a:r>
              <a:rPr kumimoji="1" lang="ja-JP" altLang="en-US">
                <a:latin typeface="Meiryo" panose="020B0604030504040204" pitchFamily="50" charset="-128"/>
              </a:rPr>
              <a:t>以降で定義します。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a:t>
            </a:fld>
            <a:endParaRPr kumimoji="1" lang="ja-JP" altLang="en-US"/>
          </a:p>
        </p:txBody>
      </p:sp>
    </p:spTree>
    <p:extLst>
      <p:ext uri="{BB962C8B-B14F-4D97-AF65-F5344CB8AC3E}">
        <p14:creationId xmlns:p14="http://schemas.microsoft.com/office/powerpoint/2010/main" val="95632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a:t>
            </a:r>
            <a:r>
              <a:rPr kumimoji="1" lang="en-US" altLang="ja-JP">
                <a:latin typeface="Meiryo" panose="020B0604030504040204" pitchFamily="50" charset="-128"/>
              </a:rPr>
              <a:t>G_t=(V,ℰ_t)</a:t>
            </a:r>
            <a:r>
              <a:rPr kumimoji="1" lang="ja-JP" altLang="en-US">
                <a:latin typeface="Meiryo" panose="020B0604030504040204" pitchFamily="50" charset="-128"/>
              </a:rPr>
              <a:t>、</a:t>
            </a:r>
            <a:r>
              <a:rPr kumimoji="1" lang="en-US" altLang="ja-JP">
                <a:latin typeface="Meiryo" panose="020B0604030504040204" pitchFamily="50" charset="-128"/>
              </a:rPr>
              <a:t>E_t=|ℰ_t|</a:t>
            </a:r>
            <a:r>
              <a:rPr kumimoji="1" lang="ja-JP" altLang="en-US">
                <a:latin typeface="Meiryo" panose="020B0604030504040204" pitchFamily="50" charset="-128"/>
              </a:rPr>
              <a:t>、</a:t>
            </a:r>
            <a:r>
              <a:rPr kumimoji="1" lang="en-US" altLang="ja-JP">
                <a:latin typeface="Meiryo" panose="020B0604030504040204" pitchFamily="50" charset="-128"/>
              </a:rPr>
              <a:t>Q_t≤C</a:t>
            </a:r>
            <a:r>
              <a:rPr kumimoji="1" lang="ja-JP" altLang="en-US">
                <a:latin typeface="Meiryo" panose="020B0604030504040204" pitchFamily="50" charset="-128"/>
              </a:rPr>
              <a:t>。</a:t>
            </a:r>
            <a:r>
              <a:rPr kumimoji="1" lang="en-US" altLang="ja-JP">
                <a:latin typeface="Meiryo" panose="020B0604030504040204" pitchFamily="50" charset="-128"/>
              </a:rPr>
              <a:t>G_t</a:t>
            </a:r>
            <a:r>
              <a:rPr kumimoji="1" lang="ja-JP" altLang="en-US">
                <a:latin typeface="Meiryo" panose="020B0604030504040204" pitchFamily="50" charset="-128"/>
              </a:rPr>
              <a:t>は要求</a:t>
            </a:r>
            <a:r>
              <a:rPr kumimoji="1" lang="en-US" altLang="ja-JP">
                <a:latin typeface="Meiryo" panose="020B0604030504040204" pitchFamily="50" charset="-128"/>
              </a:rPr>
              <a:t>t</a:t>
            </a:r>
            <a:r>
              <a:rPr kumimoji="1" lang="ja-JP" altLang="en-US">
                <a:latin typeface="Meiryo" panose="020B0604030504040204" pitchFamily="50" charset="-128"/>
              </a:rPr>
              <a:t>に利用可能なグラフで、削除後の状態と呼びません。元の</a:t>
            </a:r>
            <a:r>
              <a:rPr kumimoji="1" lang="en-US" altLang="ja-JP">
                <a:latin typeface="Meiryo" panose="020B0604030504040204" pitchFamily="50" charset="-128"/>
              </a:rPr>
              <a:t>Fig.1(a)(b)</a:t>
            </a:r>
            <a:r>
              <a:rPr kumimoji="1" lang="ja-JP" altLang="en-US">
                <a:latin typeface="Meiryo" panose="020B0604030504040204" pitchFamily="50" charset="-128"/>
              </a:rPr>
              <a:t>を引用し、</a:t>
            </a:r>
            <a:r>
              <a:rPr kumimoji="1" lang="en-US" altLang="ja-JP">
                <a:latin typeface="Meiryo" panose="020B0604030504040204" pitchFamily="50" charset="-128"/>
              </a:rPr>
              <a:t>Q_t=4</a:t>
            </a:r>
            <a:r>
              <a:rPr kumimoji="1" lang="ja-JP" altLang="en-US">
                <a:latin typeface="Meiryo" panose="020B0604030504040204" pitchFamily="50" charset="-128"/>
              </a:rPr>
              <a:t>、</a:t>
            </a:r>
            <a:r>
              <a:rPr kumimoji="1" lang="en-US" altLang="ja-JP">
                <a:latin typeface="Meiryo" panose="020B0604030504040204" pitchFamily="50" charset="-128"/>
              </a:rPr>
              <a:t>C≥4</a:t>
            </a:r>
            <a:r>
              <a:rPr kumimoji="1" lang="ja-JP" altLang="en-US">
                <a:latin typeface="Meiryo" panose="020B0604030504040204" pitchFamily="50" charset="-128"/>
              </a:rPr>
              <a:t>を確認。成功なら選択経路の全辺を除き、失敗なら辺集合を保ったまま次の要求へ進みます。いずれも</a:t>
            </a:r>
            <a:r>
              <a:rPr kumimoji="1" lang="en-US" altLang="ja-JP">
                <a:latin typeface="Meiryo" panose="020B0604030504040204" pitchFamily="50" charset="-128"/>
              </a:rPr>
              <a:t>t</a:t>
            </a:r>
            <a:r>
              <a:rPr kumimoji="1" lang="ja-JP" altLang="en-US">
                <a:latin typeface="Meiryo" panose="020B0604030504040204" pitchFamily="50" charset="-128"/>
              </a:rPr>
              <a:t>が</a:t>
            </a:r>
            <a:r>
              <a:rPr kumimoji="1" lang="en-US" altLang="ja-JP">
                <a:latin typeface="Meiryo" panose="020B0604030504040204" pitchFamily="50" charset="-128"/>
              </a:rPr>
              <a:t>1</a:t>
            </a:r>
            <a:r>
              <a:rPr kumimoji="1" lang="ja-JP" altLang="en-US">
                <a:latin typeface="Meiryo" panose="020B0604030504040204" pitchFamily="50" charset="-128"/>
              </a:rPr>
              <a:t>増えます。本文</a:t>
            </a:r>
            <a:r>
              <a:rPr kumimoji="1" lang="en-US" altLang="ja-JP">
                <a:latin typeface="Meiryo" panose="020B0604030504040204" pitchFamily="50" charset="-128"/>
              </a:rPr>
              <a:t>PDF1–2</a:t>
            </a:r>
            <a:r>
              <a:rPr kumimoji="1" lang="ja-JP" altLang="en-US">
                <a:latin typeface="Meiryo" panose="020B0604030504040204" pitchFamily="50" charset="-128"/>
              </a:rPr>
              <a:t>、</a:t>
            </a:r>
            <a:r>
              <a:rPr kumimoji="1" lang="en-US" altLang="ja-JP">
                <a:latin typeface="Meiryo" panose="020B0604030504040204" pitchFamily="50" charset="-128"/>
              </a:rPr>
              <a:t>Fig.1 caption</a:t>
            </a:r>
            <a:r>
              <a:rPr kumimoji="1" lang="ja-JP" altLang="en-US">
                <a:latin typeface="Meiryo" panose="020B0604030504040204" pitchFamily="50" charset="-128"/>
              </a:rPr>
              <a:t>に基づく日本語説明です。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3</a:t>
            </a:fld>
            <a:endParaRPr kumimoji="1" lang="ja-JP" altLang="en-US"/>
          </a:p>
        </p:txBody>
      </p:sp>
    </p:spTree>
    <p:extLst>
      <p:ext uri="{BB962C8B-B14F-4D97-AF65-F5344CB8AC3E}">
        <p14:creationId xmlns:p14="http://schemas.microsoft.com/office/powerpoint/2010/main" val="2011136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a:t>
            </a:r>
            <a:r>
              <a:rPr kumimoji="1" lang="en-US" altLang="ja-JP">
                <a:latin typeface="Meiryo" panose="020B0604030504040204" pitchFamily="50" charset="-128"/>
              </a:rPr>
              <a:t>4</a:t>
            </a:r>
            <a:r>
              <a:rPr kumimoji="1" lang="ja-JP" altLang="en-US">
                <a:latin typeface="Meiryo" panose="020B0604030504040204" pitchFamily="50" charset="-128"/>
              </a:rPr>
              <a:t>辺。初期</a:t>
            </a:r>
            <a:r>
              <a:rPr kumimoji="1" lang="en-US" altLang="ja-JP">
                <a:latin typeface="Meiryo" panose="020B0604030504040204" pitchFamily="50" charset="-128"/>
              </a:rPr>
              <a:t>3×3</a:t>
            </a:r>
            <a:r>
              <a:rPr kumimoji="1" lang="ja-JP" altLang="en-US">
                <a:latin typeface="Meiryo" panose="020B0604030504040204" pitchFamily="50" charset="-128"/>
              </a:rPr>
              <a:t>格子の左上と右下には</a:t>
            </a:r>
            <a:r>
              <a:rPr kumimoji="1" lang="en-US" altLang="ja-JP">
                <a:latin typeface="Meiryo" panose="020B0604030504040204" pitchFamily="50" charset="-128"/>
              </a:rPr>
              <a:t>6</a:t>
            </a:r>
            <a:r>
              <a:rPr kumimoji="1" lang="ja-JP" altLang="en-US">
                <a:latin typeface="Meiryo" panose="020B0604030504040204" pitchFamily="50" charset="-128"/>
              </a:rPr>
              <a:t>本の最短経路があります（横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回の順序）。図では上側</a:t>
            </a:r>
            <a:r>
              <a:rPr kumimoji="1" lang="en-US" altLang="ja-JP">
                <a:latin typeface="Meiryo" panose="020B0604030504040204" pitchFamily="50" charset="-128"/>
              </a:rPr>
              <a:t>2</a:t>
            </a:r>
            <a:r>
              <a:rPr kumimoji="1" lang="ja-JP" altLang="en-US">
                <a:latin typeface="Meiryo" panose="020B0604030504040204" pitchFamily="50" charset="-128"/>
              </a:rPr>
              <a:t>辺、右側</a:t>
            </a:r>
            <a:r>
              <a:rPr kumimoji="1" lang="en-US" altLang="ja-JP">
                <a:latin typeface="Meiryo" panose="020B0604030504040204" pitchFamily="50" charset="-128"/>
              </a:rPr>
              <a:t>2</a:t>
            </a:r>
            <a:r>
              <a:rPr kumimoji="1" lang="ja-JP" altLang="en-US">
                <a:latin typeface="Meiryo" panose="020B0604030504040204" pitchFamily="50" charset="-128"/>
              </a:rPr>
              <a:t>辺の計</a:t>
            </a:r>
            <a:r>
              <a:rPr kumimoji="1" lang="en-US" altLang="ja-JP">
                <a:latin typeface="Meiryo" panose="020B0604030504040204" pitchFamily="50" charset="-128"/>
              </a:rPr>
              <a:t>4</a:t>
            </a:r>
            <a:r>
              <a:rPr kumimoji="1" lang="ja-JP" altLang="en-US">
                <a:latin typeface="Meiryo" panose="020B0604030504040204" pitchFamily="50" charset="-128"/>
              </a:rPr>
              <a:t>辺を選び、</a:t>
            </a:r>
            <a:r>
              <a:rPr kumimoji="1" lang="en-US" altLang="ja-JP">
                <a:latin typeface="Meiryo" panose="020B0604030504040204" pitchFamily="50" charset="-128"/>
              </a:rPr>
              <a:t>C≥4</a:t>
            </a:r>
            <a:r>
              <a:rPr kumimoji="1" lang="ja-JP" altLang="en-US">
                <a:latin typeface="Meiryo" panose="020B0604030504040204" pitchFamily="50" charset="-128"/>
              </a:rPr>
              <a:t>の場合だけ削除します。除去辺集合は</a:t>
            </a:r>
            <a:r>
              <a:rPr kumimoji="1" lang="en-US" altLang="ja-JP">
                <a:latin typeface="Meiryo" panose="020B0604030504040204" pitchFamily="50" charset="-128"/>
              </a:rPr>
              <a:t>{0–1,1–2,2–5,5–8}</a:t>
            </a:r>
            <a:r>
              <a:rPr kumimoji="1" lang="ja-JP" altLang="en-US">
                <a:latin typeface="Meiryo" panose="020B0604030504040204" pitchFamily="50" charset="-128"/>
              </a:rPr>
              <a:t>、初期</a:t>
            </a:r>
            <a:r>
              <a:rPr kumimoji="1" lang="en-US" altLang="ja-JP">
                <a:latin typeface="Meiryo" panose="020B0604030504040204" pitchFamily="50" charset="-128"/>
              </a:rPr>
              <a:t>12</a:t>
            </a:r>
            <a:r>
              <a:rPr kumimoji="1" lang="ja-JP" altLang="en-US">
                <a:latin typeface="Meiryo" panose="020B0604030504040204" pitchFamily="50" charset="-128"/>
              </a:rPr>
              <a:t>辺から</a:t>
            </a:r>
            <a:r>
              <a:rPr kumimoji="1" lang="en-US" altLang="ja-JP">
                <a:latin typeface="Meiryo" panose="020B0604030504040204" pitchFamily="50" charset="-128"/>
              </a:rPr>
              <a:t>8</a:t>
            </a:r>
            <a:r>
              <a:rPr kumimoji="1" lang="ja-JP" altLang="en-US">
                <a:latin typeface="Meiryo" panose="020B0604030504040204" pitchFamily="50" charset="-128"/>
              </a:rPr>
              <a:t>辺になります。</a:t>
            </a:r>
            <a:r>
              <a:rPr kumimoji="1" lang="en-US" altLang="ja-JP">
                <a:latin typeface="Meiryo" panose="020B0604030504040204" pitchFamily="50" charset="-128"/>
              </a:rPr>
              <a:t>9</a:t>
            </a:r>
            <a:r>
              <a:rPr kumimoji="1" lang="ja-JP" altLang="en-US">
                <a:latin typeface="Meiryo" panose="020B0604030504040204" pitchFamily="50" charset="-128"/>
              </a:rPr>
              <a:t>頂点は削除しません。</a:t>
            </a:r>
            <a:r>
              <a:rPr kumimoji="1" lang="en-US" altLang="ja-JP">
                <a:latin typeface="Meiryo" panose="020B0604030504040204" pitchFamily="50" charset="-128"/>
              </a:rPr>
              <a:t>C&lt;4</a:t>
            </a:r>
            <a:r>
              <a:rPr kumimoji="1" lang="ja-JP" altLang="en-US">
                <a:latin typeface="Meiryo" panose="020B0604030504040204" pitchFamily="50" charset="-128"/>
              </a:rPr>
              <a:t>なら初期の辺集合を保持して次の要求へ進みます。図の開いた外周はこの説明例の指定であり、研究本体の境界条件をこの図から断定しません。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4</a:t>
            </a:fld>
            <a:endParaRPr kumimoji="1" lang="ja-JP" altLang="en-US"/>
          </a:p>
        </p:txBody>
      </p:sp>
    </p:spTree>
    <p:extLst>
      <p:ext uri="{BB962C8B-B14F-4D97-AF65-F5344CB8AC3E}">
        <p14:creationId xmlns:p14="http://schemas.microsoft.com/office/powerpoint/2010/main" val="23562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板書なし。これは</a:t>
            </a:r>
            <a:r>
              <a:rPr kumimoji="1" lang="en-US" altLang="ja-JP">
                <a:latin typeface="Meiryo" panose="020B0604030504040204" pitchFamily="50" charset="-128"/>
              </a:rPr>
              <a:t>ER</a:t>
            </a:r>
            <a:r>
              <a:rPr kumimoji="1" lang="ja-JP" altLang="en-US">
                <a:latin typeface="Meiryo" panose="020B0604030504040204" pitchFamily="50" charset="-128"/>
              </a:rPr>
              <a:t>上での著者の数値的報告です。有限</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を増やしても固定された予算を指します。有限グラフでは到達可能な最短経路は</a:t>
            </a:r>
            <a:r>
              <a:rPr kumimoji="1" lang="en-US" altLang="ja-JP">
                <a:latin typeface="Meiryo" panose="020B0604030504040204" pitchFamily="50" charset="-128"/>
              </a:rPr>
              <a:t>N−1</a:t>
            </a:r>
            <a:r>
              <a:rPr kumimoji="1" lang="ja-JP" altLang="en-US">
                <a:latin typeface="Meiryo" panose="020B0604030504040204" pitchFamily="50" charset="-128"/>
              </a:rPr>
              <a:t>辺以下なので</a:t>
            </a:r>
            <a:r>
              <a:rPr kumimoji="1" lang="en-US" altLang="ja-JP">
                <a:latin typeface="Meiryo" panose="020B0604030504040204" pitchFamily="50" charset="-128"/>
              </a:rPr>
              <a:t>C=N</a:t>
            </a:r>
            <a:r>
              <a:rPr kumimoji="1" lang="ja-JP" altLang="en-US">
                <a:latin typeface="Meiryo" panose="020B0604030504040204" pitchFamily="50" charset="-128"/>
              </a:rPr>
              <a:t>なら長さ制限は実質ありません。</a:t>
            </a:r>
            <a:r>
              <a:rPr kumimoji="1" lang="en-US" altLang="ja-JP">
                <a:latin typeface="Meiryo" panose="020B0604030504040204" pitchFamily="50" charset="-128"/>
              </a:rPr>
              <a:t>weakly discontinuous</a:t>
            </a:r>
            <a:r>
              <a:rPr kumimoji="1" lang="ja-JP" altLang="en-US">
                <a:latin typeface="Meiryo" panose="020B0604030504040204" pitchFamily="50" charset="-128"/>
              </a:rPr>
              <a:t>という語は本文</a:t>
            </a:r>
            <a:r>
              <a:rPr kumimoji="1" lang="en-US" altLang="ja-JP">
                <a:latin typeface="Meiryo" panose="020B0604030504040204" pitchFamily="50" charset="-128"/>
              </a:rPr>
              <a:t>PDF4</a:t>
            </a:r>
            <a:r>
              <a:rPr kumimoji="1" lang="ja-JP" altLang="en-US">
                <a:latin typeface="Meiryo" panose="020B0604030504040204" pitchFamily="50" charset="-128"/>
              </a:rPr>
              <a:t>にあり、今回その転移幅の詳細は説明しません。数学的に不連続転移が証明されたとは述べません。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5</a:t>
            </a:fld>
            <a:endParaRPr kumimoji="1" lang="ja-JP" altLang="en-US"/>
          </a:p>
        </p:txBody>
      </p:sp>
    </p:spTree>
    <p:extLst>
      <p:ext uri="{BB962C8B-B14F-4D97-AF65-F5344CB8AC3E}">
        <p14:creationId xmlns:p14="http://schemas.microsoft.com/office/powerpoint/2010/main" val="17066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板書なし。研究目的は制限なし</a:t>
            </a:r>
            <a:r>
              <a:rPr kumimoji="1" lang="en-US" altLang="ja-JP">
                <a:latin typeface="Meiryo" panose="020B0604030504040204" pitchFamily="50" charset="-128"/>
              </a:rPr>
              <a:t>SPP</a:t>
            </a:r>
            <a:r>
              <a:rPr kumimoji="1" lang="ja-JP" altLang="en-US">
                <a:latin typeface="Meiryo" panose="020B0604030504040204" pitchFamily="50" charset="-128"/>
              </a:rPr>
              <a:t>で不連続転移が起こるかを調べることであり、</a:t>
            </a:r>
            <a:r>
              <a:rPr kumimoji="1" lang="en-US" altLang="ja-JP">
                <a:latin typeface="Meiryo" panose="020B0604030504040204" pitchFamily="50" charset="-128"/>
              </a:rPr>
              <a:t>weakly discontinuous</a:t>
            </a:r>
            <a:r>
              <a:rPr kumimoji="1" lang="ja-JP" altLang="en-US">
                <a:latin typeface="Meiryo" panose="020B0604030504040204" pitchFamily="50" charset="-128"/>
              </a:rPr>
              <a:t>の再現を目的に変えません。サイズを大きくしても不連続性が残るかが重要です。</a:t>
            </a:r>
            <a:r>
              <a:rPr kumimoji="1" lang="en-US" altLang="ja-JP">
                <a:latin typeface="Meiryo" panose="020B0604030504040204" pitchFamily="50" charset="-128"/>
              </a:rPr>
              <a:t>ER</a:t>
            </a:r>
            <a:r>
              <a:rPr kumimoji="1" lang="ja-JP" altLang="en-US">
                <a:latin typeface="Meiryo" panose="020B0604030504040204" pitchFamily="50" charset="-128"/>
              </a:rPr>
              <a:t>での結果を格子へ無条件に適用しません。研究結果・指数は今回の</a:t>
            </a:r>
            <a:r>
              <a:rPr kumimoji="1" lang="en-US" altLang="ja-JP">
                <a:latin typeface="Meiryo" panose="020B0604030504040204" pitchFamily="50" charset="-128"/>
              </a:rPr>
              <a:t>10</a:t>
            </a:r>
            <a:r>
              <a:rPr kumimoji="1" lang="ja-JP" altLang="en-US">
                <a:latin typeface="Meiryo" panose="020B0604030504040204" pitchFamily="50" charset="-128"/>
              </a:rPr>
              <a:t>枚には掲載しません。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6</a:t>
            </a:fld>
            <a:endParaRPr kumimoji="1" lang="ja-JP" altLang="en-US"/>
          </a:p>
        </p:txBody>
      </p:sp>
    </p:spTree>
    <p:extLst>
      <p:ext uri="{BB962C8B-B14F-4D97-AF65-F5344CB8AC3E}">
        <p14:creationId xmlns:p14="http://schemas.microsoft.com/office/powerpoint/2010/main" val="1111227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No.1</a:t>
            </a:r>
            <a:r>
              <a:rPr kumimoji="1" lang="ja-JP" altLang="en-US">
                <a:latin typeface="Meiryo" panose="020B0604030504040204" pitchFamily="50" charset="-128"/>
              </a:rPr>
              <a:t>。</a:t>
            </a:r>
            <a:r>
              <a:rPr kumimoji="1" lang="en-US" altLang="ja-JP">
                <a:latin typeface="Meiryo" panose="020B0604030504040204" pitchFamily="50" charset="-128"/>
              </a:rPr>
              <a:t>SM PDF1</a:t>
            </a:r>
            <a:r>
              <a:rPr kumimoji="1" lang="ja-JP" altLang="en-US">
                <a:latin typeface="Meiryo" panose="020B0604030504040204" pitchFamily="50" charset="-128"/>
              </a:rPr>
              <a:t>式</a:t>
            </a:r>
            <a:r>
              <a:rPr kumimoji="1" lang="en-US" altLang="ja-JP">
                <a:latin typeface="Meiryo" panose="020B0604030504040204" pitchFamily="50" charset="-128"/>
              </a:rPr>
              <a:t>(S1)</a:t>
            </a:r>
            <a:r>
              <a:rPr kumimoji="1" lang="ja-JP" altLang="en-US">
                <a:latin typeface="Meiryo" panose="020B0604030504040204" pitchFamily="50" charset="-128"/>
              </a:rPr>
              <a:t>は</a:t>
            </a:r>
            <a:r>
              <a:rPr kumimoji="1" lang="en-US" altLang="ja-JP">
                <a:latin typeface="Meiryo" panose="020B0604030504040204" pitchFamily="50" charset="-128"/>
              </a:rPr>
              <a:t>G_t</a:t>
            </a:r>
            <a:r>
              <a:rPr kumimoji="1" lang="ja-JP" altLang="en-US">
                <a:latin typeface="Meiryo" panose="020B0604030504040204" pitchFamily="50" charset="-128"/>
              </a:rPr>
              <a:t>が</a:t>
            </a:r>
            <a:r>
              <a:rPr kumimoji="1" lang="en-US" altLang="ja-JP">
                <a:latin typeface="Meiryo" panose="020B0604030504040204" pitchFamily="50" charset="-128"/>
              </a:rPr>
              <a:t>t</a:t>
            </a:r>
            <a:r>
              <a:rPr kumimoji="1" lang="ja-JP" altLang="en-US">
                <a:latin typeface="Meiryo" panose="020B0604030504040204" pitchFamily="50" charset="-128"/>
              </a:rPr>
              <a:t>番目の要求に利用可能なグラフと定義します。辺集合</a:t>
            </a:r>
            <a:r>
              <a:rPr kumimoji="1" lang="en-US" altLang="ja-JP">
                <a:latin typeface="Meiryo" panose="020B0604030504040204" pitchFamily="50" charset="-128"/>
              </a:rPr>
              <a:t>ℰ_t</a:t>
            </a:r>
            <a:r>
              <a:rPr kumimoji="1" lang="ja-JP" altLang="en-US">
                <a:latin typeface="Meiryo" panose="020B0604030504040204" pitchFamily="50" charset="-128"/>
              </a:rPr>
              <a:t>と辺数</a:t>
            </a:r>
            <a:r>
              <a:rPr kumimoji="1" lang="en-US" altLang="ja-JP">
                <a:latin typeface="Meiryo" panose="020B0604030504040204" pitchFamily="50" charset="-128"/>
              </a:rPr>
              <a:t>E_t=|ℰ_t|</a:t>
            </a:r>
            <a:r>
              <a:rPr kumimoji="1" lang="ja-JP" altLang="en-US">
                <a:latin typeface="Meiryo" panose="020B0604030504040204" pitchFamily="50" charset="-128"/>
              </a:rPr>
              <a:t>を区別します。</a:t>
            </a:r>
            <a:r>
              <a:rPr kumimoji="1" lang="en-US" altLang="ja-JP">
                <a:latin typeface="Meiryo" panose="020B0604030504040204" pitchFamily="50" charset="-128"/>
              </a:rPr>
              <a:t>p=(E_1−E_t)/E_1</a:t>
            </a:r>
            <a:r>
              <a:rPr kumimoji="1" lang="ja-JP" altLang="en-US">
                <a:latin typeface="Meiryo" panose="020B0604030504040204" pitchFamily="50" charset="-128"/>
              </a:rPr>
              <a:t>から導出。</a:t>
            </a:r>
            <a:r>
              <a:rPr kumimoji="1" lang="en-US" altLang="ja-JP">
                <a:latin typeface="Meiryo" panose="020B0604030504040204" pitchFamily="50" charset="-128"/>
              </a:rPr>
              <a:t>SM 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は全連結成分の頂点数の和が</a:t>
            </a:r>
            <a:r>
              <a:rPr kumimoji="1" lang="en-US" altLang="ja-JP">
                <a:latin typeface="Meiryo" panose="020B0604030504040204" pitchFamily="50" charset="-128"/>
              </a:rPr>
              <a:t>N</a:t>
            </a:r>
            <a:r>
              <a:rPr kumimoji="1" lang="ja-JP" altLang="en-US">
                <a:latin typeface="Meiryo" panose="020B0604030504040204" pitchFamily="50" charset="-128"/>
              </a:rPr>
              <a:t>なので</a:t>
            </a:r>
            <a:r>
              <a:rPr kumimoji="1" lang="en-US" altLang="ja-JP">
                <a:latin typeface="Meiryo" panose="020B0604030504040204" pitchFamily="50" charset="-128"/>
              </a:rPr>
              <a:t>P=s_R/N</a:t>
            </a:r>
            <a:r>
              <a:rPr kumimoji="1" lang="ja-JP" altLang="en-US">
                <a:latin typeface="Meiryo" panose="020B0604030504040204" pitchFamily="50" charset="-128"/>
              </a:rPr>
              <a:t>。この等号は代数的補足です。</a:t>
            </a:r>
            <a:r>
              <a:rPr kumimoji="1" lang="en-US" altLang="ja-JP">
                <a:latin typeface="Meiryo" panose="020B0604030504040204" pitchFamily="50" charset="-128"/>
              </a:rPr>
              <a:t>t</a:t>
            </a:r>
            <a:r>
              <a:rPr kumimoji="1" lang="ja-JP" altLang="en-US">
                <a:latin typeface="Meiryo" panose="020B0604030504040204" pitchFamily="50" charset="-128"/>
              </a:rPr>
              <a:t>を要求</a:t>
            </a:r>
            <a:r>
              <a:rPr kumimoji="1" lang="en-US" altLang="ja-JP">
                <a:latin typeface="Meiryo" panose="020B0604030504040204" pitchFamily="50" charset="-128"/>
              </a:rPr>
              <a:t>t</a:t>
            </a:r>
            <a:r>
              <a:rPr kumimoji="1" lang="ja-JP" altLang="en-US">
                <a:latin typeface="Meiryo" panose="020B0604030504040204" pitchFamily="50" charset="-128"/>
              </a:rPr>
              <a:t>の削除後という意味にしません。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7</a:t>
            </a:fld>
            <a:endParaRPr kumimoji="1" lang="ja-JP" altLang="en-US"/>
          </a:p>
        </p:txBody>
      </p:sp>
    </p:spTree>
    <p:extLst>
      <p:ext uri="{BB962C8B-B14F-4D97-AF65-F5344CB8AC3E}">
        <p14:creationId xmlns:p14="http://schemas.microsoft.com/office/powerpoint/2010/main" val="388981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の和は</a:t>
            </a:r>
            <a:r>
              <a:rPr kumimoji="1" lang="en-US" altLang="ja-JP">
                <a:latin typeface="Meiryo" panose="020B0604030504040204" pitchFamily="50" charset="-128"/>
              </a:rPr>
              <a:t>r=1</a:t>
            </a:r>
            <a:r>
              <a:rPr kumimoji="1" lang="ja-JP" altLang="en-US">
                <a:latin typeface="Meiryo" panose="020B0604030504040204" pitchFamily="50" charset="-128"/>
              </a:rPr>
              <a:t>から</a:t>
            </a:r>
            <a:r>
              <a:rPr kumimoji="1" lang="en-US" altLang="ja-JP">
                <a:latin typeface="Meiryo" panose="020B0604030504040204" pitchFamily="50" charset="-128"/>
              </a:rPr>
              <a:t>R−1</a:t>
            </a:r>
            <a:r>
              <a:rPr kumimoji="1" lang="ja-JP" altLang="en-US">
                <a:latin typeface="Meiryo" panose="020B0604030504040204" pitchFamily="50" charset="-128"/>
              </a:rPr>
              <a:t>で最大を</a:t>
            </a:r>
            <a:r>
              <a:rPr kumimoji="1" lang="en-US" altLang="ja-JP">
                <a:latin typeface="Meiryo" panose="020B0604030504040204" pitchFamily="50" charset="-128"/>
              </a:rPr>
              <a:t>1</a:t>
            </a:r>
            <a:r>
              <a:rPr kumimoji="1" lang="ja-JP" altLang="en-US">
                <a:latin typeface="Meiryo" panose="020B0604030504040204" pitchFamily="50" charset="-128"/>
              </a:rPr>
              <a:t>個除きます。期待値解釈は数学的補足であり、原論文が頂点を抽出して測定したという主張ではありません。詳細な頂点重みの導出、</a:t>
            </a:r>
            <a:r>
              <a:rPr kumimoji="1" lang="en-US" altLang="ja-JP">
                <a:latin typeface="Meiryo" panose="020B0604030504040204" pitchFamily="50" charset="-128"/>
              </a:rPr>
              <a:t>m_s</a:t>
            </a:r>
            <a:r>
              <a:rPr kumimoji="1" lang="ja-JP" altLang="en-US">
                <a:latin typeface="Meiryo" panose="020B0604030504040204" pitchFamily="50" charset="-128"/>
              </a:rPr>
              <a:t>・</a:t>
            </a:r>
            <a:r>
              <a:rPr kumimoji="1" lang="en-US" altLang="ja-JP">
                <a:latin typeface="Meiryo" panose="020B0604030504040204" pitchFamily="50" charset="-128"/>
              </a:rPr>
              <a:t>n_s</a:t>
            </a:r>
            <a:r>
              <a:rPr kumimoji="1" lang="ja-JP" altLang="en-US">
                <a:latin typeface="Meiryo" panose="020B0604030504040204" pitchFamily="50" charset="-128"/>
              </a:rPr>
              <a:t>との等価性、最大成分の支配的寄与、</a:t>
            </a:r>
            <a:r>
              <a:rPr kumimoji="1" lang="en-US" altLang="ja-JP">
                <a:latin typeface="Meiryo" panose="020B0604030504040204" pitchFamily="50" charset="-128"/>
              </a:rPr>
              <a:t>R=1</a:t>
            </a:r>
            <a:r>
              <a:rPr kumimoji="1" lang="ja-JP" altLang="en-US">
                <a:latin typeface="Meiryo" panose="020B0604030504040204" pitchFamily="50" charset="-128"/>
              </a:rPr>
              <a:t>の注意は独立した板書案に記載します。同率最大なら</a:t>
            </a:r>
            <a:r>
              <a:rPr kumimoji="1" lang="en-US" altLang="ja-JP">
                <a:latin typeface="Meiryo" panose="020B0604030504040204" pitchFamily="50" charset="-128"/>
              </a:rPr>
              <a:t>1</a:t>
            </a:r>
            <a:r>
              <a:rPr kumimoji="1" lang="ja-JP" altLang="en-US">
                <a:latin typeface="Meiryo" panose="020B0604030504040204" pitchFamily="50" charset="-128"/>
              </a:rPr>
              <a:t>個だけ除きます。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8</a:t>
            </a:fld>
            <a:endParaRPr kumimoji="1" lang="ja-JP" altLang="en-US"/>
          </a:p>
        </p:txBody>
      </p:sp>
    </p:spTree>
    <p:extLst>
      <p:ext uri="{BB962C8B-B14F-4D97-AF65-F5344CB8AC3E}">
        <p14:creationId xmlns:p14="http://schemas.microsoft.com/office/powerpoint/2010/main" val="150084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No.3-A</a:t>
            </a:r>
            <a:r>
              <a:rPr kumimoji="1" lang="ja-JP" altLang="en-US">
                <a:latin typeface="Meiryo" panose="020B0604030504040204" pitchFamily="50" charset="-128"/>
              </a:rPr>
              <a:t>。</a:t>
            </a:r>
            <a:r>
              <a:rPr kumimoji="1" lang="en-US" altLang="ja-JP">
                <a:latin typeface="Meiryo" panose="020B0604030504040204" pitchFamily="50" charset="-128"/>
              </a:rPr>
              <a:t>P=s_max/N</a:t>
            </a:r>
            <a:r>
              <a:rPr kumimoji="1" lang="ja-JP" altLang="en-US">
                <a:latin typeface="Meiryo" panose="020B0604030504040204" pitchFamily="50" charset="-128"/>
              </a:rPr>
              <a:t>、</a:t>
            </a:r>
            <a:r>
              <a:rPr kumimoji="1" lang="en-US" altLang="ja-JP">
                <a:latin typeface="Meiryo" panose="020B0604030504040204" pitchFamily="50" charset="-128"/>
              </a:rPr>
              <a:t>N=L²</a:t>
            </a:r>
            <a:r>
              <a:rPr kumimoji="1" lang="ja-JP" altLang="en-US">
                <a:latin typeface="Meiryo" panose="020B0604030504040204" pitchFamily="50" charset="-128"/>
              </a:rPr>
              <a:t>。有限</a:t>
            </a:r>
            <a:r>
              <a:rPr kumimoji="1" lang="en-US" altLang="ja-JP">
                <a:latin typeface="Meiryo" panose="020B0604030504040204" pitchFamily="50" charset="-128"/>
              </a:rPr>
              <a:t>N</a:t>
            </a:r>
            <a:r>
              <a:rPr kumimoji="1" lang="ja-JP" altLang="en-US">
                <a:latin typeface="Meiryo" panose="020B0604030504040204" pitchFamily="50" charset="-128"/>
              </a:rPr>
              <a:t>で</a:t>
            </a:r>
            <a:r>
              <a:rPr kumimoji="1" lang="en-US" altLang="ja-JP">
                <a:latin typeface="Meiryo" panose="020B0604030504040204" pitchFamily="50" charset="-128"/>
              </a:rPr>
              <a:t>s_max</a:t>
            </a:r>
            <a:r>
              <a:rPr kumimoji="1" lang="ja-JP" altLang="en-US">
                <a:latin typeface="Meiryo" panose="020B0604030504040204" pitchFamily="50" charset="-128"/>
              </a:rPr>
              <a:t>は整数であり、</a:t>
            </a:r>
            <a:r>
              <a:rPr kumimoji="1" lang="en-US" altLang="ja-JP">
                <a:latin typeface="Meiryo" panose="020B0604030504040204" pitchFamily="50" charset="-128"/>
              </a:rPr>
              <a:t>P</a:t>
            </a:r>
            <a:r>
              <a:rPr kumimoji="1" lang="ja-JP" altLang="en-US">
                <a:latin typeface="Meiryo" panose="020B0604030504040204" pitchFamily="50" charset="-128"/>
              </a:rPr>
              <a:t>の取り得る値は離散的です。要求</a:t>
            </a:r>
            <a:r>
              <a:rPr kumimoji="1" lang="en-US" altLang="ja-JP">
                <a:latin typeface="Meiryo" panose="020B0604030504040204" pitchFamily="50" charset="-128"/>
              </a:rPr>
              <a:t>1</a:t>
            </a:r>
            <a:r>
              <a:rPr kumimoji="1" lang="ja-JP" altLang="en-US">
                <a:latin typeface="Meiryo" panose="020B0604030504040204" pitchFamily="50" charset="-128"/>
              </a:rPr>
              <a:t>回で複数辺を削除することもあります。ある有限サイズでの急変だけでは無限サイズの不連続性は判断できません。これは解析への動機付けで、原論文の日本語逐語引用ではありません。</a:t>
            </a:r>
            <a:r>
              <a:rPr kumimoji="1" lang="en-US" altLang="ja-JP">
                <a:latin typeface="Meiryo" panose="020B0604030504040204" pitchFamily="50" charset="-128"/>
              </a:rPr>
              <a:t>S4/S5</a:t>
            </a:r>
            <a:r>
              <a:rPr kumimoji="1" lang="ja-JP" altLang="en-US">
                <a:latin typeface="Meiryo" panose="020B0604030504040204" pitchFamily="50" charset="-128"/>
              </a:rPr>
              <a:t>と指数計算は次のスライドへ進め、</a:t>
            </a:r>
            <a:r>
              <a:rPr kumimoji="1" lang="en-US" altLang="ja-JP">
                <a:latin typeface="Meiryo" panose="020B0604030504040204" pitchFamily="50" charset="-128"/>
              </a:rPr>
              <a:t>FSS</a:t>
            </a:r>
            <a:r>
              <a:rPr kumimoji="1" lang="ja-JP" altLang="en-US">
                <a:latin typeface="Meiryo" panose="020B0604030504040204" pitchFamily="50" charset="-128"/>
              </a:rPr>
              <a:t>の式は先取りしません。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9</a:t>
            </a:fld>
            <a:endParaRPr kumimoji="1" lang="ja-JP" altLang="en-US"/>
          </a:p>
        </p:txBody>
      </p:sp>
    </p:spTree>
    <p:extLst>
      <p:ext uri="{BB962C8B-B14F-4D97-AF65-F5344CB8AC3E}">
        <p14:creationId xmlns:p14="http://schemas.microsoft.com/office/powerpoint/2010/main" val="2374171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No.3-B</a:t>
            </a:r>
            <a:r>
              <a:rPr kumimoji="1" lang="ja-JP" altLang="en-US">
                <a:latin typeface="Meiryo" panose="020B0604030504040204" pitchFamily="50" charset="-128"/>
              </a:rPr>
              <a:t>。</a:t>
            </a:r>
            <a:r>
              <a:rPr kumimoji="1" lang="en-US" altLang="ja-JP">
                <a:latin typeface="Meiryo" panose="020B0604030504040204" pitchFamily="50" charset="-128"/>
              </a:rPr>
              <a:t>S4</a:t>
            </a:r>
            <a:r>
              <a:rPr kumimoji="1" lang="ja-JP" altLang="en-US">
                <a:latin typeface="Meiryo" panose="020B0604030504040204" pitchFamily="50" charset="-128"/>
              </a:rPr>
              <a:t>は仮定、</a:t>
            </a:r>
            <a:r>
              <a:rPr kumimoji="1" lang="en-US" altLang="ja-JP">
                <a:latin typeface="Meiryo" panose="020B0604030504040204" pitchFamily="50" charset="-128"/>
              </a:rPr>
              <a:t>S5</a:t>
            </a:r>
            <a:r>
              <a:rPr kumimoji="1" lang="ja-JP" altLang="en-US">
                <a:latin typeface="Meiryo" panose="020B0604030504040204" pitchFamily="50" charset="-128"/>
              </a:rPr>
              <a:t>は</a:t>
            </a:r>
            <a:r>
              <a:rPr kumimoji="1" lang="en-US" altLang="ja-JP">
                <a:latin typeface="Meiryo" panose="020B0604030504040204" pitchFamily="50" charset="-128"/>
              </a:rPr>
              <a:t>x,y,z&gt;0</a:t>
            </a:r>
            <a:r>
              <a:rPr kumimoji="1" lang="ja-JP" altLang="en-US">
                <a:latin typeface="Meiryo" panose="020B0604030504040204" pitchFamily="50" charset="-128"/>
              </a:rPr>
              <a:t>で対数法則を適用した結果です。</a:t>
            </a:r>
            <a:r>
              <a:rPr kumimoji="1" lang="en-US" altLang="ja-JP">
                <a:latin typeface="Meiryo" panose="020B0604030504040204" pitchFamily="50" charset="-128"/>
              </a:rPr>
              <a:t>X=log y</a:t>
            </a:r>
            <a:r>
              <a:rPr kumimoji="1" lang="ja-JP" altLang="en-US">
                <a:latin typeface="Meiryo" panose="020B0604030504040204" pitchFamily="50" charset="-128"/>
              </a:rPr>
              <a:t>、</a:t>
            </a:r>
            <a:r>
              <a:rPr kumimoji="1" lang="en-US" altLang="ja-JP">
                <a:latin typeface="Meiryo" panose="020B0604030504040204" pitchFamily="50" charset="-128"/>
              </a:rPr>
              <a:t>Y=log x</a:t>
            </a:r>
            <a:r>
              <a:rPr kumimoji="1" lang="ja-JP" altLang="en-US">
                <a:latin typeface="Meiryo" panose="020B0604030504040204" pitchFamily="50" charset="-128"/>
              </a:rPr>
              <a:t>、</a:t>
            </a:r>
            <a:r>
              <a:rPr kumimoji="1" lang="en-US" altLang="ja-JP">
                <a:latin typeface="Meiryo" panose="020B0604030504040204" pitchFamily="50" charset="-128"/>
              </a:rPr>
              <a:t>b=log z</a:t>
            </a:r>
            <a:r>
              <a:rPr kumimoji="1" lang="ja-JP" altLang="en-US">
                <a:latin typeface="Meiryo" panose="020B0604030504040204" pitchFamily="50" charset="-128"/>
              </a:rPr>
              <a:t>とすれば</a:t>
            </a:r>
            <a:r>
              <a:rPr kumimoji="1" lang="en-US" altLang="ja-JP">
                <a:latin typeface="Meiryo" panose="020B0604030504040204" pitchFamily="50" charset="-128"/>
              </a:rPr>
              <a:t>Y=ζX+b</a:t>
            </a:r>
            <a:r>
              <a:rPr kumimoji="1" lang="ja-JP" altLang="en-US">
                <a:latin typeface="Meiryo" panose="020B0604030504040204" pitchFamily="50" charset="-128"/>
              </a:rPr>
              <a:t>となり、傾きが指数です。対数の底は共通で</a:t>
            </a:r>
            <a:r>
              <a:rPr kumimoji="1" lang="en-US" altLang="ja-JP">
                <a:latin typeface="Meiryo" panose="020B0604030504040204" pitchFamily="50" charset="-128"/>
              </a:rPr>
              <a:t>1</a:t>
            </a:r>
            <a:r>
              <a:rPr kumimoji="1" lang="ja-JP" altLang="en-US">
                <a:latin typeface="Meiryo" panose="020B0604030504040204" pitchFamily="50" charset="-128"/>
              </a:rPr>
              <a:t>以外の正数を使います。最小二乗公式は板書補足のみ。</a:t>
            </a:r>
            <a:r>
              <a:rPr kumimoji="1" lang="en-US" altLang="ja-JP">
                <a:latin typeface="Meiryo" panose="020B0604030504040204" pitchFamily="50" charset="-128"/>
              </a:rPr>
              <a:t>FSS</a:t>
            </a:r>
            <a:r>
              <a:rPr kumimoji="1" lang="ja-JP" altLang="en-US">
                <a:latin typeface="Meiryo" panose="020B0604030504040204" pitchFamily="50" charset="-128"/>
              </a:rPr>
              <a:t>の関係は</a:t>
            </a:r>
            <a:r>
              <a:rPr kumimoji="1" lang="en-US" altLang="ja-JP">
                <a:latin typeface="Meiryo" panose="020B0604030504040204" pitchFamily="50" charset="-128"/>
              </a:rPr>
              <a:t>S4/S5</a:t>
            </a:r>
            <a:r>
              <a:rPr kumimoji="1" lang="ja-JP" altLang="en-US">
                <a:latin typeface="Meiryo" panose="020B0604030504040204" pitchFamily="50" charset="-128"/>
              </a:rPr>
              <a:t>から自動的に導出されず、直線への当てはまりだけでべき乗則は証明されません。今回は</a:t>
            </a:r>
            <a:r>
              <a:rPr kumimoji="1" lang="en-US" altLang="ja-JP">
                <a:latin typeface="Meiryo" panose="020B0604030504040204" pitchFamily="50" charset="-128"/>
              </a:rPr>
              <a:t>S5</a:t>
            </a:r>
            <a:r>
              <a:rPr kumimoji="1" lang="ja-JP" altLang="en-US">
                <a:latin typeface="Meiryo" panose="020B0604030504040204" pitchFamily="50" charset="-128"/>
              </a:rPr>
              <a:t>で終え、</a:t>
            </a:r>
            <a:r>
              <a:rPr kumimoji="1" lang="en-US" altLang="ja-JP">
                <a:latin typeface="Meiryo" panose="020B0604030504040204" pitchFamily="50" charset="-128"/>
              </a:rPr>
              <a:t>S6</a:t>
            </a:r>
            <a:r>
              <a:rPr kumimoji="1" lang="ja-JP" altLang="en-US">
                <a:latin typeface="Meiryo" panose="020B0604030504040204" pitchFamily="50" charset="-128"/>
              </a:rPr>
              <a:t>以降の詳細や未定義の臨界指数を先取りしません。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10</a:t>
            </a:fld>
            <a:endParaRPr kumimoji="1" lang="ja-JP" altLang="en-US"/>
          </a:p>
        </p:txBody>
      </p:sp>
    </p:spTree>
    <p:extLst>
      <p:ext uri="{BB962C8B-B14F-4D97-AF65-F5344CB8AC3E}">
        <p14:creationId xmlns:p14="http://schemas.microsoft.com/office/powerpoint/2010/main" val="3428904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98E9FC-B085-D8CD-6446-E4DD9B32C1E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F53963E-4EFC-4DFE-6F30-06020D3771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65F3D9E-120A-7DF4-67D5-9668371A5E22}"/>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571429CB-709F-5951-D634-2B1925BAB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B63213-B913-DB3E-5D50-7ACD33603BC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6355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58C66-FD90-86F4-FF34-8AC808F249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0EBE70-9E80-30E5-62F3-CA75643E73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F95F68A-BDD3-786B-0778-CC720F7C8B44}"/>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4215C05D-B8EA-B8CC-320C-12863B2FF7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287652-B4E2-E405-6C77-1529A4E1D4C0}"/>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030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999F9E-8DF7-EC18-8D5E-AAE514303E8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8E6219-7E07-BEF2-26F8-E8AA8D3E7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6795292-53B0-AB38-A47A-417768E87D4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EEC71914-7811-40F9-D6C5-3D61A427B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DF7B96-CA29-79A2-D766-F36D8E553F96}"/>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410764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F6FE63-3B8A-0C0F-8B5F-B8A756CAB41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2CFDA8-5F40-00A2-2439-F447C64252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FEAF64-D508-7EA9-B437-805C1F0A3E0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B492C-A305-C06E-52DE-CCFBEBDB35B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8BE6F4B0-24E4-8EC8-C59B-C73C8840D3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021177-8D61-829F-903F-EA5498941D7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70018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77613B-98A3-0164-B4C8-782E922E3FC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45FAE1D-8DA8-FEE2-571B-1E8D45511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786879-682A-4A8C-DD6E-B85B21319D0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0A334C-6F1D-BF38-B669-E6E2B31B7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8F41655-FC1B-4758-88A9-C8F14C56D9E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394288-650C-1D1B-1B77-BE3CA3EC77B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8" name="フッター プレースホルダー 7">
            <a:extLst>
              <a:ext uri="{FF2B5EF4-FFF2-40B4-BE49-F238E27FC236}">
                <a16:creationId xmlns:a16="http://schemas.microsoft.com/office/drawing/2014/main" id="{9C019648-1039-B13C-6FF4-D397F860B24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2C2E2F-0EF2-5675-5D71-232E8A370542}"/>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8721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46934B-C339-5412-D378-AE4B7D6CCA3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E7365F5-D049-E3DD-73F7-E124278EC238}"/>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4" name="フッター プレースホルダー 3">
            <a:extLst>
              <a:ext uri="{FF2B5EF4-FFF2-40B4-BE49-F238E27FC236}">
                <a16:creationId xmlns:a16="http://schemas.microsoft.com/office/drawing/2014/main" id="{7BEE3F9B-4AC1-FBA9-413F-DD716E9759C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D8914D-E31E-B5CF-905C-18BC115EF74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62725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56A09E-587B-96B4-91C0-3C9D5349D85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3" name="フッター プレースホルダー 2">
            <a:extLst>
              <a:ext uri="{FF2B5EF4-FFF2-40B4-BE49-F238E27FC236}">
                <a16:creationId xmlns:a16="http://schemas.microsoft.com/office/drawing/2014/main" id="{DD1EABCF-526C-C552-00F0-BC8842629E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4F13E8-0599-8BB0-FC33-E677FC73BBF1}"/>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0390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BA874A-425A-CDCB-AFC6-F2F69ECA084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EA7194-2108-7194-863B-A31C89553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4B3AA3-7740-409A-A7F1-07BE49061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101905-CF53-FA3C-EB8F-227A09EA5FBD}"/>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A1995DAF-E61B-64D6-0316-F55E2FF2B9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F1D33CD-E154-C8A9-9413-207BE75A9D44}"/>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06170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63BBB-38F3-EA6D-9E4D-B28E0FF54B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9B62739-2ABF-18C2-6C68-578397893AF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7D5770-BDFA-06FB-1A68-59B112775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3FC7DF9-B9DC-B922-1145-451005B3BAA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5438F51E-E52E-6D6D-D787-4B9893AFCE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095B2D-4039-4301-4570-EF54F5BDDFB8}"/>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512502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0A3DC-74C5-AE6C-5B98-BCF69C01D4C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1674B1F-3A36-6B87-4506-0023430ECB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E5A6E9-ED97-380D-A51B-34F88BF82B15}"/>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D2D3A3C-8411-9F73-42D8-868A56BD7A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31C716-EA90-5610-8DB4-FB9F62C528E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34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C79238F-D9AE-A570-E2F8-1003A5125F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90DEB3-8423-AC81-C034-912D3335074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83D8A-B40B-CA80-22EA-0C3982D7582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E18B709-4BDB-128B-0343-E31E9D8268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B3B321-9154-E4C8-3E9B-3F15F6A580C7}"/>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127487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556792-6774-8E89-FC04-721776BE8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0FE7D2-8A4F-0923-C232-395F3B37D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BDECCF-8D6C-A2CE-853F-F0C12088A5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FA51DB05-1029-8816-470B-7738E3767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4A7185-1414-FB76-9A70-8E54D9099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309291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DAB323B-61C8-75C2-33A9-C3D126ECB1A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3" name="source-2">
            <a:extLst>
              <a:ext uri="{FF2B5EF4-FFF2-40B4-BE49-F238E27FC236}">
                <a16:creationId xmlns:a16="http://schemas.microsoft.com/office/drawing/2014/main" id="{61D844DC-F08A-0C5E-01D1-A981D29F1C6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4" name="page-3">
            <a:extLst>
              <a:ext uri="{FF2B5EF4-FFF2-40B4-BE49-F238E27FC236}">
                <a16:creationId xmlns:a16="http://schemas.microsoft.com/office/drawing/2014/main" id="{70E1DAA6-76EF-905D-3E07-2256CF994E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01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5" name="text-4">
            <a:extLst>
              <a:ext uri="{FF2B5EF4-FFF2-40B4-BE49-F238E27FC236}">
                <a16:creationId xmlns:a16="http://schemas.microsoft.com/office/drawing/2014/main" id="{B7E3955A-5A30-54C8-7597-3DC589B42FBA}"/>
              </a:ext>
            </a:extLst>
          </p:cNvPr>
          <p:cNvSpPr txBox="1"/>
          <p:nvPr/>
        </p:nvSpPr>
        <p:spPr>
          <a:xfrm>
            <a:off x="698500" y="889000"/>
            <a:ext cx="10795000" cy="276999"/>
          </a:xfrm>
          <a:prstGeom prst="rect">
            <a:avLst/>
          </a:prstGeom>
          <a:noFill/>
        </p:spPr>
        <p:txBody>
          <a:bodyPr vert="horz" wrap="square" lIns="0" tIns="0" rIns="0" bIns="0" rtlCol="0">
            <a:noAutofit/>
          </a:bodyPr>
          <a:lstStyle/>
          <a:p>
            <a:pPr>
              <a:lnSpc>
                <a:spcPct val="112000"/>
              </a:lnSpc>
            </a:pPr>
            <a:r>
              <a:rPr kumimoji="1" lang="ja-JP" altLang="en-US" sz="2500" b="1">
                <a:solidFill>
                  <a:srgbClr val="17365D"/>
                </a:solidFill>
                <a:latin typeface="Meiryo" panose="020B0604030504040204" pitchFamily="50" charset="-128"/>
                <a:ea typeface="Meiryo" panose="020B0604030504040204" pitchFamily="50" charset="-128"/>
              </a:rPr>
              <a:t>卒業研究 ゼミ発表</a:t>
            </a:r>
          </a:p>
        </p:txBody>
      </p:sp>
      <p:sp>
        <p:nvSpPr>
          <p:cNvPr id="6" name="text-5">
            <a:extLst>
              <a:ext uri="{FF2B5EF4-FFF2-40B4-BE49-F238E27FC236}">
                <a16:creationId xmlns:a16="http://schemas.microsoft.com/office/drawing/2014/main" id="{B5E88994-79EE-C1A5-0935-2435E7A7D298}"/>
              </a:ext>
            </a:extLst>
          </p:cNvPr>
          <p:cNvSpPr txBox="1"/>
          <p:nvPr/>
        </p:nvSpPr>
        <p:spPr>
          <a:xfrm>
            <a:off x="698500" y="2286000"/>
            <a:ext cx="10795000" cy="276999"/>
          </a:xfrm>
          <a:prstGeom prst="rect">
            <a:avLst/>
          </a:prstGeom>
          <a:noFill/>
        </p:spPr>
        <p:txBody>
          <a:bodyPr vert="horz" wrap="square" lIns="0" tIns="0" rIns="0" bIns="0" rtlCol="0">
            <a:noAutofit/>
          </a:bodyPr>
          <a:lstStyle/>
          <a:p>
            <a:pPr>
              <a:lnSpc>
                <a:spcPct val="112000"/>
              </a:lnSpc>
            </a:pPr>
            <a:r>
              <a:rPr kumimoji="1" lang="en-US" altLang="ja-JP" sz="4200" b="1">
                <a:solidFill>
                  <a:srgbClr val="17365D"/>
                </a:solidFill>
                <a:latin typeface="Meiryo" panose="020B0604030504040204" pitchFamily="50" charset="-128"/>
                <a:ea typeface="Meiryo" panose="020B0604030504040204" pitchFamily="50" charset="-128"/>
              </a:rPr>
              <a:t>2</a:t>
            </a:r>
            <a:r>
              <a:rPr kumimoji="1" lang="ja-JP" altLang="en-US" sz="4200" b="1">
                <a:solidFill>
                  <a:srgbClr val="17365D"/>
                </a:solidFill>
                <a:latin typeface="Meiryo" panose="020B0604030504040204" pitchFamily="50" charset="-128"/>
                <a:ea typeface="Meiryo" panose="020B0604030504040204" pitchFamily="50" charset="-128"/>
              </a:rPr>
              <a:t>次元正方格子上の
</a:t>
            </a:r>
            <a:r>
              <a:rPr kumimoji="1" lang="en-US" altLang="ja-JP" sz="4200" b="1">
                <a:solidFill>
                  <a:srgbClr val="17365D"/>
                </a:solidFill>
                <a:latin typeface="Meiryo" panose="020B0604030504040204" pitchFamily="50" charset="-128"/>
                <a:ea typeface="Meiryo" panose="020B0604030504040204" pitchFamily="50" charset="-128"/>
              </a:rPr>
              <a:t>Shortest-Path Percolation</a:t>
            </a:r>
            <a:endParaRPr kumimoji="1" lang="ja-JP" altLang="en-US" sz="4200" b="1">
              <a:solidFill>
                <a:srgbClr val="17365D"/>
              </a:solidFill>
              <a:latin typeface="Meiryo" panose="020B0604030504040204" pitchFamily="50" charset="-128"/>
              <a:ea typeface="Meiryo" panose="020B0604030504040204" pitchFamily="50" charset="-128"/>
            </a:endParaRPr>
          </a:p>
        </p:txBody>
      </p:sp>
      <p:sp>
        <p:nvSpPr>
          <p:cNvPr id="7" name="text-6">
            <a:extLst>
              <a:ext uri="{FF2B5EF4-FFF2-40B4-BE49-F238E27FC236}">
                <a16:creationId xmlns:a16="http://schemas.microsoft.com/office/drawing/2014/main" id="{D1078EED-ABD9-D662-26F0-EF36AF6E75DE}"/>
              </a:ext>
            </a:extLst>
          </p:cNvPr>
          <p:cNvSpPr txBox="1"/>
          <p:nvPr/>
        </p:nvSpPr>
        <p:spPr>
          <a:xfrm>
            <a:off x="698500" y="4635500"/>
            <a:ext cx="107950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53746"/>
                </a:solidFill>
                <a:latin typeface="Meiryo" panose="020B0604030504040204" pitchFamily="50" charset="-128"/>
                <a:ea typeface="Meiryo" panose="020B0604030504040204" pitchFamily="50" charset="-128"/>
              </a:rPr>
              <a:t>2026</a:t>
            </a:r>
            <a:r>
              <a:rPr kumimoji="1" lang="ja-JP" altLang="en-US" sz="2500">
                <a:solidFill>
                  <a:srgbClr val="253746"/>
                </a:solidFill>
                <a:latin typeface="Meiryo" panose="020B0604030504040204" pitchFamily="50" charset="-128"/>
                <a:ea typeface="Meiryo" panose="020B0604030504040204" pitchFamily="50" charset="-128"/>
              </a:rPr>
              <a:t>年</a:t>
            </a:r>
            <a:r>
              <a:rPr kumimoji="1" lang="en-US" altLang="ja-JP" sz="2500">
                <a:solidFill>
                  <a:srgbClr val="253746"/>
                </a:solidFill>
                <a:latin typeface="Meiryo" panose="020B0604030504040204" pitchFamily="50" charset="-128"/>
                <a:ea typeface="Meiryo" panose="020B0604030504040204" pitchFamily="50" charset="-128"/>
              </a:rPr>
              <a:t>10</a:t>
            </a:r>
            <a:r>
              <a:rPr kumimoji="1" lang="ja-JP" altLang="en-US" sz="2500">
                <a:solidFill>
                  <a:srgbClr val="253746"/>
                </a:solidFill>
                <a:latin typeface="Meiryo" panose="020B0604030504040204" pitchFamily="50" charset="-128"/>
                <a:ea typeface="Meiryo" panose="020B0604030504040204" pitchFamily="50" charset="-128"/>
              </a:rPr>
              <a:t>月</a:t>
            </a:r>
            <a:r>
              <a:rPr kumimoji="1" lang="en-US" altLang="ja-JP" sz="2500">
                <a:solidFill>
                  <a:srgbClr val="253746"/>
                </a:solidFill>
                <a:latin typeface="Meiryo" panose="020B0604030504040204" pitchFamily="50" charset="-128"/>
                <a:ea typeface="Meiryo" panose="020B0604030504040204" pitchFamily="50" charset="-128"/>
              </a:rPr>
              <a:t>15</a:t>
            </a:r>
            <a:r>
              <a:rPr kumimoji="1" lang="ja-JP" altLang="en-US" sz="2500">
                <a:solidFill>
                  <a:srgbClr val="253746"/>
                </a:solidFill>
                <a:latin typeface="Meiryo" panose="020B0604030504040204" pitchFamily="50" charset="-128"/>
                <a:ea typeface="Meiryo" panose="020B0604030504040204" pitchFamily="50" charset="-128"/>
              </a:rPr>
              <a:t>日</a:t>
            </a:r>
          </a:p>
        </p:txBody>
      </p:sp>
    </p:spTree>
    <p:extLst>
      <p:ext uri="{BB962C8B-B14F-4D97-AF65-F5344CB8AC3E}">
        <p14:creationId xmlns:p14="http://schemas.microsoft.com/office/powerpoint/2010/main" val="3945267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B2F5817-EABD-371A-E7AC-C8150AF5597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研究背景 </a:t>
            </a:r>
            <a:r>
              <a:rPr kumimoji="1" lang="en-US" altLang="ja-JP" sz="3200" b="1">
                <a:solidFill>
                  <a:srgbClr val="17365D"/>
                </a:solidFill>
                <a:latin typeface="Meiryo" panose="020B0604030504040204" pitchFamily="50" charset="-128"/>
                <a:ea typeface="Meiryo" panose="020B0604030504040204" pitchFamily="50" charset="-128"/>
              </a:rPr>
              <a:t>― </a:t>
            </a:r>
            <a:r>
              <a:rPr kumimoji="1" lang="ja-JP" altLang="en-US" sz="3200" b="1">
                <a:solidFill>
                  <a:srgbClr val="17365D"/>
                </a:solidFill>
                <a:latin typeface="Meiryo" panose="020B0604030504040204" pitchFamily="50" charset="-128"/>
                <a:ea typeface="Meiryo" panose="020B0604030504040204" pitchFamily="50" charset="-128"/>
              </a:rPr>
              <a:t>パーコレーションと相転移</a:t>
            </a:r>
          </a:p>
        </p:txBody>
      </p:sp>
      <p:cxnSp>
        <p:nvCxnSpPr>
          <p:cNvPr id="3" name="直線コネクタ 2">
            <a:extLst>
              <a:ext uri="{FF2B5EF4-FFF2-40B4-BE49-F238E27FC236}">
                <a16:creationId xmlns:a16="http://schemas.microsoft.com/office/drawing/2014/main" id="{51D3F132-46AC-F673-9946-A46138C72C3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6C4D70B-5ECF-7E9D-F7AB-7115178231A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9709252C-2B5B-D050-E26C-CF8C006693B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02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AA93C4E-FFD1-E66E-C970-C4959EF325B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パーコレーションでは、辺の占有率などの変化に伴い、
ネットワーク全体の連結性がどのように変化するかを調べる。</a:t>
            </a:r>
          </a:p>
        </p:txBody>
      </p:sp>
      <p:sp>
        <p:nvSpPr>
          <p:cNvPr id="7" name="text-6">
            <a:extLst>
              <a:ext uri="{FF2B5EF4-FFF2-40B4-BE49-F238E27FC236}">
                <a16:creationId xmlns:a16="http://schemas.microsoft.com/office/drawing/2014/main" id="{6C219479-F89C-6A73-8F83-77745C4BF3DA}"/>
              </a:ext>
            </a:extLst>
          </p:cNvPr>
          <p:cNvSpPr txBox="1"/>
          <p:nvPr/>
        </p:nvSpPr>
        <p:spPr>
          <a:xfrm>
            <a:off x="635000" y="28575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最大連結成分の大きさ</a:t>
            </a:r>
          </a:p>
        </p:txBody>
      </p:sp>
      <p:sp>
        <p:nvSpPr>
          <p:cNvPr id="8" name="text-7">
            <a:extLst>
              <a:ext uri="{FF2B5EF4-FFF2-40B4-BE49-F238E27FC236}">
                <a16:creationId xmlns:a16="http://schemas.microsoft.com/office/drawing/2014/main" id="{065AF99B-D8F2-995B-5395-A1D0813F3F66}"/>
              </a:ext>
            </a:extLst>
          </p:cNvPr>
          <p:cNvSpPr txBox="1"/>
          <p:nvPr/>
        </p:nvSpPr>
        <p:spPr>
          <a:xfrm>
            <a:off x="635000" y="33020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全体の頂点のうち、どの程度が一つにつながっているか。</a:t>
            </a:r>
          </a:p>
        </p:txBody>
      </p:sp>
      <p:sp>
        <p:nvSpPr>
          <p:cNvPr id="9" name="text-8">
            <a:extLst>
              <a:ext uri="{FF2B5EF4-FFF2-40B4-BE49-F238E27FC236}">
                <a16:creationId xmlns:a16="http://schemas.microsoft.com/office/drawing/2014/main" id="{B945A4C7-05C2-9B63-1790-646AFC6E8D7D}"/>
              </a:ext>
            </a:extLst>
          </p:cNvPr>
          <p:cNvSpPr txBox="1"/>
          <p:nvPr/>
        </p:nvSpPr>
        <p:spPr>
          <a:xfrm>
            <a:off x="635000" y="40640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臨界点と転移の性質</a:t>
            </a:r>
          </a:p>
        </p:txBody>
      </p:sp>
      <p:sp>
        <p:nvSpPr>
          <p:cNvPr id="10" name="text-9">
            <a:extLst>
              <a:ext uri="{FF2B5EF4-FFF2-40B4-BE49-F238E27FC236}">
                <a16:creationId xmlns:a16="http://schemas.microsoft.com/office/drawing/2014/main" id="{3AEDE76A-54BE-B869-5C62-5DC6D77DB983}"/>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転移が起こる位置と、連結成分の大きさが
連続的に変化するのか、不連続に変化するのかに注目する。</a:t>
            </a:r>
          </a:p>
        </p:txBody>
      </p:sp>
      <p:sp>
        <p:nvSpPr>
          <p:cNvPr id="11" name="text-10">
            <a:extLst>
              <a:ext uri="{FF2B5EF4-FFF2-40B4-BE49-F238E27FC236}">
                <a16:creationId xmlns:a16="http://schemas.microsoft.com/office/drawing/2014/main" id="{F119B1D7-2723-6B53-87C1-B6114DA1AC67}"/>
              </a:ext>
            </a:extLst>
          </p:cNvPr>
          <p:cNvSpPr txBox="1"/>
          <p:nvPr/>
        </p:nvSpPr>
        <p:spPr>
          <a:xfrm>
            <a:off x="635000" y="57150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これらの性質は、ネットワークの構造や辺の削除方法によって異なる場合がある。</a:t>
            </a:r>
          </a:p>
        </p:txBody>
      </p:sp>
    </p:spTree>
    <p:extLst>
      <p:ext uri="{BB962C8B-B14F-4D97-AF65-F5344CB8AC3E}">
        <p14:creationId xmlns:p14="http://schemas.microsoft.com/office/powerpoint/2010/main" val="3076508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C49983DC-8162-8F30-02BC-DAD85EBBAFA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の基本操作</a:t>
            </a:r>
          </a:p>
        </p:txBody>
      </p:sp>
      <p:cxnSp>
        <p:nvCxnSpPr>
          <p:cNvPr id="3" name="直線コネクタ 2">
            <a:extLst>
              <a:ext uri="{FF2B5EF4-FFF2-40B4-BE49-F238E27FC236}">
                <a16:creationId xmlns:a16="http://schemas.microsoft.com/office/drawing/2014/main" id="{578116FD-0DB8-C9DB-AD7F-CFFF4105AF5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03C17C4A-8E7B-3B7D-D4BC-CA400E32E0B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、図</a:t>
            </a:r>
            <a:r>
              <a:rPr kumimoji="1" lang="en-US" altLang="ja-JP" sz="950">
                <a:solidFill>
                  <a:srgbClr val="566573"/>
                </a:solidFill>
                <a:latin typeface="Meiryo" panose="020B0604030504040204" pitchFamily="50" charset="-128"/>
                <a:ea typeface="Meiryo" panose="020B0604030504040204" pitchFamily="50" charset="-128"/>
              </a:rPr>
              <a:t>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0FFEAA27-B66A-2492-43CE-538C0224969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03 / 10</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paper_fig1_ab.png">
            <a:extLst>
              <a:ext uri="{FF2B5EF4-FFF2-40B4-BE49-F238E27FC236}">
                <a16:creationId xmlns:a16="http://schemas.microsoft.com/office/drawing/2014/main" id="{3567BA87-20E0-B562-CEB4-0E6D983C4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6824" y="1587500"/>
            <a:ext cx="4903351" cy="2095500"/>
          </a:xfrm>
          <a:prstGeom prst="rect">
            <a:avLst/>
          </a:prstGeom>
        </p:spPr>
      </p:pic>
      <p:sp>
        <p:nvSpPr>
          <p:cNvPr id="8" name="text-6">
            <a:extLst>
              <a:ext uri="{FF2B5EF4-FFF2-40B4-BE49-F238E27FC236}">
                <a16:creationId xmlns:a16="http://schemas.microsoft.com/office/drawing/2014/main" id="{A075AF85-BA9D-45A7-4207-00A49AFF7684}"/>
              </a:ext>
            </a:extLst>
          </p:cNvPr>
          <p:cNvSpPr txBox="1"/>
          <p:nvPr/>
        </p:nvSpPr>
        <p:spPr>
          <a:xfrm>
            <a:off x="698500" y="3810000"/>
            <a:ext cx="5207000" cy="276999"/>
          </a:xfrm>
          <a:prstGeom prst="rect">
            <a:avLst/>
          </a:prstGeom>
          <a:noFill/>
        </p:spPr>
        <p:txBody>
          <a:bodyPr vert="horz" wrap="square" lIns="0" tIns="0" rIns="0" bIns="0" rtlCol="0">
            <a:noAutofit/>
          </a:bodyPr>
          <a:lstStyle/>
          <a:p>
            <a:pPr>
              <a:lnSpc>
                <a:spcPct val="112000"/>
              </a:lnSpc>
            </a:pPr>
            <a:r>
              <a:rPr kumimoji="1" lang="ja-JP" altLang="en-US">
                <a:solidFill>
                  <a:srgbClr val="17365D"/>
                </a:solidFill>
                <a:latin typeface="Meiryo" panose="020B0604030504040204" pitchFamily="50" charset="-128"/>
                <a:ea typeface="Meiryo" panose="020B0604030504040204" pitchFamily="50" charset="-128"/>
              </a:rPr>
              <a:t>原論文 図</a:t>
            </a:r>
            <a:r>
              <a:rPr kumimoji="1" lang="en-US" altLang="ja-JP">
                <a:solidFill>
                  <a:srgbClr val="17365D"/>
                </a:solidFill>
                <a:latin typeface="Meiryo" panose="020B0604030504040204" pitchFamily="50" charset="-128"/>
                <a:ea typeface="Meiryo" panose="020B0604030504040204" pitchFamily="50" charset="-128"/>
              </a:rPr>
              <a:t>1(a)(b)</a:t>
            </a:r>
          </a:p>
          <a:p>
            <a:pPr>
              <a:lnSpc>
                <a:spcPct val="112000"/>
              </a:lnSpc>
            </a:pPr>
            <a:r>
              <a:rPr kumimoji="1" lang="ja-JP" altLang="en-US">
                <a:solidFill>
                  <a:srgbClr val="17365D"/>
                </a:solidFill>
                <a:latin typeface="Meiryo" panose="020B0604030504040204" pitchFamily="50" charset="-128"/>
                <a:ea typeface="Meiryo" panose="020B0604030504040204" pitchFamily="50" charset="-128"/>
              </a:rPr>
              <a:t>例：</a:t>
            </a:r>
            <a:r>
              <a:rPr kumimoji="1" lang="en-US" altLang="ja-JP">
                <a:solidFill>
                  <a:srgbClr val="17365D"/>
                </a:solidFill>
                <a:latin typeface="Meiryo" panose="020B0604030504040204" pitchFamily="50" charset="-128"/>
                <a:ea typeface="Meiryo" panose="020B0604030504040204" pitchFamily="50" charset="-128"/>
              </a:rPr>
              <a:t>Q</a:t>
            </a:r>
            <a:r>
              <a:rPr kumimoji="1" lang="en-US" altLang="ja-JP" sz="1332" baseline="-16000">
                <a:solidFill>
                  <a:srgbClr val="17365D"/>
                </a:solidFill>
                <a:latin typeface="Meiryo" panose="020B0604030504040204" pitchFamily="50" charset="-128"/>
                <a:ea typeface="Meiryo" panose="020B0604030504040204" pitchFamily="50" charset="-128"/>
              </a:rPr>
              <a:t>t</a:t>
            </a:r>
            <a:r>
              <a:rPr kumimoji="1" lang="en-US" altLang="ja-JP">
                <a:solidFill>
                  <a:srgbClr val="17365D"/>
                </a:solidFill>
                <a:latin typeface="Meiryo" panose="020B0604030504040204" pitchFamily="50" charset="-128"/>
                <a:ea typeface="Meiryo" panose="020B0604030504040204" pitchFamily="50" charset="-128"/>
              </a:rPr>
              <a:t>=4</a:t>
            </a:r>
            <a:r>
              <a:rPr kumimoji="1" lang="ja-JP" altLang="en-US">
                <a:solidFill>
                  <a:srgbClr val="17365D"/>
                </a:solidFill>
                <a:latin typeface="Meiryo" panose="020B0604030504040204" pitchFamily="50" charset="-128"/>
                <a:ea typeface="Meiryo" panose="020B0604030504040204" pitchFamily="50" charset="-128"/>
              </a:rPr>
              <a:t>。</a:t>
            </a:r>
            <a:r>
              <a:rPr kumimoji="1" lang="en-US" altLang="ja-JP">
                <a:solidFill>
                  <a:srgbClr val="17365D"/>
                </a:solidFill>
                <a:latin typeface="Meiryo" panose="020B0604030504040204" pitchFamily="50" charset="-128"/>
                <a:ea typeface="Meiryo" panose="020B0604030504040204" pitchFamily="50" charset="-128"/>
              </a:rPr>
              <a:t>C≥4</a:t>
            </a:r>
            <a:r>
              <a:rPr kumimoji="1" lang="ja-JP" altLang="en-US">
                <a:solidFill>
                  <a:srgbClr val="17365D"/>
                </a:solidFill>
                <a:latin typeface="Meiryo" panose="020B0604030504040204" pitchFamily="50" charset="-128"/>
                <a:ea typeface="Meiryo" panose="020B0604030504040204" pitchFamily="50" charset="-128"/>
              </a:rPr>
              <a:t>なら削除可能。</a:t>
            </a:r>
          </a:p>
        </p:txBody>
      </p:sp>
      <p:sp>
        <p:nvSpPr>
          <p:cNvPr id="9" name="text-7">
            <a:extLst>
              <a:ext uri="{FF2B5EF4-FFF2-40B4-BE49-F238E27FC236}">
                <a16:creationId xmlns:a16="http://schemas.microsoft.com/office/drawing/2014/main" id="{BD6C7D85-DD01-EAEE-9E0A-C74CC4D77E68}"/>
              </a:ext>
            </a:extLst>
          </p:cNvPr>
          <p:cNvSpPr txBox="1"/>
          <p:nvPr/>
        </p:nvSpPr>
        <p:spPr>
          <a:xfrm>
            <a:off x="6223000" y="1587500"/>
            <a:ext cx="533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1. </a:t>
            </a:r>
            <a:r>
              <a:rPr kumimoji="1" lang="ja-JP" altLang="en-US" sz="2100">
                <a:solidFill>
                  <a:srgbClr val="253746"/>
                </a:solidFill>
                <a:latin typeface="Meiryo" panose="020B0604030504040204" pitchFamily="50" charset="-128"/>
                <a:ea typeface="Meiryo" panose="020B0604030504040204" pitchFamily="50" charset="-128"/>
              </a:rPr>
              <a:t>異なる</a:t>
            </a:r>
            <a:r>
              <a:rPr kumimoji="1" lang="en-US" altLang="ja-JP" sz="2100">
                <a:solidFill>
                  <a:srgbClr val="253746"/>
                </a:solidFill>
                <a:latin typeface="Meiryo" panose="020B0604030504040204" pitchFamily="50" charset="-128"/>
                <a:ea typeface="Meiryo" panose="020B0604030504040204" pitchFamily="50" charset="-128"/>
              </a:rPr>
              <a:t>2</a:t>
            </a:r>
            <a:r>
              <a:rPr kumimoji="1" lang="ja-JP" altLang="en-US" sz="2100">
                <a:solidFill>
                  <a:srgbClr val="253746"/>
                </a:solidFill>
                <a:latin typeface="Meiryo" panose="020B0604030504040204" pitchFamily="50" charset="-128"/>
                <a:ea typeface="Meiryo" panose="020B0604030504040204" pitchFamily="50" charset="-128"/>
              </a:rPr>
              <a:t>頂点を同じ確率で選ぶ。
</a:t>
            </a:r>
            <a:r>
              <a:rPr kumimoji="1" lang="en-US" altLang="ja-JP" sz="2100">
                <a:solidFill>
                  <a:srgbClr val="253746"/>
                </a:solidFill>
                <a:latin typeface="Meiryo" panose="020B0604030504040204" pitchFamily="50" charset="-128"/>
                <a:ea typeface="Meiryo" panose="020B0604030504040204" pitchFamily="50" charset="-128"/>
              </a:rPr>
              <a:t>2. </a:t>
            </a:r>
            <a:r>
              <a:rPr kumimoji="1" lang="ja-JP" altLang="en-US" sz="2100">
                <a:solidFill>
                  <a:srgbClr val="253746"/>
                </a:solidFill>
                <a:latin typeface="Meiryo" panose="020B0604030504040204" pitchFamily="50" charset="-128"/>
                <a:ea typeface="Meiryo" panose="020B0604030504040204" pitchFamily="50" charset="-128"/>
              </a:rPr>
              <a:t>最短経路があり、
　 長さが</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以内か確認する。
</a:t>
            </a:r>
            <a:r>
              <a:rPr kumimoji="1" lang="en-US" altLang="ja-JP" sz="2100">
                <a:solidFill>
                  <a:srgbClr val="253746"/>
                </a:solidFill>
                <a:latin typeface="Meiryo" panose="020B0604030504040204" pitchFamily="50" charset="-128"/>
                <a:ea typeface="Meiryo" panose="020B0604030504040204" pitchFamily="50" charset="-128"/>
              </a:rPr>
              <a:t>3. </a:t>
            </a:r>
            <a:r>
              <a:rPr kumimoji="1" lang="ja-JP" altLang="en-US" sz="2100">
                <a:solidFill>
                  <a:srgbClr val="253746"/>
                </a:solidFill>
                <a:latin typeface="Meiryo" panose="020B0604030504040204" pitchFamily="50" charset="-128"/>
                <a:ea typeface="Meiryo" panose="020B0604030504040204" pitchFamily="50" charset="-128"/>
              </a:rPr>
              <a:t>最短経路を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本選ぶ。
</a:t>
            </a:r>
            <a:r>
              <a:rPr kumimoji="1" lang="en-US" altLang="ja-JP" sz="2100">
                <a:solidFill>
                  <a:srgbClr val="253746"/>
                </a:solidFill>
                <a:latin typeface="Meiryo" panose="020B0604030504040204" pitchFamily="50" charset="-128"/>
                <a:ea typeface="Meiryo" panose="020B0604030504040204" pitchFamily="50" charset="-128"/>
              </a:rPr>
              <a:t>4. </a:t>
            </a:r>
            <a:r>
              <a:rPr kumimoji="1" lang="ja-JP" altLang="en-US" sz="2100">
                <a:solidFill>
                  <a:srgbClr val="253746"/>
                </a:solidFill>
                <a:latin typeface="Meiryo" panose="020B0604030504040204" pitchFamily="50" charset="-128"/>
                <a:ea typeface="Meiryo" panose="020B0604030504040204" pitchFamily="50" charset="-128"/>
              </a:rPr>
              <a:t>経路上の全辺をまとめて削除する。</a:t>
            </a:r>
          </a:p>
        </p:txBody>
      </p:sp>
      <p:sp>
        <p:nvSpPr>
          <p:cNvPr id="10" name="text-8">
            <a:extLst>
              <a:ext uri="{FF2B5EF4-FFF2-40B4-BE49-F238E27FC236}">
                <a16:creationId xmlns:a16="http://schemas.microsoft.com/office/drawing/2014/main" id="{3A5F401F-5287-32F6-967E-D0CAFEBA888B}"/>
              </a:ext>
            </a:extLst>
          </p:cNvPr>
          <p:cNvSpPr txBox="1"/>
          <p:nvPr/>
        </p:nvSpPr>
        <p:spPr>
          <a:xfrm>
            <a:off x="6223000" y="4127500"/>
            <a:ext cx="533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複数の最短経路がある場合は、
その中から</a:t>
            </a:r>
            <a:r>
              <a:rPr kumimoji="1" lang="en-US" altLang="ja-JP">
                <a:solidFill>
                  <a:srgbClr val="253746"/>
                </a:solidFill>
                <a:latin typeface="Meiryo" panose="020B0604030504040204" pitchFamily="50" charset="-128"/>
                <a:ea typeface="Meiryo" panose="020B0604030504040204" pitchFamily="50" charset="-128"/>
              </a:rPr>
              <a:t>1</a:t>
            </a:r>
            <a:r>
              <a:rPr kumimoji="1" lang="ja-JP" altLang="en-US">
                <a:solidFill>
                  <a:srgbClr val="253746"/>
                </a:solidFill>
                <a:latin typeface="Meiryo" panose="020B0604030504040204" pitchFamily="50" charset="-128"/>
                <a:ea typeface="Meiryo" panose="020B0604030504040204" pitchFamily="50" charset="-128"/>
              </a:rPr>
              <a:t>本を等確率で選ぶ。</a:t>
            </a:r>
          </a:p>
        </p:txBody>
      </p:sp>
      <p:sp>
        <p:nvSpPr>
          <p:cNvPr id="11" name="text-9">
            <a:extLst>
              <a:ext uri="{FF2B5EF4-FFF2-40B4-BE49-F238E27FC236}">
                <a16:creationId xmlns:a16="http://schemas.microsoft.com/office/drawing/2014/main" id="{337C43B7-764B-BFA6-127A-70793302718E}"/>
              </a:ext>
            </a:extLst>
          </p:cNvPr>
          <p:cNvSpPr txBox="1"/>
          <p:nvPr/>
        </p:nvSpPr>
        <p:spPr>
          <a:xfrm>
            <a:off x="698500" y="4762500"/>
            <a:ext cx="10795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Q</a:t>
            </a:r>
            <a:r>
              <a:rPr kumimoji="1" lang="en-US" altLang="ja-JP" sz="1332" baseline="-16000">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：最短経路の長さ（辺の本数）　 </a:t>
            </a:r>
            <a:r>
              <a:rPr kumimoji="1" lang="en-US" altLang="ja-JP">
                <a:solidFill>
                  <a:srgbClr val="253746"/>
                </a:solidFill>
                <a:latin typeface="Meiryo" panose="020B0604030504040204" pitchFamily="50" charset="-128"/>
                <a:ea typeface="Meiryo" panose="020B0604030504040204" pitchFamily="50" charset="-128"/>
              </a:rPr>
              <a:t>C</a:t>
            </a:r>
            <a:r>
              <a:rPr kumimoji="1" lang="ja-JP" altLang="en-US">
                <a:solidFill>
                  <a:srgbClr val="253746"/>
                </a:solidFill>
                <a:latin typeface="Meiryo" panose="020B0604030504040204" pitchFamily="50" charset="-128"/>
                <a:ea typeface="Meiryo" panose="020B0604030504040204" pitchFamily="50" charset="-128"/>
              </a:rPr>
              <a:t>：経路長の上限</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：始点・終点の組が要求された回数</a:t>
            </a:r>
          </a:p>
        </p:txBody>
      </p:sp>
      <p:sp>
        <p:nvSpPr>
          <p:cNvPr id="12" name="text-10">
            <a:extLst>
              <a:ext uri="{FF2B5EF4-FFF2-40B4-BE49-F238E27FC236}">
                <a16:creationId xmlns:a16="http://schemas.microsoft.com/office/drawing/2014/main" id="{AE9DD40B-7D26-EF4E-FE47-E16561B7F1C9}"/>
              </a:ext>
            </a:extLst>
          </p:cNvPr>
          <p:cNvSpPr txBox="1"/>
          <p:nvPr/>
        </p:nvSpPr>
        <p:spPr>
          <a:xfrm>
            <a:off x="698500" y="5461000"/>
            <a:ext cx="10795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経路がない、または</a:t>
            </a:r>
            <a:r>
              <a:rPr kumimoji="1" lang="en-US" altLang="ja-JP" sz="1900">
                <a:solidFill>
                  <a:srgbClr val="17365D"/>
                </a:solidFill>
                <a:latin typeface="Meiryo" panose="020B0604030504040204" pitchFamily="50" charset="-128"/>
                <a:ea typeface="Meiryo" panose="020B0604030504040204" pitchFamily="50" charset="-128"/>
              </a:rPr>
              <a:t>Q</a:t>
            </a:r>
            <a:r>
              <a:rPr kumimoji="1" lang="en-US" altLang="ja-JP" sz="1406" baseline="-16000">
                <a:solidFill>
                  <a:srgbClr val="17365D"/>
                </a:solidFill>
                <a:latin typeface="Meiryo" panose="020B0604030504040204" pitchFamily="50" charset="-128"/>
                <a:ea typeface="Meiryo" panose="020B0604030504040204" pitchFamily="50" charset="-128"/>
              </a:rPr>
              <a:t>t</a:t>
            </a:r>
            <a:r>
              <a:rPr kumimoji="1" lang="en-US" altLang="ja-JP" sz="1900">
                <a:solidFill>
                  <a:srgbClr val="17365D"/>
                </a:solidFill>
                <a:latin typeface="Meiryo" panose="020B0604030504040204" pitchFamily="50" charset="-128"/>
                <a:ea typeface="Meiryo" panose="020B0604030504040204" pitchFamily="50" charset="-128"/>
              </a:rPr>
              <a:t>&gt;C</a:t>
            </a:r>
            <a:r>
              <a:rPr kumimoji="1" lang="ja-JP" altLang="en-US" sz="1900">
                <a:solidFill>
                  <a:srgbClr val="17365D"/>
                </a:solidFill>
                <a:latin typeface="Meiryo" panose="020B0604030504040204" pitchFamily="50" charset="-128"/>
                <a:ea typeface="Meiryo" panose="020B0604030504040204" pitchFamily="50" charset="-128"/>
              </a:rPr>
              <a:t>なら削除しない。</a:t>
            </a:r>
          </a:p>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削除できなくても</a:t>
            </a:r>
            <a:r>
              <a:rPr kumimoji="1" lang="en-US" altLang="ja-JP" sz="1900">
                <a:solidFill>
                  <a:srgbClr val="17365D"/>
                </a:solidFill>
                <a:latin typeface="Meiryo" panose="020B0604030504040204" pitchFamily="50" charset="-128"/>
                <a:ea typeface="Meiryo" panose="020B0604030504040204" pitchFamily="50" charset="-128"/>
              </a:rPr>
              <a:t>t</a:t>
            </a:r>
            <a:r>
              <a:rPr kumimoji="1" lang="ja-JP" altLang="en-US" sz="1900">
                <a:solidFill>
                  <a:srgbClr val="17365D"/>
                </a:solidFill>
                <a:latin typeface="Meiryo" panose="020B0604030504040204" pitchFamily="50" charset="-128"/>
                <a:ea typeface="Meiryo" panose="020B0604030504040204" pitchFamily="50" charset="-128"/>
              </a:rPr>
              <a:t>は</a:t>
            </a:r>
            <a:r>
              <a:rPr kumimoji="1" lang="en-US" altLang="ja-JP" sz="1900">
                <a:solidFill>
                  <a:srgbClr val="17365D"/>
                </a:solidFill>
                <a:latin typeface="Meiryo" panose="020B0604030504040204" pitchFamily="50" charset="-128"/>
                <a:ea typeface="Meiryo" panose="020B0604030504040204" pitchFamily="50" charset="-128"/>
              </a:rPr>
              <a:t>1</a:t>
            </a:r>
            <a:r>
              <a:rPr kumimoji="1" lang="ja-JP" altLang="en-US" sz="1900">
                <a:solidFill>
                  <a:srgbClr val="17365D"/>
                </a:solidFill>
                <a:latin typeface="Meiryo" panose="020B0604030504040204" pitchFamily="50" charset="-128"/>
                <a:ea typeface="Meiryo" panose="020B0604030504040204" pitchFamily="50" charset="-128"/>
              </a:rPr>
              <a:t>増え、辺集合は変わらない。</a:t>
            </a:r>
          </a:p>
        </p:txBody>
      </p:sp>
    </p:spTree>
    <p:extLst>
      <p:ext uri="{BB962C8B-B14F-4D97-AF65-F5344CB8AC3E}">
        <p14:creationId xmlns:p14="http://schemas.microsoft.com/office/powerpoint/2010/main" val="276696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0D0B470-09BA-C57A-E5B1-E04BFD08D03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2</a:t>
            </a:r>
            <a:r>
              <a:rPr kumimoji="1" lang="ja-JP" altLang="en-US" sz="3200" b="1">
                <a:solidFill>
                  <a:srgbClr val="17365D"/>
                </a:solidFill>
                <a:latin typeface="Meiryo" panose="020B0604030504040204" pitchFamily="50" charset="-128"/>
                <a:ea typeface="Meiryo" panose="020B0604030504040204" pitchFamily="50" charset="-128"/>
              </a:rPr>
              <a:t>次元正方格子上での</a:t>
            </a: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の操作</a:t>
            </a:r>
          </a:p>
        </p:txBody>
      </p:sp>
      <p:cxnSp>
        <p:nvCxnSpPr>
          <p:cNvPr id="3" name="直線コネクタ 2">
            <a:extLst>
              <a:ext uri="{FF2B5EF4-FFF2-40B4-BE49-F238E27FC236}">
                <a16:creationId xmlns:a16="http://schemas.microsoft.com/office/drawing/2014/main" id="{C7A0557D-54F0-9327-1DB6-437A329B20DA}"/>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5C1EFE1-D843-2FEF-6446-827A9F56B72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説明用</a:t>
            </a:r>
            <a:r>
              <a:rPr kumimoji="1" lang="en-US" altLang="ja-JP" sz="950">
                <a:solidFill>
                  <a:srgbClr val="566573"/>
                </a:solidFill>
                <a:latin typeface="Meiryo" panose="020B0604030504040204" pitchFamily="50" charset="-128"/>
                <a:ea typeface="Meiryo" panose="020B0604030504040204" pitchFamily="50" charset="-128"/>
              </a:rPr>
              <a:t>3×3</a:t>
            </a:r>
            <a:r>
              <a:rPr kumimoji="1" lang="ja-JP" altLang="en-US" sz="950">
                <a:solidFill>
                  <a:srgbClr val="566573"/>
                </a:solidFill>
                <a:latin typeface="Meiryo" panose="020B0604030504040204" pitchFamily="50" charset="-128"/>
                <a:ea typeface="Meiryo" panose="020B0604030504040204" pitchFamily="50" charset="-128"/>
              </a:rPr>
              <a:t>格子（実験サイズではない）。原論文の</a:t>
            </a:r>
            <a:r>
              <a:rPr kumimoji="1" lang="en-US" altLang="ja-JP" sz="950">
                <a:solidFill>
                  <a:srgbClr val="566573"/>
                </a:solidFill>
                <a:latin typeface="Meiryo" panose="020B0604030504040204" pitchFamily="50" charset="-128"/>
                <a:ea typeface="Meiryo" panose="020B0604030504040204" pitchFamily="50" charset="-128"/>
              </a:rPr>
              <a:t>SPP</a:t>
            </a:r>
            <a:r>
              <a:rPr kumimoji="1" lang="ja-JP" altLang="en-US" sz="950">
                <a:solidFill>
                  <a:srgbClr val="566573"/>
                </a:solidFill>
                <a:latin typeface="Meiryo" panose="020B0604030504040204" pitchFamily="50" charset="-128"/>
                <a:ea typeface="Meiryo" panose="020B0604030504040204" pitchFamily="50" charset="-128"/>
              </a:rPr>
              <a:t>規則を適用した作図。</a:t>
            </a:r>
          </a:p>
        </p:txBody>
      </p:sp>
      <p:sp>
        <p:nvSpPr>
          <p:cNvPr id="5" name="page-4">
            <a:extLst>
              <a:ext uri="{FF2B5EF4-FFF2-40B4-BE49-F238E27FC236}">
                <a16:creationId xmlns:a16="http://schemas.microsoft.com/office/drawing/2014/main" id="{925E31FA-A4E9-8858-00E3-91C2B6536EB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04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E65D2E1C-2B18-FA29-5330-AB2302CEE957}"/>
              </a:ext>
            </a:extLst>
          </p:cNvPr>
          <p:cNvSpPr txBox="1"/>
          <p:nvPr/>
        </p:nvSpPr>
        <p:spPr>
          <a:xfrm>
            <a:off x="5080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① </a:t>
            </a:r>
            <a:r>
              <a:rPr kumimoji="1" lang="en-US" altLang="ja-JP" sz="1700" b="1">
                <a:solidFill>
                  <a:srgbClr val="17365D"/>
                </a:solidFill>
                <a:latin typeface="Meiryo" panose="020B0604030504040204" pitchFamily="50" charset="-128"/>
                <a:ea typeface="Meiryo" panose="020B0604030504040204" pitchFamily="50" charset="-128"/>
              </a:rPr>
              <a:t>2</a:t>
            </a:r>
            <a:r>
              <a:rPr kumimoji="1" lang="ja-JP" altLang="en-US" sz="1700" b="1">
                <a:solidFill>
                  <a:srgbClr val="17365D"/>
                </a:solidFill>
                <a:latin typeface="Meiryo" panose="020B0604030504040204" pitchFamily="50" charset="-128"/>
                <a:ea typeface="Meiryo" panose="020B0604030504040204" pitchFamily="50" charset="-128"/>
              </a:rPr>
              <a:t>頂点を選ぶ</a:t>
            </a:r>
          </a:p>
        </p:txBody>
      </p:sp>
      <p:cxnSp>
        <p:nvCxnSpPr>
          <p:cNvPr id="7" name="lattice-1-edge-0-1">
            <a:extLst>
              <a:ext uri="{FF2B5EF4-FFF2-40B4-BE49-F238E27FC236}">
                <a16:creationId xmlns:a16="http://schemas.microsoft.com/office/drawing/2014/main" id="{05611DB3-CDFA-34EE-8E8A-640D43EDAB76}"/>
              </a:ext>
            </a:extLst>
          </p:cNvPr>
          <p:cNvCxnSpPr/>
          <p:nvPr/>
        </p:nvCxnSpPr>
        <p:spPr>
          <a:xfrm>
            <a:off x="8509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 name="lattice-1-edge-0-3">
            <a:extLst>
              <a:ext uri="{FF2B5EF4-FFF2-40B4-BE49-F238E27FC236}">
                <a16:creationId xmlns:a16="http://schemas.microsoft.com/office/drawing/2014/main" id="{548CD170-7999-6481-A11E-9E7C3F05A7FB}"/>
              </a:ext>
            </a:extLst>
          </p:cNvPr>
          <p:cNvCxnSpPr/>
          <p:nvPr/>
        </p:nvCxnSpPr>
        <p:spPr>
          <a:xfrm>
            <a:off x="850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9" name="lattice-1-edge-1-2">
            <a:extLst>
              <a:ext uri="{FF2B5EF4-FFF2-40B4-BE49-F238E27FC236}">
                <a16:creationId xmlns:a16="http://schemas.microsoft.com/office/drawing/2014/main" id="{D092B534-15D9-03A4-B12F-EC7A5BA99DF0}"/>
              </a:ext>
            </a:extLst>
          </p:cNvPr>
          <p:cNvCxnSpPr/>
          <p:nvPr/>
        </p:nvCxnSpPr>
        <p:spPr>
          <a:xfrm>
            <a:off x="16764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0" name="lattice-1-edge-1-4">
            <a:extLst>
              <a:ext uri="{FF2B5EF4-FFF2-40B4-BE49-F238E27FC236}">
                <a16:creationId xmlns:a16="http://schemas.microsoft.com/office/drawing/2014/main" id="{6F5B0651-181A-1341-100D-35FC4B1FF473}"/>
              </a:ext>
            </a:extLst>
          </p:cNvPr>
          <p:cNvCxnSpPr/>
          <p:nvPr/>
        </p:nvCxnSpPr>
        <p:spPr>
          <a:xfrm>
            <a:off x="16764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1" name="lattice-1-edge-2-5">
            <a:extLst>
              <a:ext uri="{FF2B5EF4-FFF2-40B4-BE49-F238E27FC236}">
                <a16:creationId xmlns:a16="http://schemas.microsoft.com/office/drawing/2014/main" id="{CDE0E7B4-82D7-C049-BBD4-96F533519B51}"/>
              </a:ext>
            </a:extLst>
          </p:cNvPr>
          <p:cNvCxnSpPr/>
          <p:nvPr/>
        </p:nvCxnSpPr>
        <p:spPr>
          <a:xfrm>
            <a:off x="2501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2" name="lattice-1-edge-3-4">
            <a:extLst>
              <a:ext uri="{FF2B5EF4-FFF2-40B4-BE49-F238E27FC236}">
                <a16:creationId xmlns:a16="http://schemas.microsoft.com/office/drawing/2014/main" id="{04125811-372A-97E4-1EFC-B5FB304D9763}"/>
              </a:ext>
            </a:extLst>
          </p:cNvPr>
          <p:cNvCxnSpPr/>
          <p:nvPr/>
        </p:nvCxnSpPr>
        <p:spPr>
          <a:xfrm>
            <a:off x="8509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3" name="lattice-1-edge-3-6">
            <a:extLst>
              <a:ext uri="{FF2B5EF4-FFF2-40B4-BE49-F238E27FC236}">
                <a16:creationId xmlns:a16="http://schemas.microsoft.com/office/drawing/2014/main" id="{B442E985-B1A3-D46C-6D78-F0302A526AED}"/>
              </a:ext>
            </a:extLst>
          </p:cNvPr>
          <p:cNvCxnSpPr/>
          <p:nvPr/>
        </p:nvCxnSpPr>
        <p:spPr>
          <a:xfrm>
            <a:off x="850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4" name="lattice-1-edge-4-5">
            <a:extLst>
              <a:ext uri="{FF2B5EF4-FFF2-40B4-BE49-F238E27FC236}">
                <a16:creationId xmlns:a16="http://schemas.microsoft.com/office/drawing/2014/main" id="{9077B9D7-A941-D965-62AC-F6F017054EA3}"/>
              </a:ext>
            </a:extLst>
          </p:cNvPr>
          <p:cNvCxnSpPr/>
          <p:nvPr/>
        </p:nvCxnSpPr>
        <p:spPr>
          <a:xfrm>
            <a:off x="16764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5" name="lattice-1-edge-4-7">
            <a:extLst>
              <a:ext uri="{FF2B5EF4-FFF2-40B4-BE49-F238E27FC236}">
                <a16:creationId xmlns:a16="http://schemas.microsoft.com/office/drawing/2014/main" id="{19326F38-9D76-1765-7CE8-A7017D95A194}"/>
              </a:ext>
            </a:extLst>
          </p:cNvPr>
          <p:cNvCxnSpPr/>
          <p:nvPr/>
        </p:nvCxnSpPr>
        <p:spPr>
          <a:xfrm>
            <a:off x="16764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6" name="lattice-1-edge-5-8">
            <a:extLst>
              <a:ext uri="{FF2B5EF4-FFF2-40B4-BE49-F238E27FC236}">
                <a16:creationId xmlns:a16="http://schemas.microsoft.com/office/drawing/2014/main" id="{1F01C45D-2A8A-9309-522C-864F4E021F86}"/>
              </a:ext>
            </a:extLst>
          </p:cNvPr>
          <p:cNvCxnSpPr/>
          <p:nvPr/>
        </p:nvCxnSpPr>
        <p:spPr>
          <a:xfrm>
            <a:off x="2501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7" name="lattice-1-edge-6-7">
            <a:extLst>
              <a:ext uri="{FF2B5EF4-FFF2-40B4-BE49-F238E27FC236}">
                <a16:creationId xmlns:a16="http://schemas.microsoft.com/office/drawing/2014/main" id="{8AEC696B-F2A1-C2D4-7E94-90B4DF0F713F}"/>
              </a:ext>
            </a:extLst>
          </p:cNvPr>
          <p:cNvCxnSpPr/>
          <p:nvPr/>
        </p:nvCxnSpPr>
        <p:spPr>
          <a:xfrm>
            <a:off x="8509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8" name="lattice-1-edge-7-8">
            <a:extLst>
              <a:ext uri="{FF2B5EF4-FFF2-40B4-BE49-F238E27FC236}">
                <a16:creationId xmlns:a16="http://schemas.microsoft.com/office/drawing/2014/main" id="{A726826E-6BC7-727E-4F46-8B5CB5A6C077}"/>
              </a:ext>
            </a:extLst>
          </p:cNvPr>
          <p:cNvCxnSpPr/>
          <p:nvPr/>
        </p:nvCxnSpPr>
        <p:spPr>
          <a:xfrm>
            <a:off x="16764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19" name="lattice-1-vertex-0">
            <a:extLst>
              <a:ext uri="{FF2B5EF4-FFF2-40B4-BE49-F238E27FC236}">
                <a16:creationId xmlns:a16="http://schemas.microsoft.com/office/drawing/2014/main" id="{01466B56-3671-1B4A-B9BB-609FC9427D71}"/>
              </a:ext>
            </a:extLst>
          </p:cNvPr>
          <p:cNvSpPr/>
          <p:nvPr/>
        </p:nvSpPr>
        <p:spPr>
          <a:xfrm>
            <a:off x="7874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lattice-1-vertex-1">
            <a:extLst>
              <a:ext uri="{FF2B5EF4-FFF2-40B4-BE49-F238E27FC236}">
                <a16:creationId xmlns:a16="http://schemas.microsoft.com/office/drawing/2014/main" id="{27A22720-2490-AF3E-423B-DA9CAD9BCA98}"/>
              </a:ext>
            </a:extLst>
          </p:cNvPr>
          <p:cNvSpPr/>
          <p:nvPr/>
        </p:nvSpPr>
        <p:spPr>
          <a:xfrm>
            <a:off x="16129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lattice-1-vertex-2">
            <a:extLst>
              <a:ext uri="{FF2B5EF4-FFF2-40B4-BE49-F238E27FC236}">
                <a16:creationId xmlns:a16="http://schemas.microsoft.com/office/drawing/2014/main" id="{03B41C1A-982A-AAAC-80F3-06BFAE65317F}"/>
              </a:ext>
            </a:extLst>
          </p:cNvPr>
          <p:cNvSpPr/>
          <p:nvPr/>
        </p:nvSpPr>
        <p:spPr>
          <a:xfrm>
            <a:off x="24384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lattice-1-vertex-3">
            <a:extLst>
              <a:ext uri="{FF2B5EF4-FFF2-40B4-BE49-F238E27FC236}">
                <a16:creationId xmlns:a16="http://schemas.microsoft.com/office/drawing/2014/main" id="{B110D8C6-604C-FBB9-7E37-1178733EEACF}"/>
              </a:ext>
            </a:extLst>
          </p:cNvPr>
          <p:cNvSpPr/>
          <p:nvPr/>
        </p:nvSpPr>
        <p:spPr>
          <a:xfrm>
            <a:off x="787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attice-1-vertex-4">
            <a:extLst>
              <a:ext uri="{FF2B5EF4-FFF2-40B4-BE49-F238E27FC236}">
                <a16:creationId xmlns:a16="http://schemas.microsoft.com/office/drawing/2014/main" id="{EC7E1FC9-EF65-1722-37DC-48673649EE68}"/>
              </a:ext>
            </a:extLst>
          </p:cNvPr>
          <p:cNvSpPr/>
          <p:nvPr/>
        </p:nvSpPr>
        <p:spPr>
          <a:xfrm>
            <a:off x="16129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lattice-1-vertex-5">
            <a:extLst>
              <a:ext uri="{FF2B5EF4-FFF2-40B4-BE49-F238E27FC236}">
                <a16:creationId xmlns:a16="http://schemas.microsoft.com/office/drawing/2014/main" id="{C54E1AFE-EDAF-F9C7-32D6-A95105E3E8B2}"/>
              </a:ext>
            </a:extLst>
          </p:cNvPr>
          <p:cNvSpPr/>
          <p:nvPr/>
        </p:nvSpPr>
        <p:spPr>
          <a:xfrm>
            <a:off x="2438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lattice-1-vertex-6">
            <a:extLst>
              <a:ext uri="{FF2B5EF4-FFF2-40B4-BE49-F238E27FC236}">
                <a16:creationId xmlns:a16="http://schemas.microsoft.com/office/drawing/2014/main" id="{34E14087-1FAB-3AAE-1198-71F9AFBF0575}"/>
              </a:ext>
            </a:extLst>
          </p:cNvPr>
          <p:cNvSpPr/>
          <p:nvPr/>
        </p:nvSpPr>
        <p:spPr>
          <a:xfrm>
            <a:off x="7874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attice-1-vertex-7">
            <a:extLst>
              <a:ext uri="{FF2B5EF4-FFF2-40B4-BE49-F238E27FC236}">
                <a16:creationId xmlns:a16="http://schemas.microsoft.com/office/drawing/2014/main" id="{63DB32A9-5925-D6F5-7651-D75E62A3E698}"/>
              </a:ext>
            </a:extLst>
          </p:cNvPr>
          <p:cNvSpPr/>
          <p:nvPr/>
        </p:nvSpPr>
        <p:spPr>
          <a:xfrm>
            <a:off x="16129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lattice-1-vertex-8">
            <a:extLst>
              <a:ext uri="{FF2B5EF4-FFF2-40B4-BE49-F238E27FC236}">
                <a16:creationId xmlns:a16="http://schemas.microsoft.com/office/drawing/2014/main" id="{05335B3D-E472-B8C2-1956-FB81EA6F939D}"/>
              </a:ext>
            </a:extLst>
          </p:cNvPr>
          <p:cNvSpPr/>
          <p:nvPr/>
        </p:nvSpPr>
        <p:spPr>
          <a:xfrm>
            <a:off x="24384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27">
            <a:extLst>
              <a:ext uri="{FF2B5EF4-FFF2-40B4-BE49-F238E27FC236}">
                <a16:creationId xmlns:a16="http://schemas.microsoft.com/office/drawing/2014/main" id="{0F563E9C-05FC-4719-3E34-9D21979F7F7E}"/>
              </a:ext>
            </a:extLst>
          </p:cNvPr>
          <p:cNvSpPr txBox="1"/>
          <p:nvPr/>
        </p:nvSpPr>
        <p:spPr>
          <a:xfrm>
            <a:off x="5080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左上と右下を指定</a:t>
            </a:r>
          </a:p>
        </p:txBody>
      </p:sp>
      <p:sp>
        <p:nvSpPr>
          <p:cNvPr id="29" name="text-28">
            <a:extLst>
              <a:ext uri="{FF2B5EF4-FFF2-40B4-BE49-F238E27FC236}">
                <a16:creationId xmlns:a16="http://schemas.microsoft.com/office/drawing/2014/main" id="{B66EDAA7-2816-709B-B54E-E9C937EAC650}"/>
              </a:ext>
            </a:extLst>
          </p:cNvPr>
          <p:cNvSpPr txBox="1"/>
          <p:nvPr/>
        </p:nvSpPr>
        <p:spPr>
          <a:xfrm>
            <a:off x="34544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② 最短経路を調べる</a:t>
            </a:r>
          </a:p>
        </p:txBody>
      </p:sp>
      <p:cxnSp>
        <p:nvCxnSpPr>
          <p:cNvPr id="30" name="lattice-2-edge-0-1">
            <a:extLst>
              <a:ext uri="{FF2B5EF4-FFF2-40B4-BE49-F238E27FC236}">
                <a16:creationId xmlns:a16="http://schemas.microsoft.com/office/drawing/2014/main" id="{750D4B37-59A4-6182-E345-EC9186B9EFA6}"/>
              </a:ext>
            </a:extLst>
          </p:cNvPr>
          <p:cNvCxnSpPr/>
          <p:nvPr/>
        </p:nvCxnSpPr>
        <p:spPr>
          <a:xfrm>
            <a:off x="37973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1" name="lattice-2-edge-0-3">
            <a:extLst>
              <a:ext uri="{FF2B5EF4-FFF2-40B4-BE49-F238E27FC236}">
                <a16:creationId xmlns:a16="http://schemas.microsoft.com/office/drawing/2014/main" id="{BF50C9E6-8709-D02E-A925-58541BB808D9}"/>
              </a:ext>
            </a:extLst>
          </p:cNvPr>
          <p:cNvCxnSpPr/>
          <p:nvPr/>
        </p:nvCxnSpPr>
        <p:spPr>
          <a:xfrm>
            <a:off x="3797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2" name="lattice-2-edge-1-2">
            <a:extLst>
              <a:ext uri="{FF2B5EF4-FFF2-40B4-BE49-F238E27FC236}">
                <a16:creationId xmlns:a16="http://schemas.microsoft.com/office/drawing/2014/main" id="{917C8AD9-6343-70D5-17F6-06FBC1C5FAB6}"/>
              </a:ext>
            </a:extLst>
          </p:cNvPr>
          <p:cNvCxnSpPr/>
          <p:nvPr/>
        </p:nvCxnSpPr>
        <p:spPr>
          <a:xfrm>
            <a:off x="46228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3" name="lattice-2-edge-1-4">
            <a:extLst>
              <a:ext uri="{FF2B5EF4-FFF2-40B4-BE49-F238E27FC236}">
                <a16:creationId xmlns:a16="http://schemas.microsoft.com/office/drawing/2014/main" id="{FB031B30-486B-4C2F-DFE5-BD0191BFE3EE}"/>
              </a:ext>
            </a:extLst>
          </p:cNvPr>
          <p:cNvCxnSpPr/>
          <p:nvPr/>
        </p:nvCxnSpPr>
        <p:spPr>
          <a:xfrm>
            <a:off x="46228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4" name="lattice-2-edge-2-5">
            <a:extLst>
              <a:ext uri="{FF2B5EF4-FFF2-40B4-BE49-F238E27FC236}">
                <a16:creationId xmlns:a16="http://schemas.microsoft.com/office/drawing/2014/main" id="{FBF80DBD-FE07-649A-6977-967A437F7AD9}"/>
              </a:ext>
            </a:extLst>
          </p:cNvPr>
          <p:cNvCxnSpPr/>
          <p:nvPr/>
        </p:nvCxnSpPr>
        <p:spPr>
          <a:xfrm>
            <a:off x="5448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5" name="lattice-2-edge-3-4">
            <a:extLst>
              <a:ext uri="{FF2B5EF4-FFF2-40B4-BE49-F238E27FC236}">
                <a16:creationId xmlns:a16="http://schemas.microsoft.com/office/drawing/2014/main" id="{DBF27E84-4390-87BD-7257-F50535716C5B}"/>
              </a:ext>
            </a:extLst>
          </p:cNvPr>
          <p:cNvCxnSpPr/>
          <p:nvPr/>
        </p:nvCxnSpPr>
        <p:spPr>
          <a:xfrm>
            <a:off x="37973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6" name="lattice-2-edge-3-6">
            <a:extLst>
              <a:ext uri="{FF2B5EF4-FFF2-40B4-BE49-F238E27FC236}">
                <a16:creationId xmlns:a16="http://schemas.microsoft.com/office/drawing/2014/main" id="{923A5FB0-559F-9689-205A-7E0444299BF9}"/>
              </a:ext>
            </a:extLst>
          </p:cNvPr>
          <p:cNvCxnSpPr/>
          <p:nvPr/>
        </p:nvCxnSpPr>
        <p:spPr>
          <a:xfrm>
            <a:off x="3797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7" name="lattice-2-edge-4-5">
            <a:extLst>
              <a:ext uri="{FF2B5EF4-FFF2-40B4-BE49-F238E27FC236}">
                <a16:creationId xmlns:a16="http://schemas.microsoft.com/office/drawing/2014/main" id="{B99E4182-FAE7-2C95-A486-09BC167435A2}"/>
              </a:ext>
            </a:extLst>
          </p:cNvPr>
          <p:cNvCxnSpPr/>
          <p:nvPr/>
        </p:nvCxnSpPr>
        <p:spPr>
          <a:xfrm>
            <a:off x="46228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8" name="lattice-2-edge-4-7">
            <a:extLst>
              <a:ext uri="{FF2B5EF4-FFF2-40B4-BE49-F238E27FC236}">
                <a16:creationId xmlns:a16="http://schemas.microsoft.com/office/drawing/2014/main" id="{312DB6A7-52EC-C09F-9E1F-AA5B113EE289}"/>
              </a:ext>
            </a:extLst>
          </p:cNvPr>
          <p:cNvCxnSpPr/>
          <p:nvPr/>
        </p:nvCxnSpPr>
        <p:spPr>
          <a:xfrm>
            <a:off x="46228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9" name="lattice-2-edge-5-8">
            <a:extLst>
              <a:ext uri="{FF2B5EF4-FFF2-40B4-BE49-F238E27FC236}">
                <a16:creationId xmlns:a16="http://schemas.microsoft.com/office/drawing/2014/main" id="{70C24E50-7ABD-24A6-D73F-55F317BC4C41}"/>
              </a:ext>
            </a:extLst>
          </p:cNvPr>
          <p:cNvCxnSpPr/>
          <p:nvPr/>
        </p:nvCxnSpPr>
        <p:spPr>
          <a:xfrm>
            <a:off x="5448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0" name="lattice-2-edge-6-7">
            <a:extLst>
              <a:ext uri="{FF2B5EF4-FFF2-40B4-BE49-F238E27FC236}">
                <a16:creationId xmlns:a16="http://schemas.microsoft.com/office/drawing/2014/main" id="{D1E84728-738E-CD0F-789A-4512F9281444}"/>
              </a:ext>
            </a:extLst>
          </p:cNvPr>
          <p:cNvCxnSpPr/>
          <p:nvPr/>
        </p:nvCxnSpPr>
        <p:spPr>
          <a:xfrm>
            <a:off x="37973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1" name="lattice-2-edge-7-8">
            <a:extLst>
              <a:ext uri="{FF2B5EF4-FFF2-40B4-BE49-F238E27FC236}">
                <a16:creationId xmlns:a16="http://schemas.microsoft.com/office/drawing/2014/main" id="{9E181F4E-7064-A264-55B4-2A9168A66579}"/>
              </a:ext>
            </a:extLst>
          </p:cNvPr>
          <p:cNvCxnSpPr/>
          <p:nvPr/>
        </p:nvCxnSpPr>
        <p:spPr>
          <a:xfrm>
            <a:off x="46228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42" name="lattice-2-vertex-0">
            <a:extLst>
              <a:ext uri="{FF2B5EF4-FFF2-40B4-BE49-F238E27FC236}">
                <a16:creationId xmlns:a16="http://schemas.microsoft.com/office/drawing/2014/main" id="{8A3D679C-D03B-4EBA-CF63-1DC37678FF12}"/>
              </a:ext>
            </a:extLst>
          </p:cNvPr>
          <p:cNvSpPr/>
          <p:nvPr/>
        </p:nvSpPr>
        <p:spPr>
          <a:xfrm>
            <a:off x="37338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lattice-2-vertex-1">
            <a:extLst>
              <a:ext uri="{FF2B5EF4-FFF2-40B4-BE49-F238E27FC236}">
                <a16:creationId xmlns:a16="http://schemas.microsoft.com/office/drawing/2014/main" id="{78CC4509-4F94-155E-56D5-C65510378573}"/>
              </a:ext>
            </a:extLst>
          </p:cNvPr>
          <p:cNvSpPr/>
          <p:nvPr/>
        </p:nvSpPr>
        <p:spPr>
          <a:xfrm>
            <a:off x="45593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lattice-2-vertex-2">
            <a:extLst>
              <a:ext uri="{FF2B5EF4-FFF2-40B4-BE49-F238E27FC236}">
                <a16:creationId xmlns:a16="http://schemas.microsoft.com/office/drawing/2014/main" id="{30FD2D80-922D-E664-9AB3-109A70CA9F39}"/>
              </a:ext>
            </a:extLst>
          </p:cNvPr>
          <p:cNvSpPr/>
          <p:nvPr/>
        </p:nvSpPr>
        <p:spPr>
          <a:xfrm>
            <a:off x="53848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lattice-2-vertex-3">
            <a:extLst>
              <a:ext uri="{FF2B5EF4-FFF2-40B4-BE49-F238E27FC236}">
                <a16:creationId xmlns:a16="http://schemas.microsoft.com/office/drawing/2014/main" id="{8935DFD6-67DF-4CCD-182F-68BDFF9ED13D}"/>
              </a:ext>
            </a:extLst>
          </p:cNvPr>
          <p:cNvSpPr/>
          <p:nvPr/>
        </p:nvSpPr>
        <p:spPr>
          <a:xfrm>
            <a:off x="3733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lattice-2-vertex-4">
            <a:extLst>
              <a:ext uri="{FF2B5EF4-FFF2-40B4-BE49-F238E27FC236}">
                <a16:creationId xmlns:a16="http://schemas.microsoft.com/office/drawing/2014/main" id="{2E410DEB-0D7E-772F-8C96-CFCC564E6FE5}"/>
              </a:ext>
            </a:extLst>
          </p:cNvPr>
          <p:cNvSpPr/>
          <p:nvPr/>
        </p:nvSpPr>
        <p:spPr>
          <a:xfrm>
            <a:off x="45593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lattice-2-vertex-5">
            <a:extLst>
              <a:ext uri="{FF2B5EF4-FFF2-40B4-BE49-F238E27FC236}">
                <a16:creationId xmlns:a16="http://schemas.microsoft.com/office/drawing/2014/main" id="{48D642D2-8C9F-315D-CAA9-41FC67CEF9BD}"/>
              </a:ext>
            </a:extLst>
          </p:cNvPr>
          <p:cNvSpPr/>
          <p:nvPr/>
        </p:nvSpPr>
        <p:spPr>
          <a:xfrm>
            <a:off x="5384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lattice-2-vertex-6">
            <a:extLst>
              <a:ext uri="{FF2B5EF4-FFF2-40B4-BE49-F238E27FC236}">
                <a16:creationId xmlns:a16="http://schemas.microsoft.com/office/drawing/2014/main" id="{BAC927FA-9E30-FAFB-8234-24980DF282F5}"/>
              </a:ext>
            </a:extLst>
          </p:cNvPr>
          <p:cNvSpPr/>
          <p:nvPr/>
        </p:nvSpPr>
        <p:spPr>
          <a:xfrm>
            <a:off x="37338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lattice-2-vertex-7">
            <a:extLst>
              <a:ext uri="{FF2B5EF4-FFF2-40B4-BE49-F238E27FC236}">
                <a16:creationId xmlns:a16="http://schemas.microsoft.com/office/drawing/2014/main" id="{1EA84539-36B0-8028-A67B-9564887C1849}"/>
              </a:ext>
            </a:extLst>
          </p:cNvPr>
          <p:cNvSpPr/>
          <p:nvPr/>
        </p:nvSpPr>
        <p:spPr>
          <a:xfrm>
            <a:off x="45593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lattice-2-vertex-8">
            <a:extLst>
              <a:ext uri="{FF2B5EF4-FFF2-40B4-BE49-F238E27FC236}">
                <a16:creationId xmlns:a16="http://schemas.microsoft.com/office/drawing/2014/main" id="{A8060FFC-D852-C775-56BA-307D0103F8A8}"/>
              </a:ext>
            </a:extLst>
          </p:cNvPr>
          <p:cNvSpPr/>
          <p:nvPr/>
        </p:nvSpPr>
        <p:spPr>
          <a:xfrm>
            <a:off x="53848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text-50">
            <a:extLst>
              <a:ext uri="{FF2B5EF4-FFF2-40B4-BE49-F238E27FC236}">
                <a16:creationId xmlns:a16="http://schemas.microsoft.com/office/drawing/2014/main" id="{663B2F84-2EBC-3940-53A0-F699BAA3F7EC}"/>
              </a:ext>
            </a:extLst>
          </p:cNvPr>
          <p:cNvSpPr txBox="1"/>
          <p:nvPr/>
        </p:nvSpPr>
        <p:spPr>
          <a:xfrm>
            <a:off x="34544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長さ</a:t>
            </a: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の経路が</a:t>
            </a:r>
            <a:r>
              <a:rPr kumimoji="1" lang="en-US" altLang="ja-JP" sz="1600">
                <a:solidFill>
                  <a:srgbClr val="253746"/>
                </a:solidFill>
                <a:latin typeface="Meiryo" panose="020B0604030504040204" pitchFamily="50" charset="-128"/>
                <a:ea typeface="Meiryo" panose="020B0604030504040204" pitchFamily="50" charset="-128"/>
              </a:rPr>
              <a:t>6</a:t>
            </a:r>
            <a:r>
              <a:rPr kumimoji="1" lang="ja-JP" altLang="en-US" sz="1600">
                <a:solidFill>
                  <a:srgbClr val="253746"/>
                </a:solidFill>
                <a:latin typeface="Meiryo" panose="020B0604030504040204" pitchFamily="50" charset="-128"/>
                <a:ea typeface="Meiryo" panose="020B0604030504040204" pitchFamily="50" charset="-128"/>
              </a:rPr>
              <a:t>本</a:t>
            </a:r>
          </a:p>
        </p:txBody>
      </p:sp>
      <p:sp>
        <p:nvSpPr>
          <p:cNvPr id="52" name="text-51">
            <a:extLst>
              <a:ext uri="{FF2B5EF4-FFF2-40B4-BE49-F238E27FC236}">
                <a16:creationId xmlns:a16="http://schemas.microsoft.com/office/drawing/2014/main" id="{03976FD1-B3EA-E516-639A-30E3E2F4DE14}"/>
              </a:ext>
            </a:extLst>
          </p:cNvPr>
          <p:cNvSpPr txBox="1"/>
          <p:nvPr/>
        </p:nvSpPr>
        <p:spPr>
          <a:xfrm>
            <a:off x="64008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③ 最短経路を</a:t>
            </a:r>
            <a:r>
              <a:rPr kumimoji="1" lang="en-US" altLang="ja-JP" sz="1700" b="1">
                <a:solidFill>
                  <a:srgbClr val="17365D"/>
                </a:solidFill>
                <a:latin typeface="Meiryo" panose="020B0604030504040204" pitchFamily="50" charset="-128"/>
                <a:ea typeface="Meiryo" panose="020B0604030504040204" pitchFamily="50" charset="-128"/>
              </a:rPr>
              <a:t>1</a:t>
            </a:r>
            <a:r>
              <a:rPr kumimoji="1" lang="ja-JP" altLang="en-US" sz="1700" b="1">
                <a:solidFill>
                  <a:srgbClr val="17365D"/>
                </a:solidFill>
                <a:latin typeface="Meiryo" panose="020B0604030504040204" pitchFamily="50" charset="-128"/>
                <a:ea typeface="Meiryo" panose="020B0604030504040204" pitchFamily="50" charset="-128"/>
              </a:rPr>
              <a:t>本選ぶ</a:t>
            </a:r>
          </a:p>
        </p:txBody>
      </p:sp>
      <p:cxnSp>
        <p:nvCxnSpPr>
          <p:cNvPr id="53" name="lattice-3-edge-0-1">
            <a:extLst>
              <a:ext uri="{FF2B5EF4-FFF2-40B4-BE49-F238E27FC236}">
                <a16:creationId xmlns:a16="http://schemas.microsoft.com/office/drawing/2014/main" id="{DC9AD3A9-C271-4FF1-4BB6-B963F9AB53C2}"/>
              </a:ext>
            </a:extLst>
          </p:cNvPr>
          <p:cNvCxnSpPr/>
          <p:nvPr/>
        </p:nvCxnSpPr>
        <p:spPr>
          <a:xfrm>
            <a:off x="67437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4" name="lattice-3-edge-0-3">
            <a:extLst>
              <a:ext uri="{FF2B5EF4-FFF2-40B4-BE49-F238E27FC236}">
                <a16:creationId xmlns:a16="http://schemas.microsoft.com/office/drawing/2014/main" id="{511BC02B-1E43-677E-423E-23899295E305}"/>
              </a:ext>
            </a:extLst>
          </p:cNvPr>
          <p:cNvCxnSpPr/>
          <p:nvPr/>
        </p:nvCxnSpPr>
        <p:spPr>
          <a:xfrm>
            <a:off x="67437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5" name="lattice-3-edge-1-2">
            <a:extLst>
              <a:ext uri="{FF2B5EF4-FFF2-40B4-BE49-F238E27FC236}">
                <a16:creationId xmlns:a16="http://schemas.microsoft.com/office/drawing/2014/main" id="{3236D1F2-C965-BA3F-6953-6D822D570479}"/>
              </a:ext>
            </a:extLst>
          </p:cNvPr>
          <p:cNvCxnSpPr/>
          <p:nvPr/>
        </p:nvCxnSpPr>
        <p:spPr>
          <a:xfrm>
            <a:off x="75692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6" name="lattice-3-edge-1-4">
            <a:extLst>
              <a:ext uri="{FF2B5EF4-FFF2-40B4-BE49-F238E27FC236}">
                <a16:creationId xmlns:a16="http://schemas.microsoft.com/office/drawing/2014/main" id="{DAC2CE7F-66BE-3BAC-086A-5E5E7A4ADBFB}"/>
              </a:ext>
            </a:extLst>
          </p:cNvPr>
          <p:cNvCxnSpPr/>
          <p:nvPr/>
        </p:nvCxnSpPr>
        <p:spPr>
          <a:xfrm>
            <a:off x="75692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7" name="lattice-3-edge-2-5">
            <a:extLst>
              <a:ext uri="{FF2B5EF4-FFF2-40B4-BE49-F238E27FC236}">
                <a16:creationId xmlns:a16="http://schemas.microsoft.com/office/drawing/2014/main" id="{498C15CB-0933-7C03-53A2-63E4B90DD5E7}"/>
              </a:ext>
            </a:extLst>
          </p:cNvPr>
          <p:cNvCxnSpPr/>
          <p:nvPr/>
        </p:nvCxnSpPr>
        <p:spPr>
          <a:xfrm>
            <a:off x="8394700" y="26670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8" name="lattice-3-edge-3-4">
            <a:extLst>
              <a:ext uri="{FF2B5EF4-FFF2-40B4-BE49-F238E27FC236}">
                <a16:creationId xmlns:a16="http://schemas.microsoft.com/office/drawing/2014/main" id="{EC084654-B9B9-D5DC-27F6-DF169CDB7343}"/>
              </a:ext>
            </a:extLst>
          </p:cNvPr>
          <p:cNvCxnSpPr/>
          <p:nvPr/>
        </p:nvCxnSpPr>
        <p:spPr>
          <a:xfrm>
            <a:off x="67437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9" name="lattice-3-edge-3-6">
            <a:extLst>
              <a:ext uri="{FF2B5EF4-FFF2-40B4-BE49-F238E27FC236}">
                <a16:creationId xmlns:a16="http://schemas.microsoft.com/office/drawing/2014/main" id="{EFCE21E7-DF12-B7EC-5FC5-3D3007A57E89}"/>
              </a:ext>
            </a:extLst>
          </p:cNvPr>
          <p:cNvCxnSpPr/>
          <p:nvPr/>
        </p:nvCxnSpPr>
        <p:spPr>
          <a:xfrm>
            <a:off x="67437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0" name="lattice-3-edge-4-5">
            <a:extLst>
              <a:ext uri="{FF2B5EF4-FFF2-40B4-BE49-F238E27FC236}">
                <a16:creationId xmlns:a16="http://schemas.microsoft.com/office/drawing/2014/main" id="{F177FD84-6584-7B94-3DA9-2EB48B4933AF}"/>
              </a:ext>
            </a:extLst>
          </p:cNvPr>
          <p:cNvCxnSpPr/>
          <p:nvPr/>
        </p:nvCxnSpPr>
        <p:spPr>
          <a:xfrm>
            <a:off x="75692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1" name="lattice-3-edge-4-7">
            <a:extLst>
              <a:ext uri="{FF2B5EF4-FFF2-40B4-BE49-F238E27FC236}">
                <a16:creationId xmlns:a16="http://schemas.microsoft.com/office/drawing/2014/main" id="{50F9C4F7-F3D5-82A3-B3A3-11DCD6214857}"/>
              </a:ext>
            </a:extLst>
          </p:cNvPr>
          <p:cNvCxnSpPr/>
          <p:nvPr/>
        </p:nvCxnSpPr>
        <p:spPr>
          <a:xfrm>
            <a:off x="75692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2" name="lattice-3-edge-5-8">
            <a:extLst>
              <a:ext uri="{FF2B5EF4-FFF2-40B4-BE49-F238E27FC236}">
                <a16:creationId xmlns:a16="http://schemas.microsoft.com/office/drawing/2014/main" id="{A861AB42-FA5F-ACCB-2C83-F650F9D41F86}"/>
              </a:ext>
            </a:extLst>
          </p:cNvPr>
          <p:cNvCxnSpPr/>
          <p:nvPr/>
        </p:nvCxnSpPr>
        <p:spPr>
          <a:xfrm>
            <a:off x="8394700" y="34925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63" name="lattice-3-edge-6-7">
            <a:extLst>
              <a:ext uri="{FF2B5EF4-FFF2-40B4-BE49-F238E27FC236}">
                <a16:creationId xmlns:a16="http://schemas.microsoft.com/office/drawing/2014/main" id="{05CEE992-7D05-C107-A854-BBB1F63757F0}"/>
              </a:ext>
            </a:extLst>
          </p:cNvPr>
          <p:cNvCxnSpPr/>
          <p:nvPr/>
        </p:nvCxnSpPr>
        <p:spPr>
          <a:xfrm>
            <a:off x="67437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4" name="lattice-3-edge-7-8">
            <a:extLst>
              <a:ext uri="{FF2B5EF4-FFF2-40B4-BE49-F238E27FC236}">
                <a16:creationId xmlns:a16="http://schemas.microsoft.com/office/drawing/2014/main" id="{A4C452A7-9217-82EC-1931-7C6963757939}"/>
              </a:ext>
            </a:extLst>
          </p:cNvPr>
          <p:cNvCxnSpPr/>
          <p:nvPr/>
        </p:nvCxnSpPr>
        <p:spPr>
          <a:xfrm>
            <a:off x="75692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65" name="lattice-3-vertex-0">
            <a:extLst>
              <a:ext uri="{FF2B5EF4-FFF2-40B4-BE49-F238E27FC236}">
                <a16:creationId xmlns:a16="http://schemas.microsoft.com/office/drawing/2014/main" id="{8D08EA87-61DE-2A25-C505-E5C282B1110E}"/>
              </a:ext>
            </a:extLst>
          </p:cNvPr>
          <p:cNvSpPr/>
          <p:nvPr/>
        </p:nvSpPr>
        <p:spPr>
          <a:xfrm>
            <a:off x="66802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lattice-3-vertex-1">
            <a:extLst>
              <a:ext uri="{FF2B5EF4-FFF2-40B4-BE49-F238E27FC236}">
                <a16:creationId xmlns:a16="http://schemas.microsoft.com/office/drawing/2014/main" id="{D4B70265-5032-DAB4-110D-7427DA8E1F49}"/>
              </a:ext>
            </a:extLst>
          </p:cNvPr>
          <p:cNvSpPr/>
          <p:nvPr/>
        </p:nvSpPr>
        <p:spPr>
          <a:xfrm>
            <a:off x="75057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lattice-3-vertex-2">
            <a:extLst>
              <a:ext uri="{FF2B5EF4-FFF2-40B4-BE49-F238E27FC236}">
                <a16:creationId xmlns:a16="http://schemas.microsoft.com/office/drawing/2014/main" id="{A2D17AA6-3413-330E-5BCE-AE41F2F276EE}"/>
              </a:ext>
            </a:extLst>
          </p:cNvPr>
          <p:cNvSpPr/>
          <p:nvPr/>
        </p:nvSpPr>
        <p:spPr>
          <a:xfrm>
            <a:off x="83312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lattice-3-vertex-3">
            <a:extLst>
              <a:ext uri="{FF2B5EF4-FFF2-40B4-BE49-F238E27FC236}">
                <a16:creationId xmlns:a16="http://schemas.microsoft.com/office/drawing/2014/main" id="{7223FFCD-B8AC-4F5C-6F35-D4A12DBB3CF4}"/>
              </a:ext>
            </a:extLst>
          </p:cNvPr>
          <p:cNvSpPr/>
          <p:nvPr/>
        </p:nvSpPr>
        <p:spPr>
          <a:xfrm>
            <a:off x="6680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lattice-3-vertex-4">
            <a:extLst>
              <a:ext uri="{FF2B5EF4-FFF2-40B4-BE49-F238E27FC236}">
                <a16:creationId xmlns:a16="http://schemas.microsoft.com/office/drawing/2014/main" id="{8774C296-A541-8568-C21E-C97E22B5DA7D}"/>
              </a:ext>
            </a:extLst>
          </p:cNvPr>
          <p:cNvSpPr/>
          <p:nvPr/>
        </p:nvSpPr>
        <p:spPr>
          <a:xfrm>
            <a:off x="75057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lattice-3-vertex-5">
            <a:extLst>
              <a:ext uri="{FF2B5EF4-FFF2-40B4-BE49-F238E27FC236}">
                <a16:creationId xmlns:a16="http://schemas.microsoft.com/office/drawing/2014/main" id="{8268EA24-484D-EBCF-2DDA-ED16BC6B3D76}"/>
              </a:ext>
            </a:extLst>
          </p:cNvPr>
          <p:cNvSpPr/>
          <p:nvPr/>
        </p:nvSpPr>
        <p:spPr>
          <a:xfrm>
            <a:off x="8331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lattice-3-vertex-6">
            <a:extLst>
              <a:ext uri="{FF2B5EF4-FFF2-40B4-BE49-F238E27FC236}">
                <a16:creationId xmlns:a16="http://schemas.microsoft.com/office/drawing/2014/main" id="{5F56E566-E44E-FB33-AC77-D884070FD308}"/>
              </a:ext>
            </a:extLst>
          </p:cNvPr>
          <p:cNvSpPr/>
          <p:nvPr/>
        </p:nvSpPr>
        <p:spPr>
          <a:xfrm>
            <a:off x="66802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lattice-3-vertex-7">
            <a:extLst>
              <a:ext uri="{FF2B5EF4-FFF2-40B4-BE49-F238E27FC236}">
                <a16:creationId xmlns:a16="http://schemas.microsoft.com/office/drawing/2014/main" id="{E8F4D67F-EC9E-42AC-AAC4-9DA427A224F7}"/>
              </a:ext>
            </a:extLst>
          </p:cNvPr>
          <p:cNvSpPr/>
          <p:nvPr/>
        </p:nvSpPr>
        <p:spPr>
          <a:xfrm>
            <a:off x="75057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lattice-3-vertex-8">
            <a:extLst>
              <a:ext uri="{FF2B5EF4-FFF2-40B4-BE49-F238E27FC236}">
                <a16:creationId xmlns:a16="http://schemas.microsoft.com/office/drawing/2014/main" id="{97A9FC88-0DEA-587A-22C0-D767219B28C9}"/>
              </a:ext>
            </a:extLst>
          </p:cNvPr>
          <p:cNvSpPr/>
          <p:nvPr/>
        </p:nvSpPr>
        <p:spPr>
          <a:xfrm>
            <a:off x="83312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text-73">
            <a:extLst>
              <a:ext uri="{FF2B5EF4-FFF2-40B4-BE49-F238E27FC236}">
                <a16:creationId xmlns:a16="http://schemas.microsoft.com/office/drawing/2014/main" id="{D428EEBC-9339-7E65-2517-9210A7CEB61E}"/>
              </a:ext>
            </a:extLst>
          </p:cNvPr>
          <p:cNvSpPr txBox="1"/>
          <p:nvPr/>
        </p:nvSpPr>
        <p:spPr>
          <a:xfrm>
            <a:off x="64008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C≥4</a:t>
            </a:r>
            <a:r>
              <a:rPr kumimoji="1" lang="ja-JP" altLang="en-US" sz="1600">
                <a:solidFill>
                  <a:srgbClr val="253746"/>
                </a:solidFill>
                <a:latin typeface="Meiryo" panose="020B0604030504040204" pitchFamily="50" charset="-128"/>
                <a:ea typeface="Meiryo" panose="020B0604030504040204" pitchFamily="50" charset="-128"/>
              </a:rPr>
              <a:t>なら、</a:t>
            </a:r>
            <a:r>
              <a:rPr kumimoji="1" lang="en-US" altLang="ja-JP" sz="1600">
                <a:solidFill>
                  <a:srgbClr val="253746"/>
                </a:solidFill>
                <a:latin typeface="Meiryo" panose="020B0604030504040204" pitchFamily="50" charset="-128"/>
                <a:ea typeface="Meiryo" panose="020B0604030504040204" pitchFamily="50" charset="-128"/>
              </a:rPr>
              <a:t>1</a:t>
            </a:r>
            <a:r>
              <a:rPr kumimoji="1" lang="ja-JP" altLang="en-US" sz="1600">
                <a:solidFill>
                  <a:srgbClr val="253746"/>
                </a:solidFill>
                <a:latin typeface="Meiryo" panose="020B0604030504040204" pitchFamily="50" charset="-128"/>
                <a:ea typeface="Meiryo" panose="020B0604030504040204" pitchFamily="50" charset="-128"/>
              </a:rPr>
              <a:t>本を
等確率で選ぶ</a:t>
            </a:r>
          </a:p>
        </p:txBody>
      </p:sp>
      <p:sp>
        <p:nvSpPr>
          <p:cNvPr id="75" name="text-74">
            <a:extLst>
              <a:ext uri="{FF2B5EF4-FFF2-40B4-BE49-F238E27FC236}">
                <a16:creationId xmlns:a16="http://schemas.microsoft.com/office/drawing/2014/main" id="{D18A3F0F-347D-6509-EF83-6A5B87785E87}"/>
              </a:ext>
            </a:extLst>
          </p:cNvPr>
          <p:cNvSpPr txBox="1"/>
          <p:nvPr/>
        </p:nvSpPr>
        <p:spPr>
          <a:xfrm>
            <a:off x="93472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④ 選んだ</a:t>
            </a:r>
            <a:r>
              <a:rPr kumimoji="1" lang="en-US" altLang="ja-JP" sz="1700" b="1">
                <a:solidFill>
                  <a:srgbClr val="17365D"/>
                </a:solidFill>
                <a:latin typeface="Meiryo" panose="020B0604030504040204" pitchFamily="50" charset="-128"/>
                <a:ea typeface="Meiryo" panose="020B0604030504040204" pitchFamily="50" charset="-128"/>
              </a:rPr>
              <a:t>4</a:t>
            </a:r>
            <a:r>
              <a:rPr kumimoji="1" lang="ja-JP" altLang="en-US" sz="1700" b="1">
                <a:solidFill>
                  <a:srgbClr val="17365D"/>
                </a:solidFill>
                <a:latin typeface="Meiryo" panose="020B0604030504040204" pitchFamily="50" charset="-128"/>
                <a:ea typeface="Meiryo" panose="020B0604030504040204" pitchFamily="50" charset="-128"/>
              </a:rPr>
              <a:t>辺を削除</a:t>
            </a:r>
          </a:p>
        </p:txBody>
      </p:sp>
      <p:cxnSp>
        <p:nvCxnSpPr>
          <p:cNvPr id="76" name="lattice-4-edge-0-3">
            <a:extLst>
              <a:ext uri="{FF2B5EF4-FFF2-40B4-BE49-F238E27FC236}">
                <a16:creationId xmlns:a16="http://schemas.microsoft.com/office/drawing/2014/main" id="{AC15FEAF-DBE3-6666-715B-9CB09D8DA185}"/>
              </a:ext>
            </a:extLst>
          </p:cNvPr>
          <p:cNvCxnSpPr/>
          <p:nvPr/>
        </p:nvCxnSpPr>
        <p:spPr>
          <a:xfrm>
            <a:off x="96901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7" name="lattice-4-edge-1-4">
            <a:extLst>
              <a:ext uri="{FF2B5EF4-FFF2-40B4-BE49-F238E27FC236}">
                <a16:creationId xmlns:a16="http://schemas.microsoft.com/office/drawing/2014/main" id="{86284A6B-AC3A-92BF-3450-714B81C501BD}"/>
              </a:ext>
            </a:extLst>
          </p:cNvPr>
          <p:cNvCxnSpPr/>
          <p:nvPr/>
        </p:nvCxnSpPr>
        <p:spPr>
          <a:xfrm>
            <a:off x="105156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8" name="lattice-4-edge-3-4">
            <a:extLst>
              <a:ext uri="{FF2B5EF4-FFF2-40B4-BE49-F238E27FC236}">
                <a16:creationId xmlns:a16="http://schemas.microsoft.com/office/drawing/2014/main" id="{02F99D6E-9BD4-29ED-F31B-11623D848113}"/>
              </a:ext>
            </a:extLst>
          </p:cNvPr>
          <p:cNvCxnSpPr/>
          <p:nvPr/>
        </p:nvCxnSpPr>
        <p:spPr>
          <a:xfrm>
            <a:off x="96901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9" name="lattice-4-edge-3-6">
            <a:extLst>
              <a:ext uri="{FF2B5EF4-FFF2-40B4-BE49-F238E27FC236}">
                <a16:creationId xmlns:a16="http://schemas.microsoft.com/office/drawing/2014/main" id="{4784C5C5-34A3-2BB7-0B78-1BC2D4610FFA}"/>
              </a:ext>
            </a:extLst>
          </p:cNvPr>
          <p:cNvCxnSpPr/>
          <p:nvPr/>
        </p:nvCxnSpPr>
        <p:spPr>
          <a:xfrm>
            <a:off x="96901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0" name="lattice-4-edge-4-5">
            <a:extLst>
              <a:ext uri="{FF2B5EF4-FFF2-40B4-BE49-F238E27FC236}">
                <a16:creationId xmlns:a16="http://schemas.microsoft.com/office/drawing/2014/main" id="{D785D747-11D3-63D1-BE73-BC1D8B368E86}"/>
              </a:ext>
            </a:extLst>
          </p:cNvPr>
          <p:cNvCxnSpPr/>
          <p:nvPr/>
        </p:nvCxnSpPr>
        <p:spPr>
          <a:xfrm>
            <a:off x="105156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1" name="lattice-4-edge-4-7">
            <a:extLst>
              <a:ext uri="{FF2B5EF4-FFF2-40B4-BE49-F238E27FC236}">
                <a16:creationId xmlns:a16="http://schemas.microsoft.com/office/drawing/2014/main" id="{B613FDCF-CE80-885D-7AC2-F95D4BDCA108}"/>
              </a:ext>
            </a:extLst>
          </p:cNvPr>
          <p:cNvCxnSpPr/>
          <p:nvPr/>
        </p:nvCxnSpPr>
        <p:spPr>
          <a:xfrm>
            <a:off x="105156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2" name="lattice-4-edge-6-7">
            <a:extLst>
              <a:ext uri="{FF2B5EF4-FFF2-40B4-BE49-F238E27FC236}">
                <a16:creationId xmlns:a16="http://schemas.microsoft.com/office/drawing/2014/main" id="{EBB2DF8E-07E9-2C9D-00FB-E64A82D1E35E}"/>
              </a:ext>
            </a:extLst>
          </p:cNvPr>
          <p:cNvCxnSpPr/>
          <p:nvPr/>
        </p:nvCxnSpPr>
        <p:spPr>
          <a:xfrm>
            <a:off x="96901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3" name="lattice-4-edge-7-8">
            <a:extLst>
              <a:ext uri="{FF2B5EF4-FFF2-40B4-BE49-F238E27FC236}">
                <a16:creationId xmlns:a16="http://schemas.microsoft.com/office/drawing/2014/main" id="{9B453011-DC6E-72C4-B2B0-6910E6D8F576}"/>
              </a:ext>
            </a:extLst>
          </p:cNvPr>
          <p:cNvCxnSpPr/>
          <p:nvPr/>
        </p:nvCxnSpPr>
        <p:spPr>
          <a:xfrm>
            <a:off x="105156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84" name="lattice-4-vertex-0">
            <a:extLst>
              <a:ext uri="{FF2B5EF4-FFF2-40B4-BE49-F238E27FC236}">
                <a16:creationId xmlns:a16="http://schemas.microsoft.com/office/drawing/2014/main" id="{7C21F638-178C-98D6-D042-A972D7E5AE70}"/>
              </a:ext>
            </a:extLst>
          </p:cNvPr>
          <p:cNvSpPr/>
          <p:nvPr/>
        </p:nvSpPr>
        <p:spPr>
          <a:xfrm>
            <a:off x="96266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lattice-4-vertex-1">
            <a:extLst>
              <a:ext uri="{FF2B5EF4-FFF2-40B4-BE49-F238E27FC236}">
                <a16:creationId xmlns:a16="http://schemas.microsoft.com/office/drawing/2014/main" id="{13B80403-F848-B7FC-2FC2-2469CF07D232}"/>
              </a:ext>
            </a:extLst>
          </p:cNvPr>
          <p:cNvSpPr/>
          <p:nvPr/>
        </p:nvSpPr>
        <p:spPr>
          <a:xfrm>
            <a:off x="104521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lattice-4-vertex-2">
            <a:extLst>
              <a:ext uri="{FF2B5EF4-FFF2-40B4-BE49-F238E27FC236}">
                <a16:creationId xmlns:a16="http://schemas.microsoft.com/office/drawing/2014/main" id="{1E7FBACE-6836-AA49-876B-48C5C30DB27F}"/>
              </a:ext>
            </a:extLst>
          </p:cNvPr>
          <p:cNvSpPr/>
          <p:nvPr/>
        </p:nvSpPr>
        <p:spPr>
          <a:xfrm>
            <a:off x="112776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lattice-4-vertex-3">
            <a:extLst>
              <a:ext uri="{FF2B5EF4-FFF2-40B4-BE49-F238E27FC236}">
                <a16:creationId xmlns:a16="http://schemas.microsoft.com/office/drawing/2014/main" id="{65635032-6B9C-444A-F1C6-D5FEF47981B2}"/>
              </a:ext>
            </a:extLst>
          </p:cNvPr>
          <p:cNvSpPr/>
          <p:nvPr/>
        </p:nvSpPr>
        <p:spPr>
          <a:xfrm>
            <a:off x="9626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lattice-4-vertex-4">
            <a:extLst>
              <a:ext uri="{FF2B5EF4-FFF2-40B4-BE49-F238E27FC236}">
                <a16:creationId xmlns:a16="http://schemas.microsoft.com/office/drawing/2014/main" id="{98D2CFF5-336F-38A3-A2F6-A7DF8CC2CC23}"/>
              </a:ext>
            </a:extLst>
          </p:cNvPr>
          <p:cNvSpPr/>
          <p:nvPr/>
        </p:nvSpPr>
        <p:spPr>
          <a:xfrm>
            <a:off x="104521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lattice-4-vertex-5">
            <a:extLst>
              <a:ext uri="{FF2B5EF4-FFF2-40B4-BE49-F238E27FC236}">
                <a16:creationId xmlns:a16="http://schemas.microsoft.com/office/drawing/2014/main" id="{59D2C4BD-306B-71B6-B8E5-6373552FD8BD}"/>
              </a:ext>
            </a:extLst>
          </p:cNvPr>
          <p:cNvSpPr/>
          <p:nvPr/>
        </p:nvSpPr>
        <p:spPr>
          <a:xfrm>
            <a:off x="11277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lattice-4-vertex-6">
            <a:extLst>
              <a:ext uri="{FF2B5EF4-FFF2-40B4-BE49-F238E27FC236}">
                <a16:creationId xmlns:a16="http://schemas.microsoft.com/office/drawing/2014/main" id="{8786DBA9-41EA-80D1-E44E-A0D07D04B431}"/>
              </a:ext>
            </a:extLst>
          </p:cNvPr>
          <p:cNvSpPr/>
          <p:nvPr/>
        </p:nvSpPr>
        <p:spPr>
          <a:xfrm>
            <a:off x="96266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lattice-4-vertex-7">
            <a:extLst>
              <a:ext uri="{FF2B5EF4-FFF2-40B4-BE49-F238E27FC236}">
                <a16:creationId xmlns:a16="http://schemas.microsoft.com/office/drawing/2014/main" id="{C6C71EF6-EF6E-5760-3DD3-7F122AC3FBB0}"/>
              </a:ext>
            </a:extLst>
          </p:cNvPr>
          <p:cNvSpPr/>
          <p:nvPr/>
        </p:nvSpPr>
        <p:spPr>
          <a:xfrm>
            <a:off x="104521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lattice-4-vertex-8">
            <a:extLst>
              <a:ext uri="{FF2B5EF4-FFF2-40B4-BE49-F238E27FC236}">
                <a16:creationId xmlns:a16="http://schemas.microsoft.com/office/drawing/2014/main" id="{EA8E864C-3D0A-FA97-D99A-B3E5C7F05549}"/>
              </a:ext>
            </a:extLst>
          </p:cNvPr>
          <p:cNvSpPr/>
          <p:nvPr/>
        </p:nvSpPr>
        <p:spPr>
          <a:xfrm>
            <a:off x="112776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text-92">
            <a:extLst>
              <a:ext uri="{FF2B5EF4-FFF2-40B4-BE49-F238E27FC236}">
                <a16:creationId xmlns:a16="http://schemas.microsoft.com/office/drawing/2014/main" id="{A5B0E9DB-BD18-54A2-8A41-0027173765A2}"/>
              </a:ext>
            </a:extLst>
          </p:cNvPr>
          <p:cNvSpPr txBox="1"/>
          <p:nvPr/>
        </p:nvSpPr>
        <p:spPr>
          <a:xfrm>
            <a:off x="93472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辺を削除。
</a:t>
            </a:r>
            <a:r>
              <a:rPr kumimoji="1" lang="en-US" altLang="ja-JP" sz="1600">
                <a:solidFill>
                  <a:srgbClr val="253746"/>
                </a:solidFill>
                <a:latin typeface="Meiryo" panose="020B0604030504040204" pitchFamily="50" charset="-128"/>
                <a:ea typeface="Meiryo" panose="020B0604030504040204" pitchFamily="50" charset="-128"/>
              </a:rPr>
              <a:t>9</a:t>
            </a:r>
            <a:r>
              <a:rPr kumimoji="1" lang="ja-JP" altLang="en-US" sz="1600">
                <a:solidFill>
                  <a:srgbClr val="253746"/>
                </a:solidFill>
                <a:latin typeface="Meiryo" panose="020B0604030504040204" pitchFamily="50" charset="-128"/>
                <a:ea typeface="Meiryo" panose="020B0604030504040204" pitchFamily="50" charset="-128"/>
              </a:rPr>
              <a:t>頂点は残る。</a:t>
            </a:r>
          </a:p>
        </p:txBody>
      </p:sp>
      <p:sp>
        <p:nvSpPr>
          <p:cNvPr id="94" name="text-93">
            <a:extLst>
              <a:ext uri="{FF2B5EF4-FFF2-40B4-BE49-F238E27FC236}">
                <a16:creationId xmlns:a16="http://schemas.microsoft.com/office/drawing/2014/main" id="{6D8A47CE-403A-CD26-1689-00CCABC702E7}"/>
              </a:ext>
            </a:extLst>
          </p:cNvPr>
          <p:cNvSpPr txBox="1"/>
          <p:nvPr/>
        </p:nvSpPr>
        <p:spPr>
          <a:xfrm>
            <a:off x="635000" y="54610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横</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辺＋縦</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辺で最短経路長は</a:t>
            </a:r>
            <a:r>
              <a:rPr kumimoji="1" lang="en-US" altLang="ja-JP" sz="2000">
                <a:solidFill>
                  <a:srgbClr val="17365D"/>
                </a:solidFill>
                <a:latin typeface="Meiryo" panose="020B0604030504040204" pitchFamily="50" charset="-128"/>
                <a:ea typeface="Meiryo" panose="020B0604030504040204" pitchFamily="50" charset="-128"/>
              </a:rPr>
              <a:t>4</a:t>
            </a:r>
            <a:r>
              <a:rPr kumimoji="1" lang="ja-JP" altLang="en-US"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C&lt;4</a:t>
            </a:r>
            <a:r>
              <a:rPr kumimoji="1" lang="ja-JP" altLang="en-US" sz="2000">
                <a:solidFill>
                  <a:srgbClr val="17365D"/>
                </a:solidFill>
                <a:latin typeface="Meiryo" panose="020B0604030504040204" pitchFamily="50" charset="-128"/>
                <a:ea typeface="Meiryo" panose="020B0604030504040204" pitchFamily="50" charset="-128"/>
              </a:rPr>
              <a:t>なら削除しない。</a:t>
            </a:r>
          </a:p>
        </p:txBody>
      </p:sp>
      <p:sp>
        <p:nvSpPr>
          <p:cNvPr id="95" name="text-94">
            <a:extLst>
              <a:ext uri="{FF2B5EF4-FFF2-40B4-BE49-F238E27FC236}">
                <a16:creationId xmlns:a16="http://schemas.microsoft.com/office/drawing/2014/main" id="{60F3B23E-CACA-B326-724E-B418CE863D40}"/>
              </a:ext>
            </a:extLst>
          </p:cNvPr>
          <p:cNvSpPr txBox="1"/>
          <p:nvPr/>
        </p:nvSpPr>
        <p:spPr>
          <a:xfrm>
            <a:off x="635000" y="58293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削除の成否にかかわらず、次の要求へ進む。</a:t>
            </a:r>
          </a:p>
        </p:txBody>
      </p:sp>
    </p:spTree>
    <p:extLst>
      <p:ext uri="{BB962C8B-B14F-4D97-AF65-F5344CB8AC3E}">
        <p14:creationId xmlns:p14="http://schemas.microsoft.com/office/powerpoint/2010/main" val="303560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D329D41E-F204-CB36-CC3F-CF9460F1F83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論文における先行研究</a:t>
            </a:r>
          </a:p>
        </p:txBody>
      </p:sp>
      <p:cxnSp>
        <p:nvCxnSpPr>
          <p:cNvPr id="3" name="直線コネクタ 2">
            <a:extLst>
              <a:ext uri="{FF2B5EF4-FFF2-40B4-BE49-F238E27FC236}">
                <a16:creationId xmlns:a16="http://schemas.microsoft.com/office/drawing/2014/main" id="{A321B4B3-71AF-DB22-CF29-25DC2F6D9C0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D13B1E6-9FF3-C28A-FA1D-05745163B18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。用語は</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047402-4</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EF9B4D7B-3773-3B86-6535-FF01C218CAD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05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0B33D66-4922-5A51-63F8-A68122734F8E}"/>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Kim &amp; Radicchi (2024) </a:t>
            </a:r>
            <a:r>
              <a:rPr kumimoji="1" lang="ja-JP" altLang="en-US" sz="2300">
                <a:solidFill>
                  <a:srgbClr val="253746"/>
                </a:solidFill>
                <a:latin typeface="Meiryo" panose="020B0604030504040204" pitchFamily="50" charset="-128"/>
                <a:ea typeface="Meiryo" panose="020B0604030504040204" pitchFamily="50" charset="-128"/>
              </a:rPr>
              <a:t>は、</a:t>
            </a: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を実行し、
経路長の上限</a:t>
            </a:r>
            <a:r>
              <a:rPr kumimoji="1" lang="en-US" altLang="ja-JP" sz="2300">
                <a:solidFill>
                  <a:srgbClr val="253746"/>
                </a:solidFill>
                <a:latin typeface="Meiryo" panose="020B0604030504040204" pitchFamily="50" charset="-128"/>
                <a:ea typeface="Meiryo" panose="020B0604030504040204" pitchFamily="50" charset="-128"/>
              </a:rPr>
              <a:t>C</a:t>
            </a:r>
            <a:r>
              <a:rPr kumimoji="1" lang="ja-JP" altLang="en-US" sz="2300">
                <a:solidFill>
                  <a:srgbClr val="253746"/>
                </a:solidFill>
                <a:latin typeface="Meiryo" panose="020B0604030504040204" pitchFamily="50" charset="-128"/>
                <a:ea typeface="Meiryo" panose="020B0604030504040204" pitchFamily="50" charset="-128"/>
              </a:rPr>
              <a:t>による相転移の違いを調べた。</a:t>
            </a:r>
          </a:p>
        </p:txBody>
      </p:sp>
      <p:sp>
        <p:nvSpPr>
          <p:cNvPr id="7" name="text-6">
            <a:extLst>
              <a:ext uri="{FF2B5EF4-FFF2-40B4-BE49-F238E27FC236}">
                <a16:creationId xmlns:a16="http://schemas.microsoft.com/office/drawing/2014/main" id="{0E524ECA-A0F3-7FC2-1661-01A7359243CA}"/>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en-US" altLang="ja-JP" sz="2300" b="1">
                <a:solidFill>
                  <a:srgbClr val="17365D"/>
                </a:solidFill>
                <a:latin typeface="Meiryo" panose="020B0604030504040204" pitchFamily="50" charset="-128"/>
                <a:ea typeface="Meiryo" panose="020B0604030504040204" pitchFamily="50" charset="-128"/>
              </a:rPr>
              <a:t>C</a:t>
            </a:r>
            <a:r>
              <a:rPr kumimoji="1" lang="ja-JP" altLang="en-US" sz="2300" b="1">
                <a:solidFill>
                  <a:srgbClr val="17365D"/>
                </a:solidFill>
                <a:latin typeface="Meiryo" panose="020B0604030504040204" pitchFamily="50" charset="-128"/>
                <a:ea typeface="Meiryo" panose="020B0604030504040204" pitchFamily="50" charset="-128"/>
              </a:rPr>
              <a:t>が有限の場合</a:t>
            </a:r>
          </a:p>
        </p:txBody>
      </p:sp>
      <p:sp>
        <p:nvSpPr>
          <p:cNvPr id="8" name="text-7">
            <a:extLst>
              <a:ext uri="{FF2B5EF4-FFF2-40B4-BE49-F238E27FC236}">
                <a16:creationId xmlns:a16="http://schemas.microsoft.com/office/drawing/2014/main" id="{515EEF48-764D-A604-5E1D-5C5C59457B1E}"/>
              </a:ext>
            </a:extLst>
          </p:cNvPr>
          <p:cNvSpPr txBox="1"/>
          <p:nvPr/>
        </p:nvSpPr>
        <p:spPr>
          <a:xfrm>
            <a:off x="635000" y="3429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通常のパーコレーションと同じ普遍性クラスに属する
連続転移が報告された。</a:t>
            </a:r>
          </a:p>
        </p:txBody>
      </p:sp>
      <p:sp>
        <p:nvSpPr>
          <p:cNvPr id="9" name="text-8">
            <a:extLst>
              <a:ext uri="{FF2B5EF4-FFF2-40B4-BE49-F238E27FC236}">
                <a16:creationId xmlns:a16="http://schemas.microsoft.com/office/drawing/2014/main" id="{00C3C278-B127-F83D-C9B1-F542AF1E8DCF}"/>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300" b="1">
                <a:solidFill>
                  <a:srgbClr val="17365D"/>
                </a:solidFill>
                <a:latin typeface="Meiryo" panose="020B0604030504040204" pitchFamily="50" charset="-128"/>
                <a:ea typeface="Meiryo" panose="020B0604030504040204" pitchFamily="50" charset="-128"/>
              </a:rPr>
              <a:t>経路長に制限がない場合</a:t>
            </a:r>
          </a:p>
        </p:txBody>
      </p:sp>
      <p:sp>
        <p:nvSpPr>
          <p:cNvPr id="10" name="text-9">
            <a:extLst>
              <a:ext uri="{FF2B5EF4-FFF2-40B4-BE49-F238E27FC236}">
                <a16:creationId xmlns:a16="http://schemas.microsoft.com/office/drawing/2014/main" id="{2D432426-A747-4949-0DA9-0EE74647DF08}"/>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通常のパーコレーションより急激な転移が報告された。</a:t>
            </a:r>
          </a:p>
        </p:txBody>
      </p:sp>
      <p:sp>
        <p:nvSpPr>
          <p:cNvPr id="11" name="text-10">
            <a:extLst>
              <a:ext uri="{FF2B5EF4-FFF2-40B4-BE49-F238E27FC236}">
                <a16:creationId xmlns:a16="http://schemas.microsoft.com/office/drawing/2014/main" id="{E12BA2E5-72F4-3ECA-066B-97FB5C9F23BB}"/>
              </a:ext>
            </a:extLst>
          </p:cNvPr>
          <p:cNvSpPr txBox="1"/>
          <p:nvPr/>
        </p:nvSpPr>
        <p:spPr>
          <a:xfrm>
            <a:off x="635000" y="57404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著者の表現は “</a:t>
            </a:r>
            <a:r>
              <a:rPr kumimoji="1" lang="en-US" altLang="ja-JP" sz="1900">
                <a:solidFill>
                  <a:srgbClr val="253746"/>
                </a:solidFill>
                <a:latin typeface="Meiryo" panose="020B0604030504040204" pitchFamily="50" charset="-128"/>
                <a:ea typeface="Meiryo" panose="020B0604030504040204" pitchFamily="50" charset="-128"/>
              </a:rPr>
              <a:t>weakly discontinuous”</a:t>
            </a:r>
            <a:r>
              <a:rPr kumimoji="1" lang="ja-JP" altLang="en-US" sz="1900">
                <a:solidFill>
                  <a:srgbClr val="253746"/>
                </a:solidFill>
                <a:latin typeface="Meiryo" panose="020B0604030504040204" pitchFamily="50" charset="-128"/>
                <a:ea typeface="Meiryo" panose="020B0604030504040204" pitchFamily="50" charset="-128"/>
              </a:rPr>
              <a:t>。数値解析に基づく評価である。</a:t>
            </a:r>
          </a:p>
        </p:txBody>
      </p:sp>
    </p:spTree>
    <p:extLst>
      <p:ext uri="{BB962C8B-B14F-4D97-AF65-F5344CB8AC3E}">
        <p14:creationId xmlns:p14="http://schemas.microsoft.com/office/powerpoint/2010/main" val="106904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7302DA2-F3F9-4EF1-D84A-62A849B4026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本研究の目的</a:t>
            </a:r>
          </a:p>
        </p:txBody>
      </p:sp>
      <p:cxnSp>
        <p:nvCxnSpPr>
          <p:cNvPr id="3" name="直線コネクタ 2">
            <a:extLst>
              <a:ext uri="{FF2B5EF4-FFF2-40B4-BE49-F238E27FC236}">
                <a16:creationId xmlns:a16="http://schemas.microsoft.com/office/drawing/2014/main" id="{0F714E6F-A8C7-FAC0-4512-DDEB799BA6AE}"/>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4A2829A6-99CA-60C3-448F-31E24F5BED3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先行研究：本文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。研究目的は本研究の問い（原論文の結論ではない）。</a:t>
            </a:r>
          </a:p>
        </p:txBody>
      </p:sp>
      <p:sp>
        <p:nvSpPr>
          <p:cNvPr id="5" name="page-4">
            <a:extLst>
              <a:ext uri="{FF2B5EF4-FFF2-40B4-BE49-F238E27FC236}">
                <a16:creationId xmlns:a16="http://schemas.microsoft.com/office/drawing/2014/main" id="{E8588BDB-FF14-F729-9BA4-A1FAD5E1599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06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D243162-0265-2A56-50B6-256F3B711C0A}"/>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ランダムネットワーク上の</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では、
経路長に制限がない場合に急激な転移が報告された。</a:t>
            </a:r>
          </a:p>
        </p:txBody>
      </p:sp>
      <p:sp>
        <p:nvSpPr>
          <p:cNvPr id="7" name="text-6">
            <a:extLst>
              <a:ext uri="{FF2B5EF4-FFF2-40B4-BE49-F238E27FC236}">
                <a16:creationId xmlns:a16="http://schemas.microsoft.com/office/drawing/2014/main" id="{C3F0D09D-C6BE-9425-1892-06DA3AD08D34}"/>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17365D"/>
                </a:solidFill>
                <a:latin typeface="Meiryo" panose="020B0604030504040204" pitchFamily="50" charset="-128"/>
                <a:ea typeface="Meiryo" panose="020B0604030504040204" pitchFamily="50" charset="-128"/>
              </a:rPr>
              <a:t>ネットワークの構造が異なる場合にも、
同様の転移が見られるのだろうか。</a:t>
            </a:r>
          </a:p>
        </p:txBody>
      </p:sp>
      <p:sp>
        <p:nvSpPr>
          <p:cNvPr id="8" name="text-7">
            <a:extLst>
              <a:ext uri="{FF2B5EF4-FFF2-40B4-BE49-F238E27FC236}">
                <a16:creationId xmlns:a16="http://schemas.microsoft.com/office/drawing/2014/main" id="{2F937D9D-20FC-9A5C-C68C-A0AF9E5D91A0}"/>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規則的な構造を持つ</a:t>
            </a:r>
            <a:r>
              <a:rPr kumimoji="1" lang="en-US" altLang="ja-JP" sz="2300">
                <a:solidFill>
                  <a:srgbClr val="253746"/>
                </a:solidFill>
                <a:latin typeface="Meiryo" panose="020B0604030504040204" pitchFamily="50" charset="-128"/>
                <a:ea typeface="Meiryo" panose="020B0604030504040204" pitchFamily="50" charset="-128"/>
              </a:rPr>
              <a:t>2</a:t>
            </a:r>
            <a:r>
              <a:rPr kumimoji="1" lang="ja-JP" altLang="en-US" sz="2300">
                <a:solidFill>
                  <a:srgbClr val="253746"/>
                </a:solidFill>
                <a:latin typeface="Meiryo" panose="020B0604030504040204" pitchFamily="50" charset="-128"/>
                <a:ea typeface="Meiryo" panose="020B0604030504040204" pitchFamily="50" charset="-128"/>
              </a:rPr>
              <a:t>次元正方格子上で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を実行する。</a:t>
            </a:r>
          </a:p>
        </p:txBody>
      </p:sp>
      <p:sp>
        <p:nvSpPr>
          <p:cNvPr id="9" name="text-8">
            <a:extLst>
              <a:ext uri="{FF2B5EF4-FFF2-40B4-BE49-F238E27FC236}">
                <a16:creationId xmlns:a16="http://schemas.microsoft.com/office/drawing/2014/main" id="{E1E06194-7DC4-2D54-65D9-F7383341CE46}"/>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ja-JP" altLang="en-US" sz="2600" b="1">
                <a:solidFill>
                  <a:srgbClr val="17365D"/>
                </a:solidFill>
                <a:latin typeface="Meiryo" panose="020B0604030504040204" pitchFamily="50" charset="-128"/>
                <a:ea typeface="Meiryo" panose="020B0604030504040204" pitchFamily="50" charset="-128"/>
              </a:rPr>
              <a:t>特に経路長に制限がない場合に、
不連続転移が起こるかどうかを調べる。</a:t>
            </a:r>
          </a:p>
        </p:txBody>
      </p:sp>
    </p:spTree>
    <p:extLst>
      <p:ext uri="{BB962C8B-B14F-4D97-AF65-F5344CB8AC3E}">
        <p14:creationId xmlns:p14="http://schemas.microsoft.com/office/powerpoint/2010/main" val="362499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2BA837F-5A10-8693-20FE-9D5B96A3CDB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における制御変数と最大連結成分</a:t>
            </a:r>
          </a:p>
        </p:txBody>
      </p:sp>
      <p:cxnSp>
        <p:nvCxnSpPr>
          <p:cNvPr id="3" name="直線コネクタ 2">
            <a:extLst>
              <a:ext uri="{FF2B5EF4-FFF2-40B4-BE49-F238E27FC236}">
                <a16:creationId xmlns:a16="http://schemas.microsoft.com/office/drawing/2014/main" id="{AD3D0504-8A85-702E-377A-A6C64B66A82B}"/>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BB70E14B-8EB7-066C-7952-956A0978205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9218A27-4977-ABD4-D223-404CE5162C2C}"/>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07 / 10</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png">
            <a:extLst>
              <a:ext uri="{FF2B5EF4-FFF2-40B4-BE49-F238E27FC236}">
                <a16:creationId xmlns:a16="http://schemas.microsoft.com/office/drawing/2014/main" id="{5FBCEA38-3186-4C9D-5B62-EC3567261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719010"/>
            <a:ext cx="4572000" cy="854579"/>
          </a:xfrm>
          <a:prstGeom prst="rect">
            <a:avLst/>
          </a:prstGeom>
        </p:spPr>
      </p:pic>
      <p:sp>
        <p:nvSpPr>
          <p:cNvPr id="8" name="text-6">
            <a:extLst>
              <a:ext uri="{FF2B5EF4-FFF2-40B4-BE49-F238E27FC236}">
                <a16:creationId xmlns:a16="http://schemas.microsoft.com/office/drawing/2014/main" id="{6FCBF647-A086-2BA2-7352-7BDBAF01FF24}"/>
              </a:ext>
            </a:extLst>
          </p:cNvPr>
          <p:cNvSpPr txBox="1"/>
          <p:nvPr/>
        </p:nvSpPr>
        <p:spPr>
          <a:xfrm>
            <a:off x="5588000" y="1625600"/>
            <a:ext cx="5969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p(t)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に対応する時点の辺の削除率</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1</a:t>
            </a:r>
            <a:r>
              <a:rPr kumimoji="1" lang="ja-JP" altLang="en-US" sz="1900">
                <a:solidFill>
                  <a:srgbClr val="253746"/>
                </a:solidFill>
                <a:latin typeface="Meiryo" panose="020B0604030504040204" pitchFamily="50" charset="-128"/>
                <a:ea typeface="Meiryo" panose="020B0604030504040204" pitchFamily="50" charset="-128"/>
              </a:rPr>
              <a:t>：初期辺数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に利用可能なグラフの辺数</a:t>
            </a:r>
          </a:p>
        </p:txBody>
      </p:sp>
      <p:sp>
        <p:nvSpPr>
          <p:cNvPr id="9" name="text-7">
            <a:extLst>
              <a:ext uri="{FF2B5EF4-FFF2-40B4-BE49-F238E27FC236}">
                <a16:creationId xmlns:a16="http://schemas.microsoft.com/office/drawing/2014/main" id="{39B3F13D-89AE-1793-4FCC-A2789E0477E9}"/>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：始点・終点の組が要求された回数</a:t>
            </a:r>
          </a:p>
        </p:txBody>
      </p:sp>
      <p:pic>
        <p:nvPicPr>
          <p:cNvPr id="11" name="source-or-equation-image-8" descr="eq_s2.png">
            <a:extLst>
              <a:ext uri="{FF2B5EF4-FFF2-40B4-BE49-F238E27FC236}">
                <a16:creationId xmlns:a16="http://schemas.microsoft.com/office/drawing/2014/main" id="{BB2A8DCC-0267-4E69-0033-B92417A485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6264" y="3708400"/>
            <a:ext cx="4129472" cy="1168400"/>
          </a:xfrm>
          <a:prstGeom prst="rect">
            <a:avLst/>
          </a:prstGeom>
        </p:spPr>
      </p:pic>
      <p:sp>
        <p:nvSpPr>
          <p:cNvPr id="12" name="text-9">
            <a:extLst>
              <a:ext uri="{FF2B5EF4-FFF2-40B4-BE49-F238E27FC236}">
                <a16:creationId xmlns:a16="http://schemas.microsoft.com/office/drawing/2014/main" id="{724A4E3D-0B21-C673-BC48-0E9DCC86F5C9}"/>
              </a:ext>
            </a:extLst>
          </p:cNvPr>
          <p:cNvSpPr txBox="1"/>
          <p:nvPr/>
        </p:nvSpPr>
        <p:spPr>
          <a:xfrm>
            <a:off x="5588000" y="3619500"/>
            <a:ext cx="5969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s</a:t>
            </a:r>
            <a:r>
              <a:rPr kumimoji="1" lang="en-US" altLang="ja-JP" sz="1480" baseline="-16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：連結成分の総数　 </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：総頂点数</a:t>
            </a:r>
          </a:p>
        </p:txBody>
      </p:sp>
      <p:sp>
        <p:nvSpPr>
          <p:cNvPr id="13" name="text-10">
            <a:extLst>
              <a:ext uri="{FF2B5EF4-FFF2-40B4-BE49-F238E27FC236}">
                <a16:creationId xmlns:a16="http://schemas.microsoft.com/office/drawing/2014/main" id="{1A4C8278-7237-4513-FBC3-86980B90CC9A}"/>
              </a:ext>
            </a:extLst>
          </p:cNvPr>
          <p:cNvSpPr txBox="1"/>
          <p:nvPr/>
        </p:nvSpPr>
        <p:spPr>
          <a:xfrm>
            <a:off x="635000" y="53975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で削除の進行、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で最大連結成分の大きさを測る。</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削除できない要求でも</a:t>
            </a:r>
            <a:r>
              <a:rPr kumimoji="1" lang="en-US" altLang="ja-JP" sz="2000">
                <a:solidFill>
                  <a:srgbClr val="17365D"/>
                </a:solidFill>
                <a:latin typeface="Meiryo" panose="020B0604030504040204" pitchFamily="50" charset="-128"/>
                <a:ea typeface="Meiryo" panose="020B0604030504040204" pitchFamily="50" charset="-128"/>
              </a:rPr>
              <a:t>t</a:t>
            </a:r>
            <a:r>
              <a:rPr kumimoji="1" lang="ja-JP" altLang="en-US" sz="2000">
                <a:solidFill>
                  <a:srgbClr val="17365D"/>
                </a:solidFill>
                <a:latin typeface="Meiryo" panose="020B0604030504040204" pitchFamily="50" charset="-128"/>
                <a:ea typeface="Meiryo" panose="020B0604030504040204" pitchFamily="50" charset="-128"/>
              </a:rPr>
              <a:t>は増えるが、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は変わらない。</a:t>
            </a:r>
          </a:p>
        </p:txBody>
      </p:sp>
    </p:spTree>
    <p:extLst>
      <p:ext uri="{BB962C8B-B14F-4D97-AF65-F5344CB8AC3E}">
        <p14:creationId xmlns:p14="http://schemas.microsoft.com/office/powerpoint/2010/main" val="80043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58A7B8F-0C47-693C-2C4B-4D382A26ED9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 </a:t>
            </a:r>
            <a:r>
              <a:rPr kumimoji="1" lang="en-US" altLang="ja-JP" sz="3200" b="1">
                <a:solidFill>
                  <a:srgbClr val="17365D"/>
                </a:solidFill>
                <a:latin typeface="Meiryo" panose="020B0604030504040204" pitchFamily="50" charset="-128"/>
                <a:ea typeface="Meiryo" panose="020B0604030504040204" pitchFamily="50" charset="-128"/>
              </a:rPr>
              <a:t>S</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7FDC12F2-91F4-1C6C-FE23-EAC6F190B4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783AA63-731A-5245-35C9-B420E0F5868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13E9563-F396-E137-B810-E53AC7CCB486}"/>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08 / 10</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cluster_order.png">
            <a:extLst>
              <a:ext uri="{FF2B5EF4-FFF2-40B4-BE49-F238E27FC236}">
                <a16:creationId xmlns:a16="http://schemas.microsoft.com/office/drawing/2014/main" id="{FE8BF72E-5E31-B51D-2F60-8B6C562C17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54807" y="1524000"/>
            <a:ext cx="2932386" cy="571500"/>
          </a:xfrm>
          <a:prstGeom prst="rect">
            <a:avLst/>
          </a:prstGeom>
        </p:spPr>
      </p:pic>
      <p:pic>
        <p:nvPicPr>
          <p:cNvPr id="9" name="source-or-equation-image-6" descr="eq_s3.png">
            <a:extLst>
              <a:ext uri="{FF2B5EF4-FFF2-40B4-BE49-F238E27FC236}">
                <a16:creationId xmlns:a16="http://schemas.microsoft.com/office/drawing/2014/main" id="{DDEF3B0E-B07E-778D-0A91-EBF0C9C969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67864" y="2476500"/>
            <a:ext cx="2595271" cy="1333500"/>
          </a:xfrm>
          <a:prstGeom prst="rect">
            <a:avLst/>
          </a:prstGeom>
        </p:spPr>
      </p:pic>
      <p:sp>
        <p:nvSpPr>
          <p:cNvPr id="10" name="text-7">
            <a:extLst>
              <a:ext uri="{FF2B5EF4-FFF2-40B4-BE49-F238E27FC236}">
                <a16:creationId xmlns:a16="http://schemas.microsoft.com/office/drawing/2014/main" id="{EEB2FE44-CA23-70E0-15E5-3FD9963CEF18}"/>
              </a:ext>
            </a:extLst>
          </p:cNvPr>
          <p:cNvSpPr txBox="1"/>
          <p:nvPr/>
        </p:nvSpPr>
        <p:spPr>
          <a:xfrm>
            <a:off x="6667500" y="1574800"/>
            <a:ext cx="48895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：連結成分の総数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：第</a:t>
            </a: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番目の連結成分の頂点数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：最大連結成分を除いた</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　 平均クラスターサイズ</a:t>
            </a:r>
          </a:p>
        </p:txBody>
      </p:sp>
      <p:sp>
        <p:nvSpPr>
          <p:cNvPr id="11" name="text-8">
            <a:extLst>
              <a:ext uri="{FF2B5EF4-FFF2-40B4-BE49-F238E27FC236}">
                <a16:creationId xmlns:a16="http://schemas.microsoft.com/office/drawing/2014/main" id="{40FD2834-7FCB-97A3-E8B1-2F8375A8BECD}"/>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最大連結成分を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個除き、残りのクラスターの大きさから</a:t>
            </a:r>
            <a:r>
              <a:rPr kumimoji="1" lang="en-US" altLang="ja-JP" sz="2100">
                <a:solidFill>
                  <a:srgbClr val="253746"/>
                </a:solidFill>
                <a:latin typeface="Meiryo" panose="020B0604030504040204" pitchFamily="50" charset="-128"/>
                <a:ea typeface="Meiryo" panose="020B0604030504040204" pitchFamily="50" charset="-128"/>
              </a:rPr>
              <a:t>S</a:t>
            </a:r>
            <a:r>
              <a:rPr kumimoji="1" lang="ja-JP" altLang="en-US" sz="2100">
                <a:solidFill>
                  <a:srgbClr val="253746"/>
                </a:solidFill>
                <a:latin typeface="Meiryo" panose="020B0604030504040204" pitchFamily="50" charset="-128"/>
                <a:ea typeface="Meiryo" panose="020B0604030504040204" pitchFamily="50" charset="-128"/>
              </a:rPr>
              <a:t>を定義する。</a:t>
            </a:r>
          </a:p>
        </p:txBody>
      </p:sp>
      <p:sp>
        <p:nvSpPr>
          <p:cNvPr id="12" name="text-9">
            <a:extLst>
              <a:ext uri="{FF2B5EF4-FFF2-40B4-BE49-F238E27FC236}">
                <a16:creationId xmlns:a16="http://schemas.microsoft.com/office/drawing/2014/main" id="{C019213D-77CD-8D98-0D09-53A125F28BA3}"/>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残りの頂点を一様ランダムに選んだとき、その頂点が属する
クラスターの大きさの期待値として解釈できる。</a:t>
            </a:r>
          </a:p>
        </p:txBody>
      </p:sp>
      <p:sp>
        <p:nvSpPr>
          <p:cNvPr id="13" name="text-10">
            <a:extLst>
              <a:ext uri="{FF2B5EF4-FFF2-40B4-BE49-F238E27FC236}">
                <a16:creationId xmlns:a16="http://schemas.microsoft.com/office/drawing/2014/main" id="{1C630EF7-28F3-CB6E-C31F-6844715E8657}"/>
              </a:ext>
            </a:extLst>
          </p:cNvPr>
          <p:cNvSpPr txBox="1"/>
          <p:nvPr/>
        </p:nvSpPr>
        <p:spPr>
          <a:xfrm>
            <a:off x="635000" y="5867400"/>
            <a:ext cx="10922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期待値の説明は、式</a:t>
            </a:r>
            <a:r>
              <a:rPr kumimoji="1" lang="en-US" altLang="ja-JP" sz="1600">
                <a:solidFill>
                  <a:srgbClr val="253746"/>
                </a:solidFill>
                <a:latin typeface="Meiryo" panose="020B0604030504040204" pitchFamily="50" charset="-128"/>
                <a:ea typeface="Meiryo" panose="020B0604030504040204" pitchFamily="50" charset="-128"/>
              </a:rPr>
              <a:t>(S3)</a:t>
            </a:r>
            <a:r>
              <a:rPr kumimoji="1" lang="ja-JP" altLang="en-US" sz="1600">
                <a:solidFill>
                  <a:srgbClr val="253746"/>
                </a:solidFill>
                <a:latin typeface="Meiryo" panose="020B0604030504040204" pitchFamily="50" charset="-128"/>
                <a:ea typeface="Meiryo" panose="020B0604030504040204" pitchFamily="50" charset="-128"/>
              </a:rPr>
              <a:t>の数学的な補足。</a:t>
            </a:r>
          </a:p>
        </p:txBody>
      </p:sp>
    </p:spTree>
    <p:extLst>
      <p:ext uri="{BB962C8B-B14F-4D97-AF65-F5344CB8AC3E}">
        <p14:creationId xmlns:p14="http://schemas.microsoft.com/office/powerpoint/2010/main" val="69169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FEE95B8C-A848-F772-BB75-4F3283D74C9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ネットワークサイズと相転移の関係</a:t>
            </a:r>
          </a:p>
        </p:txBody>
      </p:sp>
      <p:cxnSp>
        <p:nvCxnSpPr>
          <p:cNvPr id="3" name="直線コネクタ 2">
            <a:extLst>
              <a:ext uri="{FF2B5EF4-FFF2-40B4-BE49-F238E27FC236}">
                <a16:creationId xmlns:a16="http://schemas.microsoft.com/office/drawing/2014/main" id="{3026CB9D-57A3-A67A-0C4B-861BD716C5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4B37140-372F-C48F-6601-F84EDEC5B1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サイズ依存解析への動機付け（本発表の説明）。</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の定義：補足 式</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082AD1AE-423C-BB72-B4B7-1885565F0DA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09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410DEAE-853C-084F-AE64-723C8F8F8D91}"/>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有限サイズのネットワークでは、相転移付近の観測量が
ネットワークサイズ</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の影響を受ける。</a:t>
            </a:r>
          </a:p>
        </p:txBody>
      </p:sp>
      <p:sp>
        <p:nvSpPr>
          <p:cNvPr id="7" name="text-6">
            <a:extLst>
              <a:ext uri="{FF2B5EF4-FFF2-40B4-BE49-F238E27FC236}">
                <a16:creationId xmlns:a16="http://schemas.microsoft.com/office/drawing/2014/main" id="{02A922F2-0C93-8E54-34B5-64492D321408}"/>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P</a:t>
            </a:r>
            <a:r>
              <a:rPr kumimoji="1" lang="ja-JP" altLang="en-US" sz="2300">
                <a:solidFill>
                  <a:srgbClr val="253746"/>
                </a:solidFill>
                <a:latin typeface="Meiryo" panose="020B0604030504040204" pitchFamily="50" charset="-128"/>
                <a:ea typeface="Meiryo" panose="020B0604030504040204" pitchFamily="50" charset="-128"/>
              </a:rPr>
              <a:t>が急激に減少しても、有限サイズでの観測だけでは、
大きなサイズの極限でも不連続な変化が残るとは判断できない。</a:t>
            </a:r>
          </a:p>
        </p:txBody>
      </p:sp>
      <p:sp>
        <p:nvSpPr>
          <p:cNvPr id="8" name="text-7">
            <a:extLst>
              <a:ext uri="{FF2B5EF4-FFF2-40B4-BE49-F238E27FC236}">
                <a16:creationId xmlns:a16="http://schemas.microsoft.com/office/drawing/2014/main" id="{911299C2-ECB4-53F5-B322-BE054A5AC705}"/>
              </a:ext>
            </a:extLst>
          </p:cNvPr>
          <p:cNvSpPr txBox="1"/>
          <p:nvPr/>
        </p:nvSpPr>
        <p:spPr>
          <a:xfrm>
            <a:off x="635000" y="41402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17365D"/>
                </a:solidFill>
                <a:latin typeface="Meiryo" panose="020B0604030504040204" pitchFamily="50" charset="-128"/>
                <a:ea typeface="Meiryo" panose="020B0604030504040204" pitchFamily="50" charset="-128"/>
              </a:rPr>
              <a:t>N</a:t>
            </a:r>
            <a:r>
              <a:rPr kumimoji="1" lang="ja-JP" altLang="en-US" sz="2200">
                <a:solidFill>
                  <a:srgbClr val="17365D"/>
                </a:solidFill>
                <a:latin typeface="Meiryo" panose="020B0604030504040204" pitchFamily="50" charset="-128"/>
                <a:ea typeface="Meiryo" panose="020B0604030504040204" pitchFamily="50" charset="-128"/>
              </a:rPr>
              <a:t>を変えて観測量の変化を調べ、大きなサイズでの振る舞いを推定する。</a:t>
            </a:r>
          </a:p>
        </p:txBody>
      </p:sp>
      <p:pic>
        <p:nvPicPr>
          <p:cNvPr id="10" name="source-or-equation-image-8" descr="size_n.png">
            <a:extLst>
              <a:ext uri="{FF2B5EF4-FFF2-40B4-BE49-F238E27FC236}">
                <a16:creationId xmlns:a16="http://schemas.microsoft.com/office/drawing/2014/main" id="{D7D05461-0954-0E03-491F-75BA0AB160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4818" y="5156200"/>
            <a:ext cx="1457864" cy="685800"/>
          </a:xfrm>
          <a:prstGeom prst="rect">
            <a:avLst/>
          </a:prstGeom>
        </p:spPr>
      </p:pic>
      <p:sp>
        <p:nvSpPr>
          <p:cNvPr id="11" name="text-9">
            <a:extLst>
              <a:ext uri="{FF2B5EF4-FFF2-40B4-BE49-F238E27FC236}">
                <a16:creationId xmlns:a16="http://schemas.microsoft.com/office/drawing/2014/main" id="{8CFF61B9-8701-43FA-5723-D3BED2E1FDDC}"/>
              </a:ext>
            </a:extLst>
          </p:cNvPr>
          <p:cNvSpPr txBox="1"/>
          <p:nvPr/>
        </p:nvSpPr>
        <p:spPr>
          <a:xfrm>
            <a:off x="4191000" y="5016500"/>
            <a:ext cx="7366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：ネットワークの頂点数
</a:t>
            </a:r>
            <a:r>
              <a:rPr kumimoji="1" lang="en-US" altLang="ja-JP" sz="2000">
                <a:solidFill>
                  <a:srgbClr val="253746"/>
                </a:solidFill>
                <a:latin typeface="Meiryo" panose="020B0604030504040204" pitchFamily="50" charset="-128"/>
                <a:ea typeface="Meiryo" panose="020B0604030504040204" pitchFamily="50" charset="-128"/>
              </a:rPr>
              <a:t>L</a:t>
            </a:r>
            <a:r>
              <a:rPr kumimoji="1" lang="ja-JP" altLang="en-US" sz="2000">
                <a:solidFill>
                  <a:srgbClr val="253746"/>
                </a:solidFill>
                <a:latin typeface="Meiryo" panose="020B0604030504040204" pitchFamily="50" charset="-128"/>
                <a:ea typeface="Meiryo" panose="020B0604030504040204" pitchFamily="50" charset="-128"/>
              </a:rPr>
              <a:t>：</a:t>
            </a:r>
            <a:r>
              <a:rPr kumimoji="1" lang="en-US" altLang="ja-JP" sz="2000">
                <a:solidFill>
                  <a:srgbClr val="253746"/>
                </a:solidFill>
                <a:latin typeface="Meiryo" panose="020B0604030504040204" pitchFamily="50" charset="-128"/>
                <a:ea typeface="Meiryo" panose="020B0604030504040204" pitchFamily="50" charset="-128"/>
              </a:rPr>
              <a:t>2</a:t>
            </a:r>
            <a:r>
              <a:rPr kumimoji="1" lang="ja-JP" altLang="en-US" sz="2000">
                <a:solidFill>
                  <a:srgbClr val="253746"/>
                </a:solidFill>
                <a:latin typeface="Meiryo" panose="020B0604030504040204" pitchFamily="50" charset="-128"/>
                <a:ea typeface="Meiryo" panose="020B0604030504040204" pitchFamily="50" charset="-128"/>
              </a:rPr>
              <a:t>次元正方格子の一辺の頂点数
</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p:txBody>
      </p:sp>
    </p:spTree>
    <p:extLst>
      <p:ext uri="{BB962C8B-B14F-4D97-AF65-F5344CB8AC3E}">
        <p14:creationId xmlns:p14="http://schemas.microsoft.com/office/powerpoint/2010/main" val="257220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300851A-9D29-ACFE-7944-5B6C618373F9}"/>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べき乗則と指数の推定方法</a:t>
            </a:r>
          </a:p>
        </p:txBody>
      </p:sp>
      <p:cxnSp>
        <p:nvCxnSpPr>
          <p:cNvPr id="3" name="直線コネクタ 2">
            <a:extLst>
              <a:ext uri="{FF2B5EF4-FFF2-40B4-BE49-F238E27FC236}">
                <a16:creationId xmlns:a16="http://schemas.microsoft.com/office/drawing/2014/main" id="{6699D13E-3771-9305-D3AA-9F8DAF58BB0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BE435F8-E5A7-C164-1CD8-53ADFE21E05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(S5)</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717809A-7909-835A-97B2-3ED4E799C2D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10 / 10</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FE06F269-5A46-785C-72A4-3D9CFA147FE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数値データのサイズ依存性を調べるため、原論文ではべき乗則を仮定し、
回帰分析によって指数を推定する。</a:t>
            </a:r>
          </a:p>
        </p:txBody>
      </p:sp>
      <p:pic>
        <p:nvPicPr>
          <p:cNvPr id="8" name="source-or-equation-image-6" descr="eq_s4.png">
            <a:extLst>
              <a:ext uri="{FF2B5EF4-FFF2-40B4-BE49-F238E27FC236}">
                <a16:creationId xmlns:a16="http://schemas.microsoft.com/office/drawing/2014/main" id="{7E5C634F-9984-E52F-4407-69D1F878CE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2832100"/>
            <a:ext cx="3810000" cy="812800"/>
          </a:xfrm>
          <a:prstGeom prst="rect">
            <a:avLst/>
          </a:prstGeom>
        </p:spPr>
      </p:pic>
      <p:pic>
        <p:nvPicPr>
          <p:cNvPr id="10" name="source-or-equation-image-7" descr="eq_s5.png">
            <a:extLst>
              <a:ext uri="{FF2B5EF4-FFF2-40B4-BE49-F238E27FC236}">
                <a16:creationId xmlns:a16="http://schemas.microsoft.com/office/drawing/2014/main" id="{8DE70DAD-ECA1-50C1-47F2-509D27A335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207000" y="2888138"/>
            <a:ext cx="6350000" cy="700723"/>
          </a:xfrm>
          <a:prstGeom prst="rect">
            <a:avLst/>
          </a:prstGeom>
        </p:spPr>
      </p:pic>
      <p:sp>
        <p:nvSpPr>
          <p:cNvPr id="11" name="text-8">
            <a:extLst>
              <a:ext uri="{FF2B5EF4-FFF2-40B4-BE49-F238E27FC236}">
                <a16:creationId xmlns:a16="http://schemas.microsoft.com/office/drawing/2014/main" id="{1ACD1F8E-2C1A-690A-5AA5-599633CBEE38}"/>
              </a:ext>
            </a:extLst>
          </p:cNvPr>
          <p:cNvSpPr txBox="1"/>
          <p:nvPr/>
        </p:nvSpPr>
        <p:spPr>
          <a:xfrm>
            <a:off x="635000" y="4064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x, y</a:t>
            </a:r>
            <a:r>
              <a:rPr kumimoji="1" lang="ja-JP" altLang="en-US" sz="2000">
                <a:solidFill>
                  <a:srgbClr val="253746"/>
                </a:solidFill>
                <a:latin typeface="Meiryo" panose="020B0604030504040204" pitchFamily="50" charset="-128"/>
                <a:ea typeface="Meiryo" panose="020B0604030504040204" pitchFamily="50" charset="-128"/>
              </a:rPr>
              <a:t>：関係を調べる正の量　 </a:t>
            </a:r>
            <a:r>
              <a:rPr kumimoji="1" lang="en-US" altLang="ja-JP" sz="2000">
                <a:solidFill>
                  <a:srgbClr val="253746"/>
                </a:solidFill>
                <a:latin typeface="Meiryo" panose="020B0604030504040204" pitchFamily="50" charset="-128"/>
                <a:ea typeface="Meiryo" panose="020B0604030504040204" pitchFamily="50" charset="-128"/>
              </a:rPr>
              <a:t>z</a:t>
            </a:r>
            <a:r>
              <a:rPr kumimoji="1" lang="ja-JP" altLang="en-US" sz="2000">
                <a:solidFill>
                  <a:srgbClr val="253746"/>
                </a:solidFill>
                <a:latin typeface="Meiryo" panose="020B0604030504040204" pitchFamily="50" charset="-128"/>
                <a:ea typeface="Meiryo" panose="020B0604030504040204" pitchFamily="50" charset="-128"/>
              </a:rPr>
              <a:t>：比例係数（</a:t>
            </a:r>
            <a:r>
              <a:rPr kumimoji="1" lang="en-US" altLang="ja-JP" sz="2000">
                <a:solidFill>
                  <a:srgbClr val="253746"/>
                </a:solidFill>
                <a:latin typeface="Meiryo" panose="020B0604030504040204" pitchFamily="50" charset="-128"/>
                <a:ea typeface="Meiryo" panose="020B0604030504040204" pitchFamily="50" charset="-128"/>
              </a:rPr>
              <a:t>z&gt;0</a:t>
            </a:r>
            <a:r>
              <a:rPr kumimoji="1" lang="ja-JP" altLang="en-US" sz="2000">
                <a:solidFill>
                  <a:srgbClr val="253746"/>
                </a:solidFill>
                <a:latin typeface="Meiryo" panose="020B0604030504040204" pitchFamily="50" charset="-128"/>
                <a:ea typeface="Meiryo" panose="020B0604030504040204" pitchFamily="50" charset="-128"/>
              </a:rPr>
              <a:t>）
</a:t>
            </a:r>
            <a:r>
              <a:rPr kumimoji="1" lang="en-US" altLang="ja-JP" sz="2000">
                <a:solidFill>
                  <a:srgbClr val="253746"/>
                </a:solidFill>
                <a:latin typeface="Meiryo" panose="020B0604030504040204" pitchFamily="50" charset="-128"/>
                <a:ea typeface="Meiryo" panose="020B0604030504040204" pitchFamily="50" charset="-128"/>
              </a:rPr>
              <a:t>ζ</a:t>
            </a:r>
            <a:r>
              <a:rPr kumimoji="1" lang="ja-JP" altLang="en-US" sz="2000">
                <a:solidFill>
                  <a:srgbClr val="253746"/>
                </a:solidFill>
                <a:latin typeface="Meiryo" panose="020B0604030504040204" pitchFamily="50" charset="-128"/>
                <a:ea typeface="Meiryo" panose="020B0604030504040204" pitchFamily="50" charset="-128"/>
              </a:rPr>
              <a:t>：推定するべき指数（ゼータ）　 </a:t>
            </a:r>
            <a:r>
              <a:rPr kumimoji="1" lang="en-US" altLang="ja-JP" sz="2000">
                <a:solidFill>
                  <a:srgbClr val="253746"/>
                </a:solidFill>
                <a:latin typeface="Meiryo" panose="020B0604030504040204" pitchFamily="50" charset="-128"/>
                <a:ea typeface="Meiryo" panose="020B0604030504040204" pitchFamily="50" charset="-128"/>
              </a:rPr>
              <a:t>log</a:t>
            </a:r>
            <a:r>
              <a:rPr kumimoji="1" lang="ja-JP" altLang="en-US" sz="2000">
                <a:solidFill>
                  <a:srgbClr val="253746"/>
                </a:solidFill>
                <a:latin typeface="Meiryo" panose="020B0604030504040204" pitchFamily="50" charset="-128"/>
                <a:ea typeface="Meiryo" panose="020B0604030504040204" pitchFamily="50" charset="-128"/>
              </a:rPr>
              <a:t>：対数</a:t>
            </a:r>
          </a:p>
        </p:txBody>
      </p:sp>
      <p:sp>
        <p:nvSpPr>
          <p:cNvPr id="12" name="text-9">
            <a:extLst>
              <a:ext uri="{FF2B5EF4-FFF2-40B4-BE49-F238E27FC236}">
                <a16:creationId xmlns:a16="http://schemas.microsoft.com/office/drawing/2014/main" id="{0CC8F5C0-8706-4F14-B384-E789317F8023}"/>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対数変換したデータに直線回帰を行い、傾きから指数</a:t>
            </a:r>
            <a:r>
              <a:rPr kumimoji="1" lang="en-US" altLang="ja-JP" sz="2200">
                <a:solidFill>
                  <a:srgbClr val="17365D"/>
                </a:solidFill>
                <a:latin typeface="Meiryo" panose="020B0604030504040204" pitchFamily="50" charset="-128"/>
                <a:ea typeface="Meiryo" panose="020B0604030504040204" pitchFamily="50" charset="-128"/>
              </a:rPr>
              <a:t>ζ</a:t>
            </a:r>
            <a:r>
              <a:rPr kumimoji="1" lang="ja-JP" altLang="en-US" sz="2200">
                <a:solidFill>
                  <a:srgbClr val="17365D"/>
                </a:solidFill>
                <a:latin typeface="Meiryo" panose="020B0604030504040204" pitchFamily="50" charset="-128"/>
                <a:ea typeface="Meiryo" panose="020B0604030504040204" pitchFamily="50" charset="-128"/>
              </a:rPr>
              <a:t>を推定する。</a:t>
            </a:r>
          </a:p>
        </p:txBody>
      </p:sp>
      <p:sp>
        <p:nvSpPr>
          <p:cNvPr id="13" name="text-10">
            <a:extLst>
              <a:ext uri="{FF2B5EF4-FFF2-40B4-BE49-F238E27FC236}">
                <a16:creationId xmlns:a16="http://schemas.microsoft.com/office/drawing/2014/main" id="{D5EDBA44-7134-E03A-7782-E072D3E225C0}"/>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この方法を、後に扱う有限サイズスケーリングでの臨界指数推定に利用する。</a:t>
            </a:r>
          </a:p>
        </p:txBody>
      </p:sp>
    </p:spTree>
    <p:extLst>
      <p:ext uri="{BB962C8B-B14F-4D97-AF65-F5344CB8AC3E}">
        <p14:creationId xmlns:p14="http://schemas.microsoft.com/office/powerpoint/2010/main" val="177793077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2123</Words>
  <Application>Microsoft Office PowerPoint</Application>
  <PresentationFormat>ユーザー設定</PresentationFormat>
  <Paragraphs>110</Paragraphs>
  <Slides>10</Slides>
  <Notes>10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游ゴシック Light</vt:lpstr>
      <vt:lpstr>Arial</vt:lpstr>
      <vt:lpstr>Meiryo</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Raiki Yoshinari</dc:creator>
  <cp:lastModifiedBy>Raiki Yoshinari</cp:lastModifiedBy>
  <cp:revision>2</cp:revision>
  <dcterms:created xsi:type="dcterms:W3CDTF">2026-10-12T17:25:13Z</dcterms:created>
  <dcterms:modified xsi:type="dcterms:W3CDTF">2026-10-12T17:25:14Z</dcterms:modified>
</cp:coreProperties>
</file>